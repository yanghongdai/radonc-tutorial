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8" roundtripDataSignature="AMtx7mhyyas7qRaGo+ic9BpV9kR0xnfnW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cmu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1-09-04T00:32:17.955">
    <p:pos x="3869" y="840"/>
    <p:text>[前人解答] 我回答NCCN guidelines說可以不用到full dose, 梁主任問: 真的沒有怎麼辦? 有替代方案嗎? 我回答可以選擇intravesical chemotherapy, 梁主任又問: 你知道有哪些藥嗎? 我回: mitomycin 和 gemcitabine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O69wrT4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1-09-03T17:03:28.780">
    <p:pos x="464" y="1332"/>
    <p:text>[前人備註] 我回: pT3, pT4, LN(s) +, 但我有多講surgical margin(s) +, 雖然NCCN guidelines的流程沒有, 不過我想開完刀非R0 resection的機率應該有, 所以膀胱癌margin(+)加術後放療, 應該合理.
[更新：2021 NCCN 有包含 R1/R2 op]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O69wrT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1-09-05T15:19:15.412">
    <p:pos x="2441" y="1202"/>
    <p:text>前人 Ans: 國外泌尿外科指引是沒有術前給ADT這項indication!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O69wrT8"/>
      </p:ext>
    </p:extLst>
  </p:cm>
  <p:cm authorId="0" idx="4" dt="2021-09-05T15:19:15.412">
    <p:pos x="2441" y="1202"/>
    <p:text>前人 Ans: Yes, 我舉RTOG-9910的例子.</p:text>
    <p:extLst>
      <p:ext uri="{C676402C-5697-4E1C-873F-D02D1690AC5C}">
        <p15:threadingInfo timeZoneBias="0">
          <p15:parentCm authorId="0" idx="3"/>
        </p15:threadingInfo>
      </p:ext>
      <p:ext uri="http://customooxmlschemas.google.com/">
        <go:slidesCustomData xmlns:go="http://customooxmlschemas.google.com/" commentPostId="AAAAO69wrU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DFKai-SB"/>
                <a:ea typeface="DFKai-SB"/>
                <a:cs typeface="DFKai-SB"/>
                <a:sym typeface="DFKai-SB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.xml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2.xml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/>
              <a:t>2019 GU oral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174836"/>
            <a:ext cx="9144000" cy="108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撰：中國醫 林亭君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校：北醫 劉正昇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/>
              <a:t>三總 趙興隆 Prostate cancer</a:t>
            </a:r>
            <a:endParaRPr/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/>
              <a:t>問題脈絡：</a:t>
            </a:r>
            <a:br>
              <a:rPr lang="en-US"/>
            </a:br>
            <a:r>
              <a:rPr lang="en-US"/>
              <a:t>Diagnosis 🡪 Work-up 🡪 Staging 🡪 Bone metastasis work-up and management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情境題：病患有 LUTS 症狀, 切片診斷 prostate cancer, 來找你做後續處理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Ask history: left hip pain, 沒有外傷病史, good PS, no comorbidity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DRE: bil firm nodules and left seminal vesicle induration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MRI: bil lobe involved, SV(-), no LN, r/o left hip bone lesion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PSA…, Bone scan: r/o left hip uptake</a:t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History, PE, DRE, PSA for all prostate cancer patients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Imaging study for the symptomatic patient: bone imaging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Determine life expectancy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166256"/>
            <a:ext cx="10515600" cy="706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-US"/>
              <a:t>NCCN 2.2021</a:t>
            </a:r>
            <a:endParaRPr b="1" i="1"/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891" y="872570"/>
            <a:ext cx="11025620" cy="5813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Bone scan (+) 是否為轉移？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答 團隊會議討論 (趙 團隊會議也是問你覺得是不是), Bx proved (趙 病人不要呢? 有沒有做Bx有差嗎?)</a:t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/>
              <a:t>Biopsy of metastatic lesion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/>
              <a:t>Consider bone imaging with higher sensitivity, such as NaF scan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en-US"/>
              <a:t>NCCN 2.20201 PROS-C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7475" y="4976813"/>
            <a:ext cx="597217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838200" y="1825625"/>
            <a:ext cx="106333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Staging T3bN0M1b，治療策略？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ADT + Docetaxel or abiraterone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趙:你確定要這樣做? NCCN是這樣寫嗎….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因為 low tumor burden 可以考慮 ADT + primary RT, RT field/dose	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Evaluate whether the disease is low-volume or high-volume (CHAARTED, as NCCN cited)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/>
              <a:t>Treat primary tumor for low volume M1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/>
              <a:t>Local: RT Field and dose as STAMPEDE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/>
              <a:t>Systemic: ADT + LHRH agonist/-antagonist/orchiectomy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/>
              <a:t>ADT alone, or ADT + apalutamide/abiraterone/docetaxel/enzalutamide (all NCCN category 1)</a:t>
            </a:r>
            <a:endParaRPr/>
          </a:p>
          <a:p>
            <a:pPr indent="-1397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922" y="2947205"/>
            <a:ext cx="10164465" cy="3807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finition of high and low volume, and risk in CHAARTED [54-56] and... |  Download Scientific Diagram" id="122" name="Google Shape;1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536" y="217002"/>
            <a:ext cx="4989369" cy="233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-US"/>
              <a:t>STAMPEDE (Lancet 2018)</a:t>
            </a:r>
            <a:endParaRPr b="1" i="1"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OS benefit for low burden M1 when prostate RT given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“Overall survival was improved in patients with low metastatic burden at baseline who were allocated radiotherapy (HR 0·68, 95% CI 0·52–0·90; p=0·007; 3-year survival 73% with control vs 81% with radiotherapy”</a:t>
            </a:r>
            <a:endParaRPr/>
          </a:p>
        </p:txBody>
      </p:sp>
      <p:pic>
        <p:nvPicPr>
          <p:cNvPr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353" y="3329131"/>
            <a:ext cx="6331446" cy="29331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ure thumbnail gr3" id="130" name="Google Shape;130;p8"/>
          <p:cNvPicPr preferRelativeResize="0"/>
          <p:nvPr/>
        </p:nvPicPr>
        <p:blipFill rotWithShape="1">
          <a:blip r:embed="rId4">
            <a:alphaModFix/>
          </a:blip>
          <a:srcRect b="69150" l="0" r="0" t="0"/>
          <a:stretch/>
        </p:blipFill>
        <p:spPr>
          <a:xfrm>
            <a:off x="6520799" y="3596410"/>
            <a:ext cx="5592790" cy="2573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88015"/>
            <a:ext cx="12049125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/>
          <p:nvPr/>
        </p:nvSpPr>
        <p:spPr>
          <a:xfrm>
            <a:off x="9605818" y="3260436"/>
            <a:ext cx="1357746" cy="2761673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838200" y="295564"/>
            <a:ext cx="10515600" cy="2466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Bone lesion 是否要處理？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該病人最後拒絕治療, 兩年後左邊下背痛回來找你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安排Bone scan (趙 你想看什麼懷疑什麼…), Hx, PE (先排除非cancer), CT</a:t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Bone imaging with plain film/CT/MRI/SPECT, or consider NaF-18/C-11 choline for higher sensitivity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The patient refused initial treatment 🡪 castration-naïve M1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922" y="2871005"/>
            <a:ext cx="10164466" cy="3807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/>
              <a:t>中國醫 梁基安 Bladder cancer</a:t>
            </a:r>
            <a:endParaRPr/>
          </a:p>
        </p:txBody>
      </p:sp>
      <p:sp>
        <p:nvSpPr>
          <p:cNvPr id="148" name="Google Shape;148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i="1" lang="en-US"/>
              <a:t>小附註：敝科主任問問題風格一向貴多不貴精，偏好一次問多個小題目以及臨床病例；guideline 熟悉已足夠，不著重背誦 trial。</a:t>
            </a:r>
            <a:br>
              <a:rPr i="1" lang="en-US"/>
            </a:br>
            <a:endParaRPr i="1"/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一位病患開完 TURBT 後, 病理顯示是 urinary bladder cancer, 腫瘤侵犯 lamina propria, high-grade, 期別是? 常見的病理是? 接下來的處理方式是? 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/>
              <a:t>T1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/>
              <a:t>Most common histopathology:  urothelial carcinoma (old term: transitional cell carcinoma, TCC)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/>
              <a:t>Treatment: T1 high grade = high risk 🡪 repeat TURBT 🡪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For very high risk (LVI, variant, extensive CIS, prostate urethra+): cystectomy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For other: BCG (NCCN category 1)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3"/>
          <p:cNvPicPr preferRelativeResize="0"/>
          <p:nvPr/>
        </p:nvPicPr>
        <p:blipFill rotWithShape="1">
          <a:blip r:embed="rId3">
            <a:alphaModFix/>
          </a:blip>
          <a:srcRect b="58192" l="0" r="0" t="0"/>
          <a:stretch/>
        </p:blipFill>
        <p:spPr>
          <a:xfrm>
            <a:off x="2566781" y="695740"/>
            <a:ext cx="6308861" cy="224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740" y="3436432"/>
            <a:ext cx="11007172" cy="3013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257" y="1591658"/>
            <a:ext cx="10885833" cy="3518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021" y="1083365"/>
            <a:ext cx="11547536" cy="487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838200" y="1272210"/>
            <a:ext cx="10515600" cy="490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如果需要intravesical BCG, 但BCG不夠怎麼辦? 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BCG shortage: AUA notice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/>
              <a:t>Use alternative such as chemo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/>
              <a:t>Use reduced induction dose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76" name="Google Shape;176;p16"/>
          <p:cNvGrpSpPr/>
          <p:nvPr/>
        </p:nvGrpSpPr>
        <p:grpSpPr>
          <a:xfrm>
            <a:off x="4363278" y="2016063"/>
            <a:ext cx="7559538" cy="4525077"/>
            <a:chOff x="4422912" y="2244662"/>
            <a:chExt cx="7559538" cy="4525077"/>
          </a:xfrm>
        </p:grpSpPr>
        <p:grpSp>
          <p:nvGrpSpPr>
            <p:cNvPr id="177" name="Google Shape;177;p16"/>
            <p:cNvGrpSpPr/>
            <p:nvPr/>
          </p:nvGrpSpPr>
          <p:grpSpPr>
            <a:xfrm>
              <a:off x="4422912" y="2244662"/>
              <a:ext cx="7559538" cy="4525076"/>
              <a:chOff x="4452730" y="2233533"/>
              <a:chExt cx="7559538" cy="4525076"/>
            </a:xfrm>
          </p:grpSpPr>
          <p:pic>
            <p:nvPicPr>
              <p:cNvPr id="178" name="Google Shape;178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452730" y="2233533"/>
                <a:ext cx="7559538" cy="452507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79" name="Google Shape;179;p16"/>
              <p:cNvCxnSpPr/>
              <p:nvPr/>
            </p:nvCxnSpPr>
            <p:spPr>
              <a:xfrm flipH="1" rot="10800000">
                <a:off x="5148470" y="4084983"/>
                <a:ext cx="4283765" cy="9939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16"/>
              <p:cNvCxnSpPr/>
              <p:nvPr/>
            </p:nvCxnSpPr>
            <p:spPr>
              <a:xfrm>
                <a:off x="10933043" y="6462816"/>
                <a:ext cx="957470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81" name="Google Shape;181;p16"/>
            <p:cNvCxnSpPr/>
            <p:nvPr/>
          </p:nvCxnSpPr>
          <p:spPr>
            <a:xfrm>
              <a:off x="4962939" y="6769738"/>
              <a:ext cx="957470" cy="1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一位病患開完TURBT後, 病理顯示是urinary bladder cancer, 腫瘤侵犯deep muscularis propria, cTN是? Stage是? 簡述organ preservation的做法, RT的照射範圍、劑量、照完幾Gy要做TURBT、根據TURBT的發現簡述之後處置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/>
              <a:t>T2b (T2bN0M0 = Stage II)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/>
              <a:t>Organ preservation CCRT: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/>
              <a:t>doublet chemo preferred: cisplatin + 5-FU most commonly applied in recent RTOG trials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/>
              <a:t>RT field and dose: whole bladder +/- pelvic lymphatics for 39.6-50.4 Gy; boost partial or whole bladder to 60-66 Gy [BC2001]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/>
              <a:t>舊版 guideline organ preservation CCRT 建議治療四週後 cystoscopy reassessment (restaging TUR)，但現已不建議中斷 CCRT。</a:t>
            </a:r>
            <a:endParaRPr b="1"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903" y="876583"/>
            <a:ext cx="11852413" cy="5125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一位病患開完TURBT後, 病理顯示是urinary bladder cancer, macroscopic perivesical invasion, 影像學上左右各一顆internal iliac LN(+), cTN是? Stage是? 簡述之後的治療方式有哪些? 如果選擇neoadjuvant chemotherapy, 有哪些regimens? 你們醫院用哪種? 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T3bN2M0, Stage IIIB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Downstaging chemo: DDMVAC, GC, CMV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7886" y="4257889"/>
            <a:ext cx="9947413" cy="2550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Urinary bladder cancer stage II and IIIA做完neoadjuvant chemotherapy過後, 有哪些 pathological risk factors 要做術後 RT? 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pT3-4, N+, margin+</a:t>
            </a:r>
            <a:endParaRPr b="1"/>
          </a:p>
        </p:txBody>
      </p:sp>
      <p:grpSp>
        <p:nvGrpSpPr>
          <p:cNvPr id="206" name="Google Shape;206;p20"/>
          <p:cNvGrpSpPr/>
          <p:nvPr/>
        </p:nvGrpSpPr>
        <p:grpSpPr>
          <a:xfrm>
            <a:off x="3597964" y="2364678"/>
            <a:ext cx="7946749" cy="4208193"/>
            <a:chOff x="3289851" y="2305043"/>
            <a:chExt cx="7946749" cy="4208193"/>
          </a:xfrm>
        </p:grpSpPr>
        <p:pic>
          <p:nvPicPr>
            <p:cNvPr id="207" name="Google Shape;207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89851" y="2305043"/>
              <a:ext cx="7946749" cy="42081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0"/>
            <p:cNvSpPr/>
            <p:nvPr/>
          </p:nvSpPr>
          <p:spPr>
            <a:xfrm>
              <a:off x="8408504" y="4194313"/>
              <a:ext cx="1868557" cy="308113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一位病患prostate cancer, 術後顯示 pT3N0, extraprostatic extension, 會不會給術後 RT, 如果會那照射範圍是? 放射線劑量給多少?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In 2020, 3 trials were published discussing “adjuvant RT vs. salvage RT for prostate cancer”: RADICALS-RT, GETUG-AFU 17, RAVES. Overall, no benefit found for adjuvant RT, and ealy salvage should be considered SOC. However, patients with very high risk features consisted only a very small portion in these trials. Adjuvant RT may perhaps be considered for those with GS 9-10, pT3b or higher, pelvic LN(+), and detectable post-RP PSA; and also for pts who do not receive ADT.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RT field and dose: prostate fossa(bed) +/- pelvic LN; total to 64-70 Gy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en-US"/>
              <a:t>NCCN 2.2021 Principles of RT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7216"/>
          <a:stretch/>
        </p:blipFill>
        <p:spPr>
          <a:xfrm>
            <a:off x="1551334" y="5293209"/>
            <a:ext cx="7200900" cy="883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377687" y="1093303"/>
            <a:ext cx="4387505" cy="5083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一位病患 prostate cancer, 符合可以做達文西手術, 也符合可以做放射線治療的條件, 在做達文西手術前可以先給 ADT 嗎? 做 RT 前可以先給 ADT 嗎? 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2021 詳解答：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/>
              <a:t>2021 NCCN guideline: ADT should NOT be used as neoadjuvant tx for RP out of clinical trial; however, neoadjuvant/concurrent/adjuvant ADT is encouraged for pts receiving RT.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5192" y="663024"/>
            <a:ext cx="7134225" cy="5353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22"/>
          <p:cNvCxnSpPr/>
          <p:nvPr/>
        </p:nvCxnSpPr>
        <p:spPr>
          <a:xfrm flipH="1" rot="10800000">
            <a:off x="4939748" y="1252330"/>
            <a:ext cx="6639339" cy="1987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3" name="Google Shape;223;p22"/>
          <p:cNvCxnSpPr/>
          <p:nvPr/>
        </p:nvCxnSpPr>
        <p:spPr>
          <a:xfrm>
            <a:off x="4939748" y="2564296"/>
            <a:ext cx="6745356" cy="3312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4" name="Google Shape;224;p22"/>
          <p:cNvCxnSpPr/>
          <p:nvPr/>
        </p:nvCxnSpPr>
        <p:spPr>
          <a:xfrm flipH="1" rot="10800000">
            <a:off x="4972880" y="2802835"/>
            <a:ext cx="6357729" cy="3313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5" name="Google Shape;225;p22"/>
          <p:cNvCxnSpPr/>
          <p:nvPr/>
        </p:nvCxnSpPr>
        <p:spPr>
          <a:xfrm>
            <a:off x="4946376" y="3008244"/>
            <a:ext cx="778563" cy="13253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2021-08-30T08:53:32Z</dcterms:created>
  <dc:creator>cmuh</dc:creator>
</cp:coreProperties>
</file>