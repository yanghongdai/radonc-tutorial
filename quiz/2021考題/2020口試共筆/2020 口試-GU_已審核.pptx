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2" roundtripDataSignature="AMtx7mgoHZ+A0hfJo/P1upTFBpa5YvfsG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mu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AEBF57-B3A0-46E5-B739-FA6C928416AF}">
  <a:tblStyle styleId="{7FAEBF57-B3A0-46E5-B739-FA6C928416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1-09-07T10:40:18.623">
    <p:pos x="4360" y="1872"/>
    <p:text>建議補：「侵犯黏膜層，至少 T1」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PEElrrE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ubmed.ncbi.nlm.nih.gov/25483834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2020 GU 口試共筆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962400"/>
            <a:ext cx="9144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撰：北醫 劉正昇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校：中國醫 林亭君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三總 林群書 (Bladder)</a:t>
            </a:r>
            <a:endParaRPr/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0" y="365125"/>
            <a:ext cx="12192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TURBT with bimanual exam under anesthesia </a:t>
            </a:r>
            <a:br>
              <a:rPr lang="en-US"/>
            </a:br>
            <a:r>
              <a:rPr lang="en-US"/>
              <a:t>請問什麼是 bimanual exam under anesthesia ？</a:t>
            </a: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2087858"/>
            <a:ext cx="6273208" cy="4439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 It provides direct visualization of the&#10;bladder and facilitates biopsy of the&#10;bladder.&#10; The number, size, shape, and&#10;lo..."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3209" y="1948158"/>
            <a:ext cx="5918791" cy="4443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7798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TURBT papillary腫瘤侵犯黏膜層, 但是TURBT的病理中沒有肌肉層，請問stage、接下來給什麼治療？</a:t>
            </a:r>
            <a:br>
              <a:rPr lang="en-US"/>
            </a:b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838200" y="2254101"/>
            <a:ext cx="10515600" cy="3922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NCCN guildeline 2021 v.4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侵犯黏膜層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repeat TURBT for high-grade Ta particularly if large, and/or no muscle in specimen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Muscle may be moitted in cases of documented low-grade Ta disease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🡪 沒切到肌肉層為 inadequate TURBT 🡪 Re-TURBT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治療過後cytology (+) cystoscope (-) (image negative, 含CTU/MRU) 請問下一步？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203200" y="2139716"/>
            <a:ext cx="6858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侵犯黏膜層，期別至少為 T1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NCCN guildeline 2021 v.4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考慮三個月後再追蹤 cytology；若仍 positive考慮：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Mapping biopsies (including transurethral biopsy of prostate)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Cytology of upper tract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Ureteroscopy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Enhanced (blue light and narrow-band imaging) cystoscopy</a:t>
            </a:r>
            <a:endParaRPr/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500" y="1772771"/>
            <a:ext cx="4918500" cy="5085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838200" y="43285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病人TURBT腫瘤侵犯肌肉深層, 兩顆淋巴結包含common iliac mets, 請問 stage？</a:t>
            </a:r>
            <a:endParaRPr/>
          </a:p>
        </p:txBody>
      </p:sp>
      <p:pic>
        <p:nvPicPr>
          <p:cNvPr id="117" name="Google Shape;117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7300" y="1758420"/>
            <a:ext cx="8004700" cy="509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/>
        </p:nvSpPr>
        <p:spPr>
          <a:xfrm>
            <a:off x="135467" y="2324100"/>
            <a:ext cx="4051833" cy="4381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AJCC 8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muscularis propria: T2b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iliac LN: N3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N2,N3 = stage IIIB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T2bN3M0 (若無遠端轉移), stage IIIB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0" y="-4747"/>
            <a:ext cx="6096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怎麼治療, 化療給什麼？</a:t>
            </a:r>
            <a:endParaRPr/>
          </a:p>
        </p:txBody>
      </p:sp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0" y="2806191"/>
            <a:ext cx="12192000" cy="4051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NCCN guildeline 2021 v.4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給予 Downstaging systemic therapy 或 直接 CCRT，兩到三個月後 tumor reassessment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Downstaging systemic therapy 使用 DDMVAC 或是 Cisplatin + Gemcitabine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CCRT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RT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Whole bladder + pelvic LN 做 39.6-50.4Gy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Whole bladder 或 partial bladder 及 involved LN 做到 60-66 Gy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C/T: cisplatin/5FU, cisplatin/paclitaxel, 5-FU/mitomycin, cisplatin (doublet C/T preferred)</a:t>
            </a:r>
            <a:endParaRPr/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0100" y="546101"/>
            <a:ext cx="6096000" cy="280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838200" y="2487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8X歲病人cT2N0 bladder cancer,不能開刀, 請問bladder preservation你怎麼做</a:t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0" y="2073348"/>
            <a:ext cx="12192000" cy="4784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NCCN guildine 2021 v.4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Bladder preservation 需要先做 maximal TURBT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CCRT (preferred)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RT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Whole bladder + pelvic LN 做 39.6-50.4Gy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Whole bladder 或 partial bladder 及 involved LN 做到 60-66 Gy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C/T: cisplatin/5FU, cisplatin/paclitaxel, 5-FU/mitomycin, cisplatin (doublet C/T preferred)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TURBT</a:t>
            </a:r>
            <a:endParaRPr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254644"/>
            <a:ext cx="6096000" cy="1923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Simulation 的時候怎麼做，治療時是 empty bladder 還是 full bladder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838200" y="2006601"/>
            <a:ext cx="10515600" cy="46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Patient supine with immobilization device (alpha cradle, vacuum-lock bags)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Empty bladder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Tumor boost phase 可以考慮 full bladder with image guidance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CT scan (preferably with contrast) from 3 cm above L5 to inferior of ischial tuberosity (at least)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Consulting bladder map from TURBT for planning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附註：Green Journal 曾有研究指出 bladder wall motion 在 full bladder or empty bladder 並無差異，兩種作法其實都可以；可回答應依病人個別情形決定是否脹尿，例如配合度低、尿失禁的年老病人，可以 empty bladder就好。Ref: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https://pubmed.ncbi.nlm.nih.gov/25483834/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高榮 劉文山 (Prostate)</a:t>
            </a:r>
            <a:endParaRPr/>
          </a:p>
        </p:txBody>
      </p:sp>
      <p:sp>
        <p:nvSpPr>
          <p:cNvPr id="144" name="Google Shape;144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838200" y="365125"/>
            <a:ext cx="10515600" cy="1718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Prostate low risk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病人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68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歲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餘命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&gt;20],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請解釋治療選項及好處壞處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要特別注意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surveillance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和介入處置的優缺點及其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evidence)</a:t>
            </a:r>
            <a:br>
              <a:rPr b="0" i="0" lang="en-US" sz="2800" u="none" cap="none" strike="noStrike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203200" y="2527299"/>
            <a:ext cx="4281470" cy="3649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Low-risk group 餘命大於十年的治療方式包含：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Active surveillance (preferred)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EBRT or brachytherapy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RP</a:t>
            </a:r>
            <a:endParaRPr/>
          </a:p>
        </p:txBody>
      </p:sp>
      <p:pic>
        <p:nvPicPr>
          <p:cNvPr id="151" name="Google Shape;1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71" y="1892596"/>
            <a:ext cx="7707329" cy="428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idx="1" type="body"/>
          </p:nvPr>
        </p:nvSpPr>
        <p:spPr>
          <a:xfrm>
            <a:off x="838200" y="736601"/>
            <a:ext cx="10515600" cy="2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PortecT (clinical outcome), Hamdy et al., NEJM, 2016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 vs. Surgery vs. 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Primary outcome: prostate-cancer specific mortality (PCSM) at 10 years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🡪 PCSM 無差異</a:t>
            </a:r>
            <a:endParaRPr/>
          </a:p>
        </p:txBody>
      </p:sp>
      <p:graphicFrame>
        <p:nvGraphicFramePr>
          <p:cNvPr id="157" name="Google Shape;157;p12"/>
          <p:cNvGraphicFramePr/>
          <p:nvPr/>
        </p:nvGraphicFramePr>
        <p:xfrm>
          <a:off x="290956" y="2705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{7FAEBF57-B3A0-46E5-B739-FA6C928416AF}</a:tableStyleId>
              </a:tblPr>
              <a:tblGrid>
                <a:gridCol w="1218500"/>
                <a:gridCol w="582925"/>
                <a:gridCol w="1914850"/>
                <a:gridCol w="2913750"/>
                <a:gridCol w="2854650"/>
                <a:gridCol w="2125400"/>
              </a:tblGrid>
              <a:tr h="104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Treatment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PCSM </a:t>
                      </a:r>
                      <a:br>
                        <a:rPr lang="en-US" sz="1800"/>
                      </a:br>
                      <a:r>
                        <a:rPr lang="en-US" sz="1800"/>
                        <a:t>(/1000 person-year)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Incidence of clinical progression</a:t>
                      </a:r>
                      <a:br>
                        <a:rPr lang="en-US" sz="1800"/>
                      </a:br>
                      <a:r>
                        <a:rPr lang="en-US" sz="1800"/>
                        <a:t> (/1000 person-year)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Incidence of metastatic disease</a:t>
                      </a:r>
                      <a:br>
                        <a:rPr lang="en-US" sz="1800"/>
                      </a:br>
                      <a:r>
                        <a:rPr lang="en-US" sz="1800"/>
                        <a:t>(/1000 person-year)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All-cause mortality</a:t>
                      </a:r>
                      <a:br>
                        <a:rPr lang="en-US" sz="1800"/>
                      </a:br>
                      <a:r>
                        <a:rPr lang="en-US" sz="1800"/>
                        <a:t>(/1000 person-year)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66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545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22.9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6.3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10.9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66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Surgery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553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8.9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10.1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6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545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0.7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9.0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10.3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66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P-value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0.48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&lt;0.001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0.87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PortecT (patient reported outcome), Donovan et al., NEJM, 2016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比較AS, Surgery, RT 對於病患泌尿道、腸胃道、性功能的影響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Surgery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影響尿失禁及性功能，六個月達最嚴重較另外兩組差，且持續到試驗結束(五年)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影響腸胃道及性功能，六個月達最嚴重，後來慢慢恢復 (血便除外)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泌尿道及性功能慢慢下降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PSA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的高低和預後的關係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以及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PSA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還有哪些要注意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(density, doubling time,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受年齡影響等等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-1" y="1825624"/>
            <a:ext cx="12280605" cy="503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NCCN guideline 2021 v.2; handbook of evidence-based radiation oncology 3/e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 &lt; 10 ng/ml 🡪 very low or low risk group 🡪 5-10 year BFS: 75-90%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 10-20 ng/ml 🡪 intermediate risk group 🡪 5-10 year BFS: 50-85%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 &gt; 20 ng/ml 🡪 high or very high risk group 🡪 5-10 year BFS: 20-60%</a:t>
            </a:r>
            <a:endParaRPr/>
          </a:p>
          <a:p>
            <a:pPr indent="-9905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Radiation oncology 3/e A question-based review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 as a function of age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40-49 years: 1.5-2.5 ng/ml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50-59 years: 2.5-4 ng/ml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60-69 years: 4-5.5 ng/ml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70-79 years: 5.5-7 ng/ml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 velocity (PSAV)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PSAV &gt;= 2ng/ml/yr 🡪 assicaited with a higher risk of finging GS &gt;=7 prostate cancer on prostatectomy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 density (PSAD)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PSAD of &gt;= 0.15 ng/ml/cm3 🡪 higher risk of detecting prostate cancer on screening biopsy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Ratio of free to total PSA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&lt; 7% 🡪 highly suspicious of prostate cancer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&gt;25% 🡪 rarely associated with malignancy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Prostate high risk 病人, 病人打 ADT 之後問 RT 可不可以延後做, cue 你講出evidence (SPCG-7)</a:t>
            </a:r>
            <a:endParaRPr/>
          </a:p>
        </p:txBody>
      </p:sp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SPCG-7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875 patients, cT1b-T2N0, WHO Gr.2-3 or cT3N0, any grade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Total androgen blockade 3 months 🡪 flutamide vs. RT (70Gy) + flutamide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10-year OS: 70% vs. 61% and 10-year CSS: 88% vs. 76% (favor RT arm)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ADT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為什麼要用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2-3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年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也會問可不可以不要打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hormone)</a:t>
            </a:r>
            <a:endParaRPr/>
          </a:p>
        </p:txBody>
      </p:sp>
      <p:sp>
        <p:nvSpPr>
          <p:cNvPr id="181" name="Google Shape;181;p16"/>
          <p:cNvSpPr txBox="1"/>
          <p:nvPr>
            <p:ph idx="1" type="body"/>
          </p:nvPr>
        </p:nvSpPr>
        <p:spPr>
          <a:xfrm>
            <a:off x="-1" y="1825625"/>
            <a:ext cx="12310533" cy="503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RTOG 9202 比較 4 個月即 28 個月的 ADT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1541 pts cT2c-T4, PSA &lt; 150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Neoadjuvant + Concurrent ADT 4 個月 +/- 2 年 ADT (RT: 65-70Gy)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28 個月的 ADT 有較好的 10 年 CSS (89% vs. 84%), 局部復發 (12% vs. 22%) 及遠端轉移 (15% vs. 23%)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Subgroup analysis 發現 28 個月 ADT 在 GS &gt;=8 族群可延長 10 年 OS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EORTC 22961 比較 6 個月即 36 個月的 ADT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收錄 1113 位 cT2c-T4N0 或 cT1c-T2bpN1-N2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RT (70Gy) + 6 or 36 months ADT (neoadjuvant, concurrent, adjuvant)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36 個月 ADT 有較好 5 年 OS (85% vs. 81%) 及 CSM (3.2% vs. 4.7%)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EORTC 22863 比較 有沒有使用 ADT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收錄 412 位 cT3-T4 any grade 或 cT1-T2 Gr.3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EBRT (70Gy) +/- 3 年 ADT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 年 ADT 有較好的 5 年 OS (78% vs. 62%), CSS (94% vs. 79%), LF (1.7% vs. 16.4%) 及 distant failure (9.8% vs. 29.2%)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Prostate cancer, s/p OP,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什麼時候考慮做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adjuvant RT, adjuvant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的定義</a:t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NCCN guideline 2021 v.2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Adjuvant RT indication: positive margin(s), seminal vesicle invasion, extracapsular extension, or detectable PSA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Adjuvant and Salvage Radiotherapy after Prostatectomy: ASTRO/AUA Guideline (2013, amended 2018 &amp; 2019)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</a:pPr>
            <a:r>
              <a:rPr b="0" i="0" lang="en-US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Adjuvant RT is defined as the administration of RT to post-RP patients at a higher risk of recurrence because of adverse pathological features prior to evidence of disease recurrence (i.e., with an undetectable PSA).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-1772" y="1"/>
            <a:ext cx="12193771" cy="1690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Salvage RT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什麼時候做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多早算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salvage，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術後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PSA0.2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以上考慮做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salvage，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病人想等最好不要超過多少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?0.5</a:t>
            </a:r>
            <a:endParaRPr/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0" y="1825625"/>
            <a:ext cx="12192000" cy="3801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NCCN guideline 2021 v.2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Indications of salvage RT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Undetectable PSA that becomes subsequent detectable and increases on 2 measurements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 that remains persistently detectable after RP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Early salvage RT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早期研究多定義為 &lt;= 0.5 ng/ml (1)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近期研究多定義為 &lt;= 0.2 ng/ml (2)(包含三篇 RCT 探討 adjuvant vs. salvage RT)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Radiation oncology 3/e A question-based review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 &lt; 0.5 ng/ml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PSA &lt; 0.5 ng/ml associated with lower rates of distant metastases, cancer specific death, and all-cause mortality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-1772" y="5626890"/>
            <a:ext cx="12193771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Briganti A, Wiegel T, Joniau S et al: Early salvage radiation therapy does not compromise cancer control in patients with pT3N0 prostate cancer after radical prostatectomy: results of a match-controlled multi-institutional analysis. Eur Urol 2012; 62: 472.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Tendulkar RD, Agrawal S, Gao T, et al. Contemporary update of a multi-institutional predictive nomogram for salvage radiotherapy after radical prostatectomy. J Clin Oncol 2016; 34: 3648–54.</a:t>
            </a:r>
            <a:endParaRPr b="0" i="0" sz="18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18"/>
          <p:cNvGrpSpPr/>
          <p:nvPr/>
        </p:nvGrpSpPr>
        <p:grpSpPr>
          <a:xfrm>
            <a:off x="10125297" y="1329070"/>
            <a:ext cx="1815066" cy="4109536"/>
            <a:chOff x="10261305" y="1174357"/>
            <a:chExt cx="1930695" cy="4429125"/>
          </a:xfrm>
        </p:grpSpPr>
        <p:pic>
          <p:nvPicPr>
            <p:cNvPr id="196" name="Google Shape;19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06175" y="1174357"/>
              <a:ext cx="885825" cy="4429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61305" y="1847599"/>
              <a:ext cx="1044870" cy="357556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8" name="Google Shape;198;p18"/>
          <p:cNvCxnSpPr/>
          <p:nvPr/>
        </p:nvCxnSpPr>
        <p:spPr>
          <a:xfrm flipH="1" rot="10800000">
            <a:off x="9218428" y="3880884"/>
            <a:ext cx="906870" cy="212651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PSA bounce</a:t>
            </a:r>
            <a:endParaRPr/>
          </a:p>
        </p:txBody>
      </p:sp>
      <p:sp>
        <p:nvSpPr>
          <p:cNvPr id="204" name="Google Shape;20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Radiation oncology 3/e A question-based review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接受放射治療後 PSA 短暫上升，通常發生在治療後 12-18 個月以及接受 brachytherapy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Intermediate risk group，favorable/unfavorable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的定義</a:t>
            </a:r>
            <a:endParaRPr/>
          </a:p>
        </p:txBody>
      </p:sp>
      <p:sp>
        <p:nvSpPr>
          <p:cNvPr id="210" name="Google Shape;210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NCCN guideline 2021 v.2</a:t>
            </a:r>
            <a:endParaRPr/>
          </a:p>
        </p:txBody>
      </p:sp>
      <p:pic>
        <p:nvPicPr>
          <p:cNvPr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7512" y="3105703"/>
            <a:ext cx="6276975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何謂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Dose escalation</a:t>
            </a:r>
            <a:endParaRPr/>
          </a:p>
        </p:txBody>
      </p:sp>
      <p:sp>
        <p:nvSpPr>
          <p:cNvPr id="217" name="Google Shape;21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Radiation oncology 3/e A question-based review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四篇 RCT 探討 dose escalation (&gt;= 74Gy) 的影響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18" name="Google Shape;218;p21"/>
          <p:cNvGraphicFramePr/>
          <p:nvPr/>
        </p:nvGraphicFramePr>
        <p:xfrm>
          <a:off x="628649" y="29997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{7FAEBF57-B3A0-46E5-B739-FA6C928416AF}</a:tableStyleId>
              </a:tblPr>
              <a:tblGrid>
                <a:gridCol w="1557250"/>
                <a:gridCol w="2098700"/>
                <a:gridCol w="1557250"/>
                <a:gridCol w="1557250"/>
                <a:gridCol w="1557250"/>
                <a:gridCol w="26070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Study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Patient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N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RT dose (Gy)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Outcome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Result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MADCC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cT1b-T3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(21% LR,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47% IR,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32% HR)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301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78 vs. 70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8-yr FFF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8-yr CSS (NS)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8-yr OS (NS)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78% vs. 59% (LR &amp; HR)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99% vs. 95%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78% vs. 79%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PROG 9505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T1b-T2b,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PSA &lt; 15 ng/mL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393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79.2 vs. 70.2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5-yr bFFBF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5-yr LC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80% vs. 61%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68% vs. 48%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Dutch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T1b-T4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664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78 vs. 68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10-yr FFBF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49% vs. 43%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MRC RT01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cT1b-T3a,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PSA &lt; 50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843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74 vs. 64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5-yr bPFS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71% vs. 60%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Intermediate risk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的病人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dose escalation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還要給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hormone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嗎</a:t>
            </a:r>
            <a:endParaRPr/>
          </a:p>
        </p:txBody>
      </p:sp>
      <p:sp>
        <p:nvSpPr>
          <p:cNvPr id="224" name="Google Shape;224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EORTC 22991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819 patients (74.8% IR, 24.8% HR)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RT (70, 74, 78Gy) +/- ADT (6 months)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ADT improved biochemical failure (HR: 0.53) and clinical failure (HR: 0.63)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PSC III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600 patients (IR)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RT 70Gy + ADT vs. RT 76Gy + ADT vs. RT 76Gy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Higher rate of biochemical failure, higher rates of prostate cancer progression, and more deaths due to prostate cancer for RT 76Gy compared to RT 70Gy + ADT and RT 76Gy + ADT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Intermediate risk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的病人 b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rachy boost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有什麼好處</a:t>
            </a:r>
            <a:endParaRPr/>
          </a:p>
        </p:txBody>
      </p:sp>
      <p:sp>
        <p:nvSpPr>
          <p:cNvPr id="230" name="Google Shape;230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Radiation oncology 3/e A question-based review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RTOG 0232 (await full paper)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Less benefit of brachytherapy boost for favorable IR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Hoskin PJ et al.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218 patients, IR/HR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55Gy/20Fx vs. 35.75Gy/13Fx + HDR (17Gy/2Fx)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31% reduced risk of recurrence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ASCENDE-RT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398 patients, IR/HR patients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WPRT 46Gy + EBRT boost to 78Gy vs. LDR boost to 115Gy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50% risk of biochemical failure in the LDR boost arm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risk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的病人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brachy boost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有什麼好處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36" name="Google Shape;236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Hoskin PJ et al.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IR/HR patients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55Gy/20Fx vs. 35.75Gy/13Fx + HDR (17Gy/2Fx)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31% reduced risk of recurrence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ASCENDE-RT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IR/HR patients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WPRT 46Gy + EBRT boost to 78Gy vs. LDR boost to 115Gy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50% risk of biochemical failure in the LDR boost arm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Brachy </a:t>
            </a:r>
            <a:r>
              <a:rPr b="0" i="0" lang="en-US" sz="4400" u="none" cap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的主要好處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 </a:t>
            </a:r>
            <a:endParaRPr/>
          </a:p>
        </p:txBody>
      </p:sp>
      <p:sp>
        <p:nvSpPr>
          <p:cNvPr id="242" name="Google Shape;242;p25"/>
          <p:cNvSpPr txBox="1"/>
          <p:nvPr>
            <p:ph idx="1" type="body"/>
          </p:nvPr>
        </p:nvSpPr>
        <p:spPr>
          <a:xfrm>
            <a:off x="1772" y="1793266"/>
            <a:ext cx="12192000" cy="4741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</a:rPr>
              <a:t>NCCN guideline 2021 v.2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000000"/>
                </a:solidFill>
              </a:rPr>
              <a:t>Treatment completed in 1 day with little time lost from normal activities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Cancer control rates comparable to radical prostectomy (&gt;90%) for low-risk prostate cancer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000000"/>
                </a:solidFill>
              </a:rPr>
              <a:t>Risk of incontinence is minimal without TURP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</a:rPr>
              <a:t>E</a:t>
            </a:r>
            <a:r>
              <a:rPr b="0" i="0" lang="en-US" u="none" cap="none" strike="noStrike">
                <a:solidFill>
                  <a:srgbClr val="000000"/>
                </a:solidFill>
              </a:rPr>
              <a:t>rectile function preserved in the short term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u="none" cap="none" strike="noStrike">
                <a:solidFill>
                  <a:srgbClr val="000000"/>
                </a:solidFill>
              </a:rPr>
              <a:t>Rapid dose falloff 🡪 limit dose to adjacent OAR 🡪 decreased treatment related toxicities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0" i="0" lang="en-US" u="none" cap="none" strike="noStrike">
                <a:solidFill>
                  <a:srgbClr val="000000"/>
                </a:solidFill>
              </a:rPr>
              <a:t>Less associated with secondary malignancy (1)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0" y="6211669"/>
            <a:ext cx="12193771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Abdel-Wahab M., Reis I.M., Hamilton K. (2008) Second primary cancer after radiotherapy for prostate cancer -a SEER analysis of brachytherapy versus external beam radiotherapy.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J Radiat Oncol Biol Phys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72: 58–68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2021-09-06T03:04:31Z</dcterms:created>
  <dc:creator>Stephen Liu</dc:creator>
</cp:coreProperties>
</file>