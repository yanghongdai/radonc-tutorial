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</p:sldIdLst>
  <p:sldSz cx="9144000" cy="6858000" type="screen4x3"/>
  <p:notesSz cx="6858000" cy="9144000"/>
  <p:defaultTextStyle>
    <a:defPPr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1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F3A257-9616-493E-B2F0-4DE56136E3BD}" type="datetimeFigureOut">
              <a:rPr lang="zh-TW" altLang="en-US" smtClean="0"/>
              <a:t>2019/10/8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95C4-69A0-4F04-AE32-0E790EF155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4156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495C4-69A0-4F04-AE32-0E790EF1553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0976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 smtClean="0"/>
              <a:t>按一下以編輯母片子標題樣式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0F30F-11F3-4E30-A0C9-EEC0B7F9ADD9}" type="datetime1">
              <a:rPr kumimoji="1" lang="zh-TW" altLang="en-US" smtClean="0"/>
              <a:t>2019/10/8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9861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BD51-042A-4890-BFFD-2EFD2AABBAAC}" type="datetime1">
              <a:rPr kumimoji="1" lang="zh-TW" altLang="en-US" smtClean="0"/>
              <a:t>2019/10/8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28152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AFC77-B0CF-41D3-8999-1FDFC3EE35A9}" type="datetime1">
              <a:rPr kumimoji="1" lang="zh-TW" altLang="en-US" smtClean="0"/>
              <a:t>2019/10/8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20465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5544-746A-40DC-9796-5C4035B9BED7}" type="datetime1">
              <a:rPr kumimoji="1" lang="zh-TW" altLang="en-US" smtClean="0"/>
              <a:t>2019/10/8</a:t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7070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5104F-3723-45F7-B189-2A2CFED149F0}" type="datetime1">
              <a:rPr kumimoji="1" lang="zh-TW" altLang="en-US" smtClean="0"/>
              <a:t>2019/10/8</a:t>
            </a:fld>
            <a:endParaRPr kumimoji="1"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78434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F6D8-AFE4-4B68-BA21-97577487E07A}" type="datetime1">
              <a:rPr kumimoji="1" lang="zh-TW" altLang="en-US" smtClean="0"/>
              <a:t>2019/10/8</a:t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44105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B6271-E910-4596-B96B-77100315AFAC}" type="datetime1">
              <a:rPr kumimoji="1" lang="zh-TW" altLang="en-US" smtClean="0"/>
              <a:t>2019/10/8</a:t>
            </a:fld>
            <a:endParaRPr kumimoji="1"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38909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FE9C0-3512-4919-9982-B2033808F4A4}" type="datetime1">
              <a:rPr kumimoji="1" lang="zh-TW" altLang="en-US" smtClean="0"/>
              <a:t>2019/10/8</a:t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26820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7ECBB-4493-4BB3-9B6E-4F8787ED77CA}" type="datetime1">
              <a:rPr kumimoji="1" lang="zh-TW" altLang="en-US" smtClean="0"/>
              <a:t>2019/10/8</a:t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01101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FD681-E83C-400D-A21B-174D86A23A84}" type="datetime1">
              <a:rPr kumimoji="1" lang="zh-TW" altLang="en-US" smtClean="0"/>
              <a:t>2019/10/8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54190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E2CF-C437-44BE-8DE0-6D0BE1F2146C}" type="datetime1">
              <a:rPr kumimoji="1" lang="zh-TW" altLang="en-US" smtClean="0"/>
              <a:t>2019/10/8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9853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0BC0D-51BD-47D0-B19B-32FD62D27E03}" type="datetime1">
              <a:rPr kumimoji="1" lang="zh-TW" altLang="en-US" smtClean="0"/>
              <a:t>2019/10/8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B742F-D85F-6D42-9E24-50945DB902A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29214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s-IS" altLang="zh-TW" dirty="0" smtClean="0"/>
              <a:t>201</a:t>
            </a:r>
            <a:r>
              <a:rPr lang="en-US" altLang="zh-TW" dirty="0" smtClean="0"/>
              <a:t>9</a:t>
            </a:r>
            <a:r>
              <a:rPr lang="is-IS" altLang="zh-TW" dirty="0" smtClean="0"/>
              <a:t> </a:t>
            </a:r>
            <a:r>
              <a:rPr lang="zh-TW" altLang="is-IS" dirty="0"/>
              <a:t>口試</a:t>
            </a:r>
            <a:endParaRPr kumimoji="1" lang="zh-TW" altLang="en-US" dirty="0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879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9359095"/>
              </p:ext>
            </p:extLst>
          </p:nvPr>
        </p:nvGraphicFramePr>
        <p:xfrm>
          <a:off x="457200" y="971884"/>
          <a:ext cx="8229600" cy="540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527"/>
                <a:gridCol w="3218873"/>
                <a:gridCol w="2743200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/>
                        <a:t>考官名單</a:t>
                      </a:r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高醫陳妙芬</a:t>
                      </a:r>
                      <a:r>
                        <a:rPr lang="en-US" altLang="zh-TW" dirty="0" smtClean="0"/>
                        <a:t> </a:t>
                      </a:r>
                      <a:r>
                        <a:rPr lang="zh-TW" altLang="en-US" dirty="0" smtClean="0"/>
                        <a:t> </a:t>
                      </a:r>
                      <a:r>
                        <a:rPr lang="en-US" altLang="zh-TW" dirty="0" smtClean="0"/>
                        <a:t>(lower</a:t>
                      </a:r>
                      <a:r>
                        <a:rPr lang="zh-TW" altLang="en-US" dirty="0" smtClean="0"/>
                        <a:t> </a:t>
                      </a:r>
                      <a:r>
                        <a:rPr lang="en-US" altLang="zh-TW" dirty="0" smtClean="0"/>
                        <a:t>GI)</a:t>
                      </a:r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高醫黃琝儀</a:t>
                      </a:r>
                      <a:r>
                        <a:rPr lang="en-US" altLang="zh-TW" dirty="0" smtClean="0"/>
                        <a:t>(Upper GI)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GYN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亞東 熊佩韋  </a:t>
                      </a:r>
                      <a:r>
                        <a:rPr lang="en-US" altLang="zh-TW" dirty="0" smtClean="0"/>
                        <a:t>(Endometrial</a:t>
                      </a:r>
                      <a:r>
                        <a:rPr lang="zh-TW" altLang="zh-TW" dirty="0" smtClean="0"/>
                        <a:t> </a:t>
                      </a:r>
                      <a:r>
                        <a:rPr lang="en-US" altLang="zh-TW" dirty="0" err="1" smtClean="0"/>
                        <a:t>Cx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/>
                        <a:t>雙和</a:t>
                      </a:r>
                      <a:r>
                        <a:rPr lang="en-US" altLang="zh-TW" dirty="0" smtClean="0"/>
                        <a:t> </a:t>
                      </a:r>
                      <a:r>
                        <a:rPr lang="zh-TW" altLang="en-US" dirty="0" smtClean="0"/>
                        <a:t>李明憲 </a:t>
                      </a:r>
                      <a:r>
                        <a:rPr lang="en-US" altLang="zh-TW" dirty="0" smtClean="0"/>
                        <a:t>(Cervix)</a:t>
                      </a:r>
                    </a:p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GU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三總</a:t>
                      </a:r>
                      <a:r>
                        <a:rPr lang="en-US" altLang="zh-TW" dirty="0" smtClean="0"/>
                        <a:t> </a:t>
                      </a:r>
                      <a:r>
                        <a:rPr lang="zh-TW" altLang="en-US" dirty="0" smtClean="0"/>
                        <a:t>趙興隆 </a:t>
                      </a:r>
                      <a:r>
                        <a:rPr lang="en-US" altLang="zh-TW" dirty="0" smtClean="0"/>
                        <a:t>(Prostate)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/>
                        <a:t>中國 梁基安 </a:t>
                      </a:r>
                      <a:r>
                        <a:rPr lang="en-US" altLang="zh-TW" dirty="0" smtClean="0"/>
                        <a:t>(Prostate/Bladder)</a:t>
                      </a:r>
                    </a:p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林長 張東杰 </a:t>
                      </a:r>
                      <a:r>
                        <a:rPr lang="en-US" altLang="zh-TW" dirty="0" smtClean="0"/>
                        <a:t>(HN )</a:t>
                      </a:r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中山</a:t>
                      </a:r>
                      <a:r>
                        <a:rPr lang="en-US" altLang="zh-TW" dirty="0" smtClean="0"/>
                        <a:t> </a:t>
                      </a:r>
                      <a:r>
                        <a:rPr lang="zh-TW" altLang="en-US" dirty="0" smtClean="0"/>
                        <a:t>曾顯群 </a:t>
                      </a:r>
                      <a:r>
                        <a:rPr lang="en-US" altLang="zh-TW" dirty="0" smtClean="0"/>
                        <a:t>(</a:t>
                      </a:r>
                      <a:r>
                        <a:rPr lang="en-US" altLang="zh-TW" dirty="0" err="1" smtClean="0"/>
                        <a:t>npc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Breast Benign Palliative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高長</a:t>
                      </a:r>
                      <a:r>
                        <a:rPr lang="en-US" altLang="zh-TW" dirty="0" smtClean="0"/>
                        <a:t> </a:t>
                      </a:r>
                      <a:r>
                        <a:rPr lang="zh-TW" altLang="en-US" dirty="0" smtClean="0"/>
                        <a:t>黃英彥</a:t>
                      </a:r>
                      <a:r>
                        <a:rPr lang="en-US" altLang="zh-TW" dirty="0" smtClean="0"/>
                        <a:t>(BREAST)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/>
                        <a:t>國泰 吳錦榕 </a:t>
                      </a:r>
                      <a:r>
                        <a:rPr lang="en-US" altLang="zh-TW" dirty="0" smtClean="0"/>
                        <a:t>(Palliative/benign)</a:t>
                      </a:r>
                    </a:p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Hant" dirty="0" smtClean="0"/>
                        <a:t>CNS 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和信</a:t>
                      </a:r>
                      <a:r>
                        <a:rPr lang="en-US" altLang="zh-TW" dirty="0" smtClean="0"/>
                        <a:t> </a:t>
                      </a:r>
                      <a:r>
                        <a:rPr lang="zh-TW" altLang="en-US" dirty="0" smtClean="0"/>
                        <a:t>蔡玉真</a:t>
                      </a:r>
                      <a:r>
                        <a:rPr lang="zh-Hant" altLang="en-US" dirty="0" smtClean="0"/>
                        <a:t> </a:t>
                      </a:r>
                      <a:r>
                        <a:rPr lang="en-US" altLang="zh-Hant" dirty="0" smtClean="0"/>
                        <a:t>(PED)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慈濟</a:t>
                      </a:r>
                      <a:r>
                        <a:rPr lang="en-US" altLang="zh-TW" dirty="0" smtClean="0"/>
                        <a:t> </a:t>
                      </a:r>
                      <a:r>
                        <a:rPr lang="zh-TW" altLang="en-US" dirty="0" smtClean="0"/>
                        <a:t>劉岱瑋</a:t>
                      </a:r>
                      <a:r>
                        <a:rPr lang="en-US" altLang="zh-TW" dirty="0" smtClean="0"/>
                        <a:t>(CNS)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Lung Mediastinum </a:t>
                      </a:r>
                      <a:endParaRPr lang="zh-TW" altLang="en-US" dirty="0" smtClean="0"/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許文林 </a:t>
                      </a:r>
                      <a:r>
                        <a:rPr lang="en-US" altLang="zh-TW" dirty="0" smtClean="0"/>
                        <a:t>(Lung)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/>
                        <a:t>仁愛 呂志得 </a:t>
                      </a:r>
                      <a:r>
                        <a:rPr lang="en-US" altLang="zh-TW" dirty="0" smtClean="0"/>
                        <a:t>(Sarcoma)</a:t>
                      </a:r>
                      <a:endParaRPr kumimoji="1" lang="zh-TW" altLang="en-US" dirty="0" smtClean="0"/>
                    </a:p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03486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t"/>
            <a:r>
              <a:rPr lang="en-US" altLang="zh-TW" b="1" dirty="0"/>
              <a:t>GI</a:t>
            </a:r>
            <a:r>
              <a:rPr lang="zh-TW" altLang="zh-TW" dirty="0"/>
              <a:t/>
            </a:r>
            <a:br>
              <a:rPr lang="zh-TW" altLang="zh-TW" dirty="0"/>
            </a:br>
            <a:r>
              <a:rPr lang="zh-TW" altLang="zh-TW" b="1" dirty="0"/>
              <a:t>高醫陳妙芬</a:t>
            </a:r>
            <a:r>
              <a:rPr lang="en-US" altLang="zh-TW" b="1" dirty="0"/>
              <a:t> </a:t>
            </a:r>
            <a:r>
              <a:rPr lang="zh-TW" altLang="zh-TW" b="1" dirty="0"/>
              <a:t> </a:t>
            </a:r>
            <a:r>
              <a:rPr lang="en-US" altLang="zh-TW" b="1" dirty="0"/>
              <a:t>(lower</a:t>
            </a:r>
            <a:r>
              <a:rPr lang="zh-TW" altLang="zh-TW" b="1" dirty="0"/>
              <a:t> </a:t>
            </a:r>
            <a:r>
              <a:rPr lang="en-US" altLang="zh-TW" b="1" dirty="0"/>
              <a:t>GI</a:t>
            </a:r>
            <a:r>
              <a:rPr lang="en-US" altLang="zh-TW" b="1" dirty="0" smtClean="0"/>
              <a:t>)</a:t>
            </a:r>
            <a:r>
              <a:rPr lang="zh-TW" altLang="zh-TW" dirty="0"/>
              <a:t/>
            </a:r>
            <a:br>
              <a:rPr lang="zh-TW" altLang="zh-TW" dirty="0"/>
            </a:b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 smtClean="0"/>
              <a:t>Colon cancer </a:t>
            </a:r>
            <a:r>
              <a:rPr kumimoji="1" lang="zh-TW" altLang="en-US" dirty="0" smtClean="0"/>
              <a:t>治療處理，左右淋巴引流，血管供應，好發族群，基因異常，標靶藥物使用</a:t>
            </a:r>
            <a:endParaRPr kumimoji="1" lang="en-US" altLang="zh-TW" dirty="0" smtClean="0"/>
          </a:p>
          <a:p>
            <a:r>
              <a:rPr kumimoji="1" lang="en-US" altLang="zh-TW" dirty="0" smtClean="0"/>
              <a:t>Rectum cancer</a:t>
            </a:r>
            <a:r>
              <a:rPr kumimoji="1" lang="zh-TW" altLang="en-US" dirty="0"/>
              <a:t>治療處理</a:t>
            </a:r>
            <a:r>
              <a:rPr kumimoji="1" lang="zh-TW" altLang="en-US" dirty="0" smtClean="0"/>
              <a:t>，解剖構造，上中下段</a:t>
            </a:r>
            <a:endParaRPr kumimoji="1" lang="en-US" altLang="zh-TW" dirty="0" smtClean="0"/>
          </a:p>
          <a:p>
            <a:r>
              <a:rPr kumimoji="1" lang="en-US" altLang="zh-TW" dirty="0" smtClean="0"/>
              <a:t>Colon cancer RT </a:t>
            </a:r>
            <a:r>
              <a:rPr kumimoji="1" lang="zh-TW" altLang="en-US" dirty="0" smtClean="0"/>
              <a:t>角色處理，劑量規劃</a:t>
            </a:r>
            <a:endParaRPr kumimoji="1" lang="en-US" altLang="zh-TW" dirty="0" smtClean="0"/>
          </a:p>
          <a:p>
            <a:r>
              <a:rPr kumimoji="1" lang="en-US" altLang="zh-TW" dirty="0" smtClean="0"/>
              <a:t>Rectum cancer short course, long course</a:t>
            </a:r>
            <a:r>
              <a:rPr kumimoji="1" lang="zh-TW" altLang="en-US" dirty="0" smtClean="0"/>
              <a:t>，好處壞處，副作用</a:t>
            </a:r>
            <a:r>
              <a:rPr kumimoji="1" lang="en-US" altLang="zh-TW" dirty="0" smtClean="0"/>
              <a:t> …..</a:t>
            </a:r>
          </a:p>
          <a:p>
            <a:r>
              <a:rPr kumimoji="1" lang="en-US" altLang="zh-TW" dirty="0" smtClean="0"/>
              <a:t>(POLISH</a:t>
            </a:r>
            <a:r>
              <a:rPr kumimoji="1" lang="zh-TW" altLang="en-US" dirty="0" smtClean="0"/>
              <a:t> </a:t>
            </a:r>
            <a:r>
              <a:rPr kumimoji="1" lang="en-US" altLang="zh-TW" dirty="0" smtClean="0"/>
              <a:t>trial,</a:t>
            </a:r>
            <a:r>
              <a:rPr kumimoji="1" lang="zh-TW" altLang="en-US" dirty="0" smtClean="0"/>
              <a:t> </a:t>
            </a:r>
            <a:r>
              <a:rPr kumimoji="1" lang="en-US" altLang="zh-TW" dirty="0" smtClean="0"/>
              <a:t>Swedish,</a:t>
            </a:r>
            <a:r>
              <a:rPr kumimoji="1" lang="zh-TW" altLang="en-US" dirty="0" smtClean="0"/>
              <a:t> </a:t>
            </a:r>
            <a:r>
              <a:rPr kumimoji="1" lang="en-US" altLang="zh-TW" dirty="0" smtClean="0"/>
              <a:t>AIO-094</a:t>
            </a:r>
            <a:r>
              <a:rPr kumimoji="1" lang="zh-TW" altLang="en-US" dirty="0" smtClean="0"/>
              <a:t>內容</a:t>
            </a:r>
            <a:r>
              <a:rPr kumimoji="1" lang="en-US" altLang="zh-TW" dirty="0" smtClean="0"/>
              <a:t>)</a:t>
            </a:r>
            <a:endParaRPr kumimoji="1"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61915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t"/>
            <a:r>
              <a:rPr lang="en-US" altLang="zh-TW" b="1" dirty="0"/>
              <a:t>GI</a:t>
            </a:r>
            <a:r>
              <a:rPr lang="zh-TW" altLang="zh-TW" dirty="0"/>
              <a:t/>
            </a:r>
            <a:br>
              <a:rPr lang="zh-TW" altLang="zh-TW" dirty="0"/>
            </a:br>
            <a:r>
              <a:rPr lang="zh-TW" altLang="zh-TW" b="1" dirty="0" smtClean="0"/>
              <a:t>高</a:t>
            </a:r>
            <a:r>
              <a:rPr lang="zh-TW" altLang="zh-TW" b="1" dirty="0"/>
              <a:t>醫黃琝儀</a:t>
            </a:r>
            <a:r>
              <a:rPr lang="en-US" altLang="zh-TW" b="1" dirty="0"/>
              <a:t>(Upper GI)</a:t>
            </a:r>
            <a:r>
              <a:rPr lang="zh-TW" altLang="zh-TW" dirty="0"/>
              <a:t/>
            </a:r>
            <a:br>
              <a:rPr lang="zh-TW" altLang="zh-TW" dirty="0"/>
            </a:b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Esophageal cancer </a:t>
            </a:r>
            <a:r>
              <a:rPr kumimoji="1" lang="zh-TW" altLang="en-US" dirty="0" smtClean="0"/>
              <a:t>治療處理，醫院做法，說出</a:t>
            </a:r>
            <a:r>
              <a:rPr kumimoji="1" lang="en-US" altLang="zh-TW" dirty="0" smtClean="0"/>
              <a:t>cross trial </a:t>
            </a:r>
          </a:p>
          <a:p>
            <a:r>
              <a:rPr kumimoji="1" lang="en-US" altLang="zh-TW" dirty="0" smtClean="0"/>
              <a:t>HCC</a:t>
            </a:r>
            <a:r>
              <a:rPr kumimoji="1" lang="zh-TW" altLang="en-US" dirty="0" smtClean="0"/>
              <a:t> 各家醫院做法，</a:t>
            </a:r>
            <a:r>
              <a:rPr kumimoji="1" lang="en-US" altLang="zh-TW" dirty="0" smtClean="0"/>
              <a:t>SBRT</a:t>
            </a:r>
            <a:r>
              <a:rPr kumimoji="1" lang="zh-TW" altLang="en-US" dirty="0" smtClean="0"/>
              <a:t>收錄做法，</a:t>
            </a:r>
            <a:r>
              <a:rPr kumimoji="1" lang="en-US" altLang="zh-TW" dirty="0" smtClean="0"/>
              <a:t>TACE</a:t>
            </a:r>
            <a:r>
              <a:rPr kumimoji="1" lang="zh-TW" altLang="en-US" dirty="0" smtClean="0"/>
              <a:t> </a:t>
            </a:r>
            <a:r>
              <a:rPr kumimoji="1" lang="en-US" altLang="zh-TW" dirty="0" smtClean="0"/>
              <a:t>V.S.</a:t>
            </a:r>
            <a:r>
              <a:rPr kumimoji="1" lang="zh-TW" altLang="en-US" dirty="0" smtClean="0"/>
              <a:t> </a:t>
            </a:r>
            <a:r>
              <a:rPr kumimoji="1" lang="en-US" altLang="zh-TW" dirty="0" smtClean="0"/>
              <a:t>SBRT</a:t>
            </a:r>
            <a:r>
              <a:rPr kumimoji="1" lang="zh-TW" altLang="en-US" dirty="0" smtClean="0"/>
              <a:t> 治療效果</a:t>
            </a:r>
            <a:endParaRPr kumimoji="1"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61778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t"/>
            <a:r>
              <a:rPr lang="en-US" altLang="zh-TW" b="1" dirty="0"/>
              <a:t>GYN</a:t>
            </a:r>
            <a:r>
              <a:rPr lang="zh-TW" altLang="zh-TW" dirty="0"/>
              <a:t/>
            </a:r>
            <a:br>
              <a:rPr lang="zh-TW" altLang="zh-TW" dirty="0"/>
            </a:br>
            <a:r>
              <a:rPr lang="zh-TW" altLang="zh-TW" b="1" dirty="0"/>
              <a:t>亞東 熊佩韋  </a:t>
            </a:r>
            <a:r>
              <a:rPr lang="en-US" altLang="zh-TW" b="1" dirty="0"/>
              <a:t>(Endometrial</a:t>
            </a:r>
            <a:r>
              <a:rPr lang="zh-TW" altLang="zh-TW" b="1" dirty="0"/>
              <a:t> </a:t>
            </a:r>
            <a:r>
              <a:rPr lang="en-US" altLang="zh-TW" b="1" dirty="0" err="1"/>
              <a:t>Cx</a:t>
            </a:r>
            <a:r>
              <a:rPr lang="en-US" altLang="zh-TW" b="1" dirty="0"/>
              <a:t>)</a:t>
            </a:r>
            <a:r>
              <a:rPr lang="zh-TW" altLang="zh-TW" dirty="0"/>
              <a:t/>
            </a:r>
            <a:br>
              <a:rPr lang="zh-TW" altLang="zh-TW" dirty="0"/>
            </a:b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Endometrial CA &gt;50% </a:t>
            </a:r>
            <a:r>
              <a:rPr kumimoji="1" lang="en-US" altLang="zh-TW" dirty="0" err="1"/>
              <a:t>myometrial</a:t>
            </a:r>
            <a:r>
              <a:rPr kumimoji="1" lang="en-US" altLang="zh-TW" dirty="0"/>
              <a:t> invasion, G2,LVSI(+), post-op management? dose? </a:t>
            </a:r>
          </a:p>
          <a:p>
            <a:r>
              <a:rPr kumimoji="1" lang="en-US" altLang="zh-TW" dirty="0"/>
              <a:t>FIGO stage IIIA</a:t>
            </a:r>
            <a:r>
              <a:rPr kumimoji="1" lang="zh-TW" altLang="en-US" dirty="0"/>
              <a:t>的</a:t>
            </a:r>
            <a:r>
              <a:rPr kumimoji="1" lang="en-US" altLang="zh-TW" dirty="0"/>
              <a:t>endometrial CA management?</a:t>
            </a:r>
          </a:p>
          <a:p>
            <a:r>
              <a:rPr kumimoji="1" lang="en-US" altLang="zh-TW" dirty="0" err="1"/>
              <a:t>Brachy</a:t>
            </a:r>
            <a:r>
              <a:rPr kumimoji="1" lang="en-US" altLang="zh-TW" dirty="0"/>
              <a:t>(IVRT) dose? prescription to? OAR dose?</a:t>
            </a:r>
          </a:p>
          <a:p>
            <a:r>
              <a:rPr kumimoji="1" lang="en-US" altLang="zh-TW" dirty="0"/>
              <a:t>GOG99, PROTEC-1, </a:t>
            </a:r>
            <a:r>
              <a:rPr kumimoji="1" lang="en-US" altLang="zh-TW" dirty="0" smtClean="0"/>
              <a:t>2, 3</a:t>
            </a:r>
            <a:r>
              <a:rPr kumimoji="1" lang="zh-TW" altLang="en-US" dirty="0" smtClean="0"/>
              <a:t> 內容</a:t>
            </a:r>
            <a:r>
              <a:rPr kumimoji="1" lang="en-US" altLang="zh-TW" dirty="0"/>
              <a:t>?</a:t>
            </a:r>
            <a:r>
              <a:rPr kumimoji="1" lang="zh-TW" altLang="en-US" dirty="0"/>
              <a:t>有哪些</a:t>
            </a:r>
            <a:r>
              <a:rPr kumimoji="1" lang="en-US" altLang="zh-TW" dirty="0"/>
              <a:t>risk factor?</a:t>
            </a:r>
          </a:p>
          <a:p>
            <a:endParaRPr kumimoji="1"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00324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t"/>
            <a:r>
              <a:rPr lang="en-US" altLang="zh-TW" b="1" dirty="0"/>
              <a:t>GYN</a:t>
            </a:r>
            <a:r>
              <a:rPr lang="zh-TW" altLang="zh-TW" dirty="0"/>
              <a:t/>
            </a:r>
            <a:br>
              <a:rPr lang="zh-TW" altLang="zh-TW" dirty="0"/>
            </a:br>
            <a:r>
              <a:rPr lang="zh-TW" altLang="zh-TW" b="1" dirty="0" smtClean="0"/>
              <a:t>雙</a:t>
            </a:r>
            <a:r>
              <a:rPr lang="zh-TW" altLang="zh-TW" b="1" dirty="0"/>
              <a:t>和</a:t>
            </a:r>
            <a:r>
              <a:rPr lang="en-US" altLang="zh-TW" b="1" dirty="0"/>
              <a:t> </a:t>
            </a:r>
            <a:r>
              <a:rPr lang="zh-TW" altLang="zh-TW" b="1" dirty="0"/>
              <a:t>李明憲 </a:t>
            </a:r>
            <a:r>
              <a:rPr lang="en-US" altLang="zh-TW" b="1" dirty="0"/>
              <a:t>(Cervix)</a:t>
            </a:r>
            <a:r>
              <a:rPr lang="zh-TW" altLang="zh-TW" dirty="0"/>
              <a:t/>
            </a:r>
            <a:br>
              <a:rPr lang="zh-TW" altLang="zh-TW" dirty="0"/>
            </a:b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smtClean="0"/>
              <a:t>Young age with </a:t>
            </a:r>
            <a:r>
              <a:rPr kumimoji="1" lang="en-US" altLang="zh-TW" dirty="0"/>
              <a:t>newly found cervical </a:t>
            </a:r>
            <a:r>
              <a:rPr kumimoji="1" lang="en-US" altLang="zh-TW" dirty="0" smtClean="0"/>
              <a:t>CA</a:t>
            </a:r>
            <a:r>
              <a:rPr kumimoji="1" lang="zh-TW" altLang="en-US" dirty="0" smtClean="0"/>
              <a:t>，但是只做</a:t>
            </a:r>
            <a:r>
              <a:rPr kumimoji="1" lang="en-US" altLang="zh-TW" dirty="0" smtClean="0"/>
              <a:t>simple</a:t>
            </a:r>
            <a:r>
              <a:rPr kumimoji="1" lang="zh-TW" altLang="en-US" dirty="0"/>
              <a:t> </a:t>
            </a:r>
            <a:r>
              <a:rPr kumimoji="1" lang="en-US" altLang="zh-TW" dirty="0" err="1" smtClean="0"/>
              <a:t>hystectomy</a:t>
            </a:r>
            <a:r>
              <a:rPr kumimoji="1" lang="zh-TW" altLang="en-US" dirty="0" smtClean="0"/>
              <a:t>，後續建議治療方式</a:t>
            </a:r>
            <a:endParaRPr kumimoji="1" lang="en-US" altLang="zh-TW" dirty="0" smtClean="0"/>
          </a:p>
          <a:p>
            <a:r>
              <a:rPr kumimoji="1" lang="en-US" altLang="zh-TW" dirty="0" smtClean="0"/>
              <a:t>Case </a:t>
            </a:r>
            <a:r>
              <a:rPr kumimoji="1" lang="en-US" altLang="zh-TW" dirty="0" smtClean="0">
                <a:sym typeface="Wingdings" panose="05000000000000000000" pitchFamily="2" charset="2"/>
              </a:rPr>
              <a:t></a:t>
            </a:r>
            <a:r>
              <a:rPr kumimoji="1" lang="en-US" altLang="zh-TW" dirty="0" smtClean="0"/>
              <a:t>Sadie‘s</a:t>
            </a:r>
            <a:r>
              <a:rPr kumimoji="1" lang="zh-TW" altLang="en-US" dirty="0" smtClean="0"/>
              <a:t> </a:t>
            </a:r>
            <a:r>
              <a:rPr kumimoji="1" lang="en-US" altLang="zh-TW" dirty="0" smtClean="0"/>
              <a:t>criteria</a:t>
            </a:r>
            <a:r>
              <a:rPr kumimoji="1" lang="zh-TW" altLang="en-US" dirty="0" smtClean="0"/>
              <a:t> 判斷是否</a:t>
            </a:r>
            <a:r>
              <a:rPr kumimoji="1" lang="en-US" altLang="zh-TW" dirty="0" smtClean="0"/>
              <a:t>RT</a:t>
            </a:r>
          </a:p>
          <a:p>
            <a:r>
              <a:rPr kumimoji="1" lang="en-US" altLang="zh-TW" dirty="0" smtClean="0"/>
              <a:t>T3b case </a:t>
            </a:r>
            <a:r>
              <a:rPr kumimoji="1" lang="zh-TW" altLang="en-US" dirty="0" smtClean="0"/>
              <a:t>治療處理，特別要注意是否放</a:t>
            </a:r>
            <a:r>
              <a:rPr kumimoji="1" lang="zh-TW" altLang="en-US" dirty="0"/>
              <a:t>置</a:t>
            </a:r>
            <a:r>
              <a:rPr kumimoji="1" lang="en-US" altLang="zh-TW" dirty="0" smtClean="0"/>
              <a:t>double J</a:t>
            </a:r>
          </a:p>
          <a:p>
            <a:r>
              <a:rPr kumimoji="1" lang="en-US" altLang="zh-TW" dirty="0" err="1" smtClean="0"/>
              <a:t>Protec</a:t>
            </a:r>
            <a:r>
              <a:rPr kumimoji="1" lang="en-US" altLang="zh-TW" dirty="0" smtClean="0"/>
              <a:t> 3 trial </a:t>
            </a:r>
            <a:r>
              <a:rPr kumimoji="1" lang="zh-TW" altLang="en-US" dirty="0" smtClean="0"/>
              <a:t>的結論</a:t>
            </a:r>
            <a:endParaRPr kumimoji="1" lang="en-US" altLang="zh-TW" dirty="0" smtClean="0"/>
          </a:p>
          <a:p>
            <a:r>
              <a:rPr kumimoji="1" lang="zh-TW" altLang="en-US" dirty="0" smtClean="0"/>
              <a:t>建議閱讀</a:t>
            </a:r>
            <a:r>
              <a:rPr kumimoji="1" lang="en-US" altLang="zh-TW" dirty="0" smtClean="0"/>
              <a:t>2019.09</a:t>
            </a:r>
            <a:r>
              <a:rPr kumimoji="1" lang="zh-TW" altLang="en-US" dirty="0" smtClean="0"/>
              <a:t>月會投影片</a:t>
            </a:r>
            <a:endParaRPr kumimoji="1"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34818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t"/>
            <a:r>
              <a:rPr lang="en-US" altLang="zh-TW" b="1" dirty="0"/>
              <a:t>GU</a:t>
            </a:r>
            <a:r>
              <a:rPr lang="zh-TW" altLang="zh-TW" dirty="0"/>
              <a:t/>
            </a:r>
            <a:br>
              <a:rPr lang="zh-TW" altLang="zh-TW" dirty="0"/>
            </a:br>
            <a:r>
              <a:rPr lang="zh-TW" altLang="zh-TW" b="1" dirty="0"/>
              <a:t>三總</a:t>
            </a:r>
            <a:r>
              <a:rPr lang="en-US" altLang="zh-TW" b="1" dirty="0"/>
              <a:t> </a:t>
            </a:r>
            <a:r>
              <a:rPr lang="zh-TW" altLang="zh-TW" b="1" dirty="0"/>
              <a:t>趙興隆 </a:t>
            </a:r>
            <a:r>
              <a:rPr lang="en-US" altLang="zh-TW" b="1" dirty="0"/>
              <a:t>(Prostate)</a:t>
            </a:r>
            <a:r>
              <a:rPr lang="zh-TW" altLang="zh-TW" dirty="0"/>
              <a:t/>
            </a:r>
            <a:br>
              <a:rPr lang="zh-TW" altLang="zh-TW" dirty="0"/>
            </a:b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 smtClean="0"/>
              <a:t>休息</a:t>
            </a:r>
            <a:endParaRPr kumimoji="1"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7827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t"/>
            <a:r>
              <a:rPr lang="en-US" altLang="zh-TW" b="1" dirty="0"/>
              <a:t>GU</a:t>
            </a:r>
            <a:r>
              <a:rPr lang="zh-TW" altLang="zh-TW" dirty="0"/>
              <a:t/>
            </a:r>
            <a:br>
              <a:rPr lang="zh-TW" altLang="zh-TW" dirty="0"/>
            </a:br>
            <a:r>
              <a:rPr lang="zh-TW" altLang="zh-TW" b="1" dirty="0" smtClean="0"/>
              <a:t>中國 </a:t>
            </a:r>
            <a:r>
              <a:rPr lang="zh-TW" altLang="zh-TW" b="1" dirty="0"/>
              <a:t>梁基安 </a:t>
            </a:r>
            <a:r>
              <a:rPr lang="en-US" altLang="zh-TW" b="1" dirty="0"/>
              <a:t>(Prostate/Bladder)</a:t>
            </a:r>
            <a:r>
              <a:rPr lang="zh-TW" altLang="zh-TW" dirty="0"/>
              <a:t/>
            </a:r>
            <a:br>
              <a:rPr lang="zh-TW" altLang="zh-TW" dirty="0"/>
            </a:b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Bladder cancer </a:t>
            </a:r>
            <a:r>
              <a:rPr kumimoji="1" lang="zh-TW" altLang="en-US" dirty="0" smtClean="0"/>
              <a:t>的</a:t>
            </a:r>
            <a:r>
              <a:rPr kumimoji="1" lang="en-US" altLang="zh-TW" dirty="0" smtClean="0"/>
              <a:t>staging</a:t>
            </a:r>
          </a:p>
          <a:p>
            <a:r>
              <a:rPr kumimoji="1" lang="en-US" altLang="zh-TW" dirty="0" smtClean="0"/>
              <a:t>Bladder cancer /neuroendocrine </a:t>
            </a:r>
            <a:r>
              <a:rPr kumimoji="1" lang="zh-TW" altLang="en-US" dirty="0" smtClean="0"/>
              <a:t>的處理不同</a:t>
            </a:r>
            <a:endParaRPr kumimoji="1" lang="en-US" altLang="zh-TW" dirty="0" smtClean="0"/>
          </a:p>
          <a:p>
            <a:r>
              <a:rPr kumimoji="1" lang="en-US" altLang="zh-TW" dirty="0" smtClean="0">
                <a:sym typeface="Wingdings" panose="05000000000000000000" pitchFamily="2" charset="2"/>
              </a:rPr>
              <a:t></a:t>
            </a:r>
            <a:r>
              <a:rPr kumimoji="1" lang="zh-TW" altLang="en-US" dirty="0" smtClean="0">
                <a:sym typeface="Wingdings" panose="05000000000000000000" pitchFamily="2" charset="2"/>
              </a:rPr>
              <a:t>說出化療藥物以及</a:t>
            </a:r>
            <a:r>
              <a:rPr kumimoji="1" lang="en-US" altLang="zh-TW" dirty="0" smtClean="0">
                <a:sym typeface="Wingdings" panose="05000000000000000000" pitchFamily="2" charset="2"/>
              </a:rPr>
              <a:t>staging</a:t>
            </a:r>
            <a:r>
              <a:rPr kumimoji="1" lang="zh-TW" altLang="en-US" dirty="0" smtClean="0">
                <a:sym typeface="Wingdings" panose="05000000000000000000" pitchFamily="2" charset="2"/>
              </a:rPr>
              <a:t> </a:t>
            </a:r>
            <a:r>
              <a:rPr kumimoji="1" lang="en-US" altLang="zh-TW" dirty="0" smtClean="0">
                <a:sym typeface="Wingdings" panose="05000000000000000000" pitchFamily="2" charset="2"/>
              </a:rPr>
              <a:t>workup</a:t>
            </a:r>
            <a:r>
              <a:rPr kumimoji="1" lang="zh-TW" altLang="en-US" dirty="0" smtClean="0">
                <a:sym typeface="Wingdings" panose="05000000000000000000" pitchFamily="2" charset="2"/>
              </a:rPr>
              <a:t> 要特別做腦部</a:t>
            </a:r>
            <a:r>
              <a:rPr kumimoji="1" lang="en-US" altLang="zh-TW" dirty="0" smtClean="0">
                <a:sym typeface="Wingdings" panose="05000000000000000000" pitchFamily="2" charset="2"/>
              </a:rPr>
              <a:t>MRI</a:t>
            </a:r>
          </a:p>
          <a:p>
            <a:r>
              <a:rPr kumimoji="1" lang="en-US" altLang="zh-TW" dirty="0" smtClean="0"/>
              <a:t>Bladder cancer T2N+CASE </a:t>
            </a:r>
            <a:r>
              <a:rPr kumimoji="1" lang="zh-TW" altLang="en-US" dirty="0" smtClean="0"/>
              <a:t>處理</a:t>
            </a:r>
            <a:endParaRPr kumimoji="1" lang="en-US" altLang="zh-TW" dirty="0" smtClean="0"/>
          </a:p>
          <a:p>
            <a:r>
              <a:rPr kumimoji="1" lang="en-US" altLang="zh-TW" dirty="0" smtClean="0"/>
              <a:t>Bladder cancer Post-op RT indication </a:t>
            </a:r>
          </a:p>
          <a:p>
            <a:r>
              <a:rPr kumimoji="1" lang="en-US" altLang="zh-TW" dirty="0" smtClean="0"/>
              <a:t>Prostate cancer staging, adjuvant RT, Salvage RT</a:t>
            </a:r>
          </a:p>
          <a:p>
            <a:endParaRPr kumimoji="1"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99438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t"/>
            <a:r>
              <a:rPr lang="en-US" altLang="zh-TW" b="1" dirty="0"/>
              <a:t>HN</a:t>
            </a:r>
            <a:r>
              <a:rPr lang="zh-TW" altLang="zh-TW" dirty="0"/>
              <a:t/>
            </a:r>
            <a:br>
              <a:rPr lang="zh-TW" altLang="zh-TW" dirty="0"/>
            </a:br>
            <a:r>
              <a:rPr lang="zh-TW" altLang="zh-TW" b="1" dirty="0" smtClean="0"/>
              <a:t>林長 張東杰 </a:t>
            </a:r>
            <a:r>
              <a:rPr lang="en-US" altLang="zh-TW" b="1" dirty="0" smtClean="0"/>
              <a:t>(HN )</a:t>
            </a:r>
            <a:r>
              <a:rPr lang="zh-TW" altLang="zh-TW" dirty="0" smtClean="0"/>
              <a:t/>
            </a:r>
            <a:br>
              <a:rPr lang="zh-TW" altLang="zh-TW" dirty="0" smtClean="0"/>
            </a:b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Adenoid cystic carcinoma of the </a:t>
            </a:r>
            <a:r>
              <a:rPr kumimoji="1" lang="en-US" altLang="zh-TW" dirty="0" err="1" smtClean="0"/>
              <a:t>ethmoid</a:t>
            </a:r>
            <a:r>
              <a:rPr kumimoji="1" lang="en-US" altLang="zh-TW" dirty="0" smtClean="0"/>
              <a:t> sinus</a:t>
            </a:r>
          </a:p>
          <a:p>
            <a:r>
              <a:rPr kumimoji="1" lang="en-US" altLang="zh-TW" dirty="0" smtClean="0"/>
              <a:t>Treatment?</a:t>
            </a:r>
            <a:r>
              <a:rPr kumimoji="1" lang="zh-TW" altLang="en-US" dirty="0" smtClean="0"/>
              <a:t> </a:t>
            </a:r>
            <a:r>
              <a:rPr kumimoji="1" lang="en-US" altLang="zh-TW" dirty="0" smtClean="0"/>
              <a:t>RT</a:t>
            </a:r>
            <a:r>
              <a:rPr kumimoji="1" lang="zh-TW" altLang="en-US" dirty="0" smtClean="0"/>
              <a:t> </a:t>
            </a:r>
            <a:r>
              <a:rPr kumimoji="1" lang="en-US" altLang="zh-TW" dirty="0" smtClean="0"/>
              <a:t>or</a:t>
            </a:r>
            <a:r>
              <a:rPr kumimoji="1" lang="zh-TW" altLang="en-US" dirty="0" smtClean="0"/>
              <a:t> </a:t>
            </a:r>
            <a:r>
              <a:rPr kumimoji="1" lang="en-US" altLang="zh-TW" dirty="0" smtClean="0"/>
              <a:t>CCRT</a:t>
            </a:r>
            <a:r>
              <a:rPr kumimoji="1" lang="zh-TW" altLang="en-US" dirty="0" smtClean="0"/>
              <a:t> </a:t>
            </a:r>
            <a:r>
              <a:rPr kumimoji="1" lang="en-US" altLang="zh-TW" dirty="0" smtClean="0"/>
              <a:t>(</a:t>
            </a:r>
            <a:r>
              <a:rPr kumimoji="1" lang="zh-TW" altLang="en-US" dirty="0" smtClean="0"/>
              <a:t>長庚最近</a:t>
            </a:r>
            <a:r>
              <a:rPr kumimoji="1" lang="en-US" altLang="zh-TW" dirty="0" smtClean="0"/>
              <a:t>PAPER,</a:t>
            </a:r>
            <a:r>
              <a:rPr kumimoji="1" lang="zh-TW" altLang="en-US" dirty="0" smtClean="0"/>
              <a:t> </a:t>
            </a:r>
            <a:r>
              <a:rPr kumimoji="1" lang="en-US" altLang="zh-TW" dirty="0" smtClean="0"/>
              <a:t>CCRT</a:t>
            </a:r>
            <a:r>
              <a:rPr kumimoji="1" lang="zh-TW" altLang="en-US" dirty="0" smtClean="0"/>
              <a:t> 有</a:t>
            </a:r>
            <a:r>
              <a:rPr kumimoji="1" lang="en-US" altLang="zh-TW" dirty="0" smtClean="0"/>
              <a:t>OS</a:t>
            </a:r>
            <a:r>
              <a:rPr kumimoji="1" lang="zh-TW" altLang="en-US" dirty="0" smtClean="0"/>
              <a:t> 好處</a:t>
            </a:r>
            <a:r>
              <a:rPr kumimoji="1" lang="en-US" altLang="zh-TW" dirty="0" smtClean="0"/>
              <a:t>)</a:t>
            </a:r>
            <a:r>
              <a:rPr kumimoji="1" lang="zh-TW" altLang="en-US" dirty="0" smtClean="0"/>
              <a:t> </a:t>
            </a:r>
            <a:endParaRPr kumimoji="1" lang="en-US" altLang="zh-TW" dirty="0"/>
          </a:p>
          <a:p>
            <a:r>
              <a:rPr kumimoji="1" lang="en-US" altLang="zh-TW" dirty="0" smtClean="0"/>
              <a:t>Dose constraint</a:t>
            </a:r>
            <a:r>
              <a:rPr kumimoji="1" lang="zh-TW" altLang="en-US" dirty="0" smtClean="0"/>
              <a:t>，</a:t>
            </a:r>
            <a:r>
              <a:rPr kumimoji="1" lang="en-US" altLang="zh-TW" dirty="0" smtClean="0"/>
              <a:t>RT</a:t>
            </a:r>
            <a:r>
              <a:rPr kumimoji="1" lang="zh-TW" altLang="en-US" dirty="0" smtClean="0"/>
              <a:t> </a:t>
            </a:r>
            <a:r>
              <a:rPr kumimoji="1" lang="en-US" altLang="zh-TW" dirty="0" smtClean="0"/>
              <a:t>complication</a:t>
            </a:r>
            <a:r>
              <a:rPr kumimoji="1" lang="zh-TW" altLang="en-US" dirty="0" smtClean="0"/>
              <a:t> </a:t>
            </a:r>
            <a:endParaRPr kumimoji="1" lang="en-US" altLang="zh-TW" dirty="0" smtClean="0"/>
          </a:p>
          <a:p>
            <a:r>
              <a:rPr kumimoji="1" lang="en-US" altLang="zh-TW" dirty="0" smtClean="0"/>
              <a:t>Critical organ </a:t>
            </a:r>
            <a:r>
              <a:rPr kumimoji="1" lang="zh-TW" altLang="en-US" dirty="0" smtClean="0"/>
              <a:t>順序 </a:t>
            </a:r>
            <a:endParaRPr kumimoji="1" lang="en-US" altLang="zh-TW" dirty="0" smtClean="0"/>
          </a:p>
          <a:p>
            <a:r>
              <a:rPr kumimoji="1" lang="en-US" altLang="zh-TW" dirty="0" smtClean="0">
                <a:sym typeface="Wingdings" panose="05000000000000000000" pitchFamily="2" charset="2"/>
              </a:rPr>
              <a:t></a:t>
            </a:r>
            <a:r>
              <a:rPr kumimoji="1" lang="zh-TW" altLang="en-US" dirty="0" smtClean="0">
                <a:sym typeface="Wingdings" panose="05000000000000000000" pitchFamily="2" charset="2"/>
              </a:rPr>
              <a:t> 重點 </a:t>
            </a:r>
            <a:r>
              <a:rPr kumimoji="1" lang="en-US" altLang="zh-TW" dirty="0" smtClean="0">
                <a:sym typeface="Wingdings" panose="05000000000000000000" pitchFamily="2" charset="2"/>
              </a:rPr>
              <a:t>lacrimal</a:t>
            </a:r>
            <a:r>
              <a:rPr kumimoji="1" lang="zh-TW" altLang="en-US" dirty="0" smtClean="0">
                <a:sym typeface="Wingdings" panose="05000000000000000000" pitchFamily="2" charset="2"/>
              </a:rPr>
              <a:t> </a:t>
            </a:r>
            <a:r>
              <a:rPr kumimoji="1" lang="en-US" altLang="zh-TW" dirty="0" smtClean="0">
                <a:sym typeface="Wingdings" panose="05000000000000000000" pitchFamily="2" charset="2"/>
              </a:rPr>
              <a:t>gland</a:t>
            </a:r>
            <a:r>
              <a:rPr kumimoji="1" lang="zh-TW" altLang="en-US" dirty="0" smtClean="0">
                <a:sym typeface="Wingdings" panose="05000000000000000000" pitchFamily="2" charset="2"/>
              </a:rPr>
              <a:t>要注意</a:t>
            </a:r>
            <a:endParaRPr kumimoji="1" lang="en-US" altLang="zh-TW" dirty="0" smtClean="0">
              <a:sym typeface="Wingdings" panose="05000000000000000000" pitchFamily="2" charset="2"/>
            </a:endParaRPr>
          </a:p>
          <a:p>
            <a:r>
              <a:rPr kumimoji="1" lang="zh-TW" altLang="en-US" dirty="0" smtClean="0">
                <a:sym typeface="Wingdings" panose="05000000000000000000" pitchFamily="2" charset="2"/>
              </a:rPr>
              <a:t>可以翻</a:t>
            </a:r>
            <a:r>
              <a:rPr kumimoji="1" lang="zh-TW" altLang="en-US" dirty="0">
                <a:sym typeface="Wingdings" panose="05000000000000000000" pitchFamily="2" charset="2"/>
              </a:rPr>
              <a:t>書</a:t>
            </a:r>
            <a:endParaRPr kumimoji="1" lang="en-US" altLang="zh-TW" dirty="0" smtClean="0">
              <a:sym typeface="Wingdings" panose="05000000000000000000" pitchFamily="2" charset="2"/>
            </a:endParaRPr>
          </a:p>
          <a:p>
            <a:endParaRPr kumimoji="1"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3670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HN</a:t>
            </a:r>
            <a:r>
              <a:rPr lang="zh-TW" altLang="zh-TW" dirty="0"/>
              <a:t/>
            </a:r>
            <a:br>
              <a:rPr lang="zh-TW" altLang="zh-TW" dirty="0"/>
            </a:br>
            <a:r>
              <a:rPr lang="zh-TW" altLang="en-US" b="1" dirty="0"/>
              <a:t>中山 曾顯群 </a:t>
            </a:r>
            <a:r>
              <a:rPr lang="en-US" altLang="zh-TW" b="1" dirty="0"/>
              <a:t>(</a:t>
            </a:r>
            <a:r>
              <a:rPr lang="en-US" altLang="zh-TW" b="1" dirty="0" err="1"/>
              <a:t>npc</a:t>
            </a:r>
            <a:r>
              <a:rPr lang="en-US" altLang="zh-TW" b="1" dirty="0"/>
              <a:t>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NPC T1N0M0, stage I </a:t>
            </a:r>
            <a:r>
              <a:rPr kumimoji="1" lang="zh-TW" altLang="en-US" dirty="0" smtClean="0"/>
              <a:t>的治療，包括後續</a:t>
            </a:r>
            <a:r>
              <a:rPr kumimoji="1" lang="en-US" altLang="zh-TW" dirty="0" smtClean="0"/>
              <a:t>RT</a:t>
            </a:r>
            <a:r>
              <a:rPr kumimoji="1" lang="zh-TW" altLang="en-US" dirty="0" smtClean="0"/>
              <a:t> 規劃</a:t>
            </a:r>
            <a:endParaRPr kumimoji="1" lang="en-US" altLang="zh-TW" dirty="0" smtClean="0"/>
          </a:p>
          <a:p>
            <a:r>
              <a:rPr kumimoji="1" lang="zh-TW" altLang="en-US" dirty="0"/>
              <a:t>第</a:t>
            </a:r>
            <a:r>
              <a:rPr kumimoji="1" lang="en-US" altLang="zh-TW" dirty="0" smtClean="0"/>
              <a:t>7</a:t>
            </a:r>
            <a:r>
              <a:rPr kumimoji="1" lang="zh-TW" altLang="en-US" dirty="0"/>
              <a:t>版</a:t>
            </a:r>
            <a:r>
              <a:rPr kumimoji="1" lang="zh-TW" altLang="en-US" dirty="0" smtClean="0"/>
              <a:t>和</a:t>
            </a:r>
            <a:r>
              <a:rPr kumimoji="1" lang="zh-TW" altLang="en-US" dirty="0"/>
              <a:t>第</a:t>
            </a:r>
            <a:r>
              <a:rPr kumimoji="1" lang="en-US" altLang="zh-TW" dirty="0" smtClean="0"/>
              <a:t>8</a:t>
            </a:r>
            <a:r>
              <a:rPr kumimoji="1" lang="zh-TW" altLang="en-US" dirty="0" smtClean="0"/>
              <a:t>版的</a:t>
            </a:r>
            <a:r>
              <a:rPr kumimoji="1" lang="en-US" altLang="zh-TW" dirty="0" smtClean="0"/>
              <a:t>H&amp;N</a:t>
            </a:r>
            <a:r>
              <a:rPr kumimoji="1" lang="zh-TW" altLang="en-US" dirty="0" smtClean="0"/>
              <a:t> </a:t>
            </a:r>
            <a:r>
              <a:rPr kumimoji="1" lang="en-US" altLang="zh-TW" dirty="0" smtClean="0"/>
              <a:t>cancer</a:t>
            </a:r>
            <a:r>
              <a:rPr kumimoji="1" lang="zh-TW" altLang="en-US" dirty="0" smtClean="0"/>
              <a:t> 的改變，包括 </a:t>
            </a:r>
            <a:r>
              <a:rPr kumimoji="1" lang="en-US" altLang="zh-TW" dirty="0" smtClean="0"/>
              <a:t>OPC P16+….</a:t>
            </a:r>
            <a:r>
              <a:rPr kumimoji="1" lang="zh-TW" altLang="en-US" dirty="0" smtClean="0"/>
              <a:t>都要說</a:t>
            </a:r>
            <a:endParaRPr kumimoji="1" lang="en-US" altLang="zh-TW" dirty="0" smtClean="0"/>
          </a:p>
          <a:p>
            <a:r>
              <a:rPr kumimoji="1" lang="en-US" altLang="zh-TW" dirty="0" smtClean="0"/>
              <a:t>LEVEL 1-5 </a:t>
            </a:r>
            <a:r>
              <a:rPr kumimoji="1" lang="zh-TW" altLang="en-US" dirty="0" smtClean="0"/>
              <a:t>的淋巴引流位置分界點</a:t>
            </a:r>
            <a:endParaRPr kumimoji="1" lang="en-US" altLang="zh-TW" dirty="0" smtClean="0"/>
          </a:p>
          <a:p>
            <a:r>
              <a:rPr kumimoji="1" lang="en-US" altLang="zh-TW" dirty="0" smtClean="0"/>
              <a:t>Advanced stage NPC </a:t>
            </a:r>
            <a:r>
              <a:rPr kumimoji="1" lang="zh-TW" altLang="en-US" dirty="0" smtClean="0"/>
              <a:t>的處理規劃，</a:t>
            </a:r>
            <a:r>
              <a:rPr kumimoji="1" lang="en-US" altLang="zh-TW" dirty="0" smtClean="0"/>
              <a:t>induction</a:t>
            </a:r>
            <a:r>
              <a:rPr kumimoji="1" lang="zh-TW" altLang="en-US" dirty="0" smtClean="0"/>
              <a:t> </a:t>
            </a:r>
            <a:r>
              <a:rPr kumimoji="1" lang="en-US" altLang="zh-TW" dirty="0" smtClean="0"/>
              <a:t>chemotherapy</a:t>
            </a:r>
            <a:r>
              <a:rPr kumimoji="1" lang="zh-TW" altLang="en-US" dirty="0" smtClean="0"/>
              <a:t> 的角色 </a:t>
            </a:r>
            <a:endParaRPr kumimoji="1"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16988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t"/>
            <a:r>
              <a:rPr lang="en-US" altLang="zh-TW" b="1" dirty="0"/>
              <a:t>Breast Benign Palliative</a:t>
            </a:r>
            <a:r>
              <a:rPr lang="zh-TW" altLang="zh-TW" dirty="0"/>
              <a:t/>
            </a:r>
            <a:br>
              <a:rPr lang="zh-TW" altLang="zh-TW" dirty="0"/>
            </a:br>
            <a:r>
              <a:rPr lang="zh-TW" altLang="zh-TW" b="1" dirty="0"/>
              <a:t>高長</a:t>
            </a:r>
            <a:r>
              <a:rPr lang="en-US" altLang="zh-TW" b="1" dirty="0"/>
              <a:t> </a:t>
            </a:r>
            <a:r>
              <a:rPr lang="zh-TW" altLang="zh-TW" b="1" dirty="0" smtClean="0"/>
              <a:t>黃英彥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Breast cancer staging</a:t>
            </a:r>
          </a:p>
          <a:p>
            <a:r>
              <a:rPr kumimoji="1" lang="en-US" altLang="zh-TW" dirty="0" smtClean="0"/>
              <a:t>Invasive lobular carcinoma, </a:t>
            </a:r>
            <a:r>
              <a:rPr kumimoji="1" lang="zh-TW" altLang="en-US" dirty="0" smtClean="0"/>
              <a:t>腫瘤</a:t>
            </a:r>
            <a:r>
              <a:rPr kumimoji="1" lang="en-US" altLang="zh-TW" dirty="0" smtClean="0"/>
              <a:t>5</a:t>
            </a:r>
            <a:r>
              <a:rPr kumimoji="1" lang="zh-TW" altLang="en-US" dirty="0" smtClean="0"/>
              <a:t>公分，後續</a:t>
            </a:r>
            <a:r>
              <a:rPr kumimoji="1" lang="en-US" altLang="zh-TW" dirty="0" smtClean="0"/>
              <a:t>RT</a:t>
            </a:r>
            <a:r>
              <a:rPr kumimoji="1" lang="zh-TW" altLang="en-US" dirty="0" smtClean="0"/>
              <a:t> 處理</a:t>
            </a:r>
            <a:endParaRPr kumimoji="1" lang="en-US" altLang="zh-TW" dirty="0" smtClean="0"/>
          </a:p>
          <a:p>
            <a:r>
              <a:rPr kumimoji="1" lang="zh-TW" altLang="en-US" dirty="0" smtClean="0"/>
              <a:t>病人沒時間做</a:t>
            </a:r>
            <a:r>
              <a:rPr kumimoji="1" lang="en-US" altLang="zh-TW" dirty="0" smtClean="0"/>
              <a:t>RT</a:t>
            </a:r>
            <a:r>
              <a:rPr kumimoji="1" lang="zh-TW" altLang="en-US" dirty="0" smtClean="0"/>
              <a:t>，建議</a:t>
            </a:r>
            <a:r>
              <a:rPr kumimoji="1" lang="en-US" altLang="zh-TW" dirty="0" smtClean="0"/>
              <a:t>:</a:t>
            </a:r>
            <a:r>
              <a:rPr kumimoji="1" lang="zh-TW" altLang="en-US" dirty="0" smtClean="0"/>
              <a:t> </a:t>
            </a:r>
            <a:r>
              <a:rPr kumimoji="1" lang="en-US" altLang="zh-TW" dirty="0" err="1" smtClean="0"/>
              <a:t>Hypofraction</a:t>
            </a:r>
            <a:r>
              <a:rPr kumimoji="1" lang="en-US" altLang="zh-TW" dirty="0" smtClean="0"/>
              <a:t>, IORT SUITABLE</a:t>
            </a:r>
            <a:r>
              <a:rPr kumimoji="1" lang="zh-TW" altLang="en-US" dirty="0" smtClean="0"/>
              <a:t> 收錄條件</a:t>
            </a:r>
            <a:endParaRPr kumimoji="1" lang="en-US" altLang="zh-TW" dirty="0" smtClean="0"/>
          </a:p>
          <a:p>
            <a:r>
              <a:rPr kumimoji="1" lang="en-US" altLang="zh-TW" dirty="0" smtClean="0"/>
              <a:t>Breast cancer </a:t>
            </a:r>
            <a:r>
              <a:rPr kumimoji="1" lang="zh-TW" altLang="en-US" dirty="0" smtClean="0"/>
              <a:t>局部復發，之前沒做過</a:t>
            </a:r>
            <a:r>
              <a:rPr kumimoji="1" lang="en-US" altLang="zh-TW" dirty="0" smtClean="0"/>
              <a:t>RT</a:t>
            </a:r>
            <a:r>
              <a:rPr kumimoji="1" lang="zh-TW" altLang="en-US" dirty="0" smtClean="0"/>
              <a:t>，堅持不開刀，</a:t>
            </a:r>
            <a:r>
              <a:rPr kumimoji="1" lang="en-US" altLang="zh-TW" dirty="0" smtClean="0"/>
              <a:t>RT</a:t>
            </a:r>
            <a:r>
              <a:rPr kumimoji="1" lang="zh-TW" altLang="en-US" dirty="0" smtClean="0"/>
              <a:t>處理，照野設計 </a:t>
            </a:r>
            <a:r>
              <a:rPr kumimoji="1" lang="en-US" altLang="zh-TW" dirty="0" smtClean="0">
                <a:sym typeface="Wingdings" panose="05000000000000000000" pitchFamily="2" charset="2"/>
              </a:rPr>
              <a:t></a:t>
            </a:r>
            <a:r>
              <a:rPr kumimoji="1" lang="zh-TW" altLang="en-US" dirty="0" smtClean="0">
                <a:sym typeface="Wingdings" panose="05000000000000000000" pitchFamily="2" charset="2"/>
              </a:rPr>
              <a:t>引導你說出要重新</a:t>
            </a:r>
            <a:r>
              <a:rPr kumimoji="1" lang="en-US" altLang="zh-TW" dirty="0" smtClean="0">
                <a:sym typeface="Wingdings" panose="05000000000000000000" pitchFamily="2" charset="2"/>
              </a:rPr>
              <a:t>staging work-up 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85115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t"/>
            <a:r>
              <a:rPr lang="en-US" altLang="zh-TW" b="1" dirty="0"/>
              <a:t>Breast Benign Palliative</a:t>
            </a:r>
            <a:r>
              <a:rPr lang="zh-TW" altLang="zh-TW" dirty="0"/>
              <a:t/>
            </a:r>
            <a:br>
              <a:rPr lang="zh-TW" altLang="zh-TW" dirty="0"/>
            </a:br>
            <a:r>
              <a:rPr lang="zh-TW" altLang="zh-TW" b="1" dirty="0" smtClean="0"/>
              <a:t>國泰 </a:t>
            </a:r>
            <a:r>
              <a:rPr lang="zh-TW" altLang="zh-TW" b="1" dirty="0"/>
              <a:t>吳錦榕 </a:t>
            </a:r>
            <a:r>
              <a:rPr lang="en-US" altLang="zh-TW" b="1" dirty="0"/>
              <a:t>(Palliative/benign)</a:t>
            </a:r>
            <a:r>
              <a:rPr lang="zh-TW" altLang="zh-TW" dirty="0"/>
              <a:t/>
            </a:r>
            <a:br>
              <a:rPr lang="zh-TW" altLang="zh-TW" dirty="0"/>
            </a:b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 smtClean="0"/>
              <a:t>安寧好</a:t>
            </a:r>
            <a:endParaRPr kumimoji="1" lang="en-US" altLang="zh-TW" dirty="0"/>
          </a:p>
          <a:p>
            <a:r>
              <a:rPr kumimoji="1" lang="en-US" altLang="zh-TW" dirty="0" smtClean="0"/>
              <a:t>Skin cancer RT indication BCC/SCC/Melanoma</a:t>
            </a:r>
          </a:p>
          <a:p>
            <a:r>
              <a:rPr kumimoji="1" lang="en-US" altLang="zh-TW" dirty="0" smtClean="0"/>
              <a:t>Keloid </a:t>
            </a:r>
            <a:r>
              <a:rPr kumimoji="1" lang="zh-TW" altLang="en-US" dirty="0" smtClean="0"/>
              <a:t>處理</a:t>
            </a:r>
            <a:endParaRPr kumimoji="1" lang="en-US" altLang="zh-TW" dirty="0" smtClean="0"/>
          </a:p>
          <a:p>
            <a:r>
              <a:rPr kumimoji="1" lang="en-US" altLang="zh-TW" dirty="0" smtClean="0"/>
              <a:t>RT Palliation </a:t>
            </a:r>
            <a:r>
              <a:rPr kumimoji="1" lang="zh-TW" altLang="en-US" dirty="0" smtClean="0"/>
              <a:t>處理的急症</a:t>
            </a:r>
            <a:endParaRPr kumimoji="1" lang="en-US" altLang="zh-TW" dirty="0" smtClean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32556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t"/>
            <a:r>
              <a:rPr lang="en-US" altLang="zh-TW" b="1" dirty="0"/>
              <a:t>CNS PED</a:t>
            </a:r>
            <a:r>
              <a:rPr lang="zh-TW" altLang="zh-TW" dirty="0"/>
              <a:t/>
            </a:r>
            <a:br>
              <a:rPr lang="zh-TW" altLang="zh-TW" dirty="0"/>
            </a:br>
            <a:r>
              <a:rPr lang="zh-TW" altLang="zh-TW" b="1" dirty="0"/>
              <a:t>和信</a:t>
            </a:r>
            <a:r>
              <a:rPr lang="en-US" altLang="zh-TW" b="1" dirty="0"/>
              <a:t> </a:t>
            </a:r>
            <a:r>
              <a:rPr lang="zh-TW" altLang="zh-TW" b="1" dirty="0"/>
              <a:t>蔡玉真 </a:t>
            </a:r>
            <a:r>
              <a:rPr lang="en-US" altLang="zh-TW" b="1" dirty="0"/>
              <a:t>(PED) 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 smtClean="0"/>
              <a:t>小兒</a:t>
            </a:r>
            <a:r>
              <a:rPr kumimoji="1" lang="en-US" altLang="zh-TW" dirty="0" smtClean="0"/>
              <a:t>RT</a:t>
            </a:r>
            <a:r>
              <a:rPr kumimoji="1" lang="zh-TW" altLang="en-US" dirty="0" smtClean="0"/>
              <a:t>被取代疾病</a:t>
            </a:r>
            <a:endParaRPr kumimoji="1" lang="en-US" altLang="zh-TW" dirty="0" smtClean="0"/>
          </a:p>
          <a:p>
            <a:r>
              <a:rPr kumimoji="1" lang="en-US" altLang="zh-TW" dirty="0" smtClean="0"/>
              <a:t>CSI </a:t>
            </a:r>
            <a:r>
              <a:rPr kumimoji="1" lang="zh-TW" altLang="en-US" dirty="0" smtClean="0"/>
              <a:t>的應用，劑量，副作用</a:t>
            </a:r>
            <a:endParaRPr kumimoji="1" lang="en-US" altLang="zh-TW" dirty="0" smtClean="0"/>
          </a:p>
          <a:p>
            <a:r>
              <a:rPr kumimoji="1" lang="en-US" altLang="zh-TW" dirty="0" smtClean="0"/>
              <a:t>MB standard risk, high risk, </a:t>
            </a:r>
            <a:r>
              <a:rPr kumimoji="1" lang="zh-TW" altLang="en-US" dirty="0" smtClean="0"/>
              <a:t>分子定義，劑量給予</a:t>
            </a:r>
            <a:endParaRPr kumimoji="1" lang="en-US" altLang="zh-TW" dirty="0" smtClean="0"/>
          </a:p>
          <a:p>
            <a:r>
              <a:rPr kumimoji="1" lang="en-US" altLang="zh-TW" dirty="0" err="1" smtClean="0"/>
              <a:t>Germinoma</a:t>
            </a:r>
            <a:r>
              <a:rPr kumimoji="1" lang="en-US" altLang="zh-TW" dirty="0" smtClean="0"/>
              <a:t> </a:t>
            </a:r>
            <a:r>
              <a:rPr kumimoji="1" lang="zh-TW" altLang="en-US" dirty="0" smtClean="0"/>
              <a:t>的治療</a:t>
            </a:r>
            <a:endParaRPr kumimoji="1" lang="en-US" altLang="zh-TW" dirty="0" smtClean="0"/>
          </a:p>
          <a:p>
            <a:r>
              <a:rPr kumimoji="1" lang="en-US" altLang="zh-TW" dirty="0" err="1" smtClean="0"/>
              <a:t>Wilm’s</a:t>
            </a:r>
            <a:r>
              <a:rPr kumimoji="1" lang="en-US" altLang="zh-TW" dirty="0" smtClean="0"/>
              <a:t> tumor, Ewing sarcoma </a:t>
            </a:r>
            <a:r>
              <a:rPr kumimoji="1" lang="zh-TW" altLang="en-US" dirty="0" smtClean="0"/>
              <a:t>治療 </a:t>
            </a:r>
            <a:r>
              <a:rPr kumimoji="1" lang="en-US" altLang="zh-TW" dirty="0" smtClean="0"/>
              <a:t>(</a:t>
            </a:r>
            <a:r>
              <a:rPr kumimoji="1" lang="zh-TW" altLang="en-US" dirty="0" smtClean="0"/>
              <a:t>回</a:t>
            </a:r>
            <a:r>
              <a:rPr kumimoji="1" lang="zh-TW" altLang="en-US" dirty="0"/>
              <a:t>答</a:t>
            </a:r>
            <a:r>
              <a:rPr kumimoji="1" lang="en-US" altLang="zh-TW" dirty="0" smtClean="0"/>
              <a:t>9</a:t>
            </a:r>
            <a:r>
              <a:rPr kumimoji="1" lang="zh-TW" altLang="en-US" dirty="0" smtClean="0"/>
              <a:t>天開始，劑量多少</a:t>
            </a:r>
            <a:r>
              <a:rPr kumimoji="1" lang="en-US" altLang="zh-TW" dirty="0" smtClean="0"/>
              <a:t>)</a:t>
            </a:r>
            <a:endParaRPr kumimoji="1"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02528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t"/>
            <a:r>
              <a:rPr lang="en-US" altLang="zh-TW" b="1" dirty="0">
                <a:solidFill>
                  <a:srgbClr val="FFFFFF"/>
                </a:solidFill>
                <a:latin typeface="Calibri" panose="020F0502020204030204" pitchFamily="34" charset="0"/>
              </a:rPr>
              <a:t>CNS </a:t>
            </a:r>
            <a:r>
              <a:rPr lang="en-US" altLang="zh-TW" b="1" dirty="0" smtClean="0">
                <a:solidFill>
                  <a:srgbClr val="FFFFFF"/>
                </a:solidFill>
                <a:latin typeface="Calibri" panose="020F0502020204030204" pitchFamily="34" charset="0"/>
              </a:rPr>
              <a:t>P</a:t>
            </a:r>
            <a:br>
              <a:rPr lang="en-US" altLang="zh-TW" b="1" dirty="0" smtClean="0">
                <a:solidFill>
                  <a:srgbClr val="FFFFFF"/>
                </a:solidFill>
                <a:latin typeface="Calibri" panose="020F0502020204030204" pitchFamily="34" charset="0"/>
              </a:rPr>
            </a:br>
            <a:r>
              <a:rPr lang="en-US" altLang="zh-TW" b="1" dirty="0">
                <a:solidFill>
                  <a:srgbClr val="FFFFFF"/>
                </a:solidFill>
                <a:latin typeface="Calibri" panose="020F0502020204030204" pitchFamily="34" charset="0"/>
              </a:rPr>
              <a:t/>
            </a:r>
            <a:br>
              <a:rPr lang="en-US" altLang="zh-TW" b="1" dirty="0">
                <a:solidFill>
                  <a:srgbClr val="FFFFFF"/>
                </a:solidFill>
                <a:latin typeface="Calibri" panose="020F0502020204030204" pitchFamily="34" charset="0"/>
              </a:rPr>
            </a:br>
            <a:r>
              <a:rPr lang="en-US" altLang="zh-TW" b="1" dirty="0" smtClean="0"/>
              <a:t>CNS </a:t>
            </a:r>
            <a:r>
              <a:rPr lang="en-US" altLang="zh-TW" b="1" dirty="0"/>
              <a:t>PED</a:t>
            </a:r>
            <a:r>
              <a:rPr lang="zh-TW" altLang="zh-TW" dirty="0"/>
              <a:t/>
            </a:r>
            <a:br>
              <a:rPr lang="zh-TW" altLang="zh-TW" dirty="0"/>
            </a:br>
            <a:r>
              <a:rPr lang="zh-TW" altLang="zh-TW" b="1" dirty="0" smtClean="0"/>
              <a:t>慈</a:t>
            </a:r>
            <a:r>
              <a:rPr lang="zh-TW" altLang="zh-TW" b="1" dirty="0"/>
              <a:t>濟</a:t>
            </a:r>
            <a:r>
              <a:rPr lang="en-US" altLang="zh-TW" b="1" dirty="0"/>
              <a:t> </a:t>
            </a:r>
            <a:r>
              <a:rPr lang="zh-TW" altLang="zh-TW" b="1" dirty="0"/>
              <a:t>劉岱瑋</a:t>
            </a:r>
            <a:r>
              <a:rPr lang="zh-TW" altLang="zh-TW" dirty="0"/>
              <a:t/>
            </a:r>
            <a:br>
              <a:rPr lang="zh-TW" altLang="zh-TW" dirty="0"/>
            </a:br>
            <a:r>
              <a:rPr lang="zh-TW" altLang="zh-TW" b="1" dirty="0" smtClean="0">
                <a:solidFill>
                  <a:srgbClr val="FFFFFF"/>
                </a:solidFill>
                <a:latin typeface="Calibri" panose="020F0502020204030204" pitchFamily="34" charset="0"/>
              </a:rPr>
              <a:t>玉</a:t>
            </a:r>
            <a:r>
              <a:rPr lang="zh-TW" altLang="zh-TW" b="1" dirty="0">
                <a:solidFill>
                  <a:srgbClr val="FFFFFF"/>
                </a:solidFill>
                <a:latin typeface="Calibri" panose="020F0502020204030204" pitchFamily="34" charset="0"/>
              </a:rPr>
              <a:t>真</a:t>
            </a:r>
            <a:r>
              <a:rPr lang="zh-TW" altLang="zh-TW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altLang="zh-TW" b="1" dirty="0">
                <a:solidFill>
                  <a:srgbClr val="FFFFFF"/>
                </a:solidFill>
                <a:latin typeface="Calibri" panose="020F0502020204030204" pitchFamily="34" charset="0"/>
              </a:rPr>
              <a:t>(PED) </a:t>
            </a:r>
            <a:r>
              <a:rPr lang="zh-TW" altLang="zh-TW" dirty="0">
                <a:latin typeface="Arial" panose="020B0604020202020204" pitchFamily="34" charset="0"/>
              </a:rPr>
              <a:t/>
            </a:r>
            <a:br>
              <a:rPr lang="zh-TW" altLang="zh-TW" dirty="0">
                <a:latin typeface="Arial" panose="020B0604020202020204" pitchFamily="34" charset="0"/>
              </a:rPr>
            </a:br>
            <a:r>
              <a:rPr lang="zh-TW" altLang="zh-TW" b="1" dirty="0">
                <a:solidFill>
                  <a:srgbClr val="FFFFFF"/>
                </a:solidFill>
                <a:latin typeface="Calibri" panose="020F0502020204030204" pitchFamily="34" charset="0"/>
              </a:rPr>
              <a:t>慈濟</a:t>
            </a:r>
            <a:r>
              <a:rPr lang="en-US" altLang="zh-TW" b="1" dirty="0">
                <a:solidFill>
                  <a:srgbClr val="FFFFFF"/>
                </a:solidFill>
                <a:latin typeface="Calibri" panose="020F0502020204030204" pitchFamily="34" charset="0"/>
              </a:rPr>
              <a:t> </a:t>
            </a:r>
            <a:r>
              <a:rPr lang="zh-TW" altLang="zh-TW" b="1" dirty="0">
                <a:solidFill>
                  <a:srgbClr val="FFFFFF"/>
                </a:solidFill>
                <a:latin typeface="Calibri" panose="020F0502020204030204" pitchFamily="34" charset="0"/>
              </a:rPr>
              <a:t>劉岱瑋</a:t>
            </a:r>
            <a:r>
              <a:rPr lang="zh-TW" altLang="zh-TW" dirty="0">
                <a:latin typeface="Arial" panose="020B0604020202020204" pitchFamily="34" charset="0"/>
              </a:rPr>
              <a:t/>
            </a:r>
            <a:br>
              <a:rPr lang="zh-TW" altLang="zh-TW" dirty="0">
                <a:latin typeface="Arial" panose="020B0604020202020204" pitchFamily="34" charset="0"/>
              </a:rPr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brain</a:t>
            </a:r>
            <a:r>
              <a:rPr lang="zh-TW" altLang="en-US" dirty="0" smtClean="0"/>
              <a:t> </a:t>
            </a:r>
            <a:r>
              <a:rPr lang="en-US" altLang="zh-TW" dirty="0" smtClean="0"/>
              <a:t>MRI</a:t>
            </a:r>
            <a:r>
              <a:rPr lang="zh-TW" altLang="en-US" dirty="0" smtClean="0"/>
              <a:t> </a:t>
            </a:r>
            <a:r>
              <a:rPr lang="en-US" altLang="zh-TW" dirty="0" smtClean="0"/>
              <a:t>Image</a:t>
            </a:r>
            <a:r>
              <a:rPr lang="en-US" altLang="zh-TW" dirty="0" smtClean="0">
                <a:sym typeface="Wingdings" panose="05000000000000000000" pitchFamily="2" charset="2"/>
              </a:rPr>
              <a:t></a:t>
            </a:r>
            <a:r>
              <a:rPr lang="zh-TW" altLang="en-US" dirty="0" smtClean="0">
                <a:sym typeface="Wingdings" panose="05000000000000000000" pitchFamily="2" charset="2"/>
              </a:rPr>
              <a:t> </a:t>
            </a:r>
            <a:r>
              <a:rPr lang="en-US" altLang="zh-TW" dirty="0" smtClean="0">
                <a:sym typeface="Wingdings" panose="05000000000000000000" pitchFamily="2" charset="2"/>
              </a:rPr>
              <a:t>3TH</a:t>
            </a:r>
            <a:r>
              <a:rPr lang="zh-TW" altLang="en-US" dirty="0" smtClean="0">
                <a:sym typeface="Wingdings" panose="05000000000000000000" pitchFamily="2" charset="2"/>
              </a:rPr>
              <a:t> </a:t>
            </a:r>
            <a:r>
              <a:rPr lang="en-US" altLang="zh-TW" dirty="0" smtClean="0">
                <a:sym typeface="Wingdings" panose="05000000000000000000" pitchFamily="2" charset="2"/>
              </a:rPr>
              <a:t>Ventricle</a:t>
            </a:r>
            <a:r>
              <a:rPr lang="zh-TW" altLang="en-US" dirty="0" smtClean="0">
                <a:sym typeface="Wingdings" panose="05000000000000000000" pitchFamily="2" charset="2"/>
              </a:rPr>
              <a:t>有</a:t>
            </a:r>
            <a:r>
              <a:rPr lang="en-US" altLang="zh-TW" dirty="0" smtClean="0">
                <a:sym typeface="Wingdings" panose="05000000000000000000" pitchFamily="2" charset="2"/>
              </a:rPr>
              <a:t>enhanced</a:t>
            </a:r>
            <a:r>
              <a:rPr lang="zh-TW" altLang="en-US" dirty="0" smtClean="0">
                <a:sym typeface="Wingdings" panose="05000000000000000000" pitchFamily="2" charset="2"/>
              </a:rPr>
              <a:t> </a:t>
            </a:r>
            <a:endParaRPr lang="en-US" altLang="zh-TW" dirty="0" smtClean="0"/>
          </a:p>
          <a:p>
            <a:r>
              <a:rPr lang="en-US" altLang="zh-TW" dirty="0" smtClean="0"/>
              <a:t>D.D.,</a:t>
            </a:r>
            <a:r>
              <a:rPr lang="zh-TW" altLang="en-US" dirty="0" smtClean="0"/>
              <a:t> </a:t>
            </a:r>
            <a:r>
              <a:rPr lang="en-US" altLang="zh-TW" dirty="0" err="1" smtClean="0"/>
              <a:t>Survery</a:t>
            </a:r>
            <a:r>
              <a:rPr lang="en-US" altLang="zh-TW" dirty="0" smtClean="0"/>
              <a:t>, work-up, biopsy</a:t>
            </a:r>
          </a:p>
          <a:p>
            <a:r>
              <a:rPr lang="en-US" altLang="zh-TW" dirty="0" smtClean="0"/>
              <a:t>CNS Lymphoma </a:t>
            </a:r>
            <a:r>
              <a:rPr lang="zh-TW" altLang="en-US" dirty="0" smtClean="0"/>
              <a:t>處理治療</a:t>
            </a:r>
            <a:endParaRPr lang="en-US" altLang="zh-TW" dirty="0" smtClean="0"/>
          </a:p>
          <a:p>
            <a:r>
              <a:rPr lang="zh-TW" altLang="en-US" dirty="0"/>
              <a:t>好</a:t>
            </a:r>
            <a:r>
              <a:rPr lang="zh-TW" altLang="en-US" dirty="0" smtClean="0"/>
              <a:t>發年紀</a:t>
            </a:r>
            <a:endParaRPr lang="en-US" altLang="zh-TW" dirty="0" smtClean="0"/>
          </a:p>
          <a:p>
            <a:r>
              <a:rPr lang="en-US" altLang="zh-TW" dirty="0" smtClean="0"/>
              <a:t>HIV…………</a:t>
            </a:r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97381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t"/>
            <a:r>
              <a:rPr lang="en-US" altLang="zh-TW" b="1" dirty="0"/>
              <a:t>Lung Mediastinum </a:t>
            </a:r>
            <a:r>
              <a:rPr lang="zh-TW" altLang="zh-TW" dirty="0"/>
              <a:t/>
            </a:r>
            <a:br>
              <a:rPr lang="zh-TW" altLang="zh-TW" dirty="0"/>
            </a:br>
            <a:r>
              <a:rPr lang="zh-TW" altLang="zh-TW" b="1" dirty="0"/>
              <a:t>許文林 </a:t>
            </a:r>
            <a:r>
              <a:rPr lang="en-US" altLang="zh-TW" b="1" dirty="0"/>
              <a:t>(Lung</a:t>
            </a:r>
            <a:r>
              <a:rPr lang="en-US" altLang="zh-TW" b="1" dirty="0" smtClean="0"/>
              <a:t>)</a:t>
            </a:r>
            <a:r>
              <a:rPr lang="zh-TW" altLang="zh-TW" dirty="0"/>
              <a:t/>
            </a: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1.</a:t>
            </a:r>
            <a:r>
              <a:rPr lang="zh-TW" altLang="en-US" dirty="0" smtClean="0"/>
              <a:t> </a:t>
            </a:r>
            <a:r>
              <a:rPr lang="en-US" altLang="zh-TW" dirty="0" smtClean="0"/>
              <a:t>SBRT </a:t>
            </a:r>
            <a:r>
              <a:rPr lang="zh-TW" altLang="en-US" dirty="0" smtClean="0"/>
              <a:t>在</a:t>
            </a:r>
            <a:r>
              <a:rPr lang="en-US" altLang="zh-TW" dirty="0" smtClean="0"/>
              <a:t>lung</a:t>
            </a:r>
            <a:r>
              <a:rPr lang="zh-TW" altLang="en-US" dirty="0" smtClean="0"/>
              <a:t> 的</a:t>
            </a:r>
            <a:r>
              <a:rPr lang="en-US" altLang="zh-TW" dirty="0" smtClean="0"/>
              <a:t>Indication, </a:t>
            </a:r>
            <a:r>
              <a:rPr lang="zh-TW" altLang="en-US" dirty="0" smtClean="0"/>
              <a:t>治療處理</a:t>
            </a:r>
            <a:endParaRPr lang="en-US" altLang="zh-TW" dirty="0" smtClean="0"/>
          </a:p>
          <a:p>
            <a:r>
              <a:rPr lang="en-US" altLang="zh-TW" dirty="0" smtClean="0"/>
              <a:t>2.</a:t>
            </a:r>
            <a:r>
              <a:rPr lang="zh-TW" altLang="en-US" dirty="0" smtClean="0"/>
              <a:t> 是否要切片</a:t>
            </a:r>
            <a:endParaRPr lang="en-US" altLang="zh-TW" dirty="0" smtClean="0"/>
          </a:p>
          <a:p>
            <a:r>
              <a:rPr lang="en-US" altLang="zh-TW" dirty="0" smtClean="0"/>
              <a:t>3.</a:t>
            </a:r>
            <a:r>
              <a:rPr lang="zh-TW" altLang="en-US" dirty="0" smtClean="0"/>
              <a:t> </a:t>
            </a:r>
            <a:r>
              <a:rPr lang="en-US" altLang="zh-TW" dirty="0" smtClean="0"/>
              <a:t>60Gy vs. 74Gy</a:t>
            </a:r>
          </a:p>
          <a:p>
            <a:r>
              <a:rPr lang="en-US" altLang="zh-TW" dirty="0" smtClean="0"/>
              <a:t>4.</a:t>
            </a:r>
            <a:r>
              <a:rPr lang="zh-TW" altLang="en-US" dirty="0" smtClean="0"/>
              <a:t> </a:t>
            </a:r>
            <a:r>
              <a:rPr lang="en-US" altLang="zh-TW" dirty="0" smtClean="0"/>
              <a:t>ABC</a:t>
            </a:r>
            <a:r>
              <a:rPr lang="zh-TW" altLang="en-US" dirty="0" smtClean="0"/>
              <a:t> </a:t>
            </a:r>
            <a:r>
              <a:rPr lang="en-US" altLang="zh-TW" dirty="0" smtClean="0"/>
              <a:t>….</a:t>
            </a:r>
            <a:r>
              <a:rPr lang="zh-TW" altLang="en-US" dirty="0" smtClean="0"/>
              <a:t>呼吸控制差別</a:t>
            </a:r>
            <a:endParaRPr lang="en-US" altLang="zh-TW" dirty="0" smtClean="0"/>
          </a:p>
          <a:p>
            <a:r>
              <a:rPr lang="en-US" altLang="zh-TW" dirty="0" smtClean="0"/>
              <a:t>5.</a:t>
            </a:r>
            <a:r>
              <a:rPr lang="zh-TW" altLang="en-US" dirty="0" smtClean="0"/>
              <a:t> </a:t>
            </a:r>
            <a:r>
              <a:rPr lang="en-US" altLang="zh-TW" dirty="0" smtClean="0"/>
              <a:t>PCI in Extensive SCLC </a:t>
            </a:r>
            <a:r>
              <a:rPr lang="zh-TW" altLang="en-US" dirty="0" smtClean="0"/>
              <a:t>的角色</a:t>
            </a:r>
            <a:r>
              <a:rPr lang="en-US" altLang="zh-TW" dirty="0" smtClean="0"/>
              <a:t>, NCCN, trial.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3450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t"/>
            <a:r>
              <a:rPr lang="en-US" altLang="zh-TW" b="1" dirty="0"/>
              <a:t>Lung Mediastinum </a:t>
            </a:r>
            <a:r>
              <a:rPr lang="zh-TW" altLang="zh-TW" dirty="0"/>
              <a:t/>
            </a:r>
            <a:br>
              <a:rPr lang="zh-TW" altLang="zh-TW" dirty="0"/>
            </a:br>
            <a:r>
              <a:rPr lang="zh-TW" altLang="zh-TW" b="1" dirty="0" smtClean="0"/>
              <a:t>仁愛 </a:t>
            </a:r>
            <a:r>
              <a:rPr lang="zh-TW" altLang="zh-TW" b="1" dirty="0"/>
              <a:t>呂志得 </a:t>
            </a:r>
            <a:r>
              <a:rPr lang="en-US" altLang="zh-TW" b="1" dirty="0" smtClean="0"/>
              <a:t>(Sarcoma)</a:t>
            </a:r>
            <a:r>
              <a:rPr lang="zh-TW" altLang="zh-TW" dirty="0"/>
              <a:t/>
            </a: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右</a:t>
            </a:r>
            <a:r>
              <a:rPr lang="zh-TW" altLang="en-US" dirty="0" smtClean="0"/>
              <a:t>大腿有一個</a:t>
            </a:r>
            <a:r>
              <a:rPr lang="en-US" altLang="zh-TW" dirty="0" smtClean="0"/>
              <a:t>mass,</a:t>
            </a:r>
            <a:r>
              <a:rPr lang="zh-TW" altLang="en-US" dirty="0"/>
              <a:t> </a:t>
            </a:r>
            <a:r>
              <a:rPr lang="zh-TW" altLang="en-US" dirty="0" smtClean="0"/>
              <a:t>鑑別診斷</a:t>
            </a:r>
            <a:endParaRPr lang="en-US" altLang="zh-TW" dirty="0" smtClean="0"/>
          </a:p>
          <a:p>
            <a:r>
              <a:rPr lang="en-US" altLang="zh-TW" dirty="0" err="1" smtClean="0"/>
              <a:t>Sacroma</a:t>
            </a:r>
            <a:r>
              <a:rPr lang="en-US" altLang="zh-TW" dirty="0" smtClean="0"/>
              <a:t> primary/ recurrent </a:t>
            </a:r>
            <a:r>
              <a:rPr lang="zh-TW" altLang="en-US" dirty="0" smtClean="0"/>
              <a:t>治療方式</a:t>
            </a:r>
            <a:endParaRPr lang="en-US" altLang="zh-TW" dirty="0" smtClean="0"/>
          </a:p>
          <a:p>
            <a:r>
              <a:rPr lang="en-US" altLang="zh-TW" dirty="0" smtClean="0"/>
              <a:t>RMS</a:t>
            </a:r>
            <a:r>
              <a:rPr lang="zh-TW" altLang="en-US" dirty="0" smtClean="0"/>
              <a:t>化療要回答</a:t>
            </a:r>
            <a:r>
              <a:rPr lang="en-US" altLang="zh-TW" dirty="0" smtClean="0"/>
              <a:t> </a:t>
            </a:r>
          </a:p>
          <a:p>
            <a:r>
              <a:rPr lang="zh-TW" altLang="en-US" dirty="0" smtClean="0"/>
              <a:t>重點是要先回答 </a:t>
            </a:r>
            <a:r>
              <a:rPr lang="en-US" altLang="zh-TW" dirty="0" smtClean="0"/>
              <a:t>History, PE</a:t>
            </a:r>
          </a:p>
          <a:p>
            <a:r>
              <a:rPr lang="en-US" altLang="zh-TW" dirty="0" smtClean="0"/>
              <a:t>Left neck palpable mass, </a:t>
            </a:r>
            <a:r>
              <a:rPr lang="zh-TW" altLang="en-US" dirty="0" smtClean="0"/>
              <a:t>鑑別診斷</a:t>
            </a:r>
            <a:endParaRPr lang="en-US" altLang="zh-TW" dirty="0" smtClean="0"/>
          </a:p>
          <a:p>
            <a:r>
              <a:rPr lang="en-US" altLang="zh-TW" dirty="0" smtClean="0"/>
              <a:t>HL </a:t>
            </a:r>
            <a:r>
              <a:rPr lang="zh-TW" altLang="en-US" dirty="0" smtClean="0"/>
              <a:t>和</a:t>
            </a:r>
            <a:r>
              <a:rPr lang="en-US" altLang="zh-TW" dirty="0" smtClean="0"/>
              <a:t>NHL</a:t>
            </a:r>
            <a:r>
              <a:rPr lang="zh-TW" altLang="en-US" dirty="0" smtClean="0"/>
              <a:t> 的差別以及治療</a:t>
            </a:r>
            <a:r>
              <a:rPr lang="en-US" altLang="zh-TW" dirty="0" smtClean="0"/>
              <a:t>(age……)</a:t>
            </a:r>
          </a:p>
          <a:p>
            <a:r>
              <a:rPr lang="en-US" altLang="zh-TW" dirty="0" smtClean="0"/>
              <a:t>FLIPI, IPI</a:t>
            </a:r>
          </a:p>
          <a:p>
            <a:pPr marL="0" indent="0">
              <a:buNone/>
            </a:pPr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7192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2019</a:t>
            </a:r>
            <a:r>
              <a:rPr lang="zh-TW" altLang="en-US" dirty="0" smtClean="0"/>
              <a:t>基礎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47041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352365"/>
          </a:xfrm>
        </p:spPr>
        <p:txBody>
          <a:bodyPr>
            <a:normAutofit fontScale="77500" lnSpcReduction="20000"/>
          </a:bodyPr>
          <a:lstStyle/>
          <a:p>
            <a:r>
              <a:rPr lang="zh-TW" altLang="en-US" dirty="0" smtClean="0"/>
              <a:t>心臟</a:t>
            </a:r>
            <a:r>
              <a:rPr lang="en-US" altLang="zh-TW" dirty="0" smtClean="0"/>
              <a:t>RT</a:t>
            </a:r>
            <a:r>
              <a:rPr lang="zh-TW" altLang="en-US" dirty="0" smtClean="0"/>
              <a:t>最敏感</a:t>
            </a:r>
            <a:r>
              <a:rPr lang="en-US" altLang="zh-TW" dirty="0" smtClean="0">
                <a:sym typeface="Wingdings" panose="05000000000000000000" pitchFamily="2" charset="2"/>
              </a:rPr>
              <a:t></a:t>
            </a:r>
            <a:r>
              <a:rPr lang="zh-TW" altLang="en-US" dirty="0" smtClean="0">
                <a:sym typeface="Wingdings" panose="05000000000000000000" pitchFamily="2" charset="2"/>
              </a:rPr>
              <a:t> </a:t>
            </a:r>
            <a:r>
              <a:rPr lang="en-US" altLang="zh-TW" dirty="0" smtClean="0">
                <a:sym typeface="Wingdings" panose="05000000000000000000" pitchFamily="2" charset="2"/>
              </a:rPr>
              <a:t>Auricle</a:t>
            </a:r>
          </a:p>
          <a:p>
            <a:r>
              <a:rPr lang="zh-TW" altLang="en-US" dirty="0" smtClean="0">
                <a:sym typeface="Wingdings" panose="05000000000000000000" pitchFamily="2" charset="2"/>
              </a:rPr>
              <a:t>物理</a:t>
            </a:r>
            <a:r>
              <a:rPr lang="en-US" altLang="zh-TW" dirty="0" smtClean="0">
                <a:sym typeface="Wingdings" panose="05000000000000000000" pitchFamily="2" charset="2"/>
              </a:rPr>
              <a:t>BED,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 smtClean="0">
                <a:sym typeface="Wingdings" panose="05000000000000000000" pitchFamily="2" charset="2"/>
              </a:rPr>
              <a:t>EQD2,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endParaRPr lang="en-US" altLang="zh-TW" dirty="0" smtClean="0">
              <a:sym typeface="Wingdings" panose="05000000000000000000" pitchFamily="2" charset="2"/>
            </a:endParaRPr>
          </a:p>
          <a:p>
            <a:r>
              <a:rPr lang="en-US" altLang="zh-TW" dirty="0" smtClean="0">
                <a:sym typeface="Wingdings" panose="05000000000000000000" pitchFamily="2" charset="2"/>
              </a:rPr>
              <a:t>10MeV</a:t>
            </a:r>
            <a:r>
              <a:rPr lang="zh-TW" altLang="en-US" dirty="0" smtClean="0">
                <a:sym typeface="Wingdings" panose="05000000000000000000" pitchFamily="2" charset="2"/>
              </a:rPr>
              <a:t>電子為光速幾倍</a:t>
            </a:r>
            <a:r>
              <a:rPr lang="en-US" altLang="zh-TW" dirty="0" smtClean="0">
                <a:sym typeface="Wingdings" panose="05000000000000000000" pitchFamily="2" charset="2"/>
              </a:rPr>
              <a:t>0.9988</a:t>
            </a:r>
          </a:p>
          <a:p>
            <a:r>
              <a:rPr lang="en-US" altLang="zh-TW" dirty="0" smtClean="0">
                <a:sym typeface="Wingdings" panose="05000000000000000000" pitchFamily="2" charset="2"/>
              </a:rPr>
              <a:t>250MV</a:t>
            </a:r>
            <a:r>
              <a:rPr lang="zh-TW" altLang="en-US" dirty="0" smtClean="0">
                <a:sym typeface="Wingdings" panose="05000000000000000000" pitchFamily="2" charset="2"/>
              </a:rPr>
              <a:t>質子</a:t>
            </a:r>
            <a:r>
              <a:rPr lang="zh-TW" altLang="en-US" dirty="0">
                <a:sym typeface="Wingdings" panose="05000000000000000000" pitchFamily="2" charset="2"/>
              </a:rPr>
              <a:t>為光速幾倍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en-US" altLang="zh-TW" dirty="0" smtClean="0">
                <a:sym typeface="Wingdings" panose="05000000000000000000" pitchFamily="2" charset="2"/>
              </a:rPr>
              <a:t>0.62</a:t>
            </a:r>
          </a:p>
          <a:p>
            <a:r>
              <a:rPr lang="en-US" altLang="zh-TW" dirty="0" smtClean="0">
                <a:sym typeface="Wingdings" panose="05000000000000000000" pitchFamily="2" charset="2"/>
              </a:rPr>
              <a:t>100000</a:t>
            </a:r>
            <a:r>
              <a:rPr lang="zh-TW" altLang="en-US" dirty="0" smtClean="0">
                <a:sym typeface="Wingdings" panose="05000000000000000000" pitchFamily="2" charset="2"/>
              </a:rPr>
              <a:t>原子數，經過鉛厚度</a:t>
            </a:r>
            <a:r>
              <a:rPr lang="en-US" altLang="zh-TW" dirty="0" smtClean="0">
                <a:sym typeface="Wingdings" panose="05000000000000000000" pitchFamily="2" charset="2"/>
              </a:rPr>
              <a:t>…</a:t>
            </a:r>
            <a:r>
              <a:rPr lang="zh-TW" altLang="en-US" dirty="0" smtClean="0">
                <a:sym typeface="Wingdings" panose="05000000000000000000" pitchFamily="2" charset="2"/>
              </a:rPr>
              <a:t>，剩下原子數</a:t>
            </a:r>
            <a:r>
              <a:rPr lang="en-US" altLang="zh-TW" dirty="0" smtClean="0">
                <a:sym typeface="Wingdings" panose="05000000000000000000" pitchFamily="2" charset="2"/>
              </a:rPr>
              <a:t>7.53</a:t>
            </a:r>
            <a:r>
              <a:rPr lang="zh-TW" altLang="en-US" dirty="0" smtClean="0">
                <a:sym typeface="Wingdings" panose="05000000000000000000" pitchFamily="2" charset="2"/>
              </a:rPr>
              <a:t>*</a:t>
            </a:r>
            <a:r>
              <a:rPr lang="en-US" altLang="zh-TW" dirty="0" smtClean="0">
                <a:sym typeface="Wingdings" panose="05000000000000000000" pitchFamily="2" charset="2"/>
              </a:rPr>
              <a:t>100000</a:t>
            </a:r>
          </a:p>
          <a:p>
            <a:r>
              <a:rPr lang="en-US" altLang="zh-TW" dirty="0" smtClean="0">
                <a:sym typeface="Wingdings" panose="05000000000000000000" pitchFamily="2" charset="2"/>
              </a:rPr>
              <a:t>Commissioning=&gt;</a:t>
            </a:r>
            <a:r>
              <a:rPr lang="zh-TW" altLang="en-US" dirty="0" smtClean="0">
                <a:sym typeface="Wingdings" panose="05000000000000000000" pitchFamily="2" charset="2"/>
              </a:rPr>
              <a:t>把算出來的數字再丟到</a:t>
            </a:r>
            <a:r>
              <a:rPr lang="en-US" altLang="zh-TW" dirty="0" smtClean="0">
                <a:sym typeface="Wingdings" panose="05000000000000000000" pitchFamily="2" charset="2"/>
              </a:rPr>
              <a:t>plan</a:t>
            </a:r>
            <a:r>
              <a:rPr lang="zh-TW" altLang="en-US" dirty="0" smtClean="0">
                <a:sym typeface="Wingdings" panose="05000000000000000000" pitchFamily="2" charset="2"/>
              </a:rPr>
              <a:t>做確認</a:t>
            </a:r>
            <a:r>
              <a:rPr lang="en-US" altLang="zh-TW" dirty="0" smtClean="0">
                <a:sym typeface="Wingdings" panose="05000000000000000000" pitchFamily="2" charset="2"/>
              </a:rPr>
              <a:t>(?)</a:t>
            </a:r>
            <a:r>
              <a:rPr lang="zh-TW" altLang="en-US" dirty="0" smtClean="0">
                <a:sym typeface="Wingdings" panose="05000000000000000000" pitchFamily="2" charset="2"/>
              </a:rPr>
              <a:t> 在考物理師做</a:t>
            </a:r>
            <a:r>
              <a:rPr lang="en-US" altLang="zh-TW" dirty="0" smtClean="0">
                <a:sym typeface="Wingdings" panose="05000000000000000000" pitchFamily="2" charset="2"/>
              </a:rPr>
              <a:t>plan</a:t>
            </a:r>
            <a:r>
              <a:rPr lang="zh-TW" altLang="en-US" dirty="0" smtClean="0">
                <a:sym typeface="Wingdings" panose="05000000000000000000" pitchFamily="2" charset="2"/>
              </a:rPr>
              <a:t>的順序</a:t>
            </a:r>
            <a:endParaRPr lang="en-US" altLang="zh-TW" dirty="0" smtClean="0">
              <a:sym typeface="Wingdings" panose="05000000000000000000" pitchFamily="2" charset="2"/>
            </a:endParaRPr>
          </a:p>
          <a:p>
            <a:r>
              <a:rPr lang="zh-TW" altLang="en-US" dirty="0" smtClean="0">
                <a:sym typeface="Wingdings" panose="05000000000000000000" pitchFamily="2" charset="2"/>
              </a:rPr>
              <a:t>質子觀念約</a:t>
            </a:r>
            <a:r>
              <a:rPr lang="en-US" altLang="zh-TW" dirty="0" smtClean="0">
                <a:sym typeface="Wingdings" panose="05000000000000000000" pitchFamily="2" charset="2"/>
              </a:rPr>
              <a:t>5</a:t>
            </a:r>
            <a:r>
              <a:rPr lang="zh-TW" altLang="en-US" dirty="0" smtClean="0">
                <a:sym typeface="Wingdings" panose="05000000000000000000" pitchFamily="2" charset="2"/>
              </a:rPr>
              <a:t>題</a:t>
            </a:r>
            <a:endParaRPr lang="en-US" altLang="zh-TW" dirty="0" smtClean="0">
              <a:sym typeface="Wingdings" panose="05000000000000000000" pitchFamily="2" charset="2"/>
            </a:endParaRPr>
          </a:p>
          <a:p>
            <a:r>
              <a:rPr lang="en-US" altLang="zh-TW" dirty="0" smtClean="0"/>
              <a:t>Ra226 -&gt; Rn222 + alpha </a:t>
            </a:r>
            <a:r>
              <a:rPr lang="zh-TW" altLang="en-US" dirty="0" smtClean="0"/>
              <a:t>問</a:t>
            </a:r>
            <a:r>
              <a:rPr lang="en-US" altLang="zh-TW" dirty="0" smtClean="0"/>
              <a:t>Rn222</a:t>
            </a:r>
            <a:r>
              <a:rPr lang="zh-TW" altLang="en-US" dirty="0" smtClean="0"/>
              <a:t>的能量</a:t>
            </a:r>
            <a:r>
              <a:rPr lang="en-US" altLang="zh-TW" dirty="0" smtClean="0"/>
              <a:t>0.05xxx</a:t>
            </a:r>
          </a:p>
          <a:p>
            <a:r>
              <a:rPr lang="zh-TW" altLang="en-US" dirty="0" smtClean="0"/>
              <a:t>目標函數</a:t>
            </a:r>
            <a:r>
              <a:rPr lang="en-US" altLang="zh-TW" dirty="0" smtClean="0"/>
              <a:t>(???</a:t>
            </a:r>
            <a:r>
              <a:rPr lang="zh-TW" altLang="en-US" dirty="0" smtClean="0"/>
              <a:t> 我們考古題答案好像錯了</a:t>
            </a:r>
            <a:r>
              <a:rPr lang="en-US" altLang="zh-TW" smtClean="0"/>
              <a:t>)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TW" smtClean="0"/>
              <a:t>By TSGH Mingyueh Liu</a:t>
            </a:r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742F-D85F-6D42-9E24-50945DB902AF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32091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850</Words>
  <Application>Microsoft Office PowerPoint</Application>
  <PresentationFormat>如螢幕大小 (4:3)</PresentationFormat>
  <Paragraphs>148</Paragraphs>
  <Slides>18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新細明體</vt:lpstr>
      <vt:lpstr>Arial</vt:lpstr>
      <vt:lpstr>Calibri</vt:lpstr>
      <vt:lpstr>Wingdings</vt:lpstr>
      <vt:lpstr>Office 佈景主題</vt:lpstr>
      <vt:lpstr>2019 口試</vt:lpstr>
      <vt:lpstr>PowerPoint 簡報</vt:lpstr>
      <vt:lpstr>GI 高醫陳妙芬  (lower GI) </vt:lpstr>
      <vt:lpstr>GI 高醫黃琝儀(Upper GI) </vt:lpstr>
      <vt:lpstr>GYN 亞東 熊佩韋  (Endometrial Cx) </vt:lpstr>
      <vt:lpstr>GYN 雙和 李明憲 (Cervix) </vt:lpstr>
      <vt:lpstr>GU 三總 趙興隆 (Prostate) </vt:lpstr>
      <vt:lpstr>GU 中國 梁基安 (Prostate/Bladder) </vt:lpstr>
      <vt:lpstr>HN 林長 張東杰 (HN ) </vt:lpstr>
      <vt:lpstr>HN 中山 曾顯群 (npc)</vt:lpstr>
      <vt:lpstr>Breast Benign Palliative 高長 黃英彥</vt:lpstr>
      <vt:lpstr>Breast Benign Palliative 國泰 吳錦榕 (Palliative/benign) </vt:lpstr>
      <vt:lpstr>CNS PED 和信 蔡玉真 (PED) </vt:lpstr>
      <vt:lpstr>CNS P  CNS PED 慈濟 劉岱瑋 玉真 (PED)  慈濟 劉岱瑋 </vt:lpstr>
      <vt:lpstr>Lung Mediastinum  許文林 (Lung) </vt:lpstr>
      <vt:lpstr>Lung Mediastinum  仁愛 呂志得 (Sarcoma) </vt:lpstr>
      <vt:lpstr>2019基礎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2019 口試</dc:title>
  <dc:creator>Apple APPLE</dc:creator>
  <cp:lastModifiedBy>user</cp:lastModifiedBy>
  <cp:revision>33</cp:revision>
  <dcterms:created xsi:type="dcterms:W3CDTF">2019-10-08T01:37:45Z</dcterms:created>
  <dcterms:modified xsi:type="dcterms:W3CDTF">2019-10-08T06:25:20Z</dcterms:modified>
</cp:coreProperties>
</file>