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47E86B-8937-4135-AF46-11F1CF9A5330}">
  <a:tblStyle styleId="{BE47E86B-8937-4135-AF46-11F1CF9A53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sp>
        <p:nvSpPr>
          <p:cNvPr id="85" name="Google Shape;85;p1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 name="Google Shape;86;p1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87" name="Google Shape;87;p1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838200" y="365125"/>
            <a:ext cx="10515600" cy="1325563"/>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dk1"/>
              </a:buClr>
              <a:buSzPts val="4400"/>
              <a:buFont typeface="Calibri"/>
              <a:buNone/>
            </a:pPr>
            <a:r>
              <a:rPr lang="en-US"/>
              <a:t>考官名單</a:t>
            </a:r>
            <a:endParaRPr/>
          </a:p>
        </p:txBody>
      </p:sp>
      <p:graphicFrame>
        <p:nvGraphicFramePr>
          <p:cNvPr id="93" name="Google Shape;93;p14"/>
          <p:cNvGraphicFramePr/>
          <p:nvPr/>
        </p:nvGraphicFramePr>
        <p:xfrm>
          <a:off x="648010" y="1356967"/>
          <a:ext cx="3000000" cy="3000000"/>
        </p:xfrm>
        <a:graphic>
          <a:graphicData uri="http://schemas.openxmlformats.org/drawingml/2006/table">
            <a:tbl>
              <a:tblPr>
                <a:noFill/>
                <a:tableStyleId>{BE47E86B-8937-4135-AF46-11F1CF9A5330}</a:tableStyleId>
              </a:tblPr>
              <a:tblGrid>
                <a:gridCol w="2687725"/>
                <a:gridCol w="4115425"/>
                <a:gridCol w="3401575"/>
              </a:tblGrid>
              <a:tr h="564200">
                <a:tc>
                  <a:txBody>
                    <a:bodyPr/>
                    <a:lstStyle/>
                    <a:p>
                      <a:pPr indent="0" lvl="0" marL="0" marR="0" rtl="0" algn="l">
                        <a:spcBef>
                          <a:spcPts val="0"/>
                        </a:spcBef>
                        <a:spcAft>
                          <a:spcPts val="0"/>
                        </a:spcAft>
                        <a:buClr>
                          <a:schemeClr val="dk1"/>
                        </a:buClr>
                        <a:buSzPts val="1800"/>
                        <a:buFont typeface="Calibri"/>
                        <a:buNone/>
                      </a:pPr>
                      <a:r>
                        <a:rPr b="1" lang="en-US" sz="1800" u="none" cap="none" strike="noStrike"/>
                        <a:t>GI</a:t>
                      </a:r>
                      <a:endParaRPr b="1" sz="1800" u="none" cap="none" strike="noStrike"/>
                    </a:p>
                  </a:txBody>
                  <a:tcPr marT="121900" marB="121900" marR="121900" marL="121900">
                    <a:solidFill>
                      <a:srgbClr val="FFF2CC"/>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嘉長 </a:t>
                      </a:r>
                      <a:r>
                        <a:rPr b="1" i="0" lang="en-US" sz="1800" u="none" cap="none" strike="noStrike">
                          <a:solidFill>
                            <a:schemeClr val="dk1"/>
                          </a:solidFill>
                          <a:latin typeface="Calibri"/>
                          <a:ea typeface="Calibri"/>
                          <a:cs typeface="Calibri"/>
                          <a:sym typeface="Calibri"/>
                        </a:rPr>
                        <a:t>陳妙芬 HCC/Eso</a:t>
                      </a:r>
                      <a:endParaRPr b="1" sz="1800" u="none" cap="none" strike="noStrike"/>
                    </a:p>
                  </a:txBody>
                  <a:tcPr marT="121900" marB="121900" marR="121900" marL="121900"/>
                </a:tc>
                <a:tc>
                  <a:txBody>
                    <a:bodyPr/>
                    <a:lstStyle/>
                    <a:p>
                      <a:pPr indent="0" lvl="0" marL="0" marR="0" rtl="0" algn="l">
                        <a:lnSpc>
                          <a:spcPct val="100000"/>
                        </a:lnSpc>
                        <a:spcBef>
                          <a:spcPts val="0"/>
                        </a:spcBef>
                        <a:spcAft>
                          <a:spcPts val="0"/>
                        </a:spcAft>
                        <a:buClr>
                          <a:schemeClr val="dk1"/>
                        </a:buClr>
                        <a:buSzPts val="1800"/>
                        <a:buFont typeface="Calibri"/>
                        <a:buNone/>
                      </a:pPr>
                      <a:r>
                        <a:rPr b="1" lang="en-US" sz="1800" u="none" cap="none" strike="noStrike"/>
                        <a:t>高醫 黃志仁 Rectal/Anal</a:t>
                      </a:r>
                      <a:endParaRPr b="1" sz="1800" u="none" cap="none" strike="noStrike"/>
                    </a:p>
                  </a:txBody>
                  <a:tcPr marT="121900" marB="121900" marR="121900" marL="121900"/>
                </a:tc>
              </a:tr>
              <a:tr h="572650">
                <a:tc>
                  <a:txBody>
                    <a:bodyPr/>
                    <a:lstStyle/>
                    <a:p>
                      <a:pPr indent="0" lvl="0" marL="0" marR="0" rtl="0" algn="l">
                        <a:spcBef>
                          <a:spcPts val="0"/>
                        </a:spcBef>
                        <a:spcAft>
                          <a:spcPts val="0"/>
                        </a:spcAft>
                        <a:buClr>
                          <a:schemeClr val="dk1"/>
                        </a:buClr>
                        <a:buSzPts val="1800"/>
                        <a:buFont typeface="Calibri"/>
                        <a:buNone/>
                      </a:pPr>
                      <a:r>
                        <a:rPr b="1" lang="en-US" sz="1800" u="none" cap="none" strike="noStrike"/>
                        <a:t>GYN</a:t>
                      </a:r>
                      <a:endParaRPr b="1" sz="1800" u="none" cap="none" strike="noStrike"/>
                    </a:p>
                  </a:txBody>
                  <a:tcPr marT="121900" marB="121900" marR="121900" marL="121900">
                    <a:solidFill>
                      <a:srgbClr val="FFF2CC"/>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亞東 熊佩韋 Endometrial</a:t>
                      </a:r>
                      <a:endParaRPr b="1" sz="1800" u="none" cap="none" strike="noStrike"/>
                    </a:p>
                  </a:txBody>
                  <a:tcPr marT="121900" marB="121900" marR="121900" marL="121900"/>
                </a:tc>
                <a:tc>
                  <a:txBody>
                    <a:bodyPr/>
                    <a:lstStyle/>
                    <a:p>
                      <a:pPr indent="0" lvl="0" marL="0" marR="0" rtl="0" algn="l">
                        <a:lnSpc>
                          <a:spcPct val="100000"/>
                        </a:lnSpc>
                        <a:spcBef>
                          <a:spcPts val="0"/>
                        </a:spcBef>
                        <a:spcAft>
                          <a:spcPts val="0"/>
                        </a:spcAft>
                        <a:buClr>
                          <a:schemeClr val="dk1"/>
                        </a:buClr>
                        <a:buSzPts val="1800"/>
                        <a:buFont typeface="Calibri"/>
                        <a:buNone/>
                      </a:pPr>
                      <a:r>
                        <a:rPr b="1" lang="en-US" sz="1800" u="none" cap="none" strike="noStrike"/>
                        <a:t>雙和 李明憲 Cervix</a:t>
                      </a:r>
                      <a:endParaRPr b="1" sz="1800" u="none" cap="none" strike="noStrike"/>
                    </a:p>
                  </a:txBody>
                  <a:tcPr marT="121900" marB="121900" marR="121900" marL="121900"/>
                </a:tc>
              </a:tr>
              <a:tr h="577025">
                <a:tc>
                  <a:txBody>
                    <a:bodyPr/>
                    <a:lstStyle/>
                    <a:p>
                      <a:pPr indent="0" lvl="0" marL="0" marR="0" rtl="0" algn="l">
                        <a:spcBef>
                          <a:spcPts val="0"/>
                        </a:spcBef>
                        <a:spcAft>
                          <a:spcPts val="0"/>
                        </a:spcAft>
                        <a:buClr>
                          <a:schemeClr val="dk1"/>
                        </a:buClr>
                        <a:buSzPts val="1800"/>
                        <a:buFont typeface="Calibri"/>
                        <a:buNone/>
                      </a:pPr>
                      <a:r>
                        <a:rPr b="1" lang="en-US" sz="1800" u="none" cap="none" strike="noStrike"/>
                        <a:t>GU</a:t>
                      </a:r>
                      <a:endParaRPr b="1" sz="1800" u="none" cap="none" strike="noStrike"/>
                    </a:p>
                  </a:txBody>
                  <a:tcPr marT="121900" marB="121900" marR="121900" marL="121900">
                    <a:solidFill>
                      <a:srgbClr val="FFF2CC"/>
                    </a:solidFill>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800" u="none" cap="none" strike="noStrike"/>
                        <a:t>三總 趙興隆 Prostate</a:t>
                      </a:r>
                      <a:endParaRPr b="1" sz="1800" u="none" cap="none" strike="noStrike"/>
                    </a:p>
                  </a:txBody>
                  <a:tcPr marT="121900" marB="121900" marR="121900" marL="121900"/>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中國 梁基安 Bladder</a:t>
                      </a:r>
                      <a:endParaRPr b="1" sz="1800" u="none" cap="none" strike="noStrike"/>
                    </a:p>
                  </a:txBody>
                  <a:tcPr marT="121900" marB="121900" marR="121900" marL="121900"/>
                </a:tc>
              </a:tr>
              <a:tr h="591125">
                <a:tc>
                  <a:txBody>
                    <a:bodyPr/>
                    <a:lstStyle/>
                    <a:p>
                      <a:pPr indent="0" lvl="0" marL="0" marR="0" rtl="0" algn="l">
                        <a:spcBef>
                          <a:spcPts val="0"/>
                        </a:spcBef>
                        <a:spcAft>
                          <a:spcPts val="0"/>
                        </a:spcAft>
                        <a:buClr>
                          <a:schemeClr val="dk1"/>
                        </a:buClr>
                        <a:buSzPts val="1800"/>
                        <a:buFont typeface="Calibri"/>
                        <a:buNone/>
                      </a:pPr>
                      <a:r>
                        <a:rPr b="1" lang="en-US" sz="1800" u="none" cap="none" strike="noStrike"/>
                        <a:t>HN Thyroid</a:t>
                      </a:r>
                      <a:endParaRPr b="1" sz="1800" u="none" cap="none" strike="noStrike"/>
                    </a:p>
                  </a:txBody>
                  <a:tcPr marT="121900" marB="121900" marR="121900" marL="121900">
                    <a:solidFill>
                      <a:srgbClr val="FFF2CC"/>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林長 張東杰 Maxillary sinus cancer</a:t>
                      </a:r>
                      <a:endParaRPr b="1" sz="1800" u="none" cap="none" strike="noStrike"/>
                    </a:p>
                  </a:txBody>
                  <a:tcPr marT="121900" marB="121900" marR="121900" marL="121900"/>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中山 曾顯群 HN</a:t>
                      </a:r>
                      <a:endParaRPr b="1" sz="1800" u="none" cap="none" strike="noStrike"/>
                    </a:p>
                  </a:txBody>
                  <a:tcPr marT="121900" marB="121900" marR="121900" marL="121900"/>
                </a:tc>
              </a:tr>
              <a:tr h="615400">
                <a:tc>
                  <a:txBody>
                    <a:bodyPr/>
                    <a:lstStyle/>
                    <a:p>
                      <a:pPr indent="0" lvl="0" marL="0" marR="0" rtl="0" algn="l">
                        <a:spcBef>
                          <a:spcPts val="0"/>
                        </a:spcBef>
                        <a:spcAft>
                          <a:spcPts val="0"/>
                        </a:spcAft>
                        <a:buClr>
                          <a:schemeClr val="dk1"/>
                        </a:buClr>
                        <a:buSzPts val="1800"/>
                        <a:buFont typeface="Calibri"/>
                        <a:buNone/>
                      </a:pPr>
                      <a:r>
                        <a:rPr b="1" lang="en-US" sz="1800" u="none" cap="none" strike="noStrike"/>
                        <a:t>Breast Benign Palliative</a:t>
                      </a:r>
                      <a:endParaRPr b="1" sz="1800" u="none" cap="none" strike="noStrike"/>
                    </a:p>
                  </a:txBody>
                  <a:tcPr marT="121900" marB="121900" marR="121900" marL="121900">
                    <a:solidFill>
                      <a:srgbClr val="FFF2CC"/>
                    </a:solidFill>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800" u="none" cap="none" strike="noStrike"/>
                        <a:t>高長 黃英彥 Breast</a:t>
                      </a:r>
                      <a:endParaRPr/>
                    </a:p>
                  </a:txBody>
                  <a:tcPr marT="121900" marB="121900" marR="121900" marL="121900"/>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國泰 吳錦榕 Palliative/benign</a:t>
                      </a:r>
                      <a:endParaRPr b="1" sz="1800" u="none" cap="none" strike="noStrike"/>
                    </a:p>
                  </a:txBody>
                  <a:tcPr marT="121900" marB="121900" marR="121900" marL="121900"/>
                </a:tc>
              </a:tr>
              <a:tr h="635875">
                <a:tc>
                  <a:txBody>
                    <a:bodyPr/>
                    <a:lstStyle/>
                    <a:p>
                      <a:pPr indent="0" lvl="0" marL="0" marR="0" rtl="0" algn="l">
                        <a:spcBef>
                          <a:spcPts val="0"/>
                        </a:spcBef>
                        <a:spcAft>
                          <a:spcPts val="0"/>
                        </a:spcAft>
                        <a:buClr>
                          <a:schemeClr val="dk1"/>
                        </a:buClr>
                        <a:buSzPts val="1800"/>
                        <a:buFont typeface="Calibri"/>
                        <a:buNone/>
                      </a:pPr>
                      <a:r>
                        <a:rPr b="1" lang="en-US" sz="1800" u="none" cap="none" strike="noStrike"/>
                        <a:t>CNS PED</a:t>
                      </a:r>
                      <a:endParaRPr b="1" sz="1800" u="none" cap="none" strike="noStrike"/>
                    </a:p>
                  </a:txBody>
                  <a:tcPr marT="121900" marB="121900" marR="121900" marL="121900">
                    <a:solidFill>
                      <a:srgbClr val="FFF2CC"/>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和信 蔡玉真 Pediatric</a:t>
                      </a:r>
                      <a:endParaRPr b="1" sz="1800" u="none" cap="none" strike="noStrike"/>
                    </a:p>
                  </a:txBody>
                  <a:tcPr marT="121900" marB="121900" marR="121900" marL="121900"/>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花慈 劉岱偉 CNS lymphoma</a:t>
                      </a:r>
                      <a:endParaRPr b="1" sz="1800" u="none" cap="none" strike="noStrike"/>
                    </a:p>
                  </a:txBody>
                  <a:tcPr marT="121900" marB="121900" marR="121900" marL="121900"/>
                </a:tc>
              </a:tr>
              <a:tr h="757400">
                <a:tc>
                  <a:txBody>
                    <a:bodyPr/>
                    <a:lstStyle/>
                    <a:p>
                      <a:pPr indent="0" lvl="0" marL="0" marR="0" rtl="0" algn="l">
                        <a:spcBef>
                          <a:spcPts val="0"/>
                        </a:spcBef>
                        <a:spcAft>
                          <a:spcPts val="0"/>
                        </a:spcAft>
                        <a:buClr>
                          <a:schemeClr val="dk1"/>
                        </a:buClr>
                        <a:buSzPts val="1800"/>
                        <a:buFont typeface="Calibri"/>
                        <a:buNone/>
                      </a:pPr>
                      <a:r>
                        <a:rPr b="1" lang="en-US" sz="1800" u="none" cap="none" strike="noStrike"/>
                        <a:t>Lung Mediastinum HES</a:t>
                      </a:r>
                      <a:endParaRPr b="1" sz="1800" u="none" cap="none" strike="noStrike"/>
                    </a:p>
                  </a:txBody>
                  <a:tcPr marT="121900" marB="121900" marR="121900" marL="121900">
                    <a:solidFill>
                      <a:srgbClr val="FFF2CC"/>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花慈 許文林 Lung</a:t>
                      </a:r>
                      <a:endParaRPr b="1" sz="1800" u="none" cap="none" strike="noStrike"/>
                    </a:p>
                  </a:txBody>
                  <a:tcPr marT="121900" marB="121900" marR="121900" marL="121900"/>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t>仁愛 呂志德 Sarcoma/DLBCL</a:t>
                      </a:r>
                      <a:endParaRPr b="1" sz="1800" u="none" cap="none" strike="noStrike"/>
                    </a:p>
                  </a:txBody>
                  <a:tcPr marT="121900" marB="121900" marR="121900" marL="12190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嘉長 陳妙芬 HCC/Eso</a:t>
            </a:r>
            <a:endParaRPr/>
          </a:p>
        </p:txBody>
      </p:sp>
      <p:sp>
        <p:nvSpPr>
          <p:cNvPr id="99" name="Google Shape;9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BCLC stage</a:t>
            </a:r>
            <a:endParaRPr/>
          </a:p>
          <a:p>
            <a:pPr indent="-228600" lvl="0" marL="228600" rtl="0" algn="l">
              <a:lnSpc>
                <a:spcPct val="90000"/>
              </a:lnSpc>
              <a:spcBef>
                <a:spcPts val="1000"/>
              </a:spcBef>
              <a:spcAft>
                <a:spcPts val="0"/>
              </a:spcAft>
              <a:buClr>
                <a:schemeClr val="dk1"/>
              </a:buClr>
              <a:buSzPts val="2800"/>
              <a:buChar char="•"/>
            </a:pPr>
            <a:r>
              <a:rPr lang="en-US"/>
              <a:t>Child score</a:t>
            </a:r>
            <a:endParaRPr/>
          </a:p>
          <a:p>
            <a:pPr indent="-228600" lvl="0" marL="228600" rtl="0" algn="l">
              <a:lnSpc>
                <a:spcPct val="90000"/>
              </a:lnSpc>
              <a:spcBef>
                <a:spcPts val="1000"/>
              </a:spcBef>
              <a:spcAft>
                <a:spcPts val="0"/>
              </a:spcAft>
              <a:buClr>
                <a:schemeClr val="dk1"/>
              </a:buClr>
              <a:buSzPts val="2800"/>
              <a:buChar char="•"/>
            </a:pPr>
            <a:r>
              <a:rPr lang="en-US"/>
              <a:t>SBRT indication, dose</a:t>
            </a:r>
            <a:endParaRPr/>
          </a:p>
          <a:p>
            <a:pPr indent="-228600" lvl="0" marL="228600" rtl="0" algn="l">
              <a:lnSpc>
                <a:spcPct val="90000"/>
              </a:lnSpc>
              <a:spcBef>
                <a:spcPts val="1000"/>
              </a:spcBef>
              <a:spcAft>
                <a:spcPts val="0"/>
              </a:spcAft>
              <a:buClr>
                <a:schemeClr val="dk1"/>
              </a:buClr>
              <a:buSzPts val="2800"/>
              <a:buChar char="•"/>
            </a:pPr>
            <a:r>
              <a:rPr lang="en-US"/>
              <a:t>你們醫院liver radiation做最多的是哪種case? PVT 劑量, constraint (conventional RT and SBRT), response rate: textbook: 52Gy 67%</a:t>
            </a:r>
            <a:endParaRPr/>
          </a:p>
          <a:p>
            <a:pPr indent="-228600" lvl="0" marL="228600" rtl="0" algn="l">
              <a:lnSpc>
                <a:spcPct val="90000"/>
              </a:lnSpc>
              <a:spcBef>
                <a:spcPts val="1000"/>
              </a:spcBef>
              <a:spcAft>
                <a:spcPts val="0"/>
              </a:spcAft>
              <a:buClr>
                <a:schemeClr val="dk1"/>
              </a:buClr>
              <a:buSzPts val="2800"/>
              <a:buChar char="•"/>
            </a:pPr>
            <a:r>
              <a:rPr lang="en-US"/>
              <a:t>治療HCC的病人有沒有遇過RILD, 比率多少? Classic and Nonclassical </a:t>
            </a:r>
            <a:endParaRPr/>
          </a:p>
          <a:p>
            <a:pPr indent="-228600" lvl="0" marL="228600" rtl="0" algn="l">
              <a:lnSpc>
                <a:spcPct val="90000"/>
              </a:lnSpc>
              <a:spcBef>
                <a:spcPts val="1000"/>
              </a:spcBef>
              <a:spcAft>
                <a:spcPts val="0"/>
              </a:spcAft>
              <a:buClr>
                <a:schemeClr val="dk1"/>
              </a:buClr>
              <a:buSzPts val="2800"/>
              <a:buChar char="•"/>
            </a:pPr>
            <a:r>
              <a:rPr lang="en-US"/>
              <a:t>RFA indication, 何時RT</a:t>
            </a:r>
            <a:endParaRPr/>
          </a:p>
          <a:p>
            <a:pPr indent="-228600" lvl="0" marL="228600" rtl="0" algn="l">
              <a:lnSpc>
                <a:spcPct val="90000"/>
              </a:lnSpc>
              <a:spcBef>
                <a:spcPts val="1000"/>
              </a:spcBef>
              <a:spcAft>
                <a:spcPts val="0"/>
              </a:spcAft>
              <a:buClr>
                <a:schemeClr val="dk1"/>
              </a:buClr>
              <a:buSzPts val="2800"/>
              <a:buChar char="•"/>
            </a:pPr>
            <a:r>
              <a:rPr lang="en-US"/>
              <a:t>T3N1M0 eso cancer治療, RT dose/field, 要不要做ENI, 怎麼評估能不能開刀, 若不開刀boost dose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高醫 黃志仁 Rectal/Anal</a:t>
            </a:r>
            <a:endParaRPr/>
          </a:p>
        </p:txBody>
      </p:sp>
      <p:sp>
        <p:nvSpPr>
          <p:cNvPr id="105" name="Google Shape;10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Rectal 給臨床資訊，問後續檢查治療安排</a:t>
            </a:r>
            <a:endParaRPr/>
          </a:p>
          <a:p>
            <a:pPr indent="-228600" lvl="1" marL="685800" rtl="0" algn="l">
              <a:lnSpc>
                <a:spcPct val="90000"/>
              </a:lnSpc>
              <a:spcBef>
                <a:spcPts val="500"/>
              </a:spcBef>
              <a:spcAft>
                <a:spcPts val="0"/>
              </a:spcAft>
              <a:buClr>
                <a:schemeClr val="dk1"/>
              </a:buClr>
              <a:buSzPts val="2400"/>
              <a:buChar char="•"/>
            </a:pPr>
            <a:r>
              <a:rPr lang="en-US"/>
              <a:t>Hx, DRE, MRI, PET…</a:t>
            </a:r>
            <a:endParaRPr/>
          </a:p>
          <a:p>
            <a:pPr indent="-228600" lvl="1" marL="685800" rtl="0" algn="l">
              <a:lnSpc>
                <a:spcPct val="90000"/>
              </a:lnSpc>
              <a:spcBef>
                <a:spcPts val="500"/>
              </a:spcBef>
              <a:spcAft>
                <a:spcPts val="0"/>
              </a:spcAft>
              <a:buClr>
                <a:schemeClr val="dk1"/>
              </a:buClr>
              <a:buSzPts val="2400"/>
              <a:buChar char="•"/>
            </a:pPr>
            <a:r>
              <a:rPr lang="en-US"/>
              <a:t>Stage: locally advanced</a:t>
            </a:r>
            <a:endParaRPr/>
          </a:p>
          <a:p>
            <a:pPr indent="-228600" lvl="1" marL="685800" rtl="0" algn="l">
              <a:lnSpc>
                <a:spcPct val="90000"/>
              </a:lnSpc>
              <a:spcBef>
                <a:spcPts val="500"/>
              </a:spcBef>
              <a:spcAft>
                <a:spcPts val="0"/>
              </a:spcAft>
              <a:buClr>
                <a:schemeClr val="dk1"/>
              </a:buClr>
              <a:buSzPts val="2400"/>
              <a:buChar char="•"/>
            </a:pPr>
            <a:r>
              <a:rPr lang="en-US"/>
              <a:t>Neoadjuvant CCRT, 問你們醫院怎麼做 (Chemo, RT dose field)</a:t>
            </a:r>
            <a:endParaRPr/>
          </a:p>
          <a:p>
            <a:pPr indent="-228600" lvl="1" marL="685800" rtl="0" algn="l">
              <a:lnSpc>
                <a:spcPct val="90000"/>
              </a:lnSpc>
              <a:spcBef>
                <a:spcPts val="500"/>
              </a:spcBef>
              <a:spcAft>
                <a:spcPts val="0"/>
              </a:spcAft>
              <a:buClr>
                <a:schemeClr val="dk1"/>
              </a:buClr>
              <a:buSzPts val="2400"/>
              <a:buChar char="•"/>
            </a:pPr>
            <a:r>
              <a:rPr lang="en-US"/>
              <a:t>Short course有沒有做過, Selection</a:t>
            </a:r>
            <a:endParaRPr/>
          </a:p>
          <a:p>
            <a:pPr indent="-228600" lvl="0" marL="228600" rtl="0" algn="l">
              <a:lnSpc>
                <a:spcPct val="90000"/>
              </a:lnSpc>
              <a:spcBef>
                <a:spcPts val="1000"/>
              </a:spcBef>
              <a:spcAft>
                <a:spcPts val="0"/>
              </a:spcAft>
              <a:buClr>
                <a:schemeClr val="dk1"/>
              </a:buClr>
              <a:buSzPts val="2800"/>
              <a:buChar char="•"/>
            </a:pPr>
            <a:r>
              <a:rPr lang="en-US"/>
              <a:t>Anal cancer case, stage, 治療策略</a:t>
            </a:r>
            <a:endParaRPr/>
          </a:p>
          <a:p>
            <a:pPr indent="-228600" lvl="0" marL="228600" rtl="0" algn="l">
              <a:lnSpc>
                <a:spcPct val="90000"/>
              </a:lnSpc>
              <a:spcBef>
                <a:spcPts val="1000"/>
              </a:spcBef>
              <a:spcAft>
                <a:spcPts val="0"/>
              </a:spcAft>
              <a:buClr>
                <a:schemeClr val="dk1"/>
              </a:buClr>
              <a:buSzPts val="2800"/>
              <a:buChar char="•"/>
            </a:pPr>
            <a:r>
              <a:rPr lang="en-US"/>
              <a:t>Rt &amp; Lt colon ca 差異 (Symptom, patho, molecular, incidence, treatment)</a:t>
            </a:r>
            <a:endParaRPr/>
          </a:p>
          <a:p>
            <a:pPr indent="-228600" lvl="0" marL="228600" rtl="0" algn="l">
              <a:lnSpc>
                <a:spcPct val="90000"/>
              </a:lnSpc>
              <a:spcBef>
                <a:spcPts val="1000"/>
              </a:spcBef>
              <a:spcAft>
                <a:spcPts val="0"/>
              </a:spcAft>
              <a:buClr>
                <a:schemeClr val="dk1"/>
              </a:buClr>
              <a:buSzPts val="2800"/>
              <a:buChar char="•"/>
            </a:pPr>
            <a:r>
              <a:rPr lang="en-US"/>
              <a:t>有沒有做過gastric cancer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亞東 熊佩韋 Endometrial</a:t>
            </a:r>
            <a:endParaRPr/>
          </a:p>
        </p:txBody>
      </p:sp>
      <p:sp>
        <p:nvSpPr>
          <p:cNvPr id="111" name="Google Shape;1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Endometrial ca s/p staging OP, 給 patho 下stage, IIIC1</a:t>
            </a:r>
            <a:endParaRPr/>
          </a:p>
          <a:p>
            <a:pPr indent="-228600" lvl="1" marL="685800" rtl="0" algn="l">
              <a:lnSpc>
                <a:spcPct val="90000"/>
              </a:lnSpc>
              <a:spcBef>
                <a:spcPts val="500"/>
              </a:spcBef>
              <a:spcAft>
                <a:spcPts val="0"/>
              </a:spcAft>
              <a:buClr>
                <a:schemeClr val="dk1"/>
              </a:buClr>
              <a:buSzPts val="2400"/>
              <a:buChar char="•"/>
            </a:pPr>
            <a:r>
              <a:rPr lang="en-US"/>
              <a:t>Adjuvant Tx 策略及evidence: Sandwich CRT</a:t>
            </a:r>
            <a:endParaRPr/>
          </a:p>
          <a:p>
            <a:pPr indent="-228600" lvl="2" marL="1143000" rtl="0" algn="l">
              <a:lnSpc>
                <a:spcPct val="90000"/>
              </a:lnSpc>
              <a:spcBef>
                <a:spcPts val="500"/>
              </a:spcBef>
              <a:spcAft>
                <a:spcPts val="0"/>
              </a:spcAft>
              <a:buClr>
                <a:schemeClr val="dk1"/>
              </a:buClr>
              <a:buSzPts val="2000"/>
              <a:buChar char="•"/>
            </a:pPr>
            <a:r>
              <a:rPr lang="en-US"/>
              <a:t>Chemo regimen</a:t>
            </a:r>
            <a:endParaRPr/>
          </a:p>
          <a:p>
            <a:pPr indent="-228600" lvl="2" marL="1143000" rtl="0" algn="l">
              <a:lnSpc>
                <a:spcPct val="90000"/>
              </a:lnSpc>
              <a:spcBef>
                <a:spcPts val="500"/>
              </a:spcBef>
              <a:spcAft>
                <a:spcPts val="0"/>
              </a:spcAft>
              <a:buClr>
                <a:schemeClr val="dk1"/>
              </a:buClr>
              <a:buSzPts val="2000"/>
              <a:buChar char="•"/>
            </a:pPr>
            <a:r>
              <a:rPr lang="en-US"/>
              <a:t>Phase III data: Portec 3, COG 249, COG 258</a:t>
            </a:r>
            <a:endParaRPr/>
          </a:p>
          <a:p>
            <a:pPr indent="-228600" lvl="1" marL="685800" rtl="0" algn="l">
              <a:lnSpc>
                <a:spcPct val="90000"/>
              </a:lnSpc>
              <a:spcBef>
                <a:spcPts val="500"/>
              </a:spcBef>
              <a:spcAft>
                <a:spcPts val="0"/>
              </a:spcAft>
              <a:buClr>
                <a:schemeClr val="dk1"/>
              </a:buClr>
              <a:buSzPts val="2400"/>
              <a:buChar char="•"/>
            </a:pPr>
            <a:r>
              <a:rPr lang="en-US"/>
              <a:t>RT field/dose, brachy dose/Fx/治療長度</a:t>
            </a:r>
            <a:endParaRPr/>
          </a:p>
          <a:p>
            <a:pPr indent="-228600" lvl="2" marL="1143000" rtl="0" algn="l">
              <a:lnSpc>
                <a:spcPct val="90000"/>
              </a:lnSpc>
              <a:spcBef>
                <a:spcPts val="500"/>
              </a:spcBef>
              <a:spcAft>
                <a:spcPts val="0"/>
              </a:spcAft>
              <a:buClr>
                <a:schemeClr val="dk1"/>
              </a:buClr>
              <a:buSzPts val="2000"/>
              <a:buChar char="•"/>
            </a:pPr>
            <a:r>
              <a:rPr lang="en-US"/>
              <a:t>要不要做PALN</a:t>
            </a:r>
            <a:endParaRPr/>
          </a:p>
          <a:p>
            <a:pPr indent="-228600" lvl="1" marL="685800" rtl="0" algn="l">
              <a:lnSpc>
                <a:spcPct val="90000"/>
              </a:lnSpc>
              <a:spcBef>
                <a:spcPts val="500"/>
              </a:spcBef>
              <a:spcAft>
                <a:spcPts val="0"/>
              </a:spcAft>
              <a:buClr>
                <a:schemeClr val="dk1"/>
              </a:buClr>
              <a:buSzPts val="2400"/>
              <a:buChar char="•"/>
            </a:pPr>
            <a:r>
              <a:rPr lang="en-US"/>
              <a:t>討論IV 治療長度, textbook 4cm, 能不能短一點? 有EVIDENCE嗎</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雙和 李明憲 Cervix</a:t>
            </a:r>
            <a:endParaRPr/>
          </a:p>
        </p:txBody>
      </p:sp>
      <p:sp>
        <p:nvSpPr>
          <p:cNvPr id="117" name="Google Shape;117;p18"/>
          <p:cNvSpPr txBox="1"/>
          <p:nvPr>
            <p:ph idx="1" type="body"/>
          </p:nvPr>
        </p:nvSpPr>
        <p:spPr>
          <a:xfrm>
            <a:off x="838200" y="1825625"/>
            <a:ext cx="10515600" cy="4794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冷面考官</a:t>
            </a:r>
            <a:endParaRPr/>
          </a:p>
          <a:p>
            <a:pPr indent="-228600" lvl="0" marL="228600" rtl="0" algn="l">
              <a:lnSpc>
                <a:spcPct val="90000"/>
              </a:lnSpc>
              <a:spcBef>
                <a:spcPts val="1000"/>
              </a:spcBef>
              <a:spcAft>
                <a:spcPts val="0"/>
              </a:spcAft>
              <a:buClr>
                <a:schemeClr val="dk1"/>
              </a:buClr>
              <a:buSzPts val="2800"/>
              <a:buChar char="•"/>
            </a:pPr>
            <a:r>
              <a:rPr lang="en-US"/>
              <a:t>Vaginal bleeding, Bx Adenocarcinoma</a:t>
            </a:r>
            <a:endParaRPr/>
          </a:p>
          <a:p>
            <a:pPr indent="-228600" lvl="1" marL="685800" rtl="0" algn="l">
              <a:lnSpc>
                <a:spcPct val="100000"/>
              </a:lnSpc>
              <a:spcBef>
                <a:spcPts val="500"/>
              </a:spcBef>
              <a:spcAft>
                <a:spcPts val="0"/>
              </a:spcAft>
              <a:buClr>
                <a:schemeClr val="dk1"/>
              </a:buClr>
              <a:buSzPts val="2400"/>
              <a:buChar char="•"/>
            </a:pPr>
            <a:r>
              <a:rPr lang="en-US"/>
              <a:t>WU: IIIB (hydronephrosis)</a:t>
            </a:r>
            <a:endParaRPr/>
          </a:p>
          <a:p>
            <a:pPr indent="-228600" lvl="1" marL="685800" rtl="0" algn="l">
              <a:lnSpc>
                <a:spcPct val="100000"/>
              </a:lnSpc>
              <a:spcBef>
                <a:spcPts val="500"/>
              </a:spcBef>
              <a:spcAft>
                <a:spcPts val="0"/>
              </a:spcAft>
              <a:buClr>
                <a:schemeClr val="dk1"/>
              </a:buClr>
              <a:buSzPts val="2400"/>
              <a:buChar char="•"/>
            </a:pPr>
            <a:r>
              <a:rPr lang="en-US"/>
              <a:t>治療策略 CCRT with weekly cisplatin 40mg, Double J</a:t>
            </a:r>
            <a:endParaRPr/>
          </a:p>
          <a:p>
            <a:pPr indent="-228600" lvl="1" marL="685800" rtl="0" algn="l">
              <a:lnSpc>
                <a:spcPct val="100000"/>
              </a:lnSpc>
              <a:spcBef>
                <a:spcPts val="500"/>
              </a:spcBef>
              <a:spcAft>
                <a:spcPts val="0"/>
              </a:spcAft>
              <a:buClr>
                <a:schemeClr val="dk1"/>
              </a:buClr>
              <a:buSzPts val="2400"/>
              <a:buChar char="•"/>
            </a:pPr>
            <a:r>
              <a:rPr lang="en-US"/>
              <a:t>RT field/dose, brachy dose/Fx</a:t>
            </a:r>
            <a:endParaRPr/>
          </a:p>
          <a:p>
            <a:pPr indent="-228600" lvl="1" marL="685800" rtl="0" algn="l">
              <a:lnSpc>
                <a:spcPct val="100000"/>
              </a:lnSpc>
              <a:spcBef>
                <a:spcPts val="500"/>
              </a:spcBef>
              <a:spcAft>
                <a:spcPts val="0"/>
              </a:spcAft>
              <a:buClr>
                <a:schemeClr val="dk1"/>
              </a:buClr>
              <a:buSzPts val="2400"/>
              <a:buChar char="•"/>
            </a:pPr>
            <a:r>
              <a:rPr lang="en-US"/>
              <a:t>如果Low vaginal involved, brachy 怎麼做, applicator</a:t>
            </a:r>
            <a:endParaRPr/>
          </a:p>
          <a:p>
            <a:pPr indent="-228600" lvl="1" marL="685800" rtl="0" algn="l">
              <a:lnSpc>
                <a:spcPct val="100000"/>
              </a:lnSpc>
              <a:spcBef>
                <a:spcPts val="500"/>
              </a:spcBef>
              <a:spcAft>
                <a:spcPts val="0"/>
              </a:spcAft>
              <a:buClr>
                <a:schemeClr val="dk1"/>
              </a:buClr>
              <a:buSzPts val="2400"/>
              <a:buChar char="•"/>
            </a:pPr>
            <a:r>
              <a:rPr lang="en-US"/>
              <a:t>SCC 和 Adenocainoma 差異 (HPV 18, outcome, C/T)</a:t>
            </a:r>
            <a:endParaRPr/>
          </a:p>
          <a:p>
            <a:pPr indent="-50800" lvl="0" marL="228600" rtl="0" algn="l">
              <a:lnSpc>
                <a:spcPct val="100000"/>
              </a:lnSpc>
              <a:spcBef>
                <a:spcPts val="1000"/>
              </a:spcBef>
              <a:spcAft>
                <a:spcPts val="0"/>
              </a:spcAft>
              <a:buClr>
                <a:schemeClr val="dk1"/>
              </a:buClr>
              <a:buSzPts val="2800"/>
              <a:buNone/>
            </a:pPr>
            <a:r>
              <a:t/>
            </a:r>
            <a:endParaRPr/>
          </a:p>
          <a:p>
            <a:pPr indent="-228600" lvl="0" marL="228600" rtl="0" algn="l">
              <a:lnSpc>
                <a:spcPct val="100000"/>
              </a:lnSpc>
              <a:spcBef>
                <a:spcPts val="1000"/>
              </a:spcBef>
              <a:spcAft>
                <a:spcPts val="0"/>
              </a:spcAft>
              <a:buClr>
                <a:schemeClr val="dk1"/>
              </a:buClr>
              <a:buSzPts val="2800"/>
              <a:buChar char="•"/>
            </a:pPr>
            <a:r>
              <a:rPr lang="en-US"/>
              <a:t>給一個子宮頸癌的例子, 給開過刀後的腫瘤大小、侵犯深度、有沒有LVSI, 考Sedlis criteria, 問要不要做術後RT.</a:t>
            </a:r>
            <a:endParaRPr/>
          </a:p>
          <a:p>
            <a:pPr indent="-50800" lvl="0" marL="228600" rtl="0" algn="l">
              <a:lnSpc>
                <a:spcPct val="10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Applicator cervical」的圖片搜尋結果" id="118" name="Google Shape;118;p18"/>
          <p:cNvPicPr preferRelativeResize="0"/>
          <p:nvPr/>
        </p:nvPicPr>
        <p:blipFill rotWithShape="1">
          <a:blip r:embed="rId3">
            <a:alphaModFix/>
          </a:blip>
          <a:srcRect b="0" l="0" r="0" t="0"/>
          <a:stretch/>
        </p:blipFill>
        <p:spPr>
          <a:xfrm>
            <a:off x="8739407" y="4083772"/>
            <a:ext cx="3036993" cy="11163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三總 趙興隆 Prostate</a:t>
            </a:r>
            <a:endParaRPr/>
          </a:p>
        </p:txBody>
      </p:sp>
      <p:sp>
        <p:nvSpPr>
          <p:cNvPr id="124" name="Google Shape;12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chemeClr val="dk1"/>
              </a:buClr>
              <a:buSzPts val="2380"/>
              <a:buChar char="•"/>
            </a:pPr>
            <a:r>
              <a:rPr lang="en-US" sz="2380">
                <a:latin typeface="BiauKai"/>
                <a:ea typeface="BiauKai"/>
                <a:cs typeface="BiauKai"/>
                <a:sym typeface="BiauKai"/>
              </a:rPr>
              <a:t>鄰居因為LUTS症狀, 切片診斷prostate cancer, 來找你, 後續處理</a:t>
            </a:r>
            <a:endParaRPr sz="2380">
              <a:latin typeface="BiauKai"/>
              <a:ea typeface="BiauKai"/>
              <a:cs typeface="BiauKai"/>
              <a:sym typeface="BiauKai"/>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記得說問Hx才會問到病人左邊hip pain, 沒有外傷病史, good PS, no comorbidity</a:t>
            </a:r>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DRE: bil firm nodules and left seminal vesicle induration</a:t>
            </a:r>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MRI: bil lobe involved, SV(-), no LN, r/o left hip bone lesion</a:t>
            </a:r>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PSA…, Bone scan: r/o left hip uptake</a:t>
            </a:r>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是meta嗎? 答 團隊會議討論 (趙 團隊會議也是問你覺得是不是), Bx proved (趙 病人不要呢? 有沒有做Bx有差嗎?)</a:t>
            </a:r>
            <a:endParaRPr sz="2040">
              <a:latin typeface="BiauKai"/>
              <a:ea typeface="BiauKai"/>
              <a:cs typeface="BiauKai"/>
              <a:sym typeface="BiauKai"/>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Staging T3bN0M1b</a:t>
            </a:r>
            <a:endParaRPr/>
          </a:p>
          <a:p>
            <a:pPr indent="-228600" lvl="1" marL="685800" rtl="0" algn="l">
              <a:lnSpc>
                <a:spcPct val="70000"/>
              </a:lnSpc>
              <a:spcBef>
                <a:spcPts val="500"/>
              </a:spcBef>
              <a:spcAft>
                <a:spcPts val="0"/>
              </a:spcAft>
              <a:buClr>
                <a:schemeClr val="dk1"/>
              </a:buClr>
              <a:buSzPts val="2040"/>
              <a:buChar char="•"/>
            </a:pPr>
            <a:r>
              <a:rPr lang="en-US" sz="2040">
                <a:latin typeface="BiauKai"/>
                <a:ea typeface="BiauKai"/>
                <a:cs typeface="BiauKai"/>
                <a:sym typeface="BiauKai"/>
              </a:rPr>
              <a:t>治療策略: ADT + Docetaxel or abiraterone</a:t>
            </a:r>
            <a:endParaRPr sz="2040">
              <a:latin typeface="BiauKai"/>
              <a:ea typeface="BiauKai"/>
              <a:cs typeface="BiauKai"/>
              <a:sym typeface="BiauKai"/>
            </a:endParaRPr>
          </a:p>
          <a:p>
            <a:pPr indent="-228600" lvl="2" marL="1143000" rtl="0" algn="l">
              <a:lnSpc>
                <a:spcPct val="70000"/>
              </a:lnSpc>
              <a:spcBef>
                <a:spcPts val="500"/>
              </a:spcBef>
              <a:spcAft>
                <a:spcPts val="0"/>
              </a:spcAft>
              <a:buClr>
                <a:schemeClr val="dk1"/>
              </a:buClr>
              <a:buSzPts val="1700"/>
              <a:buChar char="•"/>
            </a:pPr>
            <a:r>
              <a:rPr lang="en-US" sz="1700">
                <a:latin typeface="BiauKai"/>
                <a:ea typeface="BiauKai"/>
                <a:cs typeface="BiauKai"/>
                <a:sym typeface="BiauKai"/>
              </a:rPr>
              <a:t>趙:你確定要這樣做? NCCN是這樣寫嗎….</a:t>
            </a:r>
            <a:endParaRPr/>
          </a:p>
          <a:p>
            <a:pPr indent="-228600" lvl="2" marL="1143000" rtl="0" algn="l">
              <a:lnSpc>
                <a:spcPct val="70000"/>
              </a:lnSpc>
              <a:spcBef>
                <a:spcPts val="500"/>
              </a:spcBef>
              <a:spcAft>
                <a:spcPts val="0"/>
              </a:spcAft>
              <a:buClr>
                <a:schemeClr val="dk1"/>
              </a:buClr>
              <a:buSzPts val="1700"/>
              <a:buChar char="•"/>
            </a:pPr>
            <a:r>
              <a:rPr lang="en-US" sz="1700">
                <a:latin typeface="BiauKai"/>
                <a:ea typeface="BiauKai"/>
                <a:cs typeface="BiauKai"/>
                <a:sym typeface="BiauKai"/>
              </a:rPr>
              <a:t>因為low tumor burden可以考慮ADT + primary RT, RT field/dose</a:t>
            </a:r>
            <a:endParaRPr/>
          </a:p>
          <a:p>
            <a:pPr indent="-228600" lvl="2" marL="1143000" rtl="0" algn="l">
              <a:lnSpc>
                <a:spcPct val="70000"/>
              </a:lnSpc>
              <a:spcBef>
                <a:spcPts val="500"/>
              </a:spcBef>
              <a:spcAft>
                <a:spcPts val="0"/>
              </a:spcAft>
              <a:buClr>
                <a:schemeClr val="dk1"/>
              </a:buClr>
              <a:buSzPts val="1700"/>
              <a:buChar char="•"/>
            </a:pPr>
            <a:r>
              <a:rPr lang="en-US" sz="1700">
                <a:latin typeface="BiauKai"/>
                <a:ea typeface="BiauKai"/>
                <a:cs typeface="BiauKai"/>
                <a:sym typeface="BiauKai"/>
              </a:rPr>
              <a:t>Bone lesion要不要處理</a:t>
            </a:r>
            <a:endParaRPr sz="1700">
              <a:latin typeface="BiauKai"/>
              <a:ea typeface="BiauKai"/>
              <a:cs typeface="BiauKai"/>
              <a:sym typeface="BiauKai"/>
            </a:endParaRPr>
          </a:p>
          <a:p>
            <a:pPr indent="0" lvl="0" marL="186262" rtl="0" algn="l">
              <a:lnSpc>
                <a:spcPct val="70000"/>
              </a:lnSpc>
              <a:spcBef>
                <a:spcPts val="1000"/>
              </a:spcBef>
              <a:spcAft>
                <a:spcPts val="0"/>
              </a:spcAft>
              <a:buClr>
                <a:schemeClr val="dk1"/>
              </a:buClr>
              <a:buSzPts val="2380"/>
              <a:buNone/>
            </a:pPr>
            <a:r>
              <a:rPr lang="en-US" sz="2380">
                <a:latin typeface="BiauKai"/>
                <a:ea typeface="BiauKai"/>
                <a:cs typeface="BiauKai"/>
                <a:sym typeface="BiauKai"/>
              </a:rPr>
              <a:t>該病人最後拒絕治療, 兩年後左邊下背痛回來找你</a:t>
            </a:r>
            <a:endParaRPr sz="2380">
              <a:latin typeface="BiauKai"/>
              <a:ea typeface="BiauKai"/>
              <a:cs typeface="BiauKai"/>
              <a:sym typeface="BiauKai"/>
            </a:endParaRPr>
          </a:p>
          <a:p>
            <a:pPr indent="0" lvl="0" marL="186262" rtl="0" algn="l">
              <a:lnSpc>
                <a:spcPct val="70000"/>
              </a:lnSpc>
              <a:spcBef>
                <a:spcPts val="1000"/>
              </a:spcBef>
              <a:spcAft>
                <a:spcPts val="0"/>
              </a:spcAft>
              <a:buClr>
                <a:schemeClr val="dk1"/>
              </a:buClr>
              <a:buSzPts val="2380"/>
              <a:buNone/>
            </a:pPr>
            <a:r>
              <a:rPr lang="en-US" sz="2380">
                <a:latin typeface="BiauKai"/>
                <a:ea typeface="BiauKai"/>
                <a:cs typeface="BiauKai"/>
                <a:sym typeface="BiauKai"/>
              </a:rPr>
              <a:t>安排Bone scan (趙 你想看什麼懷疑什麼…), Hx, PE (先排除非cancer), CT</a:t>
            </a:r>
            <a:endParaRPr sz="2380">
              <a:latin typeface="BiauKai"/>
              <a:ea typeface="BiauKai"/>
              <a:cs typeface="BiauKai"/>
              <a:sym typeface="BiauKai"/>
            </a:endParaRPr>
          </a:p>
          <a:p>
            <a:pPr indent="0" lvl="0" marL="186262" rtl="0" algn="l">
              <a:lnSpc>
                <a:spcPct val="70000"/>
              </a:lnSpc>
              <a:spcBef>
                <a:spcPts val="1000"/>
              </a:spcBef>
              <a:spcAft>
                <a:spcPts val="0"/>
              </a:spcAft>
              <a:buClr>
                <a:schemeClr val="dk1"/>
              </a:buClr>
              <a:buSzPts val="2380"/>
              <a:buNone/>
            </a:pPr>
            <a:r>
              <a:t/>
            </a:r>
            <a:endParaRPr sz="2380">
              <a:latin typeface="BiauKai"/>
              <a:ea typeface="BiauKai"/>
              <a:cs typeface="BiauKai"/>
              <a:sym typeface="BiauKai"/>
            </a:endParaRPr>
          </a:p>
          <a:p>
            <a:pPr indent="-99059" lvl="1" marL="685800" rtl="0" algn="l">
              <a:lnSpc>
                <a:spcPct val="70000"/>
              </a:lnSpc>
              <a:spcBef>
                <a:spcPts val="500"/>
              </a:spcBef>
              <a:spcAft>
                <a:spcPts val="0"/>
              </a:spcAft>
              <a:buClr>
                <a:schemeClr val="dk1"/>
              </a:buClr>
              <a:buSzPts val="2040"/>
              <a:buNone/>
            </a:pPr>
            <a:r>
              <a:t/>
            </a:r>
            <a:endParaRPr sz="2040">
              <a:latin typeface="BiauKai"/>
              <a:ea typeface="BiauKai"/>
              <a:cs typeface="BiauKai"/>
              <a:sym typeface="BiauKai"/>
            </a:endParaRPr>
          </a:p>
          <a:p>
            <a:pPr indent="-99059" lvl="1" marL="685800" rtl="0" algn="l">
              <a:lnSpc>
                <a:spcPct val="70000"/>
              </a:lnSpc>
              <a:spcBef>
                <a:spcPts val="500"/>
              </a:spcBef>
              <a:spcAft>
                <a:spcPts val="0"/>
              </a:spcAft>
              <a:buClr>
                <a:schemeClr val="dk1"/>
              </a:buClr>
              <a:buSzPts val="2040"/>
              <a:buNone/>
            </a:pPr>
            <a:r>
              <a:t/>
            </a:r>
            <a:endParaRPr sz="204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中國 梁基安 Urinary bladder</a:t>
            </a:r>
            <a:endParaRPr/>
          </a:p>
        </p:txBody>
      </p:sp>
      <p:sp>
        <p:nvSpPr>
          <p:cNvPr id="130" name="Google Shape;130;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380"/>
              <a:buChar char="•"/>
            </a:pPr>
            <a:r>
              <a:rPr lang="en-US" sz="2380"/>
              <a:t>一位病患開完TURBT後, 病理顯示是urinary bladder cancer, 腫瘤侵犯lamina propria, high-grade, 期別是? 常見的病理是? 接下來的處理方式是? </a:t>
            </a:r>
            <a:endParaRPr/>
          </a:p>
          <a:p>
            <a:pPr indent="-228600" lvl="0" marL="228600" rtl="0" algn="l">
              <a:lnSpc>
                <a:spcPct val="80000"/>
              </a:lnSpc>
              <a:spcBef>
                <a:spcPts val="1000"/>
              </a:spcBef>
              <a:spcAft>
                <a:spcPts val="0"/>
              </a:spcAft>
              <a:buClr>
                <a:schemeClr val="dk1"/>
              </a:buClr>
              <a:buSzPts val="2380"/>
              <a:buChar char="•"/>
            </a:pPr>
            <a:r>
              <a:rPr lang="en-US" sz="2380"/>
              <a:t>如果需要intravesical BCG, 但BCG不夠怎麼辦? 我回答NCCN guidelines說可以不用到full dose, 梁主任問: 真的沒有怎麼辦? 有替代方案嗎? 我回答可以選擇intravesical chemotherapy, 梁主任又問: 你知道有哪些藥嗎? 我回: mitomycin 和 gemcitabine</a:t>
            </a:r>
            <a:endParaRPr/>
          </a:p>
          <a:p>
            <a:pPr indent="-228600" lvl="0" marL="228600" rtl="0" algn="l">
              <a:lnSpc>
                <a:spcPct val="80000"/>
              </a:lnSpc>
              <a:spcBef>
                <a:spcPts val="1000"/>
              </a:spcBef>
              <a:spcAft>
                <a:spcPts val="0"/>
              </a:spcAft>
              <a:buClr>
                <a:schemeClr val="dk1"/>
              </a:buClr>
              <a:buSzPts val="2380"/>
              <a:buChar char="•"/>
            </a:pPr>
            <a:r>
              <a:rPr lang="en-US" sz="2380"/>
              <a:t>一位病患開完TURBT後, 病理顯示是urinary bladder cancer, 腫瘤侵犯deep muscularis propria, cTN是? Stage是? 簡述organ preservation的做法, RT的照射範圍、劑量、照完幾Gy要做TURBT、根據TURBT的發現簡述之後處置</a:t>
            </a:r>
            <a:endParaRPr sz="2380"/>
          </a:p>
          <a:p>
            <a:pPr indent="-228600" lvl="0" marL="228600" rtl="0" algn="l">
              <a:lnSpc>
                <a:spcPct val="80000"/>
              </a:lnSpc>
              <a:spcBef>
                <a:spcPts val="1000"/>
              </a:spcBef>
              <a:spcAft>
                <a:spcPts val="0"/>
              </a:spcAft>
              <a:buClr>
                <a:schemeClr val="dk1"/>
              </a:buClr>
              <a:buSzPts val="2380"/>
              <a:buChar char="•"/>
            </a:pPr>
            <a:r>
              <a:rPr lang="en-US" sz="2380"/>
              <a:t>一位病患開完TURBT後, 病理顯示是urinary bladder cancer, macroscopic perivesical invasion, 影像學上左右各一顆internal iliac LN(+), cTN是? Stage是? 簡述之後的治療方式有哪些? 如果選擇neoadjuvant chemotherapy, 有哪些regimens? 你們醫院用哪種? 我回我們醫院主要用G+P.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中國 梁基安 Urinary bladder</a:t>
            </a:r>
            <a:endParaRPr/>
          </a:p>
        </p:txBody>
      </p:sp>
      <p:sp>
        <p:nvSpPr>
          <p:cNvPr id="136" name="Google Shape;136;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800"/>
              <a:buChar char="•"/>
            </a:pPr>
            <a:r>
              <a:rPr lang="en-US"/>
              <a:t>Urinary bladder cancer stage II and IIIA做完neoadjuvant chemotherapy過後, 有哪些pathological risk factors要做術後RT? 我回: pT3, pT4, LN(s) +, 但我有多講surgical margin(s) +, 雖然NCCN guidelines的流程沒有, 不過我想開完刀非R0 resection的機率應該有, 所以膀胱癌margin(+)加術後放療, 應該合理.</a:t>
            </a:r>
            <a:endParaRPr/>
          </a:p>
          <a:p>
            <a:pPr indent="-228600" lvl="0" marL="228600" rtl="0" algn="l">
              <a:lnSpc>
                <a:spcPct val="80000"/>
              </a:lnSpc>
              <a:spcBef>
                <a:spcPts val="1000"/>
              </a:spcBef>
              <a:spcAft>
                <a:spcPts val="0"/>
              </a:spcAft>
              <a:buClr>
                <a:schemeClr val="dk1"/>
              </a:buClr>
              <a:buSzPts val="2800"/>
              <a:buChar char="•"/>
            </a:pPr>
            <a:r>
              <a:rPr lang="en-US"/>
              <a:t>一位病患prostate cancer, 術後顯示pT3N0, extraprostatic extension, 會不會給術後RT, 如果會那照射範圍是? 放射線劑量給多少?</a:t>
            </a:r>
            <a:endParaRPr/>
          </a:p>
          <a:p>
            <a:pPr indent="-228600" lvl="0" marL="228600" rtl="0" algn="l">
              <a:lnSpc>
                <a:spcPct val="80000"/>
              </a:lnSpc>
              <a:spcBef>
                <a:spcPts val="1000"/>
              </a:spcBef>
              <a:spcAft>
                <a:spcPts val="0"/>
              </a:spcAft>
              <a:buClr>
                <a:schemeClr val="dk1"/>
              </a:buClr>
              <a:buSzPts val="2800"/>
              <a:buChar char="•"/>
            </a:pPr>
            <a:r>
              <a:rPr lang="en-US"/>
              <a:t>一位病患prostate cancer, 符合可以做達文西手術, 也符合可以做放射線治療的條件, 在做達文西手術前可以先給ADT嗎? Ans:國外泌尿外科指引是沒有術前給ADT這項indication! 那做RT前可以先給ADT嗎? Ans:Yes, 我舉RTOG-9910的例子.</a:t>
            </a:r>
            <a:endParaRPr/>
          </a:p>
          <a:p>
            <a:pPr indent="-50800" lvl="0" marL="228600" rtl="0" algn="l">
              <a:lnSpc>
                <a:spcPct val="80000"/>
              </a:lnSpc>
              <a:spcBef>
                <a:spcPts val="1000"/>
              </a:spcBef>
              <a:spcAft>
                <a:spcPts val="0"/>
              </a:spcAft>
              <a:buClr>
                <a:schemeClr val="dk1"/>
              </a:buClr>
              <a:buSzPts val="2800"/>
              <a:buNone/>
            </a:pPr>
            <a:r>
              <a:t/>
            </a:r>
            <a:endParaRPr>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林長 張東杰 HN</a:t>
            </a:r>
            <a:endParaRPr/>
          </a:p>
        </p:txBody>
      </p:sp>
      <p:sp>
        <p:nvSpPr>
          <p:cNvPr id="142" name="Google Shape;142;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給一張MRI (Bulky nasal/maxillary sinus tumor, contact right eye), N0, 病人不想開刀</a:t>
            </a:r>
            <a:endParaRPr/>
          </a:p>
          <a:p>
            <a:pPr indent="-228600" lvl="0" marL="228600" rtl="0" algn="l">
              <a:lnSpc>
                <a:spcPct val="90000"/>
              </a:lnSpc>
              <a:spcBef>
                <a:spcPts val="1000"/>
              </a:spcBef>
              <a:spcAft>
                <a:spcPts val="0"/>
              </a:spcAft>
              <a:buClr>
                <a:schemeClr val="dk1"/>
              </a:buClr>
              <a:buSzPts val="2800"/>
              <a:buChar char="•"/>
            </a:pPr>
            <a:r>
              <a:rPr lang="en-US"/>
              <a:t>先Bx確定診斷: Adenoid cystic carcinoma</a:t>
            </a:r>
            <a:endParaRPr/>
          </a:p>
          <a:p>
            <a:pPr indent="-228600" lvl="0" marL="228600" rtl="0" algn="l">
              <a:lnSpc>
                <a:spcPct val="90000"/>
              </a:lnSpc>
              <a:spcBef>
                <a:spcPts val="1000"/>
              </a:spcBef>
              <a:spcAft>
                <a:spcPts val="0"/>
              </a:spcAft>
              <a:buClr>
                <a:schemeClr val="dk1"/>
              </a:buClr>
              <a:buSzPts val="2800"/>
              <a:buChar char="•"/>
            </a:pPr>
            <a:r>
              <a:rPr lang="en-US"/>
              <a:t>WU: Chest CT</a:t>
            </a:r>
            <a:endParaRPr/>
          </a:p>
          <a:p>
            <a:pPr indent="-228600" lvl="0" marL="228600" rtl="0" algn="l">
              <a:lnSpc>
                <a:spcPct val="90000"/>
              </a:lnSpc>
              <a:spcBef>
                <a:spcPts val="1000"/>
              </a:spcBef>
              <a:spcAft>
                <a:spcPts val="0"/>
              </a:spcAft>
              <a:buClr>
                <a:schemeClr val="dk1"/>
              </a:buClr>
              <a:buSzPts val="2800"/>
              <a:buChar char="•"/>
            </a:pPr>
            <a:r>
              <a:rPr lang="en-US"/>
              <a:t>治療選項: C/T+CCRT, CCRT, RT, C/T, 理由</a:t>
            </a:r>
            <a:endParaRPr/>
          </a:p>
          <a:p>
            <a:pPr indent="-228600" lvl="1" marL="685800" rtl="0" algn="l">
              <a:lnSpc>
                <a:spcPct val="90000"/>
              </a:lnSpc>
              <a:spcBef>
                <a:spcPts val="500"/>
              </a:spcBef>
              <a:spcAft>
                <a:spcPts val="0"/>
              </a:spcAft>
              <a:buClr>
                <a:schemeClr val="dk1"/>
              </a:buClr>
              <a:buSzPts val="2400"/>
              <a:buChar char="•"/>
            </a:pPr>
            <a:r>
              <a:rPr lang="en-US"/>
              <a:t>CCRT</a:t>
            </a:r>
            <a:endParaRPr/>
          </a:p>
          <a:p>
            <a:pPr indent="-228600" lvl="0" marL="228600" rtl="0" algn="l">
              <a:lnSpc>
                <a:spcPct val="90000"/>
              </a:lnSpc>
              <a:spcBef>
                <a:spcPts val="1000"/>
              </a:spcBef>
              <a:spcAft>
                <a:spcPts val="0"/>
              </a:spcAft>
              <a:buClr>
                <a:schemeClr val="dk1"/>
              </a:buClr>
              <a:buSzPts val="2800"/>
              <a:buChar char="•"/>
            </a:pPr>
            <a:r>
              <a:rPr lang="en-US"/>
              <a:t>Constraint: </a:t>
            </a:r>
            <a:endParaRPr/>
          </a:p>
          <a:p>
            <a:pPr indent="-228600" lvl="1" marL="685800" rtl="0" algn="l">
              <a:lnSpc>
                <a:spcPct val="90000"/>
              </a:lnSpc>
              <a:spcBef>
                <a:spcPts val="500"/>
              </a:spcBef>
              <a:spcAft>
                <a:spcPts val="0"/>
              </a:spcAft>
              <a:buClr>
                <a:schemeClr val="dk1"/>
              </a:buClr>
              <a:buSzPts val="2400"/>
              <a:buChar char="•"/>
            </a:pPr>
            <a:r>
              <a:rPr lang="en-US"/>
              <a:t>給物理師compromise順位</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中山 曾顯群 HN</a:t>
            </a:r>
            <a:endParaRPr/>
          </a:p>
        </p:txBody>
      </p:sp>
      <p:sp>
        <p:nvSpPr>
          <p:cNvPr id="148" name="Google Shape;148;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Neck level I-V 說明範圍</a:t>
            </a:r>
            <a:endParaRPr/>
          </a:p>
          <a:p>
            <a:pPr indent="-228600" lvl="0" marL="228600" rtl="0" algn="l">
              <a:lnSpc>
                <a:spcPct val="90000"/>
              </a:lnSpc>
              <a:spcBef>
                <a:spcPts val="1000"/>
              </a:spcBef>
              <a:spcAft>
                <a:spcPts val="0"/>
              </a:spcAft>
              <a:buClr>
                <a:schemeClr val="dk1"/>
              </a:buClr>
              <a:buSzPts val="2800"/>
              <a:buChar char="•"/>
            </a:pPr>
            <a:r>
              <a:rPr lang="en-US"/>
              <a:t>說明NPC stage 7-8</a:t>
            </a:r>
            <a:r>
              <a:rPr baseline="30000" lang="en-US"/>
              <a:t>th</a:t>
            </a:r>
            <a:r>
              <a:rPr lang="en-US"/>
              <a:t> 改變</a:t>
            </a:r>
            <a:endParaRPr/>
          </a:p>
          <a:p>
            <a:pPr indent="-228600" lvl="0" marL="228600" rtl="0" algn="l">
              <a:lnSpc>
                <a:spcPct val="90000"/>
              </a:lnSpc>
              <a:spcBef>
                <a:spcPts val="1000"/>
              </a:spcBef>
              <a:spcAft>
                <a:spcPts val="0"/>
              </a:spcAft>
              <a:buClr>
                <a:schemeClr val="dk1"/>
              </a:buClr>
              <a:buSzPts val="2800"/>
              <a:buChar char="•"/>
            </a:pPr>
            <a:r>
              <a:rPr lang="en-US"/>
              <a:t>NPC T1N0M0 怎麼治療,範圍劑量</a:t>
            </a:r>
            <a:endParaRPr/>
          </a:p>
          <a:p>
            <a:pPr indent="-228600" lvl="0" marL="228600" rtl="0" algn="l">
              <a:lnSpc>
                <a:spcPct val="90000"/>
              </a:lnSpc>
              <a:spcBef>
                <a:spcPts val="1000"/>
              </a:spcBef>
              <a:spcAft>
                <a:spcPts val="0"/>
              </a:spcAft>
              <a:buClr>
                <a:schemeClr val="dk1"/>
              </a:buClr>
              <a:buSzPts val="2800"/>
              <a:buChar char="•"/>
            </a:pPr>
            <a:r>
              <a:rPr lang="en-US"/>
              <a:t>NPC 什麼時候會做level I</a:t>
            </a:r>
            <a:endParaRPr/>
          </a:p>
          <a:p>
            <a:pPr indent="-228600" lvl="0" marL="228600" rtl="0" algn="l">
              <a:lnSpc>
                <a:spcPct val="90000"/>
              </a:lnSpc>
              <a:spcBef>
                <a:spcPts val="1000"/>
              </a:spcBef>
              <a:spcAft>
                <a:spcPts val="0"/>
              </a:spcAft>
              <a:buClr>
                <a:schemeClr val="dk1"/>
              </a:buClr>
              <a:buSzPts val="2800"/>
              <a:buChar char="•"/>
            </a:pPr>
            <a:r>
              <a:rPr lang="en-US"/>
              <a:t>有沒有看過late complication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高長 黃英彥 Breast</a:t>
            </a:r>
            <a:endParaRPr/>
          </a:p>
        </p:txBody>
      </p:sp>
      <p:sp>
        <p:nvSpPr>
          <p:cNvPr id="154" name="Google Shape;154;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590"/>
              <a:buChar char="•"/>
            </a:pPr>
            <a:r>
              <a:rPr lang="en-US" sz="2590"/>
              <a:t>Breast ca with cIMN+ s/p BCS, patho report (5.0cm, 6 LN+), TNM: T2N3b</a:t>
            </a:r>
            <a:endParaRPr/>
          </a:p>
          <a:p>
            <a:pPr indent="-228600" lvl="1" marL="685800" rtl="0" algn="l">
              <a:lnSpc>
                <a:spcPct val="80000"/>
              </a:lnSpc>
              <a:spcBef>
                <a:spcPts val="500"/>
              </a:spcBef>
              <a:spcAft>
                <a:spcPts val="0"/>
              </a:spcAft>
              <a:buClr>
                <a:schemeClr val="dk1"/>
              </a:buClr>
              <a:buSzPts val="2220"/>
              <a:buChar char="•"/>
            </a:pPr>
            <a:r>
              <a:rPr lang="en-US" sz="2220"/>
              <a:t>後續治療: systemic Tx, RT field/dose</a:t>
            </a:r>
            <a:endParaRPr/>
          </a:p>
          <a:p>
            <a:pPr indent="-228600" lvl="0" marL="228600" rtl="0" algn="l">
              <a:lnSpc>
                <a:spcPct val="80000"/>
              </a:lnSpc>
              <a:spcBef>
                <a:spcPts val="1000"/>
              </a:spcBef>
              <a:spcAft>
                <a:spcPts val="0"/>
              </a:spcAft>
              <a:buClr>
                <a:schemeClr val="dk1"/>
              </a:buClr>
              <a:buSzPts val="2590"/>
              <a:buChar char="•"/>
            </a:pPr>
            <a:r>
              <a:rPr lang="en-US" sz="2590"/>
              <a:t>Breast cancer, 3cm, 預計BCS, 想做IORT, Consult RTO</a:t>
            </a:r>
            <a:endParaRPr/>
          </a:p>
          <a:p>
            <a:pPr indent="-228600" lvl="1" marL="685800" rtl="0" algn="l">
              <a:lnSpc>
                <a:spcPct val="80000"/>
              </a:lnSpc>
              <a:spcBef>
                <a:spcPts val="500"/>
              </a:spcBef>
              <a:spcAft>
                <a:spcPts val="0"/>
              </a:spcAft>
              <a:buClr>
                <a:schemeClr val="dk1"/>
              </a:buClr>
              <a:buSzPts val="2220"/>
              <a:buChar char="•"/>
            </a:pPr>
            <a:r>
              <a:rPr lang="en-US" sz="2220"/>
              <a:t>APBI criteria 一個都不給你漏</a:t>
            </a:r>
            <a:endParaRPr sz="2220"/>
          </a:p>
          <a:p>
            <a:pPr indent="-228600" lvl="1" marL="685800" rtl="0" algn="l">
              <a:lnSpc>
                <a:spcPct val="80000"/>
              </a:lnSpc>
              <a:spcBef>
                <a:spcPts val="500"/>
              </a:spcBef>
              <a:spcAft>
                <a:spcPts val="0"/>
              </a:spcAft>
              <a:buClr>
                <a:schemeClr val="dk1"/>
              </a:buClr>
              <a:buSzPts val="2220"/>
              <a:buChar char="•"/>
            </a:pPr>
            <a:r>
              <a:rPr lang="en-US" sz="2220"/>
              <a:t>解釋, Evidence</a:t>
            </a:r>
            <a:endParaRPr sz="2220"/>
          </a:p>
          <a:p>
            <a:pPr indent="-228600" lvl="0" marL="228600" rtl="0" algn="l">
              <a:lnSpc>
                <a:spcPct val="80000"/>
              </a:lnSpc>
              <a:spcBef>
                <a:spcPts val="1000"/>
              </a:spcBef>
              <a:spcAft>
                <a:spcPts val="0"/>
              </a:spcAft>
              <a:buClr>
                <a:schemeClr val="dk1"/>
              </a:buClr>
              <a:buSzPts val="2590"/>
              <a:buChar char="•"/>
            </a:pPr>
            <a:r>
              <a:rPr lang="en-US" sz="2590"/>
              <a:t>Breast ca s/p BCS 2 years ago, No RT. Now chest wall relapse, inoperable 處置</a:t>
            </a:r>
            <a:endParaRPr sz="2590"/>
          </a:p>
          <a:p>
            <a:pPr indent="-228600" lvl="1" marL="685800" rtl="0" algn="l">
              <a:lnSpc>
                <a:spcPct val="80000"/>
              </a:lnSpc>
              <a:spcBef>
                <a:spcPts val="500"/>
              </a:spcBef>
              <a:spcAft>
                <a:spcPts val="0"/>
              </a:spcAft>
              <a:buClr>
                <a:schemeClr val="dk1"/>
              </a:buClr>
              <a:buSzPts val="2220"/>
              <a:buChar char="•"/>
            </a:pPr>
            <a:r>
              <a:rPr lang="en-US" sz="2220"/>
              <a:t>WU: N0M0 (Chest wall recurrence, 來你的門診, 最重要的是要安排restaging, ex: Chest CT, PET-CT等等, 很多外科發現recurrence就直接丟過來什麼檢查也沒做, 等到一做restaging, 才發現其他地方也有了</a:t>
            </a:r>
            <a:endParaRPr sz="2220"/>
          </a:p>
          <a:p>
            <a:pPr indent="-228600" lvl="1" marL="685800" rtl="0" algn="l">
              <a:lnSpc>
                <a:spcPct val="80000"/>
              </a:lnSpc>
              <a:spcBef>
                <a:spcPts val="500"/>
              </a:spcBef>
              <a:spcAft>
                <a:spcPts val="0"/>
              </a:spcAft>
              <a:buClr>
                <a:schemeClr val="dk1"/>
              </a:buClr>
              <a:buSzPts val="2220"/>
              <a:buChar char="•"/>
            </a:pPr>
            <a:r>
              <a:rPr lang="en-US" sz="2220"/>
              <a:t>如果是你, 會不會勸病人去開刀?  要回答Yes, 黃主任說, 開完再來做放療比較好</a:t>
            </a:r>
            <a:endParaRPr sz="2220"/>
          </a:p>
          <a:p>
            <a:pPr indent="-228600" lvl="1" marL="685800" rtl="0" algn="l">
              <a:lnSpc>
                <a:spcPct val="80000"/>
              </a:lnSpc>
              <a:spcBef>
                <a:spcPts val="500"/>
              </a:spcBef>
              <a:spcAft>
                <a:spcPts val="0"/>
              </a:spcAft>
              <a:buClr>
                <a:schemeClr val="dk1"/>
              </a:buClr>
              <a:buSzPts val="2220"/>
              <a:buChar char="•"/>
            </a:pPr>
            <a:r>
              <a:rPr lang="en-US" sz="2220"/>
              <a:t>Salvage RT, RT field/dose</a:t>
            </a:r>
            <a:endParaRPr sz="2220"/>
          </a:p>
          <a:p>
            <a:pPr indent="-64135" lvl="0" marL="228600" rtl="0" algn="l">
              <a:lnSpc>
                <a:spcPct val="80000"/>
              </a:lnSpc>
              <a:spcBef>
                <a:spcPts val="1000"/>
              </a:spcBef>
              <a:spcAft>
                <a:spcPts val="0"/>
              </a:spcAft>
              <a:buClr>
                <a:schemeClr val="dk1"/>
              </a:buClr>
              <a:buSzPts val="2590"/>
              <a:buNone/>
            </a:pPr>
            <a:r>
              <a:t/>
            </a:r>
            <a:endParaRPr sz="259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國泰 吳錦榕 Palliative/benign</a:t>
            </a:r>
            <a:endParaRPr b="1"/>
          </a:p>
        </p:txBody>
      </p:sp>
      <p:sp>
        <p:nvSpPr>
          <p:cNvPr id="160" name="Google Shape;160;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chemeClr val="dk1"/>
              </a:buClr>
              <a:buSzPts val="2170"/>
              <a:buChar char="•"/>
            </a:pPr>
            <a:r>
              <a:rPr lang="en-US" sz="2170">
                <a:latin typeface="BiauKai"/>
                <a:ea typeface="BiauKai"/>
                <a:cs typeface="BiauKai"/>
                <a:sym typeface="BiauKai"/>
              </a:rPr>
              <a:t>MSCC 可以只做RT嗎</a:t>
            </a:r>
            <a:endParaRPr sz="2170">
              <a:latin typeface="BiauKai"/>
              <a:ea typeface="BiauKai"/>
              <a:cs typeface="BiauKai"/>
              <a:sym typeface="BiauKai"/>
            </a:endParaRPr>
          </a:p>
          <a:p>
            <a:pPr indent="-228600" lvl="1" marL="685800" rtl="0" algn="l">
              <a:lnSpc>
                <a:spcPct val="70000"/>
              </a:lnSpc>
              <a:spcBef>
                <a:spcPts val="500"/>
              </a:spcBef>
              <a:spcAft>
                <a:spcPts val="0"/>
              </a:spcAft>
              <a:buClr>
                <a:schemeClr val="dk1"/>
              </a:buClr>
              <a:buSzPts val="1860"/>
              <a:buChar char="•"/>
            </a:pPr>
            <a:r>
              <a:rPr lang="en-US" sz="1860">
                <a:latin typeface="BiauKai"/>
                <a:ea typeface="BiauKai"/>
                <a:cs typeface="BiauKai"/>
                <a:sym typeface="BiauKai"/>
              </a:rPr>
              <a:t>OP+RT (Patchell RCT (2005 Lancet oncol)</a:t>
            </a:r>
            <a:endParaRPr/>
          </a:p>
          <a:p>
            <a:pPr indent="-228600" lvl="1" marL="685800" rtl="0" algn="l">
              <a:lnSpc>
                <a:spcPct val="70000"/>
              </a:lnSpc>
              <a:spcBef>
                <a:spcPts val="500"/>
              </a:spcBef>
              <a:spcAft>
                <a:spcPts val="0"/>
              </a:spcAft>
              <a:buClr>
                <a:schemeClr val="dk1"/>
              </a:buClr>
              <a:buSzPts val="1860"/>
              <a:buChar char="•"/>
            </a:pPr>
            <a:r>
              <a:rPr lang="en-US" sz="1860">
                <a:latin typeface="BiauKai"/>
                <a:ea typeface="BiauKai"/>
                <a:cs typeface="BiauKai"/>
                <a:sym typeface="BiauKai"/>
              </a:rPr>
              <a:t>Steroid</a:t>
            </a:r>
            <a:endParaRPr/>
          </a:p>
          <a:p>
            <a:pPr indent="-228600" lvl="0" marL="228600" rtl="0" algn="l">
              <a:lnSpc>
                <a:spcPct val="70000"/>
              </a:lnSpc>
              <a:spcBef>
                <a:spcPts val="1000"/>
              </a:spcBef>
              <a:spcAft>
                <a:spcPts val="0"/>
              </a:spcAft>
              <a:buClr>
                <a:schemeClr val="dk1"/>
              </a:buClr>
              <a:buSzPts val="2170"/>
              <a:buChar char="•"/>
            </a:pPr>
            <a:r>
              <a:rPr lang="en-US" sz="2170">
                <a:latin typeface="BiauKai"/>
                <a:ea typeface="BiauKai"/>
                <a:cs typeface="BiauKai"/>
                <a:sym typeface="BiauKai"/>
              </a:rPr>
              <a:t>良性病灶做過什麼: Keloid, 做法</a:t>
            </a:r>
            <a:endParaRPr sz="2170">
              <a:latin typeface="BiauKai"/>
              <a:ea typeface="BiauKai"/>
              <a:cs typeface="BiauKai"/>
              <a:sym typeface="BiauKai"/>
            </a:endParaRPr>
          </a:p>
          <a:p>
            <a:pPr indent="-228600" lvl="0" marL="228600" rtl="0" algn="l">
              <a:lnSpc>
                <a:spcPct val="70000"/>
              </a:lnSpc>
              <a:spcBef>
                <a:spcPts val="1000"/>
              </a:spcBef>
              <a:spcAft>
                <a:spcPts val="0"/>
              </a:spcAft>
              <a:buClr>
                <a:schemeClr val="dk1"/>
              </a:buClr>
              <a:buSzPts val="2170"/>
              <a:buChar char="•"/>
            </a:pPr>
            <a:r>
              <a:rPr lang="en-US" sz="2170">
                <a:latin typeface="BiauKai"/>
                <a:ea typeface="BiauKai"/>
                <a:cs typeface="BiauKai"/>
                <a:sym typeface="BiauKai"/>
              </a:rPr>
              <a:t>30 y/o female 未生育, Keloid長在肚臍下</a:t>
            </a:r>
            <a:endParaRPr sz="2170">
              <a:latin typeface="BiauKai"/>
              <a:ea typeface="BiauKai"/>
              <a:cs typeface="BiauKai"/>
              <a:sym typeface="BiauKai"/>
            </a:endParaRPr>
          </a:p>
          <a:p>
            <a:pPr indent="-228600" lvl="1" marL="685800" rtl="0" algn="l">
              <a:lnSpc>
                <a:spcPct val="70000"/>
              </a:lnSpc>
              <a:spcBef>
                <a:spcPts val="500"/>
              </a:spcBef>
              <a:spcAft>
                <a:spcPts val="0"/>
              </a:spcAft>
              <a:buClr>
                <a:schemeClr val="dk1"/>
              </a:buClr>
              <a:buSzPts val="1860"/>
              <a:buChar char="•"/>
            </a:pPr>
            <a:r>
              <a:rPr lang="en-US" sz="1860">
                <a:latin typeface="BiauKai"/>
                <a:ea typeface="BiauKai"/>
                <a:cs typeface="BiauKai"/>
                <a:sym typeface="BiauKai"/>
              </a:rPr>
              <a:t>確定病人沒有懷孕</a:t>
            </a:r>
            <a:endParaRPr sz="1860">
              <a:latin typeface="BiauKai"/>
              <a:ea typeface="BiauKai"/>
              <a:cs typeface="BiauKai"/>
              <a:sym typeface="BiauKai"/>
            </a:endParaRPr>
          </a:p>
          <a:p>
            <a:pPr indent="-228600" lvl="1" marL="685800" rtl="0" algn="l">
              <a:lnSpc>
                <a:spcPct val="70000"/>
              </a:lnSpc>
              <a:spcBef>
                <a:spcPts val="500"/>
              </a:spcBef>
              <a:spcAft>
                <a:spcPts val="0"/>
              </a:spcAft>
              <a:buClr>
                <a:schemeClr val="dk1"/>
              </a:buClr>
              <a:buSzPts val="1860"/>
              <a:buChar char="•"/>
            </a:pPr>
            <a:r>
              <a:rPr lang="en-US" sz="1860">
                <a:latin typeface="BiauKai"/>
                <a:ea typeface="BiauKai"/>
                <a:cs typeface="BiauKai"/>
                <a:sym typeface="BiauKai"/>
              </a:rPr>
              <a:t>解釋dose distribution, ovary failure, 畸胎等等 (吳:不會有任何影響)</a:t>
            </a:r>
            <a:endParaRPr/>
          </a:p>
          <a:p>
            <a:pPr indent="-228600" lvl="0" marL="228600" rtl="0" algn="l">
              <a:lnSpc>
                <a:spcPct val="70000"/>
              </a:lnSpc>
              <a:spcBef>
                <a:spcPts val="1000"/>
              </a:spcBef>
              <a:spcAft>
                <a:spcPts val="0"/>
              </a:spcAft>
              <a:buClr>
                <a:schemeClr val="dk1"/>
              </a:buClr>
              <a:buSzPts val="2170"/>
              <a:buChar char="•"/>
            </a:pPr>
            <a:r>
              <a:rPr lang="en-US" sz="2170">
                <a:latin typeface="BiauKai"/>
                <a:ea typeface="BiauKai"/>
                <a:cs typeface="BiauKai"/>
                <a:sym typeface="BiauKai"/>
              </a:rPr>
              <a:t>Skin cancer RT 的 indication? </a:t>
            </a:r>
            <a:endParaRPr/>
          </a:p>
          <a:p>
            <a:pPr indent="-90804" lvl="0" marL="228600" rtl="0" algn="l">
              <a:lnSpc>
                <a:spcPct val="70000"/>
              </a:lnSpc>
              <a:spcBef>
                <a:spcPts val="1000"/>
              </a:spcBef>
              <a:spcAft>
                <a:spcPts val="0"/>
              </a:spcAft>
              <a:buClr>
                <a:schemeClr val="dk1"/>
              </a:buClr>
              <a:buSzPts val="2170"/>
              <a:buNone/>
            </a:pPr>
            <a:r>
              <a:t/>
            </a:r>
            <a:endParaRPr sz="2170">
              <a:latin typeface="BiauKai"/>
              <a:ea typeface="BiauKai"/>
              <a:cs typeface="BiauKai"/>
              <a:sym typeface="BiauKai"/>
            </a:endParaRPr>
          </a:p>
          <a:p>
            <a:pPr indent="-228600" lvl="0" marL="228600" rtl="0" algn="l">
              <a:lnSpc>
                <a:spcPct val="70000"/>
              </a:lnSpc>
              <a:spcBef>
                <a:spcPts val="1000"/>
              </a:spcBef>
              <a:spcAft>
                <a:spcPts val="0"/>
              </a:spcAft>
              <a:buClr>
                <a:schemeClr val="dk1"/>
              </a:buClr>
              <a:buSzPts val="2170"/>
              <a:buChar char="•"/>
            </a:pPr>
            <a:r>
              <a:rPr lang="en-US" sz="2170">
                <a:latin typeface="BiauKai"/>
                <a:ea typeface="BiauKai"/>
                <a:cs typeface="BiauKai"/>
                <a:sym typeface="BiauKai"/>
              </a:rPr>
              <a:t>癌症診療品質認證條文 3-3</a:t>
            </a:r>
            <a:endParaRPr/>
          </a:p>
          <a:p>
            <a:pPr indent="-228600" lvl="1" marL="685800" rtl="0" algn="l">
              <a:lnSpc>
                <a:spcPct val="70000"/>
              </a:lnSpc>
              <a:spcBef>
                <a:spcPts val="500"/>
              </a:spcBef>
              <a:spcAft>
                <a:spcPts val="0"/>
              </a:spcAft>
              <a:buClr>
                <a:schemeClr val="dk1"/>
              </a:buClr>
              <a:buSzPts val="1860"/>
              <a:buChar char="•"/>
            </a:pPr>
            <a:r>
              <a:rPr lang="en-US" sz="1860">
                <a:latin typeface="BiauKai"/>
                <a:ea typeface="BiauKai"/>
                <a:cs typeface="BiauKai"/>
                <a:sym typeface="BiauKai"/>
              </a:rPr>
              <a:t>癌症防治醫療機構應針對晚期癌症病人建立緩和醫療之照護標準與流程</a:t>
            </a:r>
            <a:endParaRPr sz="1860">
              <a:latin typeface="BiauKai"/>
              <a:ea typeface="BiauKai"/>
              <a:cs typeface="BiauKai"/>
              <a:sym typeface="BiauKai"/>
            </a:endParaRPr>
          </a:p>
          <a:p>
            <a:pPr indent="-228600" lvl="2" marL="1143000" rtl="0" algn="l">
              <a:lnSpc>
                <a:spcPct val="70000"/>
              </a:lnSpc>
              <a:spcBef>
                <a:spcPts val="500"/>
              </a:spcBef>
              <a:spcAft>
                <a:spcPts val="0"/>
              </a:spcAft>
              <a:buClr>
                <a:schemeClr val="dk1"/>
              </a:buClr>
              <a:buSzPts val="1550"/>
              <a:buChar char="•"/>
            </a:pPr>
            <a:r>
              <a:rPr lang="en-US" sz="1550">
                <a:latin typeface="BiauKai"/>
                <a:ea typeface="BiauKai"/>
                <a:cs typeface="BiauKai"/>
                <a:sym typeface="BiauKai"/>
              </a:rPr>
              <a:t>1.   已建立晚期癌症病人接受緩和醫療之照護標準與流程。 </a:t>
            </a:r>
            <a:endParaRPr/>
          </a:p>
          <a:p>
            <a:pPr indent="-228600" lvl="2" marL="1143000" rtl="0" algn="l">
              <a:lnSpc>
                <a:spcPct val="70000"/>
              </a:lnSpc>
              <a:spcBef>
                <a:spcPts val="500"/>
              </a:spcBef>
              <a:spcAft>
                <a:spcPts val="0"/>
              </a:spcAft>
              <a:buClr>
                <a:schemeClr val="dk1"/>
              </a:buClr>
              <a:buSzPts val="1550"/>
              <a:buChar char="•"/>
            </a:pPr>
            <a:r>
              <a:rPr lang="en-US" sz="1550">
                <a:latin typeface="BiauKai"/>
                <a:ea typeface="BiauKai"/>
                <a:cs typeface="BiauKai"/>
                <a:sym typeface="BiauKai"/>
              </a:rPr>
              <a:t>2.   在兩種癌別或兩個腫瘤相關病房（安寧病房除外）開始實行。 </a:t>
            </a:r>
            <a:endParaRPr sz="1550">
              <a:latin typeface="BiauKai"/>
              <a:ea typeface="BiauKai"/>
              <a:cs typeface="BiauKai"/>
              <a:sym typeface="BiauKai"/>
            </a:endParaRPr>
          </a:p>
          <a:p>
            <a:pPr indent="-228600" lvl="0" marL="228600" rtl="0" algn="l">
              <a:lnSpc>
                <a:spcPct val="70000"/>
              </a:lnSpc>
              <a:spcBef>
                <a:spcPts val="1000"/>
              </a:spcBef>
              <a:spcAft>
                <a:spcPts val="0"/>
              </a:spcAft>
              <a:buClr>
                <a:schemeClr val="dk1"/>
              </a:buClr>
              <a:buSzPts val="2170"/>
              <a:buChar char="•"/>
            </a:pPr>
            <a:r>
              <a:rPr lang="en-US" sz="2170">
                <a:latin typeface="BiauKai"/>
                <a:ea typeface="BiauKai"/>
                <a:cs typeface="BiauKai"/>
                <a:sym typeface="BiauKai"/>
              </a:rPr>
              <a:t>推薦你加入癌症安寧緩和學會</a:t>
            </a:r>
            <a:endParaRPr sz="2170">
              <a:latin typeface="BiauKai"/>
              <a:ea typeface="BiauKai"/>
              <a:cs typeface="BiauKai"/>
              <a:sym typeface="BiauKa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和信 蔡玉真 Pediatric</a:t>
            </a:r>
            <a:endParaRPr/>
          </a:p>
        </p:txBody>
      </p:sp>
      <p:sp>
        <p:nvSpPr>
          <p:cNvPr id="166" name="Google Shape;166;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590"/>
              <a:buChar char="•"/>
            </a:pPr>
            <a:r>
              <a:rPr lang="en-US" sz="2590"/>
              <a:t>Meduloblastoma high risk group定義?</a:t>
            </a:r>
            <a:endParaRPr/>
          </a:p>
          <a:p>
            <a:pPr indent="-228600" lvl="1" marL="685800" rtl="0" algn="l">
              <a:lnSpc>
                <a:spcPct val="80000"/>
              </a:lnSpc>
              <a:spcBef>
                <a:spcPts val="500"/>
              </a:spcBef>
              <a:spcAft>
                <a:spcPts val="0"/>
              </a:spcAft>
              <a:buClr>
                <a:schemeClr val="dk1"/>
              </a:buClr>
              <a:buSzPts val="2220"/>
              <a:buChar char="•"/>
            </a:pPr>
            <a:r>
              <a:rPr lang="en-US" sz="2220"/>
              <a:t>治療</a:t>
            </a:r>
            <a:endParaRPr sz="2220"/>
          </a:p>
          <a:p>
            <a:pPr indent="-228600" lvl="0" marL="228600" rtl="0" algn="l">
              <a:lnSpc>
                <a:spcPct val="80000"/>
              </a:lnSpc>
              <a:spcBef>
                <a:spcPts val="1000"/>
              </a:spcBef>
              <a:spcAft>
                <a:spcPts val="0"/>
              </a:spcAft>
              <a:buClr>
                <a:schemeClr val="dk1"/>
              </a:buClr>
              <a:buSzPts val="2590"/>
              <a:buChar char="•"/>
            </a:pPr>
            <a:r>
              <a:rPr lang="en-US" sz="2590"/>
              <a:t>Strategies to avoid or minimize long-term effects of Tx for pediatric brain tumors</a:t>
            </a:r>
            <a:endParaRPr/>
          </a:p>
          <a:p>
            <a:pPr indent="-228600" lvl="1" marL="685800" rtl="0" algn="l">
              <a:lnSpc>
                <a:spcPct val="80000"/>
              </a:lnSpc>
              <a:spcBef>
                <a:spcPts val="500"/>
              </a:spcBef>
              <a:spcAft>
                <a:spcPts val="0"/>
              </a:spcAft>
              <a:buClr>
                <a:schemeClr val="dk1"/>
              </a:buClr>
              <a:buSzPts val="2220"/>
              <a:buChar char="•"/>
            </a:pPr>
            <a:r>
              <a:rPr lang="en-US" sz="2220"/>
              <a:t>Avoidance of RT altogether (low-grade astrocytoma)</a:t>
            </a:r>
            <a:endParaRPr/>
          </a:p>
          <a:p>
            <a:pPr indent="-228600" lvl="1" marL="685800" rtl="0" algn="l">
              <a:lnSpc>
                <a:spcPct val="80000"/>
              </a:lnSpc>
              <a:spcBef>
                <a:spcPts val="500"/>
              </a:spcBef>
              <a:spcAft>
                <a:spcPts val="0"/>
              </a:spcAft>
              <a:buClr>
                <a:schemeClr val="dk1"/>
              </a:buClr>
              <a:buSzPts val="2220"/>
              <a:buChar char="•"/>
            </a:pPr>
            <a:r>
              <a:rPr lang="en-US" sz="2220"/>
              <a:t>Delay of RT for young children (&lt;3-8 y/o)</a:t>
            </a:r>
            <a:endParaRPr/>
          </a:p>
          <a:p>
            <a:pPr indent="-228600" lvl="1" marL="685800" rtl="0" algn="l">
              <a:lnSpc>
                <a:spcPct val="80000"/>
              </a:lnSpc>
              <a:spcBef>
                <a:spcPts val="500"/>
              </a:spcBef>
              <a:spcAft>
                <a:spcPts val="0"/>
              </a:spcAft>
              <a:buClr>
                <a:schemeClr val="dk1"/>
              </a:buClr>
              <a:buSzPts val="2220"/>
              <a:buChar char="•"/>
            </a:pPr>
            <a:r>
              <a:rPr lang="en-US" sz="2220"/>
              <a:t>New radiation modalities (particularly proton therapy)</a:t>
            </a:r>
            <a:endParaRPr/>
          </a:p>
          <a:p>
            <a:pPr indent="-228600" lvl="1" marL="685800" rtl="0" algn="l">
              <a:lnSpc>
                <a:spcPct val="80000"/>
              </a:lnSpc>
              <a:spcBef>
                <a:spcPts val="500"/>
              </a:spcBef>
              <a:spcAft>
                <a:spcPts val="0"/>
              </a:spcAft>
              <a:buClr>
                <a:schemeClr val="dk1"/>
              </a:buClr>
              <a:buSzPts val="2220"/>
              <a:buChar char="•"/>
            </a:pPr>
            <a:r>
              <a:rPr lang="en-US" sz="2220"/>
              <a:t>Reduced RT target volumes/dose, smaller fraction sizes</a:t>
            </a:r>
            <a:endParaRPr/>
          </a:p>
          <a:p>
            <a:pPr indent="-228600" lvl="0" marL="228600" rtl="0" algn="l">
              <a:lnSpc>
                <a:spcPct val="80000"/>
              </a:lnSpc>
              <a:spcBef>
                <a:spcPts val="1000"/>
              </a:spcBef>
              <a:spcAft>
                <a:spcPts val="0"/>
              </a:spcAft>
              <a:buClr>
                <a:schemeClr val="dk1"/>
              </a:buClr>
              <a:buSzPts val="2590"/>
              <a:buChar char="•"/>
            </a:pPr>
            <a:r>
              <a:rPr lang="en-US" sz="2590"/>
              <a:t>TBI有做過嗎?怎麼做</a:t>
            </a:r>
            <a:endParaRPr sz="2590"/>
          </a:p>
          <a:p>
            <a:pPr indent="-228600" lvl="1" marL="685800" rtl="0" algn="l">
              <a:lnSpc>
                <a:spcPct val="80000"/>
              </a:lnSpc>
              <a:spcBef>
                <a:spcPts val="500"/>
              </a:spcBef>
              <a:spcAft>
                <a:spcPts val="0"/>
              </a:spcAft>
              <a:buClr>
                <a:schemeClr val="dk1"/>
              </a:buClr>
              <a:buSzPts val="2220"/>
              <a:buChar char="•"/>
            </a:pPr>
            <a:r>
              <a:rPr lang="en-US" sz="2220"/>
              <a:t>跟爸媽解釋side effect: bone grow, neurocognitive function, endocrine function, secondary malignancy</a:t>
            </a:r>
            <a:endParaRPr/>
          </a:p>
          <a:p>
            <a:pPr indent="-228600" lvl="0" marL="228600" rtl="0" algn="l">
              <a:lnSpc>
                <a:spcPct val="80000"/>
              </a:lnSpc>
              <a:spcBef>
                <a:spcPts val="1000"/>
              </a:spcBef>
              <a:spcAft>
                <a:spcPts val="0"/>
              </a:spcAft>
              <a:buClr>
                <a:schemeClr val="dk1"/>
              </a:buClr>
              <a:buSzPts val="2590"/>
              <a:buChar char="•"/>
            </a:pPr>
            <a:r>
              <a:rPr lang="en-US" sz="2590"/>
              <a:t>說一說做過的case</a:t>
            </a:r>
            <a:endParaRPr sz="259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806450" y="-238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花慈 劉岱偉 CNS</a:t>
            </a:r>
            <a:endParaRPr/>
          </a:p>
        </p:txBody>
      </p:sp>
      <p:sp>
        <p:nvSpPr>
          <p:cNvPr id="172" name="Google Shape;172;p27"/>
          <p:cNvSpPr txBox="1"/>
          <p:nvPr>
            <p:ph idx="1" type="body"/>
          </p:nvPr>
        </p:nvSpPr>
        <p:spPr>
          <a:xfrm>
            <a:off x="806450" y="1219200"/>
            <a:ext cx="10547350" cy="54483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800"/>
              <a:buChar char="•"/>
            </a:pPr>
            <a:r>
              <a:rPr lang="en-US"/>
              <a:t>55 y/o, male, headache, 給Brain MRI 判讀 DDx, 下一步?</a:t>
            </a:r>
            <a:endParaRPr/>
          </a:p>
          <a:p>
            <a:pPr indent="-228600" lvl="0" marL="228600" rtl="0" algn="l">
              <a:lnSpc>
                <a:spcPct val="80000"/>
              </a:lnSpc>
              <a:spcBef>
                <a:spcPts val="1000"/>
              </a:spcBef>
              <a:spcAft>
                <a:spcPts val="0"/>
              </a:spcAft>
              <a:buClr>
                <a:schemeClr val="dk1"/>
              </a:buClr>
              <a:buSzPts val="2800"/>
              <a:buChar char="•"/>
            </a:pPr>
            <a:r>
              <a:rPr lang="en-US"/>
              <a:t>Bx: CNS Lymphoma</a:t>
            </a:r>
            <a:endParaRPr/>
          </a:p>
          <a:p>
            <a:pPr indent="-228600" lvl="0" marL="228600" rtl="0" algn="l">
              <a:lnSpc>
                <a:spcPct val="80000"/>
              </a:lnSpc>
              <a:spcBef>
                <a:spcPts val="1000"/>
              </a:spcBef>
              <a:spcAft>
                <a:spcPts val="0"/>
              </a:spcAft>
              <a:buClr>
                <a:schemeClr val="dk1"/>
              </a:buClr>
              <a:buSzPts val="2800"/>
              <a:buChar char="•"/>
            </a:pPr>
            <a:r>
              <a:rPr lang="en-US"/>
              <a:t>Primary CNS lymphoma median diagnosis age? </a:t>
            </a:r>
            <a:endParaRPr/>
          </a:p>
          <a:p>
            <a:pPr indent="-228600" lvl="0" marL="228600" rtl="0" algn="l">
              <a:lnSpc>
                <a:spcPct val="80000"/>
              </a:lnSpc>
              <a:spcBef>
                <a:spcPts val="1000"/>
              </a:spcBef>
              <a:spcAft>
                <a:spcPts val="0"/>
              </a:spcAft>
              <a:buClr>
                <a:schemeClr val="dk1"/>
              </a:buClr>
              <a:buSzPts val="2800"/>
              <a:buChar char="•"/>
            </a:pPr>
            <a:r>
              <a:rPr lang="en-US"/>
              <a:t>如果病人是年輕男性, 要加驗什麼?</a:t>
            </a:r>
            <a:endParaRPr/>
          </a:p>
          <a:p>
            <a:pPr indent="-228600" lvl="0" marL="228600" rtl="0" algn="l">
              <a:lnSpc>
                <a:spcPct val="80000"/>
              </a:lnSpc>
              <a:spcBef>
                <a:spcPts val="1000"/>
              </a:spcBef>
              <a:spcAft>
                <a:spcPts val="0"/>
              </a:spcAft>
              <a:buClr>
                <a:schemeClr val="dk1"/>
              </a:buClr>
              <a:buSzPts val="2800"/>
              <a:buChar char="•"/>
            </a:pPr>
            <a:r>
              <a:rPr lang="en-US"/>
              <a:t>診斷Primary CNS lymphoma後要會診什麼科? 侵犯眼睛的機率是多少?</a:t>
            </a:r>
            <a:endParaRPr/>
          </a:p>
          <a:p>
            <a:pPr indent="-228600" lvl="0" marL="228600" rtl="0" algn="l">
              <a:lnSpc>
                <a:spcPct val="80000"/>
              </a:lnSpc>
              <a:spcBef>
                <a:spcPts val="1000"/>
              </a:spcBef>
              <a:spcAft>
                <a:spcPts val="0"/>
              </a:spcAft>
              <a:buClr>
                <a:schemeClr val="dk1"/>
              </a:buClr>
              <a:buSzPts val="2800"/>
              <a:buChar char="•"/>
            </a:pPr>
            <a:r>
              <a:rPr lang="en-US"/>
              <a:t>治療策略</a:t>
            </a:r>
            <a:endParaRPr/>
          </a:p>
          <a:p>
            <a:pPr indent="-228600" lvl="1" marL="685800" rtl="0" algn="l">
              <a:lnSpc>
                <a:spcPct val="80000"/>
              </a:lnSpc>
              <a:spcBef>
                <a:spcPts val="500"/>
              </a:spcBef>
              <a:spcAft>
                <a:spcPts val="0"/>
              </a:spcAft>
              <a:buClr>
                <a:schemeClr val="dk1"/>
              </a:buClr>
              <a:buSzPts val="2400"/>
              <a:buChar char="•"/>
            </a:pPr>
            <a:r>
              <a:rPr lang="en-US"/>
              <a:t>High-dose MTX完成療程後, CR的放射線劑量給多少? PR的放射線劑量給多少? </a:t>
            </a:r>
            <a:endParaRPr/>
          </a:p>
          <a:p>
            <a:pPr indent="-228600" lvl="1" marL="685800" rtl="0" algn="l">
              <a:lnSpc>
                <a:spcPct val="80000"/>
              </a:lnSpc>
              <a:spcBef>
                <a:spcPts val="500"/>
              </a:spcBef>
              <a:spcAft>
                <a:spcPts val="0"/>
              </a:spcAft>
              <a:buClr>
                <a:schemeClr val="dk1"/>
              </a:buClr>
              <a:buSzPts val="2400"/>
              <a:buChar char="•"/>
            </a:pPr>
            <a:r>
              <a:rPr lang="en-US"/>
              <a:t>C/T side effect</a:t>
            </a:r>
            <a:endParaRPr/>
          </a:p>
          <a:p>
            <a:pPr indent="-228600" lvl="1" marL="685800" rtl="0" algn="l">
              <a:lnSpc>
                <a:spcPct val="80000"/>
              </a:lnSpc>
              <a:spcBef>
                <a:spcPts val="500"/>
              </a:spcBef>
              <a:spcAft>
                <a:spcPts val="0"/>
              </a:spcAft>
              <a:buClr>
                <a:schemeClr val="dk1"/>
              </a:buClr>
              <a:buSzPts val="2400"/>
              <a:buChar char="•"/>
            </a:pPr>
            <a:r>
              <a:rPr lang="en-US"/>
              <a:t>If ≥60 y/o high risk of Tx-related neurotoxicity following MTX and WBRT</a:t>
            </a:r>
            <a:endParaRPr/>
          </a:p>
          <a:p>
            <a:pPr indent="-228600" lvl="2" marL="1143000" rtl="0" algn="l">
              <a:lnSpc>
                <a:spcPct val="80000"/>
              </a:lnSpc>
              <a:spcBef>
                <a:spcPts val="500"/>
              </a:spcBef>
              <a:spcAft>
                <a:spcPts val="0"/>
              </a:spcAft>
              <a:buClr>
                <a:schemeClr val="dk1"/>
              </a:buClr>
              <a:buSzPts val="2000"/>
              <a:buChar char="•"/>
            </a:pPr>
            <a:r>
              <a:rPr lang="en-US"/>
              <a:t>WBRT is often deferred</a:t>
            </a:r>
            <a:endParaRPr/>
          </a:p>
          <a:p>
            <a:pPr indent="-228600" lvl="0" marL="228600" rtl="0" algn="l">
              <a:lnSpc>
                <a:spcPct val="80000"/>
              </a:lnSpc>
              <a:spcBef>
                <a:spcPts val="1000"/>
              </a:spcBef>
              <a:spcAft>
                <a:spcPts val="0"/>
              </a:spcAft>
              <a:buClr>
                <a:schemeClr val="dk1"/>
              </a:buClr>
              <a:buSzPts val="2800"/>
              <a:buChar char="•"/>
            </a:pPr>
            <a:r>
              <a:rPr lang="en-US"/>
              <a:t>Survival</a:t>
            </a:r>
            <a:endParaRPr/>
          </a:p>
          <a:p>
            <a:pPr indent="-50800" lvl="0" marL="228600" rtl="0" algn="l">
              <a:lnSpc>
                <a:spcPct val="8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花慈 許文林 Lung</a:t>
            </a:r>
            <a:endParaRPr/>
          </a:p>
        </p:txBody>
      </p:sp>
      <p:sp>
        <p:nvSpPr>
          <p:cNvPr id="178" name="Google Shape;178;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800"/>
              <a:buChar char="•"/>
            </a:pPr>
            <a:r>
              <a:rPr lang="en-US"/>
              <a:t>發一張題目 6題教你選5題寫(題組)</a:t>
            </a:r>
            <a:endParaRPr/>
          </a:p>
          <a:p>
            <a:pPr indent="-228600" lvl="0" marL="228600" rtl="0" algn="l">
              <a:lnSpc>
                <a:spcPct val="80000"/>
              </a:lnSpc>
              <a:spcBef>
                <a:spcPts val="1000"/>
              </a:spcBef>
              <a:spcAft>
                <a:spcPts val="0"/>
              </a:spcAft>
              <a:buClr>
                <a:schemeClr val="dk1"/>
              </a:buClr>
              <a:buSzPts val="2800"/>
              <a:buChar char="•"/>
            </a:pPr>
            <a:r>
              <a:rPr lang="en-US"/>
              <a:t>Stage III(N2) NSCLC 治療策略, evidence</a:t>
            </a:r>
            <a:endParaRPr/>
          </a:p>
          <a:p>
            <a:pPr indent="-228600" lvl="0" marL="228600" rtl="0" algn="l">
              <a:lnSpc>
                <a:spcPct val="80000"/>
              </a:lnSpc>
              <a:spcBef>
                <a:spcPts val="1000"/>
              </a:spcBef>
              <a:spcAft>
                <a:spcPts val="0"/>
              </a:spcAft>
              <a:buClr>
                <a:schemeClr val="dk1"/>
              </a:buClr>
              <a:buSzPts val="2800"/>
              <a:buChar char="•"/>
            </a:pPr>
            <a:r>
              <a:rPr lang="en-US"/>
              <a:t>T1-2N0M0 NSCLC inoperable 治療</a:t>
            </a:r>
            <a:endParaRPr/>
          </a:p>
          <a:p>
            <a:pPr indent="-228600" lvl="1" marL="685800" rtl="0" algn="l">
              <a:lnSpc>
                <a:spcPct val="80000"/>
              </a:lnSpc>
              <a:spcBef>
                <a:spcPts val="500"/>
              </a:spcBef>
              <a:spcAft>
                <a:spcPts val="0"/>
              </a:spcAft>
              <a:buClr>
                <a:schemeClr val="dk1"/>
              </a:buClr>
              <a:buSzPts val="2400"/>
              <a:buChar char="•"/>
            </a:pPr>
            <a:r>
              <a:rPr lang="en-US"/>
              <a:t>Evidence</a:t>
            </a:r>
            <a:endParaRPr/>
          </a:p>
          <a:p>
            <a:pPr indent="-228600" lvl="1" marL="685800" rtl="0" algn="l">
              <a:lnSpc>
                <a:spcPct val="80000"/>
              </a:lnSpc>
              <a:spcBef>
                <a:spcPts val="500"/>
              </a:spcBef>
              <a:spcAft>
                <a:spcPts val="0"/>
              </a:spcAft>
              <a:buClr>
                <a:schemeClr val="dk1"/>
              </a:buClr>
              <a:buSzPts val="2400"/>
              <a:buChar char="•"/>
            </a:pPr>
            <a:r>
              <a:rPr lang="en-US"/>
              <a:t>RT dose/Fx</a:t>
            </a:r>
            <a:endParaRPr/>
          </a:p>
          <a:p>
            <a:pPr indent="-228600" lvl="0" marL="228600" rtl="0" algn="l">
              <a:lnSpc>
                <a:spcPct val="80000"/>
              </a:lnSpc>
              <a:spcBef>
                <a:spcPts val="1000"/>
              </a:spcBef>
              <a:spcAft>
                <a:spcPts val="0"/>
              </a:spcAft>
              <a:buClr>
                <a:schemeClr val="dk1"/>
              </a:buClr>
              <a:buSzPts val="2800"/>
              <a:buChar char="•"/>
            </a:pPr>
            <a:r>
              <a:rPr lang="en-US"/>
              <a:t>Constraint</a:t>
            </a:r>
            <a:endParaRPr/>
          </a:p>
          <a:p>
            <a:pPr indent="-228600" lvl="0" marL="228600" rtl="0" algn="l">
              <a:lnSpc>
                <a:spcPct val="80000"/>
              </a:lnSpc>
              <a:spcBef>
                <a:spcPts val="1000"/>
              </a:spcBef>
              <a:spcAft>
                <a:spcPts val="0"/>
              </a:spcAft>
              <a:buClr>
                <a:schemeClr val="dk1"/>
              </a:buClr>
              <a:buSzPts val="2800"/>
              <a:buChar char="•"/>
            </a:pPr>
            <a:r>
              <a:rPr lang="en-US"/>
              <a:t>申論ABC, Gating</a:t>
            </a:r>
            <a:endParaRPr/>
          </a:p>
          <a:p>
            <a:pPr indent="-228600" lvl="0" marL="228600" rtl="0" algn="l">
              <a:lnSpc>
                <a:spcPct val="80000"/>
              </a:lnSpc>
              <a:spcBef>
                <a:spcPts val="1000"/>
              </a:spcBef>
              <a:spcAft>
                <a:spcPts val="0"/>
              </a:spcAft>
              <a:buClr>
                <a:schemeClr val="dk1"/>
              </a:buClr>
              <a:buSzPts val="2800"/>
              <a:buChar char="•"/>
            </a:pPr>
            <a:r>
              <a:rPr lang="en-US"/>
              <a:t>SCLC cT1-2N0M0的病人治療的方式有哪些?</a:t>
            </a:r>
            <a:endParaRPr/>
          </a:p>
          <a:p>
            <a:pPr indent="-228600" lvl="0" marL="228600" rtl="0" algn="l">
              <a:lnSpc>
                <a:spcPct val="80000"/>
              </a:lnSpc>
              <a:spcBef>
                <a:spcPts val="1000"/>
              </a:spcBef>
              <a:spcAft>
                <a:spcPts val="0"/>
              </a:spcAft>
              <a:buClr>
                <a:schemeClr val="dk1"/>
              </a:buClr>
              <a:buSzPts val="2800"/>
              <a:buChar char="•"/>
            </a:pPr>
            <a:r>
              <a:rPr lang="en-US"/>
              <a:t>NSCLC確認期別要做什麼檢查?</a:t>
            </a:r>
            <a:endParaRPr/>
          </a:p>
          <a:p>
            <a:pPr indent="-228600" lvl="1" marL="685800" rtl="0" algn="l">
              <a:lnSpc>
                <a:spcPct val="80000"/>
              </a:lnSpc>
              <a:spcBef>
                <a:spcPts val="500"/>
              </a:spcBef>
              <a:spcAft>
                <a:spcPts val="0"/>
              </a:spcAft>
              <a:buClr>
                <a:schemeClr val="dk1"/>
              </a:buClr>
              <a:buSzPts val="2400"/>
              <a:buChar char="•"/>
            </a:pPr>
            <a:r>
              <a:rPr lang="en-US"/>
              <a:t>SCLC確認期別要做什麼檢查?</a:t>
            </a:r>
            <a:endParaRPr/>
          </a:p>
          <a:p>
            <a:pPr indent="-50800" lvl="0" marL="228600" rtl="0" algn="l">
              <a:lnSpc>
                <a:spcPct val="8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lang="en-US"/>
              <a:t>仁愛 呂志德 HES</a:t>
            </a:r>
            <a:endParaRPr/>
          </a:p>
        </p:txBody>
      </p:sp>
      <p:sp>
        <p:nvSpPr>
          <p:cNvPr id="184" name="Google Shape;184;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chemeClr val="dk1"/>
              </a:buClr>
              <a:buSzPts val="2380"/>
              <a:buChar char="•"/>
            </a:pPr>
            <a:r>
              <a:rPr lang="en-US" sz="2380"/>
              <a:t>Left thigh mass, 6cm</a:t>
            </a:r>
            <a:endParaRPr/>
          </a:p>
          <a:p>
            <a:pPr indent="-228600" lvl="1" marL="685800" rtl="0" algn="l">
              <a:lnSpc>
                <a:spcPct val="70000"/>
              </a:lnSpc>
              <a:spcBef>
                <a:spcPts val="500"/>
              </a:spcBef>
              <a:spcAft>
                <a:spcPts val="0"/>
              </a:spcAft>
              <a:buClr>
                <a:schemeClr val="dk1"/>
              </a:buClr>
              <a:buSzPts val="2040"/>
              <a:buChar char="•"/>
            </a:pPr>
            <a:r>
              <a:rPr lang="en-US" sz="2040"/>
              <a:t>Bx -&gt; Sarcoma, high grade</a:t>
            </a:r>
            <a:endParaRPr/>
          </a:p>
          <a:p>
            <a:pPr indent="-228600" lvl="2" marL="1143000" rtl="0" algn="l">
              <a:lnSpc>
                <a:spcPct val="70000"/>
              </a:lnSpc>
              <a:spcBef>
                <a:spcPts val="500"/>
              </a:spcBef>
              <a:spcAft>
                <a:spcPts val="0"/>
              </a:spcAft>
              <a:buClr>
                <a:schemeClr val="dk1"/>
              </a:buClr>
              <a:buSzPts val="1700"/>
              <a:buChar char="•"/>
            </a:pPr>
            <a:r>
              <a:rPr lang="en-US" sz="1700"/>
              <a:t>Bx要注意什麼: 要跟手術同一個外科醫師, Bx tract在開刀範圍內</a:t>
            </a:r>
            <a:endParaRPr sz="1700"/>
          </a:p>
          <a:p>
            <a:pPr indent="-228600" lvl="1" marL="685800" rtl="0" algn="l">
              <a:lnSpc>
                <a:spcPct val="70000"/>
              </a:lnSpc>
              <a:spcBef>
                <a:spcPts val="500"/>
              </a:spcBef>
              <a:spcAft>
                <a:spcPts val="0"/>
              </a:spcAft>
              <a:buClr>
                <a:schemeClr val="dk1"/>
              </a:buClr>
              <a:buSzPts val="2040"/>
              <a:buChar char="•"/>
            </a:pPr>
            <a:r>
              <a:rPr lang="en-US" sz="2040"/>
              <a:t>WU: Chest CT</a:t>
            </a:r>
            <a:endParaRPr/>
          </a:p>
          <a:p>
            <a:pPr indent="-228600" lvl="1" marL="685800" rtl="0" algn="l">
              <a:lnSpc>
                <a:spcPct val="70000"/>
              </a:lnSpc>
              <a:spcBef>
                <a:spcPts val="500"/>
              </a:spcBef>
              <a:spcAft>
                <a:spcPts val="0"/>
              </a:spcAft>
              <a:buClr>
                <a:schemeClr val="dk1"/>
              </a:buClr>
              <a:buSzPts val="2040"/>
              <a:buChar char="•"/>
            </a:pPr>
            <a:r>
              <a:rPr lang="en-US" sz="2040"/>
              <a:t>治療策略</a:t>
            </a:r>
            <a:endParaRPr sz="2040"/>
          </a:p>
          <a:p>
            <a:pPr indent="-228600" lvl="2" marL="1143000" rtl="0" algn="l">
              <a:lnSpc>
                <a:spcPct val="70000"/>
              </a:lnSpc>
              <a:spcBef>
                <a:spcPts val="500"/>
              </a:spcBef>
              <a:spcAft>
                <a:spcPts val="0"/>
              </a:spcAft>
              <a:buClr>
                <a:schemeClr val="dk1"/>
              </a:buClr>
              <a:buSzPts val="1700"/>
              <a:buChar char="•"/>
            </a:pPr>
            <a:r>
              <a:rPr lang="en-US" sz="1700"/>
              <a:t>PreOP RT + OP</a:t>
            </a:r>
            <a:endParaRPr/>
          </a:p>
          <a:p>
            <a:pPr indent="-228600" lvl="2" marL="1143000" rtl="0" algn="l">
              <a:lnSpc>
                <a:spcPct val="70000"/>
              </a:lnSpc>
              <a:spcBef>
                <a:spcPts val="500"/>
              </a:spcBef>
              <a:spcAft>
                <a:spcPts val="0"/>
              </a:spcAft>
              <a:buClr>
                <a:schemeClr val="dk1"/>
              </a:buClr>
              <a:buSzPts val="1700"/>
              <a:buChar char="•"/>
            </a:pPr>
            <a:r>
              <a:rPr lang="en-US" sz="1700"/>
              <a:t>Field/dose, R0/R1/R2</a:t>
            </a:r>
            <a:endParaRPr/>
          </a:p>
          <a:p>
            <a:pPr indent="-228600" lvl="1" marL="685800" rtl="0" algn="l">
              <a:lnSpc>
                <a:spcPct val="70000"/>
              </a:lnSpc>
              <a:spcBef>
                <a:spcPts val="500"/>
              </a:spcBef>
              <a:spcAft>
                <a:spcPts val="0"/>
              </a:spcAft>
              <a:buClr>
                <a:schemeClr val="dk1"/>
              </a:buClr>
              <a:buSzPts val="2040"/>
              <a:buChar char="•"/>
            </a:pPr>
            <a:r>
              <a:rPr lang="en-US" sz="2040"/>
              <a:t>哪些Sarcoma要注意LN mets</a:t>
            </a:r>
            <a:endParaRPr sz="2040"/>
          </a:p>
          <a:p>
            <a:pPr indent="-228600" lvl="0" marL="228600" rtl="0" algn="l">
              <a:lnSpc>
                <a:spcPct val="70000"/>
              </a:lnSpc>
              <a:spcBef>
                <a:spcPts val="1000"/>
              </a:spcBef>
              <a:spcAft>
                <a:spcPts val="0"/>
              </a:spcAft>
              <a:buClr>
                <a:schemeClr val="dk1"/>
              </a:buClr>
              <a:buSzPts val="2380"/>
              <a:buChar char="•"/>
            </a:pPr>
            <a:r>
              <a:rPr lang="en-US" sz="2380"/>
              <a:t>Left neck mass, WU, DDx</a:t>
            </a:r>
            <a:endParaRPr sz="2380"/>
          </a:p>
          <a:p>
            <a:pPr indent="-228600" lvl="1" marL="685800" rtl="0" algn="l">
              <a:lnSpc>
                <a:spcPct val="70000"/>
              </a:lnSpc>
              <a:spcBef>
                <a:spcPts val="500"/>
              </a:spcBef>
              <a:spcAft>
                <a:spcPts val="0"/>
              </a:spcAft>
              <a:buClr>
                <a:schemeClr val="dk1"/>
              </a:buClr>
              <a:buSzPts val="2040"/>
              <a:buChar char="•"/>
            </a:pPr>
            <a:r>
              <a:rPr lang="en-US" sz="2040"/>
              <a:t>Bx 選哪一種 -&gt; DLBCL</a:t>
            </a:r>
            <a:endParaRPr/>
          </a:p>
          <a:p>
            <a:pPr indent="-228600" lvl="1" marL="685800" rtl="0" algn="l">
              <a:lnSpc>
                <a:spcPct val="70000"/>
              </a:lnSpc>
              <a:spcBef>
                <a:spcPts val="500"/>
              </a:spcBef>
              <a:spcAft>
                <a:spcPts val="0"/>
              </a:spcAft>
              <a:buClr>
                <a:schemeClr val="dk1"/>
              </a:buClr>
              <a:buSzPts val="2040"/>
              <a:buChar char="•"/>
            </a:pPr>
            <a:r>
              <a:rPr lang="en-US" sz="2040"/>
              <a:t>WU: PET, Lab…</a:t>
            </a:r>
            <a:endParaRPr/>
          </a:p>
          <a:p>
            <a:pPr indent="-228600" lvl="1" marL="685800" rtl="0" algn="l">
              <a:lnSpc>
                <a:spcPct val="70000"/>
              </a:lnSpc>
              <a:spcBef>
                <a:spcPts val="500"/>
              </a:spcBef>
              <a:spcAft>
                <a:spcPts val="0"/>
              </a:spcAft>
              <a:buClr>
                <a:schemeClr val="dk1"/>
              </a:buClr>
              <a:buSzPts val="2040"/>
              <a:buChar char="•"/>
            </a:pPr>
            <a:r>
              <a:rPr lang="en-US" sz="2040"/>
              <a:t>要不要lumbar puncture</a:t>
            </a:r>
            <a:endParaRPr sz="2040"/>
          </a:p>
          <a:p>
            <a:pPr indent="-228600" lvl="1" marL="685800" rtl="0" algn="l">
              <a:lnSpc>
                <a:spcPct val="70000"/>
              </a:lnSpc>
              <a:spcBef>
                <a:spcPts val="500"/>
              </a:spcBef>
              <a:spcAft>
                <a:spcPts val="0"/>
              </a:spcAft>
              <a:buClr>
                <a:schemeClr val="dk1"/>
              </a:buClr>
              <a:buSzPts val="2040"/>
              <a:buChar char="•"/>
            </a:pPr>
            <a:r>
              <a:rPr lang="en-US" sz="2040"/>
              <a:t>IPI</a:t>
            </a:r>
            <a:endParaRPr/>
          </a:p>
          <a:p>
            <a:pPr indent="-228600" lvl="1" marL="685800" rtl="0" algn="l">
              <a:lnSpc>
                <a:spcPct val="70000"/>
              </a:lnSpc>
              <a:spcBef>
                <a:spcPts val="500"/>
              </a:spcBef>
              <a:spcAft>
                <a:spcPts val="0"/>
              </a:spcAft>
              <a:buClr>
                <a:schemeClr val="dk1"/>
              </a:buClr>
              <a:buSzPts val="2040"/>
              <a:buChar char="•"/>
            </a:pPr>
            <a:r>
              <a:rPr lang="en-US" sz="2040"/>
              <a:t>治療策略Ann Arbor stage : R-CHOP -&gt; PR -&gt; RT dose</a:t>
            </a:r>
            <a:endParaRPr/>
          </a:p>
          <a:p>
            <a:pPr indent="-228600" lvl="1" marL="685800" rtl="0" algn="l">
              <a:lnSpc>
                <a:spcPct val="70000"/>
              </a:lnSpc>
              <a:spcBef>
                <a:spcPts val="500"/>
              </a:spcBef>
              <a:spcAft>
                <a:spcPts val="0"/>
              </a:spcAft>
              <a:buClr>
                <a:schemeClr val="dk1"/>
              </a:buClr>
              <a:buSzPts val="2040"/>
              <a:buChar char="•"/>
            </a:pPr>
            <a:r>
              <a:rPr lang="en-US" sz="2040"/>
              <a:t>RT field怎麼design</a:t>
            </a:r>
            <a:endParaRPr sz="2040"/>
          </a:p>
          <a:p>
            <a:pPr indent="-77470" lvl="0" marL="228600" rtl="0" algn="l">
              <a:lnSpc>
                <a:spcPct val="70000"/>
              </a:lnSpc>
              <a:spcBef>
                <a:spcPts val="1000"/>
              </a:spcBef>
              <a:spcAft>
                <a:spcPts val="0"/>
              </a:spcAft>
              <a:buClr>
                <a:schemeClr val="dk1"/>
              </a:buClr>
              <a:buSzPts val="2380"/>
              <a:buNone/>
            </a:pPr>
            <a:r>
              <a:t/>
            </a:r>
            <a:endParaRPr sz="2380"/>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