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77" r:id="rId2"/>
    <p:sldId id="278" r:id="rId3"/>
    <p:sldId id="281" r:id="rId4"/>
    <p:sldId id="282" r:id="rId5"/>
    <p:sldId id="283" r:id="rId6"/>
    <p:sldId id="284" r:id="rId7"/>
    <p:sldId id="285"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79" r:id="rId21"/>
    <p:sldId id="280" r:id="rId22"/>
    <p:sldId id="269" r:id="rId23"/>
    <p:sldId id="270" r:id="rId24"/>
    <p:sldId id="271" r:id="rId25"/>
    <p:sldId id="272" r:id="rId26"/>
    <p:sldId id="273" r:id="rId27"/>
    <p:sldId id="274" r:id="rId28"/>
    <p:sldId id="276" r:id="rId2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92"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2:59.77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4481 9825,'0'17,"70"-17,-52 0,35 0,-36 0,19 0,17 0,-18 0,-18 0,36 0,0 0,-17 0,-19 0,18 0,18 0,-35 0,0 0,-1 0,36 0,-35 0,52 0,-52 0,0 0,-1 0,36 0,-35 0,0 0,17 0,-18 0,1 0,0 0,35 0,-36 0,1 0,0 0,35 0,-36 0,54 0,-54 0,1 0,35 0,-35 0,17 0,35 0,-52 0,0 0,17 0,-17 0,34 0,-16 0,-19 0,1 0,0 0,17 0</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3:02.61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6809 9860,'-18'0,"89"-35,-36 35,0 0,18 0,0 0,18 0,-18 0,-18 0,-17 0,17 0,-17 0,70 0,-53 0,36 0,-54 0,1 0,52 0,-52 0,17 0,1 0,-19 0,1 0,0 0,17 0,-18 0,1 0,53 0,-36 0,35 0,-52 0,0 0,-1 0,36 0,0 0,18 0,52 0,-35 0,36 0,-54 0,1 0,-36 0,71 0,-88 0,17 0,-17 0,-1-18,1 18,17 0,1 0,-19 0,71 0,-70 0,53 0,17 0,-18 0,19 0,-19 0,-35 0,36 0,-18 0,-36 0,19 0,-19 0,1 0,0 0,35 0,-1 0,-16 0,-1 0,-17 0,17 0,-17 0,-1 0,18 0,1 0,-19 0,19 0,-1 0,18 0,70 0,-105 0,17 0,-17 0,0 0,34 0</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3:06.84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11113 9931,'0'-53,"17"35,1 0,17 18,18 0,-35 0,52 0,36 0,53 0,-71 0,36 0,17 0,-18 0,-17 0,18 0,-54 0,-17 0,-18 0,-17 0,17 0,-17 0,17 0,0 0,18 0,36 0,-72 0,71 0,1 0,-19 0,1 0,-36 0,36 0,-36 0,35-17,-52 17,0 0,35-35,-36 35,1 0,0 0,34 0,-34 0,0 0,52-18,-52 18,0 0,17 0,-18 0,1 0,35-35,-35 35,-1 0,1 0,35 0</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3:14.07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4022 13106,'35'-18,"-17"0,0 18,-1-17,71-36,-17 53,-36-18,-17 18,52 0,-52 0,53 0,-54 0,54 0,-36 0,-17 0,52-17,-52 17,35-18,-36 18,19 0,17 0,-36 0,19 0,-1 0,18 0,0 0,0 0,17 0,-52 0,17 0,36 0,-54 0,1 0,17 0,-17 0,-1 0,1 0,17 0,-17 0,17 0,18 0,-17 0,-19-53,54 53,-54 0,1 0,17 0</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3:16.44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9331 13159,'18'0,"0"0,52-36,-35 19,-17 17,17 0,-17 0,0 0,-1 0,71 0,-17 0,-36 0,71 0,-88 0,35 0,17 0,1 0,-36 0,36 0,-36 0,18 0,-36 0,1 0,0 0,17 0,0 0,36-36,-54 36,1 0,53 0,-54 0,1 0,0 0,35 0,-36 0,1 0,17 0,36 0,-18 0,-36 0,1 0,35-17,-36 17,1 0,0 0</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3:17.87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11624 13053,'36'0,"-19"0,1 0,52 0,-34 0,-19 0,54 0,-36 0,53 0,-17 0,-53 0,-1 0,1 0,17 0,-17 0,-1 0,54 0,-53 0,17 0,0 0,18 0,-35 0,17 0,0 0,-17 0,17 0</inkml:trace>
</inkml:ink>
</file>

<file path=ppt/ink/ink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3:21.22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4904 13688,'18'-18,"70"18,35 0,18 0,-105 0,87 0,-35 0,18 0,-18 0,-35 0,0 0,0 0,-35 0,17 0,-17 0,-1 0,36 0,-35 0,35 0,-18 0,-17 0,-1 0,36 0,-35 0,35 0,-18 0,-17 0,17 0,36 0,-54 0,1 0,35 0,-36 0,54 0,-36 0,-17 0,70 0,-17 0,-54 0,19 0,34 0,18 0,-70 0,17 0,36 0,-18 0,-18 0,-17 0,17 0,0 0,18 0,18 0,-54 0,1 0,35 0,-36 0,19 0,17 0,-18 0,35 0,-34 0,70 0,-71 0,88 0,1 0,17 0,-71 0,-34 0,52 0,18 0,-18 0,-35 0,35 0,-70 0,35 0,0 0,-36 0,36 0,-35 0,70 0,-70 0,70 0,-53 0,36 0,-36 0,0 0,-17 0,17 0,18 0,-35 0,-1 0,1 0,17 0,-17 0,-1 0,1 0,17 0,-17 0,17 0,-17 0,17 0,-17 0,-1 0,1 0</inkml:trace>
</inkml:ink>
</file>

<file path=ppt/ink/ink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3:33.73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10372 15681,'53'0,"-35"0,52 0,-52 0,-1 0,1 0,53 0,-54 0,54 0,-54 0,1 0,17 0,-17 0,17 0,18 0,-18 0,-17 0,17 0,-17 0,0 0,-1 0,19 0,16 0,-34 0,17 0,1 0,-19 0,19 0,-19 0,36 0,-18 0,36 0,0 0,-54 0,36 0,-18 0,36 0,-36 0,-17 0,35 0,-36 0,1 0,0 0,17 0,-17 0,-1 0,1 0,17 0,-17 0,-1 0,1 0,17 0,-17 0,0 0,52 0,-52 0,17 0,0 0,-17 0,0-18,-1 18,36 0,-18 0,36 0,-36 0,-17 0,17 0,18 0,-35 0,17 0,0 0,-17 0,17 0,-17 0,0 0,-1 0,36 0,-35 0,-1 0,1 0,17 0,-17 0,0 0</inkml:trace>
</inkml:ink>
</file>

<file path=ppt/ink/ink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3:36.48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13600 15593,'35'0,"-17"0,70 0,-53 0,36 0,-36 0,53 0,18 0,-35 0,17 0,-70 0,34 0,-34 0,17 0,1 0,-19 0,1 0,0 0,35 0,-36 0,54 0,-36 0,36-18,-54 18,18 0,1 0,-19 0,19 0,-19 0,19 0,-19 0,18 0,1 0,-19 0,19 0,69 0,-87 0,35 0,-35 0,-1 0,36 0,-17 0,-19 0,18 0,-17 0,0 0,52 0,-52 0,52 0,-52 0,17 0,18 0,-17 0,34 0,-52 0,17 0,0 0,18 0,-35 0,35 0,0 0,-18 0,-17 0,-1 0,1 0,17 0,-17 0,-1 0,1 0,17 0,18 0,0 0,-35 0,17 0,-17 0,17 0</inkml:trace>
</inkml:ink>
</file>

<file path=ppt/ink/ink1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3:51.25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9243 18027,'0'0,"71"0,35 0,17 0,-35 0,36 0,52 0,-70 0,17 0,-52 0,17 0,-17 0,-54 0,1 0,35 0,70 0,18 0,-17 0,-71 0,0 0,0 0,17 0,-52 0,17 0,0 0,1 0,34 0,-17 0,0 0,-35 0,-1 0,1 0,35 0,-35 0,-1 0,1 0,17 0,0 0,-17 0,17 0,18 0,18 0,-54 0,1 0,0 0</inkml:trace>
</inkml:ink>
</file>

<file path=ppt/ink/ink1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3:55.90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16616 18062,'18'0,"88"0,-53 0,52 0,-16 0,16 0,-69 0,-19 0,36 0,-35 0,52 0,-34 0,-19 0,19 0,17 0,-36 0,36 0,-35 0,-1 0,19 0,-19 0,36 0,-18 0,1 0,34 0,-34 0,34 0,1 0,-36 0,-17 0,-1 0,54 0,-54 0,1 0</inkml:trace>
</inkml:ink>
</file>

<file path=ppt/ink/ink1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3:58.59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4869 18715,'70'0,"-35"0,36 0,-36 0,71 0,-35 0,-18 0,52 0,19 0,-36 0,18 0,-35 0,52 0,-52 0,17-53,-35 53,-36 0,19 0,-19 0,1 0,-1 0,36 0,-35 0,70 0,-52 0,69 0,-16 0,16 0,-69 0,52 0,-70 0,70 0,-53 0,18 0,-35 0,-1 0,1 0,35 0,-36 0,1 0,17 0,-17 0,35-18,0 18,-18 0,-17 0,52 0,-52 0,17 0</inkml:trace>
</inkml:ink>
</file>

<file path=ppt/ink/ink1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4:00.66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8273 18715,'18'0,"87"0,-16 0,69 0,-34 0,52 0,1 0,-107 0,18-18,-35 18,71-17,-107 17,19 0,-19 0,1 0,0 0,17 0,18 0,-36 0,19 0,-19 0,1 0,35 0,-18 0,-17 0,-1 0,19 0,-19 0,1 0,0 0,35 0,-36 0,54 0,-54 0,1 0,0 0,17 0,-17 0,-1 0,54 0,-54 0,19 0,-1 0,-17 0,-1 0,1 0,17 0</inkml:trace>
</inkml:ink>
</file>

<file path=ppt/ink/ink1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4:03.79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18204 18150,'0'-17,"70"-1,-52 18,0 0,34 0,-16 0,34-53,-17 53,18 0,-54 0,36 0,-35 0,17 0,18-17,-35 17,-1 0,1 0,35 0,-35 0,-1 0,36 0,-35 0</inkml:trace>
</inkml:ink>
</file>

<file path=ppt/ink/ink1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4:06.19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3899 18715,'17'-18,"1"1,17-1,18 18,-35 0,-1-18,1 18,17 0,-17 0,-1 0,1 0</inkml:trace>
</inkml:ink>
</file>

<file path=ppt/ink/ink1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2:59.77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4481 9825,'0'17,"70"-17,-52 0,35 0,-36 0,19 0,17 0,-18 0,-18 0,36 0,0 0,-17 0,-19 0,18 0,18 0,-35 0,0 0,-1 0,36 0,-35 0,52 0,-52 0,0 0,-1 0,36 0,-35 0,0 0,17 0,-18 0,1 0,0 0,35 0,-36 0,1 0,0 0,35 0,-36 0,54 0,-54 0,1 0,35 0,-35 0,17 0,35 0,-52 0,0 0,17 0,-17 0,34 0,-16 0,-19 0,1 0,0 0,17 0</inkml:trace>
</inkml:ink>
</file>

<file path=ppt/ink/ink1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3:02.61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6809 9860,'-18'0,"89"-35,-36 35,0 0,18 0,0 0,18 0,-18 0,-18 0,-17 0,17 0,-17 0,70 0,-53 0,36 0,-54 0,1 0,52 0,-52 0,17 0,1 0,-19 0,1 0,0 0,17 0,-18 0,1 0,53 0,-36 0,35 0,-52 0,0 0,-1 0,36 0,0 0,18 0,52 0,-35 0,36 0,-54 0,1 0,-36 0,71 0,-88 0,17 0,-17 0,-1-18,1 18,17 0,1 0,-19 0,71 0,-70 0,53 0,17 0,-18 0,19 0,-19 0,-35 0,36 0,-18 0,-36 0,19 0,-19 0,1 0,0 0,35 0,-1 0,-16 0,-1 0,-17 0,17 0,-17 0,-1 0,18 0,1 0,-19 0,19 0,-1 0,18 0,70 0,-105 0,17 0,-17 0,0 0,34 0</inkml:trace>
</inkml:ink>
</file>

<file path=ppt/ink/ink1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3:06.84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11113 9931,'0'-53,"17"35,1 0,17 18,18 0,-35 0,52 0,36 0,53 0,-71 0,36 0,17 0,-18 0,-17 0,18 0,-54 0,-17 0,-18 0,-17 0,17 0,-17 0,17 0,0 0,18 0,36 0,-72 0,71 0,1 0,-19 0,1 0,-36 0,36 0,-36 0,35-17,-52 17,0 0,35-35,-36 35,1 0,0 0,34 0,-34 0,0 0,52-18,-52 18,0 0,17 0,-18 0,1 0,35-35,-35 35,-1 0,1 0,35 0</inkml:trace>
</inkml:ink>
</file>

<file path=ppt/ink/ink1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3:14.07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4022 13106,'35'-18,"-17"0,0 18,-1-17,71-36,-17 53,-36-18,-17 18,52 0,-52 0,53 0,-54 0,54 0,-36 0,-17 0,52-17,-52 17,35-18,-36 18,19 0,17 0,-36 0,19 0,-1 0,18 0,0 0,0 0,17 0,-52 0,17 0,36 0,-54 0,1 0,17 0,-17 0,-1 0,1 0,17 0,-17 0,17 0,18 0,-17 0,-19-53,54 53,-54 0,1 0,17 0</inkml:trace>
</inkml:ink>
</file>

<file path=ppt/ink/ink2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3:16.44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9331 13159,'18'0,"0"0,52-36,-35 19,-17 17,17 0,-17 0,0 0,-1 0,71 0,-17 0,-36 0,71 0,-88 0,35 0,17 0,1 0,-36 0,36 0,-36 0,18 0,-36 0,1 0,0 0,17 0,0 0,36-36,-54 36,1 0,53 0,-54 0,1 0,0 0,35 0,-36 0,1 0,17 0,36 0,-18 0,-36 0,1 0,35-17,-36 17,1 0,0 0</inkml:trace>
</inkml:ink>
</file>

<file path=ppt/ink/ink2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3:17.87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11624 13053,'36'0,"-19"0,1 0,52 0,-34 0,-19 0,54 0,-36 0,53 0,-17 0,-53 0,-1 0,1 0,17 0,-17 0,-1 0,54 0,-53 0,17 0,0 0,18 0,-35 0,17 0,0 0,-17 0,17 0</inkml:trace>
</inkml:ink>
</file>

<file path=ppt/ink/ink2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3:21.22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4904 13688,'18'-18,"70"18,35 0,18 0,-105 0,87 0,-35 0,18 0,-18 0,-35 0,0 0,0 0,-35 0,17 0,-17 0,-1 0,36 0,-35 0,35 0,-18 0,-17 0,-1 0,36 0,-35 0,35 0,-18 0,-17 0,17 0,36 0,-54 0,1 0,35 0,-36 0,54 0,-36 0,-17 0,70 0,-17 0,-54 0,19 0,34 0,18 0,-70 0,17 0,36 0,-18 0,-18 0,-17 0,17 0,0 0,18 0,18 0,-54 0,1 0,35 0,-36 0,19 0,17 0,-18 0,35 0,-34 0,70 0,-71 0,88 0,1 0,17 0,-71 0,-34 0,52 0,18 0,-18 0,-35 0,35 0,-70 0,35 0,0 0,-36 0,36 0,-35 0,70 0,-70 0,70 0,-53 0,36 0,-36 0,0 0,-17 0,17 0,18 0,-35 0,-1 0,1 0,17 0,-17 0,-1 0,1 0,17 0,-17 0,17 0,-17 0,17 0,-17 0,-1 0,1 0</inkml:trace>
</inkml:ink>
</file>

<file path=ppt/ink/ink2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3:33.73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10372 15681,'53'0,"-35"0,52 0,-52 0,-1 0,1 0,53 0,-54 0,54 0,-54 0,1 0,17 0,-17 0,17 0,18 0,-18 0,-17 0,17 0,-17 0,0 0,-1 0,19 0,16 0,-34 0,17 0,1 0,-19 0,19 0,-19 0,36 0,-18 0,36 0,0 0,-54 0,36 0,-18 0,36 0,-36 0,-17 0,35 0,-36 0,1 0,0 0,17 0,-17 0,-1 0,1 0,17 0,-17 0,-1 0,1 0,17 0,-17 0,0 0,52 0,-52 0,17 0,0 0,-17 0,0-18,-1 18,36 0,-18 0,36 0,-36 0,-17 0,17 0,18 0,-35 0,17 0,0 0,-17 0,17 0,-17 0,0 0,-1 0,36 0,-35 0,-1 0,1 0,17 0,-17 0,0 0</inkml:trace>
</inkml:ink>
</file>

<file path=ppt/ink/ink2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3:36.48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13600 15593,'35'0,"-17"0,70 0,-53 0,36 0,-36 0,53 0,18 0,-35 0,17 0,-70 0,34 0,-34 0,17 0,1 0,-19 0,1 0,0 0,35 0,-36 0,54 0,-36 0,36-18,-54 18,18 0,1 0,-19 0,19 0,-19 0,19 0,-19 0,18 0,1 0,-19 0,19 0,69 0,-87 0,35 0,-35 0,-1 0,36 0,-17 0,-19 0,18 0,-17 0,0 0,52 0,-52 0,52 0,-52 0,17 0,18 0,-17 0,34 0,-52 0,17 0,0 0,18 0,-35 0,35 0,0 0,-18 0,-17 0,-1 0,1 0,17 0,-17 0,-1 0,1 0,17 0,18 0,0 0,-35 0,17 0,-17 0,17 0</inkml:trace>
</inkml:ink>
</file>

<file path=ppt/ink/ink2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3:51.25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9243 18027,'0'0,"71"0,35 0,17 0,-35 0,36 0,52 0,-70 0,17 0,-52 0,17 0,-17 0,-54 0,1 0,35 0,70 0,18 0,-17 0,-71 0,0 0,0 0,17 0,-52 0,17 0,0 0,1 0,34 0,-17 0,0 0,-35 0,-1 0,1 0,35 0,-35 0,-1 0,1 0,17 0,0 0,-17 0,17 0,18 0,18 0,-54 0,1 0,0 0</inkml:trace>
</inkml:ink>
</file>

<file path=ppt/ink/ink2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3:55.90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16616 18062,'18'0,"88"0,-53 0,52 0,-16 0,16 0,-69 0,-19 0,36 0,-35 0,52 0,-34 0,-19 0,19 0,17 0,-36 0,36 0,-35 0,-1 0,19 0,-19 0,36 0,-18 0,1 0,34 0,-34 0,34 0,1 0,-36 0,-17 0,-1 0,54 0,-54 0,1 0</inkml:trace>
</inkml:ink>
</file>

<file path=ppt/ink/ink2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3:58.59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4869 18715,'70'0,"-35"0,36 0,-36 0,71 0,-35 0,-18 0,52 0,19 0,-36 0,18 0,-35 0,52 0,-52 0,17-53,-35 53,-36 0,19 0,-19 0,1 0,-1 0,36 0,-35 0,70 0,-52 0,69 0,-16 0,16 0,-69 0,52 0,-70 0,70 0,-53 0,18 0,-35 0,-1 0,1 0,35 0,-36 0,1 0,17 0,-17 0,35-18,0 18,-18 0,-17 0,52 0,-52 0,17 0</inkml:trace>
</inkml:ink>
</file>

<file path=ppt/ink/ink2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4:00.66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8273 18715,'18'0,"87"0,-16 0,69 0,-34 0,52 0,1 0,-107 0,18-18,-35 18,71-17,-107 17,19 0,-19 0,1 0,0 0,17 0,18 0,-36 0,19 0,-19 0,1 0,35 0,-18 0,-17 0,-1 0,19 0,-19 0,1 0,0 0,35 0,-36 0,54 0,-54 0,1 0,0 0,17 0,-17 0,-1 0,54 0,-54 0,19 0,-1 0,-17 0,-1 0,1 0,17 0</inkml:trace>
</inkml:ink>
</file>

<file path=ppt/ink/ink2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4:03.79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18204 18150,'0'-17,"70"-1,-52 18,0 0,34 0,-16 0,34-53,-17 53,18 0,-54 0,36 0,-35 0,17 0,18-17,-35 17,-1 0,1 0,35 0,-35 0,-1 0,36 0,-35 0</inkml:trace>
</inkml:ink>
</file>

<file path=ppt/ink/ink3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65.52901" units="1/cm"/>
          <inkml:channelProperty channel="Y" name="resolution" value="65.45454" units="1/cm"/>
        </inkml:channelProperties>
      </inkml:inkSource>
      <inkml:timestamp xml:id="ts0" timeString="2019-09-17T02:44:06.198"/>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3899 18715,'17'-18,"1"1,17-1,18 18,-35 0,-1-18,1 18,17 0,-17 0,-1 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DBD614-BA97-4E35-8B4D-F76B7BF6CF62}" type="datetimeFigureOut">
              <a:rPr lang="zh-TW" altLang="en-US" smtClean="0"/>
              <a:t>2019/9/17</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38AEB1F-7AF5-4113-B5DF-B350FF795A55}" type="slidenum">
              <a:rPr lang="zh-TW" altLang="en-US" smtClean="0"/>
              <a:t>‹#›</a:t>
            </a:fld>
            <a:endParaRPr lang="zh-TW" altLang="en-US"/>
          </a:p>
        </p:txBody>
      </p:sp>
    </p:spTree>
    <p:extLst>
      <p:ext uri="{BB962C8B-B14F-4D97-AF65-F5344CB8AC3E}">
        <p14:creationId xmlns:p14="http://schemas.microsoft.com/office/powerpoint/2010/main" val="37109217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147C2BF2-EA3D-43F0-B0A4-E4DA4B9DE8AA}" type="slidenum">
              <a:rPr lang="zh-TW" altLang="en-US" smtClean="0"/>
              <a:t>4</a:t>
            </a:fld>
            <a:endParaRPr lang="zh-TW" altLang="en-US"/>
          </a:p>
        </p:txBody>
      </p:sp>
    </p:spTree>
    <p:extLst>
      <p:ext uri="{BB962C8B-B14F-4D97-AF65-F5344CB8AC3E}">
        <p14:creationId xmlns:p14="http://schemas.microsoft.com/office/powerpoint/2010/main" val="461566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Complicated bone metastasis: fracture, cord compression, previous</a:t>
            </a:r>
            <a:r>
              <a:rPr lang="en-US" altLang="zh-TW" baseline="0" dirty="0" smtClean="0"/>
              <a:t> RT.</a:t>
            </a:r>
          </a:p>
          <a:p>
            <a:r>
              <a:rPr lang="en-US" altLang="zh-TW" baseline="0" dirty="0" smtClean="0"/>
              <a:t>SVC obstruction does not predict poor outcomes in </a:t>
            </a:r>
            <a:r>
              <a:rPr lang="en-US" altLang="zh-TW" baseline="0" dirty="0" err="1" smtClean="0"/>
              <a:t>p’t</a:t>
            </a:r>
            <a:r>
              <a:rPr lang="en-US" altLang="zh-TW" baseline="0" dirty="0" smtClean="0"/>
              <a:t> with treatment-responsive tumor compared to those without SVC</a:t>
            </a:r>
            <a:endParaRPr lang="zh-TW" altLang="en-US" dirty="0"/>
          </a:p>
        </p:txBody>
      </p:sp>
      <p:sp>
        <p:nvSpPr>
          <p:cNvPr id="4" name="投影片編號版面配置區 3"/>
          <p:cNvSpPr>
            <a:spLocks noGrp="1"/>
          </p:cNvSpPr>
          <p:nvPr>
            <p:ph type="sldNum" sz="quarter" idx="10"/>
          </p:nvPr>
        </p:nvSpPr>
        <p:spPr/>
        <p:txBody>
          <a:bodyPr/>
          <a:lstStyle/>
          <a:p>
            <a:fld id="{E38AEB1F-7AF5-4113-B5DF-B350FF795A55}" type="slidenum">
              <a:rPr lang="zh-TW" altLang="en-US" smtClean="0"/>
              <a:t>5</a:t>
            </a:fld>
            <a:endParaRPr lang="zh-TW" altLang="en-US"/>
          </a:p>
        </p:txBody>
      </p:sp>
    </p:spTree>
    <p:extLst>
      <p:ext uri="{BB962C8B-B14F-4D97-AF65-F5344CB8AC3E}">
        <p14:creationId xmlns:p14="http://schemas.microsoft.com/office/powerpoint/2010/main" val="37524777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469900" lvl="0" indent="-457200">
              <a:lnSpc>
                <a:spcPct val="150000"/>
              </a:lnSpc>
              <a:spcBef>
                <a:spcPts val="0"/>
              </a:spcBef>
              <a:buSzPts val="1600"/>
            </a:pPr>
            <a:r>
              <a:rPr lang="en-US" altLang="zh-TW" sz="2500" dirty="0" smtClean="0"/>
              <a:t>SVC</a:t>
            </a:r>
            <a:r>
              <a:rPr lang="en-US" altLang="zh-TW" sz="2500" baseline="0" dirty="0" smtClean="0"/>
              <a:t> syndrome: </a:t>
            </a:r>
          </a:p>
          <a:p>
            <a:pPr marL="469900" lvl="0" indent="-457200">
              <a:lnSpc>
                <a:spcPct val="150000"/>
              </a:lnSpc>
              <a:spcBef>
                <a:spcPts val="0"/>
              </a:spcBef>
              <a:buSzPts val="1600"/>
            </a:pPr>
            <a:r>
              <a:rPr lang="zh-TW" altLang="en-US" sz="2500" dirty="0" smtClean="0"/>
              <a:t>最常見於</a:t>
            </a:r>
            <a:r>
              <a:rPr lang="en-US" altLang="zh-TW" sz="2500" dirty="0" smtClean="0"/>
              <a:t>NSCLC, SCLC and lymphoma</a:t>
            </a:r>
          </a:p>
          <a:p>
            <a:pPr marL="469900" lvl="0" indent="-457200">
              <a:lnSpc>
                <a:spcPct val="150000"/>
              </a:lnSpc>
              <a:spcBef>
                <a:spcPts val="0"/>
              </a:spcBef>
              <a:buSzPts val="1600"/>
            </a:pPr>
            <a:r>
              <a:rPr lang="en-US" altLang="zh-TW" sz="2500" dirty="0" smtClean="0"/>
              <a:t>60-80% respond to C/T or RT within 2 weeks</a:t>
            </a:r>
          </a:p>
          <a:p>
            <a:pPr marL="469900" lvl="0" indent="-457200">
              <a:lnSpc>
                <a:spcPct val="150000"/>
              </a:lnSpc>
              <a:spcBef>
                <a:spcPts val="0"/>
              </a:spcBef>
              <a:buSzPts val="1600"/>
            </a:pPr>
            <a:r>
              <a:rPr lang="en-US" altLang="zh-TW" sz="2500" b="1" dirty="0" smtClean="0"/>
              <a:t>30Gy/10</a:t>
            </a:r>
            <a:r>
              <a:rPr lang="en-US" altLang="zh-TW" sz="2500" dirty="0" smtClean="0"/>
              <a:t>, urgent case may use large fractionation up front </a:t>
            </a:r>
            <a:r>
              <a:rPr lang="en-US" altLang="zh-TW" sz="2500" b="1" dirty="0" smtClean="0"/>
              <a:t>(3-4Gy/</a:t>
            </a:r>
            <a:r>
              <a:rPr lang="en-US" altLang="zh-TW" sz="2500" b="1" dirty="0" err="1" smtClean="0"/>
              <a:t>fx</a:t>
            </a:r>
            <a:r>
              <a:rPr lang="en-US" altLang="zh-TW" sz="2500" b="1" dirty="0" smtClean="0"/>
              <a:t>) for 2-3 days</a:t>
            </a:r>
            <a:r>
              <a:rPr lang="en-US" altLang="zh-TW" sz="2500" dirty="0" smtClean="0"/>
              <a:t> to alleviate symptoms</a:t>
            </a:r>
            <a:endParaRPr lang="en-GB" altLang="zh-TW" sz="2500" u="sng" dirty="0" smtClean="0"/>
          </a:p>
          <a:p>
            <a:pPr marL="127000" lvl="0" indent="0">
              <a:lnSpc>
                <a:spcPct val="150000"/>
              </a:lnSpc>
              <a:spcBef>
                <a:spcPts val="0"/>
              </a:spcBef>
              <a:buSzPts val="1600"/>
              <a:buNone/>
            </a:pPr>
            <a:endParaRPr lang="zh-TW" altLang="en-US" sz="2500" dirty="0" smtClean="0"/>
          </a:p>
          <a:p>
            <a:endParaRPr lang="zh-TW" altLang="en-US" dirty="0"/>
          </a:p>
        </p:txBody>
      </p:sp>
      <p:sp>
        <p:nvSpPr>
          <p:cNvPr id="4" name="投影片編號版面配置區 3"/>
          <p:cNvSpPr>
            <a:spLocks noGrp="1"/>
          </p:cNvSpPr>
          <p:nvPr>
            <p:ph type="sldNum" sz="quarter" idx="10"/>
          </p:nvPr>
        </p:nvSpPr>
        <p:spPr/>
        <p:txBody>
          <a:bodyPr/>
          <a:lstStyle/>
          <a:p>
            <a:fld id="{E38AEB1F-7AF5-4113-B5DF-B350FF795A55}" type="slidenum">
              <a:rPr lang="zh-TW" altLang="en-US" smtClean="0"/>
              <a:t>7</a:t>
            </a:fld>
            <a:endParaRPr lang="zh-TW" altLang="en-US"/>
          </a:p>
        </p:txBody>
      </p:sp>
    </p:spTree>
    <p:extLst>
      <p:ext uri="{BB962C8B-B14F-4D97-AF65-F5344CB8AC3E}">
        <p14:creationId xmlns:p14="http://schemas.microsoft.com/office/powerpoint/2010/main" val="200306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147C2BF2-EA3D-43F0-B0A4-E4DA4B9DE8AA}" type="slidenum">
              <a:rPr lang="zh-TW" altLang="en-US" smtClean="0"/>
              <a:t>13</a:t>
            </a:fld>
            <a:endParaRPr lang="zh-TW" altLang="en-US"/>
          </a:p>
        </p:txBody>
      </p:sp>
    </p:spTree>
    <p:extLst>
      <p:ext uri="{BB962C8B-B14F-4D97-AF65-F5344CB8AC3E}">
        <p14:creationId xmlns:p14="http://schemas.microsoft.com/office/powerpoint/2010/main" val="4615660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Complicated bone metastasis: fracture, cord compression, previous</a:t>
            </a:r>
            <a:r>
              <a:rPr lang="en-US" altLang="zh-TW" baseline="0" dirty="0" smtClean="0"/>
              <a:t> RT.</a:t>
            </a:r>
          </a:p>
          <a:p>
            <a:r>
              <a:rPr lang="en-US" altLang="zh-TW" baseline="0" dirty="0" smtClean="0"/>
              <a:t>SVC obstruction does not predict poor outcomes in </a:t>
            </a:r>
            <a:r>
              <a:rPr lang="en-US" altLang="zh-TW" baseline="0" dirty="0" err="1" smtClean="0"/>
              <a:t>p’t</a:t>
            </a:r>
            <a:r>
              <a:rPr lang="en-US" altLang="zh-TW" baseline="0" dirty="0" smtClean="0"/>
              <a:t> with treatment-responsive tumor compared to those without SVC</a:t>
            </a:r>
            <a:endParaRPr lang="zh-TW" altLang="en-US" dirty="0"/>
          </a:p>
        </p:txBody>
      </p:sp>
      <p:sp>
        <p:nvSpPr>
          <p:cNvPr id="4" name="投影片編號版面配置區 3"/>
          <p:cNvSpPr>
            <a:spLocks noGrp="1"/>
          </p:cNvSpPr>
          <p:nvPr>
            <p:ph type="sldNum" sz="quarter" idx="10"/>
          </p:nvPr>
        </p:nvSpPr>
        <p:spPr/>
        <p:txBody>
          <a:bodyPr/>
          <a:lstStyle/>
          <a:p>
            <a:fld id="{E38AEB1F-7AF5-4113-B5DF-B350FF795A55}" type="slidenum">
              <a:rPr lang="zh-TW" altLang="en-US" smtClean="0"/>
              <a:t>19</a:t>
            </a:fld>
            <a:endParaRPr lang="zh-TW" altLang="en-US"/>
          </a:p>
        </p:txBody>
      </p:sp>
    </p:spTree>
    <p:extLst>
      <p:ext uri="{BB962C8B-B14F-4D97-AF65-F5344CB8AC3E}">
        <p14:creationId xmlns:p14="http://schemas.microsoft.com/office/powerpoint/2010/main" val="37524777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469900" lvl="0" indent="-457200">
              <a:lnSpc>
                <a:spcPct val="150000"/>
              </a:lnSpc>
              <a:spcBef>
                <a:spcPts val="0"/>
              </a:spcBef>
              <a:buSzPts val="1600"/>
            </a:pPr>
            <a:r>
              <a:rPr lang="en-US" altLang="zh-TW" sz="2500" dirty="0" smtClean="0"/>
              <a:t>SVC</a:t>
            </a:r>
            <a:r>
              <a:rPr lang="en-US" altLang="zh-TW" sz="2500" baseline="0" dirty="0" smtClean="0"/>
              <a:t> syndrome: </a:t>
            </a:r>
          </a:p>
          <a:p>
            <a:pPr marL="469900" lvl="0" indent="-457200">
              <a:lnSpc>
                <a:spcPct val="150000"/>
              </a:lnSpc>
              <a:spcBef>
                <a:spcPts val="0"/>
              </a:spcBef>
              <a:buSzPts val="1600"/>
            </a:pPr>
            <a:r>
              <a:rPr lang="zh-TW" altLang="en-US" sz="2500" dirty="0" smtClean="0"/>
              <a:t>最常見於</a:t>
            </a:r>
            <a:r>
              <a:rPr lang="en-US" altLang="zh-TW" sz="2500" dirty="0" smtClean="0"/>
              <a:t>NSCLC, SCLC and lymphoma</a:t>
            </a:r>
          </a:p>
          <a:p>
            <a:pPr marL="469900" lvl="0" indent="-457200">
              <a:lnSpc>
                <a:spcPct val="150000"/>
              </a:lnSpc>
              <a:spcBef>
                <a:spcPts val="0"/>
              </a:spcBef>
              <a:buSzPts val="1600"/>
            </a:pPr>
            <a:r>
              <a:rPr lang="en-US" altLang="zh-TW" sz="2500" dirty="0" smtClean="0"/>
              <a:t>60-80% respond to C/T or RT within 2 weeks</a:t>
            </a:r>
          </a:p>
          <a:p>
            <a:pPr marL="469900" lvl="0" indent="-457200">
              <a:lnSpc>
                <a:spcPct val="150000"/>
              </a:lnSpc>
              <a:spcBef>
                <a:spcPts val="0"/>
              </a:spcBef>
              <a:buSzPts val="1600"/>
            </a:pPr>
            <a:r>
              <a:rPr lang="en-US" altLang="zh-TW" sz="2500" b="1" dirty="0" smtClean="0"/>
              <a:t>30Gy/10</a:t>
            </a:r>
            <a:r>
              <a:rPr lang="en-US" altLang="zh-TW" sz="2500" dirty="0" smtClean="0"/>
              <a:t>, urgent case may use large fractionation up front </a:t>
            </a:r>
            <a:r>
              <a:rPr lang="en-US" altLang="zh-TW" sz="2500" b="1" dirty="0" smtClean="0"/>
              <a:t>(3-4Gy/</a:t>
            </a:r>
            <a:r>
              <a:rPr lang="en-US" altLang="zh-TW" sz="2500" b="1" dirty="0" err="1" smtClean="0"/>
              <a:t>fx</a:t>
            </a:r>
            <a:r>
              <a:rPr lang="en-US" altLang="zh-TW" sz="2500" b="1" dirty="0" smtClean="0"/>
              <a:t>) for 2-3 days</a:t>
            </a:r>
            <a:r>
              <a:rPr lang="en-US" altLang="zh-TW" sz="2500" dirty="0" smtClean="0"/>
              <a:t> to alleviate symptoms</a:t>
            </a:r>
            <a:endParaRPr lang="en-GB" altLang="zh-TW" sz="2500" u="sng" dirty="0" smtClean="0"/>
          </a:p>
          <a:p>
            <a:pPr marL="127000" lvl="0" indent="0">
              <a:lnSpc>
                <a:spcPct val="150000"/>
              </a:lnSpc>
              <a:spcBef>
                <a:spcPts val="0"/>
              </a:spcBef>
              <a:buSzPts val="1600"/>
              <a:buNone/>
            </a:pPr>
            <a:endParaRPr lang="zh-TW" altLang="en-US" sz="2500" dirty="0" smtClean="0"/>
          </a:p>
          <a:p>
            <a:endParaRPr lang="zh-TW" altLang="en-US" dirty="0"/>
          </a:p>
        </p:txBody>
      </p:sp>
      <p:sp>
        <p:nvSpPr>
          <p:cNvPr id="4" name="投影片編號版面配置區 3"/>
          <p:cNvSpPr>
            <a:spLocks noGrp="1"/>
          </p:cNvSpPr>
          <p:nvPr>
            <p:ph type="sldNum" sz="quarter" idx="10"/>
          </p:nvPr>
        </p:nvSpPr>
        <p:spPr/>
        <p:txBody>
          <a:bodyPr/>
          <a:lstStyle/>
          <a:p>
            <a:fld id="{E38AEB1F-7AF5-4113-B5DF-B350FF795A55}" type="slidenum">
              <a:rPr lang="zh-TW" altLang="en-US" smtClean="0"/>
              <a:t>21</a:t>
            </a:fld>
            <a:endParaRPr lang="zh-TW" altLang="en-US"/>
          </a:p>
        </p:txBody>
      </p:sp>
    </p:spTree>
    <p:extLst>
      <p:ext uri="{BB962C8B-B14F-4D97-AF65-F5344CB8AC3E}">
        <p14:creationId xmlns:p14="http://schemas.microsoft.com/office/powerpoint/2010/main" val="20030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6C121D41-81E8-4916-BE0A-B87690593E3D}" type="datetimeFigureOut">
              <a:rPr lang="zh-TW" altLang="en-US" smtClean="0"/>
              <a:t>2019/9/17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04F2B04-66E7-4717-A395-81EE568A8887}" type="slidenum">
              <a:rPr lang="zh-TW" altLang="en-US" smtClean="0"/>
              <a:t>‹#›</a:t>
            </a:fld>
            <a:endParaRPr lang="zh-TW" altLang="en-US"/>
          </a:p>
        </p:txBody>
      </p:sp>
    </p:spTree>
    <p:extLst>
      <p:ext uri="{BB962C8B-B14F-4D97-AF65-F5344CB8AC3E}">
        <p14:creationId xmlns:p14="http://schemas.microsoft.com/office/powerpoint/2010/main" val="1175237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6C121D41-81E8-4916-BE0A-B87690593E3D}" type="datetimeFigureOut">
              <a:rPr lang="zh-TW" altLang="en-US" smtClean="0"/>
              <a:t>2019/9/17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04F2B04-66E7-4717-A395-81EE568A8887}" type="slidenum">
              <a:rPr lang="zh-TW" altLang="en-US" smtClean="0"/>
              <a:t>‹#›</a:t>
            </a:fld>
            <a:endParaRPr lang="zh-TW" altLang="en-US"/>
          </a:p>
        </p:txBody>
      </p:sp>
    </p:spTree>
    <p:extLst>
      <p:ext uri="{BB962C8B-B14F-4D97-AF65-F5344CB8AC3E}">
        <p14:creationId xmlns:p14="http://schemas.microsoft.com/office/powerpoint/2010/main" val="42069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6C121D41-81E8-4916-BE0A-B87690593E3D}" type="datetimeFigureOut">
              <a:rPr lang="zh-TW" altLang="en-US" smtClean="0"/>
              <a:t>2019/9/17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04F2B04-66E7-4717-A395-81EE568A8887}" type="slidenum">
              <a:rPr lang="zh-TW" altLang="en-US" smtClean="0"/>
              <a:t>‹#›</a:t>
            </a:fld>
            <a:endParaRPr lang="zh-TW" altLang="en-US"/>
          </a:p>
        </p:txBody>
      </p:sp>
    </p:spTree>
    <p:extLst>
      <p:ext uri="{BB962C8B-B14F-4D97-AF65-F5344CB8AC3E}">
        <p14:creationId xmlns:p14="http://schemas.microsoft.com/office/powerpoint/2010/main" val="26600957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6C121D41-81E8-4916-BE0A-B87690593E3D}" type="datetimeFigureOut">
              <a:rPr lang="zh-TW" altLang="en-US" smtClean="0"/>
              <a:t>2019/9/17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04F2B04-66E7-4717-A395-81EE568A8887}" type="slidenum">
              <a:rPr lang="zh-TW" altLang="en-US" smtClean="0"/>
              <a:t>‹#›</a:t>
            </a:fld>
            <a:endParaRPr lang="zh-TW" altLang="en-US"/>
          </a:p>
        </p:txBody>
      </p:sp>
    </p:spTree>
    <p:extLst>
      <p:ext uri="{BB962C8B-B14F-4D97-AF65-F5344CB8AC3E}">
        <p14:creationId xmlns:p14="http://schemas.microsoft.com/office/powerpoint/2010/main" val="33575497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6C121D41-81E8-4916-BE0A-B87690593E3D}" type="datetimeFigureOut">
              <a:rPr lang="zh-TW" altLang="en-US" smtClean="0"/>
              <a:t>2019/9/17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504F2B04-66E7-4717-A395-81EE568A8887}" type="slidenum">
              <a:rPr lang="zh-TW" altLang="en-US" smtClean="0"/>
              <a:t>‹#›</a:t>
            </a:fld>
            <a:endParaRPr lang="zh-TW" altLang="en-US"/>
          </a:p>
        </p:txBody>
      </p:sp>
    </p:spTree>
    <p:extLst>
      <p:ext uri="{BB962C8B-B14F-4D97-AF65-F5344CB8AC3E}">
        <p14:creationId xmlns:p14="http://schemas.microsoft.com/office/powerpoint/2010/main" val="2320709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6C121D41-81E8-4916-BE0A-B87690593E3D}" type="datetimeFigureOut">
              <a:rPr lang="zh-TW" altLang="en-US" smtClean="0"/>
              <a:t>2019/9/17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504F2B04-66E7-4717-A395-81EE568A8887}" type="slidenum">
              <a:rPr lang="zh-TW" altLang="en-US" smtClean="0"/>
              <a:t>‹#›</a:t>
            </a:fld>
            <a:endParaRPr lang="zh-TW" altLang="en-US"/>
          </a:p>
        </p:txBody>
      </p:sp>
    </p:spTree>
    <p:extLst>
      <p:ext uri="{BB962C8B-B14F-4D97-AF65-F5344CB8AC3E}">
        <p14:creationId xmlns:p14="http://schemas.microsoft.com/office/powerpoint/2010/main" val="4290607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6C121D41-81E8-4916-BE0A-B87690593E3D}" type="datetimeFigureOut">
              <a:rPr lang="zh-TW" altLang="en-US" smtClean="0"/>
              <a:t>2019/9/17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504F2B04-66E7-4717-A395-81EE568A8887}" type="slidenum">
              <a:rPr lang="zh-TW" altLang="en-US" smtClean="0"/>
              <a:t>‹#›</a:t>
            </a:fld>
            <a:endParaRPr lang="zh-TW" altLang="en-US"/>
          </a:p>
        </p:txBody>
      </p:sp>
    </p:spTree>
    <p:extLst>
      <p:ext uri="{BB962C8B-B14F-4D97-AF65-F5344CB8AC3E}">
        <p14:creationId xmlns:p14="http://schemas.microsoft.com/office/powerpoint/2010/main" val="987659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6C121D41-81E8-4916-BE0A-B87690593E3D}" type="datetimeFigureOut">
              <a:rPr lang="zh-TW" altLang="en-US" smtClean="0"/>
              <a:t>2019/9/17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04F2B04-66E7-4717-A395-81EE568A8887}" type="slidenum">
              <a:rPr lang="zh-TW" altLang="en-US" smtClean="0"/>
              <a:t>‹#›</a:t>
            </a:fld>
            <a:endParaRPr lang="zh-TW" altLang="en-US"/>
          </a:p>
        </p:txBody>
      </p:sp>
    </p:spTree>
    <p:extLst>
      <p:ext uri="{BB962C8B-B14F-4D97-AF65-F5344CB8AC3E}">
        <p14:creationId xmlns:p14="http://schemas.microsoft.com/office/powerpoint/2010/main" val="361796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6C121D41-81E8-4916-BE0A-B87690593E3D}" type="datetimeFigureOut">
              <a:rPr lang="zh-TW" altLang="en-US" smtClean="0"/>
              <a:t>2019/9/17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04F2B04-66E7-4717-A395-81EE568A8887}" type="slidenum">
              <a:rPr lang="zh-TW" altLang="en-US" smtClean="0"/>
              <a:t>‹#›</a:t>
            </a:fld>
            <a:endParaRPr lang="zh-TW" altLang="en-US"/>
          </a:p>
        </p:txBody>
      </p:sp>
    </p:spTree>
    <p:extLst>
      <p:ext uri="{BB962C8B-B14F-4D97-AF65-F5344CB8AC3E}">
        <p14:creationId xmlns:p14="http://schemas.microsoft.com/office/powerpoint/2010/main" val="2327763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6C121D41-81E8-4916-BE0A-B87690593E3D}" type="datetimeFigureOut">
              <a:rPr lang="zh-TW" altLang="en-US" smtClean="0"/>
              <a:t>2019/9/17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04F2B04-66E7-4717-A395-81EE568A8887}" type="slidenum">
              <a:rPr lang="zh-TW" altLang="en-US" smtClean="0"/>
              <a:t>‹#›</a:t>
            </a:fld>
            <a:endParaRPr lang="zh-TW" altLang="en-US"/>
          </a:p>
        </p:txBody>
      </p:sp>
    </p:spTree>
    <p:extLst>
      <p:ext uri="{BB962C8B-B14F-4D97-AF65-F5344CB8AC3E}">
        <p14:creationId xmlns:p14="http://schemas.microsoft.com/office/powerpoint/2010/main" val="1129860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6C121D41-81E8-4916-BE0A-B87690593E3D}" type="datetimeFigureOut">
              <a:rPr lang="zh-TW" altLang="en-US" smtClean="0"/>
              <a:t>2019/9/17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04F2B04-66E7-4717-A395-81EE568A8887}" type="slidenum">
              <a:rPr lang="zh-TW" altLang="en-US" smtClean="0"/>
              <a:t>‹#›</a:t>
            </a:fld>
            <a:endParaRPr lang="zh-TW" altLang="en-US"/>
          </a:p>
        </p:txBody>
      </p:sp>
    </p:spTree>
    <p:extLst>
      <p:ext uri="{BB962C8B-B14F-4D97-AF65-F5344CB8AC3E}">
        <p14:creationId xmlns:p14="http://schemas.microsoft.com/office/powerpoint/2010/main" val="2658112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121D41-81E8-4916-BE0A-B87690593E3D}" type="datetimeFigureOut">
              <a:rPr lang="zh-TW" altLang="en-US" smtClean="0"/>
              <a:t>2019/9/17</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4F2B04-66E7-4717-A395-81EE568A8887}" type="slidenum">
              <a:rPr lang="zh-TW" altLang="en-US" smtClean="0"/>
              <a:t>‹#›</a:t>
            </a:fld>
            <a:endParaRPr lang="zh-TW" altLang="en-US"/>
          </a:p>
        </p:txBody>
      </p:sp>
    </p:spTree>
    <p:extLst>
      <p:ext uri="{BB962C8B-B14F-4D97-AF65-F5344CB8AC3E}">
        <p14:creationId xmlns:p14="http://schemas.microsoft.com/office/powerpoint/2010/main" val="2869600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9.emf"/><Relationship Id="rId18" Type="http://schemas.openxmlformats.org/officeDocument/2006/relationships/customXml" Target="../ink/ink8.xml"/><Relationship Id="rId26" Type="http://schemas.openxmlformats.org/officeDocument/2006/relationships/customXml" Target="../ink/ink12.xml"/><Relationship Id="rId3" Type="http://schemas.openxmlformats.org/officeDocument/2006/relationships/image" Target="../media/image4.png"/><Relationship Id="rId21" Type="http://schemas.openxmlformats.org/officeDocument/2006/relationships/image" Target="../media/image13.emf"/><Relationship Id="rId7" Type="http://schemas.openxmlformats.org/officeDocument/2006/relationships/image" Target="../media/image6.emf"/><Relationship Id="rId12" Type="http://schemas.openxmlformats.org/officeDocument/2006/relationships/customXml" Target="../ink/ink5.xml"/><Relationship Id="rId17" Type="http://schemas.openxmlformats.org/officeDocument/2006/relationships/image" Target="../media/image11.emf"/><Relationship Id="rId25" Type="http://schemas.openxmlformats.org/officeDocument/2006/relationships/image" Target="../media/image15.emf"/><Relationship Id="rId33" Type="http://schemas.openxmlformats.org/officeDocument/2006/relationships/image" Target="../media/image19.emf"/><Relationship Id="rId2" Type="http://schemas.openxmlformats.org/officeDocument/2006/relationships/image" Target="../media/image3.png"/><Relationship Id="rId16" Type="http://schemas.openxmlformats.org/officeDocument/2006/relationships/customXml" Target="../ink/ink7.xml"/><Relationship Id="rId20" Type="http://schemas.openxmlformats.org/officeDocument/2006/relationships/customXml" Target="../ink/ink9.xml"/><Relationship Id="rId29" Type="http://schemas.openxmlformats.org/officeDocument/2006/relationships/image" Target="../media/image17.emf"/><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8.emf"/><Relationship Id="rId24" Type="http://schemas.openxmlformats.org/officeDocument/2006/relationships/customXml" Target="../ink/ink11.xml"/><Relationship Id="rId32" Type="http://schemas.openxmlformats.org/officeDocument/2006/relationships/customXml" Target="../ink/ink15.xml"/><Relationship Id="rId5" Type="http://schemas.openxmlformats.org/officeDocument/2006/relationships/image" Target="../media/image5.emf"/><Relationship Id="rId15" Type="http://schemas.openxmlformats.org/officeDocument/2006/relationships/image" Target="../media/image10.emf"/><Relationship Id="rId23" Type="http://schemas.openxmlformats.org/officeDocument/2006/relationships/image" Target="../media/image14.emf"/><Relationship Id="rId28" Type="http://schemas.openxmlformats.org/officeDocument/2006/relationships/customXml" Target="../ink/ink13.xml"/><Relationship Id="rId10" Type="http://schemas.openxmlformats.org/officeDocument/2006/relationships/customXml" Target="../ink/ink4.xml"/><Relationship Id="rId19" Type="http://schemas.openxmlformats.org/officeDocument/2006/relationships/image" Target="../media/image12.emf"/><Relationship Id="rId31" Type="http://schemas.openxmlformats.org/officeDocument/2006/relationships/image" Target="../media/image18.emf"/><Relationship Id="rId4" Type="http://schemas.openxmlformats.org/officeDocument/2006/relationships/customXml" Target="../ink/ink1.xml"/><Relationship Id="rId9" Type="http://schemas.openxmlformats.org/officeDocument/2006/relationships/image" Target="../media/image7.emf"/><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16.emf"/><Relationship Id="rId30" Type="http://schemas.openxmlformats.org/officeDocument/2006/relationships/customXml" Target="../ink/ink14.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8" Type="http://schemas.openxmlformats.org/officeDocument/2006/relationships/customXml" Target="../ink/ink18.xml"/><Relationship Id="rId13" Type="http://schemas.openxmlformats.org/officeDocument/2006/relationships/image" Target="../media/image9.emf"/><Relationship Id="rId18" Type="http://schemas.openxmlformats.org/officeDocument/2006/relationships/customXml" Target="../ink/ink23.xml"/><Relationship Id="rId26" Type="http://schemas.openxmlformats.org/officeDocument/2006/relationships/customXml" Target="../ink/ink27.xml"/><Relationship Id="rId3" Type="http://schemas.openxmlformats.org/officeDocument/2006/relationships/image" Target="../media/image4.png"/><Relationship Id="rId21" Type="http://schemas.openxmlformats.org/officeDocument/2006/relationships/image" Target="../media/image13.emf"/><Relationship Id="rId7" Type="http://schemas.openxmlformats.org/officeDocument/2006/relationships/image" Target="../media/image6.emf"/><Relationship Id="rId12" Type="http://schemas.openxmlformats.org/officeDocument/2006/relationships/customXml" Target="../ink/ink20.xml"/><Relationship Id="rId17" Type="http://schemas.openxmlformats.org/officeDocument/2006/relationships/image" Target="../media/image11.emf"/><Relationship Id="rId25" Type="http://schemas.openxmlformats.org/officeDocument/2006/relationships/image" Target="../media/image15.emf"/><Relationship Id="rId33" Type="http://schemas.openxmlformats.org/officeDocument/2006/relationships/image" Target="../media/image19.emf"/><Relationship Id="rId2" Type="http://schemas.openxmlformats.org/officeDocument/2006/relationships/image" Target="../media/image3.png"/><Relationship Id="rId16" Type="http://schemas.openxmlformats.org/officeDocument/2006/relationships/customXml" Target="../ink/ink22.xml"/><Relationship Id="rId20" Type="http://schemas.openxmlformats.org/officeDocument/2006/relationships/customXml" Target="../ink/ink24.xml"/><Relationship Id="rId29" Type="http://schemas.openxmlformats.org/officeDocument/2006/relationships/image" Target="../media/image17.emf"/><Relationship Id="rId1" Type="http://schemas.openxmlformats.org/officeDocument/2006/relationships/slideLayout" Target="../slideLayouts/slideLayout2.xml"/><Relationship Id="rId6" Type="http://schemas.openxmlformats.org/officeDocument/2006/relationships/customXml" Target="../ink/ink17.xml"/><Relationship Id="rId11" Type="http://schemas.openxmlformats.org/officeDocument/2006/relationships/image" Target="../media/image8.emf"/><Relationship Id="rId24" Type="http://schemas.openxmlformats.org/officeDocument/2006/relationships/customXml" Target="../ink/ink26.xml"/><Relationship Id="rId32" Type="http://schemas.openxmlformats.org/officeDocument/2006/relationships/customXml" Target="../ink/ink30.xml"/><Relationship Id="rId5" Type="http://schemas.openxmlformats.org/officeDocument/2006/relationships/image" Target="../media/image5.emf"/><Relationship Id="rId15" Type="http://schemas.openxmlformats.org/officeDocument/2006/relationships/image" Target="../media/image10.emf"/><Relationship Id="rId23" Type="http://schemas.openxmlformats.org/officeDocument/2006/relationships/image" Target="../media/image14.emf"/><Relationship Id="rId28" Type="http://schemas.openxmlformats.org/officeDocument/2006/relationships/customXml" Target="../ink/ink28.xml"/><Relationship Id="rId10" Type="http://schemas.openxmlformats.org/officeDocument/2006/relationships/customXml" Target="../ink/ink19.xml"/><Relationship Id="rId19" Type="http://schemas.openxmlformats.org/officeDocument/2006/relationships/image" Target="../media/image12.emf"/><Relationship Id="rId31" Type="http://schemas.openxmlformats.org/officeDocument/2006/relationships/image" Target="../media/image18.emf"/><Relationship Id="rId4" Type="http://schemas.openxmlformats.org/officeDocument/2006/relationships/customXml" Target="../ink/ink16.xml"/><Relationship Id="rId9" Type="http://schemas.openxmlformats.org/officeDocument/2006/relationships/image" Target="../media/image7.emf"/><Relationship Id="rId14" Type="http://schemas.openxmlformats.org/officeDocument/2006/relationships/customXml" Target="../ink/ink21.xml"/><Relationship Id="rId22" Type="http://schemas.openxmlformats.org/officeDocument/2006/relationships/customXml" Target="../ink/ink25.xml"/><Relationship Id="rId27" Type="http://schemas.openxmlformats.org/officeDocument/2006/relationships/image" Target="../media/image16.emf"/><Relationship Id="rId30" Type="http://schemas.openxmlformats.org/officeDocument/2006/relationships/customXml" Target="../ink/ink29.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sz="5600" dirty="0" smtClean="0"/>
              <a:t>Skin/Benign/Palliation</a:t>
            </a:r>
            <a:br>
              <a:rPr lang="en-US" altLang="zh-TW" sz="5600" dirty="0" smtClean="0"/>
            </a:br>
            <a:r>
              <a:rPr lang="en-US" altLang="zh-TW" dirty="0" smtClean="0"/>
              <a:t/>
            </a:r>
            <a:br>
              <a:rPr lang="en-US" altLang="zh-TW" dirty="0" smtClean="0"/>
            </a:br>
            <a:r>
              <a:rPr lang="en-US" altLang="zh-TW" dirty="0" smtClean="0"/>
              <a:t>2010~2018</a:t>
            </a:r>
            <a:br>
              <a:rPr lang="en-US" altLang="zh-TW" dirty="0" smtClean="0"/>
            </a:br>
            <a:endParaRPr lang="zh-TW" altLang="en-US" dirty="0"/>
          </a:p>
        </p:txBody>
      </p:sp>
      <p:sp>
        <p:nvSpPr>
          <p:cNvPr id="3" name="副標題 2"/>
          <p:cNvSpPr>
            <a:spLocks noGrp="1"/>
          </p:cNvSpPr>
          <p:nvPr>
            <p:ph type="subTitle" idx="1"/>
          </p:nvPr>
        </p:nvSpPr>
        <p:spPr/>
        <p:txBody>
          <a:bodyPr/>
          <a:lstStyle/>
          <a:p>
            <a:r>
              <a:rPr lang="zh-TW" altLang="en-US" dirty="0" smtClean="0"/>
              <a:t>陳韻之</a:t>
            </a:r>
            <a:endParaRPr lang="zh-TW" altLang="en-US" dirty="0"/>
          </a:p>
        </p:txBody>
      </p:sp>
    </p:spTree>
    <p:extLst>
      <p:ext uri="{BB962C8B-B14F-4D97-AF65-F5344CB8AC3E}">
        <p14:creationId xmlns:p14="http://schemas.microsoft.com/office/powerpoint/2010/main" val="9780102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graphicFrame>
        <p:nvGraphicFramePr>
          <p:cNvPr id="7" name="內容版面配置區 6"/>
          <p:cNvGraphicFramePr>
            <a:graphicFrameLocks noGrp="1"/>
          </p:cNvGraphicFramePr>
          <p:nvPr>
            <p:ph idx="1"/>
            <p:extLst>
              <p:ext uri="{D42A27DB-BD31-4B8C-83A1-F6EECF244321}">
                <p14:modId xmlns:p14="http://schemas.microsoft.com/office/powerpoint/2010/main" val="2927456032"/>
              </p:ext>
            </p:extLst>
          </p:nvPr>
        </p:nvGraphicFramePr>
        <p:xfrm>
          <a:off x="0" y="1196750"/>
          <a:ext cx="9144000" cy="44645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446450">
                <a:tc>
                  <a:txBody>
                    <a:bodyPr/>
                    <a:lstStyle/>
                    <a:p>
                      <a:r>
                        <a:rPr lang="en-US" altLang="zh-TW" dirty="0" smtClean="0"/>
                        <a:t>2019</a:t>
                      </a:r>
                      <a:endParaRPr lang="zh-TW" altLang="en-US" dirty="0"/>
                    </a:p>
                  </a:txBody>
                  <a:tcPr/>
                </a:tc>
                <a:tc>
                  <a:txBody>
                    <a:bodyPr/>
                    <a:lstStyle/>
                    <a:p>
                      <a:r>
                        <a:rPr lang="en-US" altLang="zh-TW" dirty="0" smtClean="0"/>
                        <a:t>?? (</a:t>
                      </a:r>
                      <a:r>
                        <a:rPr lang="zh-TW" altLang="en-US" dirty="0" smtClean="0"/>
                        <a:t>蔡玉真今年不是口委</a:t>
                      </a:r>
                      <a:r>
                        <a:rPr lang="en-US" altLang="zh-TW" dirty="0" smtClean="0"/>
                        <a:t>)</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1" dirty="0" smtClean="0"/>
                        <a:t>吳錦榕 </a:t>
                      </a:r>
                      <a:r>
                        <a:rPr lang="en-US" altLang="zh-TW" b="1" dirty="0" smtClean="0"/>
                        <a:t>(slide</a:t>
                      </a:r>
                      <a:r>
                        <a:rPr lang="en-US" altLang="zh-TW" b="1" baseline="0" dirty="0" smtClean="0"/>
                        <a:t> 3~7)</a:t>
                      </a:r>
                      <a:endParaRPr lang="en-GB" altLang="zh-TW" b="1" dirty="0" smtClean="0"/>
                    </a:p>
                  </a:txBody>
                  <a:tcPr/>
                </a:tc>
                <a:extLst>
                  <a:ext uri="{0D108BD9-81ED-4DB2-BD59-A6C34878D82A}">
                    <a16:rowId xmlns:a16="http://schemas.microsoft.com/office/drawing/2014/main" val="10000"/>
                  </a:ext>
                </a:extLst>
              </a:tr>
              <a:tr h="446450">
                <a:tc>
                  <a:txBody>
                    <a:bodyPr/>
                    <a:lstStyle/>
                    <a:p>
                      <a:r>
                        <a:rPr lang="en-US" altLang="zh-TW" dirty="0" smtClean="0"/>
                        <a:t>2018</a:t>
                      </a:r>
                      <a:endParaRPr lang="zh-TW" altLang="en-US" dirty="0"/>
                    </a:p>
                  </a:txBody>
                  <a:tcPr/>
                </a:tc>
                <a:tc>
                  <a:txBody>
                    <a:bodyPr/>
                    <a:lstStyle/>
                    <a:p>
                      <a:r>
                        <a:rPr lang="zh-TW" altLang="en-US" dirty="0" smtClean="0"/>
                        <a:t>呂志德</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smtClean="0"/>
                        <a:t>吳錦榕</a:t>
                      </a:r>
                      <a:endParaRPr lang="en-GB" altLang="zh-TW" dirty="0" smtClean="0"/>
                    </a:p>
                  </a:txBody>
                  <a:tcPr/>
                </a:tc>
                <a:extLst>
                  <a:ext uri="{0D108BD9-81ED-4DB2-BD59-A6C34878D82A}">
                    <a16:rowId xmlns:a16="http://schemas.microsoft.com/office/drawing/2014/main" val="10001"/>
                  </a:ext>
                </a:extLst>
              </a:tr>
              <a:tr h="446450">
                <a:tc>
                  <a:txBody>
                    <a:bodyPr/>
                    <a:lstStyle/>
                    <a:p>
                      <a:r>
                        <a:rPr lang="en-US" altLang="zh-TW" dirty="0" smtClean="0"/>
                        <a:t>2017</a:t>
                      </a:r>
                      <a:endParaRPr lang="zh-TW" altLang="en-US" dirty="0"/>
                    </a:p>
                  </a:txBody>
                  <a:tcPr/>
                </a:tc>
                <a:tc>
                  <a:txBody>
                    <a:bodyPr/>
                    <a:lstStyle/>
                    <a:p>
                      <a:r>
                        <a:rPr lang="zh-TW" altLang="en-US" dirty="0" smtClean="0"/>
                        <a:t>蔡玉真</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smtClean="0"/>
                        <a:t>吳錦榕</a:t>
                      </a:r>
                      <a:endParaRPr lang="en-GB" altLang="zh-TW" dirty="0" smtClean="0"/>
                    </a:p>
                  </a:txBody>
                  <a:tcPr/>
                </a:tc>
                <a:extLst>
                  <a:ext uri="{0D108BD9-81ED-4DB2-BD59-A6C34878D82A}">
                    <a16:rowId xmlns:a16="http://schemas.microsoft.com/office/drawing/2014/main" val="10002"/>
                  </a:ext>
                </a:extLst>
              </a:tr>
              <a:tr h="446450">
                <a:tc>
                  <a:txBody>
                    <a:bodyPr/>
                    <a:lstStyle/>
                    <a:p>
                      <a:r>
                        <a:rPr lang="en-US" altLang="zh-TW" dirty="0" smtClean="0"/>
                        <a:t>2016</a:t>
                      </a:r>
                      <a:endParaRPr lang="zh-TW" altLang="en-US" dirty="0"/>
                    </a:p>
                  </a:txBody>
                  <a:tcPr/>
                </a:tc>
                <a:tc>
                  <a:txBody>
                    <a:bodyPr/>
                    <a:lstStyle/>
                    <a:p>
                      <a:r>
                        <a:rPr lang="zh-TW" altLang="en-US" dirty="0" smtClean="0"/>
                        <a:t>蔡玉真</a:t>
                      </a:r>
                      <a:endParaRPr lang="zh-TW" altLang="en-US" dirty="0"/>
                    </a:p>
                  </a:txBody>
                  <a:tcPr/>
                </a:tc>
                <a:tc>
                  <a:txBody>
                    <a:bodyPr/>
                    <a:lstStyle/>
                    <a:p>
                      <a:r>
                        <a:rPr lang="zh-TW" altLang="en-US" dirty="0" smtClean="0">
                          <a:solidFill>
                            <a:srgbClr val="00B0F0"/>
                          </a:solidFill>
                        </a:rPr>
                        <a:t>梁雲</a:t>
                      </a:r>
                      <a:endParaRPr lang="zh-TW" altLang="en-US" dirty="0">
                        <a:solidFill>
                          <a:srgbClr val="00B0F0"/>
                        </a:solidFill>
                      </a:endParaRPr>
                    </a:p>
                  </a:txBody>
                  <a:tcPr/>
                </a:tc>
                <a:extLst>
                  <a:ext uri="{0D108BD9-81ED-4DB2-BD59-A6C34878D82A}">
                    <a16:rowId xmlns:a16="http://schemas.microsoft.com/office/drawing/2014/main" val="10003"/>
                  </a:ext>
                </a:extLst>
              </a:tr>
              <a:tr h="446450">
                <a:tc>
                  <a:txBody>
                    <a:bodyPr/>
                    <a:lstStyle/>
                    <a:p>
                      <a:r>
                        <a:rPr lang="en-US" altLang="zh-TW" dirty="0" smtClean="0"/>
                        <a:t>2015</a:t>
                      </a:r>
                      <a:endParaRPr lang="zh-TW" altLang="en-US" dirty="0"/>
                    </a:p>
                  </a:txBody>
                  <a:tcPr/>
                </a:tc>
                <a:tc>
                  <a:txBody>
                    <a:bodyPr/>
                    <a:lstStyle/>
                    <a:p>
                      <a:r>
                        <a:rPr lang="zh-TW" altLang="en-US" dirty="0" smtClean="0"/>
                        <a:t>蔡玉真</a:t>
                      </a:r>
                      <a:endParaRPr lang="zh-TW"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smtClean="0"/>
                        <a:t>吳錦榕</a:t>
                      </a:r>
                      <a:endParaRPr lang="en-GB" altLang="zh-TW" dirty="0" smtClean="0"/>
                    </a:p>
                  </a:txBody>
                  <a:tcPr/>
                </a:tc>
                <a:extLst>
                  <a:ext uri="{0D108BD9-81ED-4DB2-BD59-A6C34878D82A}">
                    <a16:rowId xmlns:a16="http://schemas.microsoft.com/office/drawing/2014/main" val="10004"/>
                  </a:ext>
                </a:extLst>
              </a:tr>
              <a:tr h="446450">
                <a:tc>
                  <a:txBody>
                    <a:bodyPr/>
                    <a:lstStyle/>
                    <a:p>
                      <a:r>
                        <a:rPr lang="en-US" altLang="zh-TW" dirty="0" smtClean="0"/>
                        <a:t>2014</a:t>
                      </a:r>
                      <a:endParaRPr lang="zh-TW" altLang="en-US" dirty="0"/>
                    </a:p>
                  </a:txBody>
                  <a:tcPr/>
                </a:tc>
                <a:tc>
                  <a:txBody>
                    <a:bodyPr/>
                    <a:lstStyle/>
                    <a:p>
                      <a:r>
                        <a:rPr lang="zh-TW" altLang="en-US" dirty="0" smtClean="0"/>
                        <a:t>蔡玉真</a:t>
                      </a:r>
                      <a:endParaRPr lang="zh-TW" altLang="en-US" dirty="0"/>
                    </a:p>
                  </a:txBody>
                  <a:tcPr/>
                </a:tc>
                <a:tc>
                  <a:txBody>
                    <a:bodyPr/>
                    <a:lstStyle/>
                    <a:p>
                      <a:r>
                        <a:rPr lang="zh-TW" altLang="en-US" dirty="0" smtClean="0"/>
                        <a:t>劉岱瑋</a:t>
                      </a:r>
                      <a:endParaRPr lang="zh-TW" altLang="en-US" dirty="0"/>
                    </a:p>
                  </a:txBody>
                  <a:tcPr/>
                </a:tc>
                <a:extLst>
                  <a:ext uri="{0D108BD9-81ED-4DB2-BD59-A6C34878D82A}">
                    <a16:rowId xmlns:a16="http://schemas.microsoft.com/office/drawing/2014/main" val="10005"/>
                  </a:ext>
                </a:extLst>
              </a:tr>
              <a:tr h="446450">
                <a:tc>
                  <a:txBody>
                    <a:bodyPr/>
                    <a:lstStyle/>
                    <a:p>
                      <a:r>
                        <a:rPr lang="en-US" altLang="zh-TW" dirty="0" smtClean="0"/>
                        <a:t>2013</a:t>
                      </a:r>
                      <a:endParaRPr lang="zh-TW" altLang="en-US" dirty="0"/>
                    </a:p>
                  </a:txBody>
                  <a:tcPr/>
                </a:tc>
                <a:tc>
                  <a:txBody>
                    <a:bodyPr/>
                    <a:lstStyle/>
                    <a:p>
                      <a:r>
                        <a:rPr lang="zh-TW" altLang="en-US" dirty="0" smtClean="0">
                          <a:solidFill>
                            <a:schemeClr val="bg1">
                              <a:lumMod val="50000"/>
                            </a:schemeClr>
                          </a:solidFill>
                        </a:rPr>
                        <a:t>任益民</a:t>
                      </a:r>
                      <a:endParaRPr lang="zh-TW" altLang="en-US" dirty="0">
                        <a:solidFill>
                          <a:schemeClr val="bg1">
                            <a:lumMod val="50000"/>
                          </a:schemeClr>
                        </a:solidFill>
                      </a:endParaRPr>
                    </a:p>
                  </a:txBody>
                  <a:tcPr/>
                </a:tc>
                <a:tc>
                  <a:txBody>
                    <a:bodyPr/>
                    <a:lstStyle/>
                    <a:p>
                      <a:r>
                        <a:rPr lang="zh-TW" altLang="en-US" dirty="0" smtClean="0">
                          <a:solidFill>
                            <a:srgbClr val="00B0F0"/>
                          </a:solidFill>
                        </a:rPr>
                        <a:t>吳孟浩</a:t>
                      </a:r>
                      <a:endParaRPr lang="zh-TW" altLang="en-US" dirty="0">
                        <a:solidFill>
                          <a:srgbClr val="00B0F0"/>
                        </a:solidFill>
                      </a:endParaRPr>
                    </a:p>
                  </a:txBody>
                  <a:tcPr/>
                </a:tc>
                <a:extLst>
                  <a:ext uri="{0D108BD9-81ED-4DB2-BD59-A6C34878D82A}">
                    <a16:rowId xmlns:a16="http://schemas.microsoft.com/office/drawing/2014/main" val="10006"/>
                  </a:ext>
                </a:extLst>
              </a:tr>
              <a:tr h="446450">
                <a:tc>
                  <a:txBody>
                    <a:bodyPr/>
                    <a:lstStyle/>
                    <a:p>
                      <a:r>
                        <a:rPr lang="en-US" altLang="zh-TW" dirty="0" smtClean="0"/>
                        <a:t>2012</a:t>
                      </a:r>
                      <a:endParaRPr lang="zh-TW"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呂志德</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solidFill>
                            <a:srgbClr val="00B0F0"/>
                          </a:solidFill>
                        </a:rPr>
                        <a:t>吳孟浩</a:t>
                      </a:r>
                    </a:p>
                  </a:txBody>
                  <a:tcPr/>
                </a:tc>
                <a:extLst>
                  <a:ext uri="{0D108BD9-81ED-4DB2-BD59-A6C34878D82A}">
                    <a16:rowId xmlns:a16="http://schemas.microsoft.com/office/drawing/2014/main" val="10007"/>
                  </a:ext>
                </a:extLst>
              </a:tr>
              <a:tr h="446450">
                <a:tc>
                  <a:txBody>
                    <a:bodyPr/>
                    <a:lstStyle/>
                    <a:p>
                      <a:r>
                        <a:rPr lang="en-US" altLang="zh-TW" dirty="0" smtClean="0"/>
                        <a:t>2011</a:t>
                      </a:r>
                      <a:endParaRPr lang="zh-TW"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zh-TW" dirty="0" smtClean="0"/>
                        <a:t>許文林</a:t>
                      </a:r>
                      <a:r>
                        <a:rPr lang="en-US" altLang="zh-TW" dirty="0" smtClean="0"/>
                        <a:t> </a:t>
                      </a:r>
                      <a:endParaRPr lang="zh-TW" alt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蔡若婷</a:t>
                      </a:r>
                    </a:p>
                  </a:txBody>
                  <a:tcPr/>
                </a:tc>
                <a:extLst>
                  <a:ext uri="{0D108BD9-81ED-4DB2-BD59-A6C34878D82A}">
                    <a16:rowId xmlns:a16="http://schemas.microsoft.com/office/drawing/2014/main" val="10008"/>
                  </a:ext>
                </a:extLst>
              </a:tr>
              <a:tr h="446450">
                <a:tc>
                  <a:txBody>
                    <a:bodyPr/>
                    <a:lstStyle/>
                    <a:p>
                      <a:r>
                        <a:rPr lang="en-US" altLang="zh-TW" dirty="0" smtClean="0"/>
                        <a:t>2010</a:t>
                      </a:r>
                      <a:endParaRPr lang="zh-TW" altLang="en-US" dirty="0"/>
                    </a:p>
                  </a:txBody>
                  <a:tcPr/>
                </a:tc>
                <a:tc>
                  <a:txBody>
                    <a:bodyPr/>
                    <a:lstStyle/>
                    <a:p>
                      <a:r>
                        <a:rPr lang="zh-TW" altLang="en-US" dirty="0" smtClean="0">
                          <a:solidFill>
                            <a:schemeClr val="bg1">
                              <a:lumMod val="50000"/>
                            </a:schemeClr>
                          </a:solidFill>
                        </a:rPr>
                        <a:t>顏</a:t>
                      </a:r>
                      <a:r>
                        <a:rPr lang="zh-TW" altLang="zh-TW" dirty="0" smtClean="0">
                          <a:solidFill>
                            <a:schemeClr val="bg1">
                              <a:lumMod val="50000"/>
                            </a:schemeClr>
                          </a:solidFill>
                        </a:rPr>
                        <a:t>上惠</a:t>
                      </a:r>
                      <a:endParaRPr lang="zh-TW" altLang="en-US" dirty="0">
                        <a:solidFill>
                          <a:srgbClr val="00B0F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zh-TW" dirty="0" smtClean="0">
                          <a:solidFill>
                            <a:srgbClr val="00B0F0"/>
                          </a:solidFill>
                        </a:rPr>
                        <a:t>吳孟浩</a:t>
                      </a:r>
                      <a:endParaRPr lang="zh-TW" altLang="en-US" dirty="0" smtClean="0">
                        <a:solidFill>
                          <a:srgbClr val="00B0F0"/>
                        </a:solidFill>
                      </a:endParaRPr>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7155196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116632"/>
            <a:ext cx="8229600" cy="6741368"/>
          </a:xfrm>
        </p:spPr>
        <p:txBody>
          <a:bodyPr>
            <a:normAutofit fontScale="55000" lnSpcReduction="20000"/>
          </a:bodyPr>
          <a:lstStyle/>
          <a:p>
            <a:pPr marL="127000" lvl="0" indent="0">
              <a:lnSpc>
                <a:spcPct val="150000"/>
              </a:lnSpc>
              <a:spcBef>
                <a:spcPts val="0"/>
              </a:spcBef>
              <a:buSzPts val="1600"/>
              <a:buNone/>
            </a:pPr>
            <a:r>
              <a:rPr lang="en-GB" altLang="zh-TW" sz="4000" b="1" dirty="0" smtClean="0"/>
              <a:t>Skin </a:t>
            </a:r>
            <a:r>
              <a:rPr lang="en-GB" altLang="zh-TW" dirty="0" smtClean="0"/>
              <a:t>  2018/</a:t>
            </a:r>
            <a:r>
              <a:rPr lang="zh-TW" altLang="en-US" dirty="0" smtClean="0"/>
              <a:t>吳錦榕</a:t>
            </a:r>
            <a:endParaRPr lang="en-GB" altLang="zh-TW" dirty="0" smtClean="0"/>
          </a:p>
          <a:p>
            <a:pPr marL="457200" lvl="0" indent="-330200">
              <a:lnSpc>
                <a:spcPct val="150000"/>
              </a:lnSpc>
              <a:spcBef>
                <a:spcPts val="0"/>
              </a:spcBef>
              <a:buSzPts val="1600"/>
              <a:buAutoNum type="arabicPeriod"/>
            </a:pPr>
            <a:r>
              <a:rPr lang="en-GB" altLang="zh-TW" u="sng" dirty="0" smtClean="0"/>
              <a:t>Skin cancer RT </a:t>
            </a:r>
            <a:r>
              <a:rPr lang="zh-TW" altLang="en-US" u="sng" dirty="0" smtClean="0"/>
              <a:t>的 </a:t>
            </a:r>
            <a:r>
              <a:rPr lang="en-GB" altLang="zh-TW" u="sng" dirty="0" smtClean="0"/>
              <a:t>indication? </a:t>
            </a:r>
          </a:p>
          <a:p>
            <a:pPr marL="127000" lvl="0" indent="0">
              <a:lnSpc>
                <a:spcPct val="150000"/>
              </a:lnSpc>
              <a:spcBef>
                <a:spcPts val="0"/>
              </a:spcBef>
              <a:buSzPts val="1600"/>
              <a:buNone/>
            </a:pPr>
            <a:r>
              <a:rPr lang="en-GB" altLang="zh-TW" dirty="0" smtClean="0"/>
              <a:t>A:  RT is preferred for </a:t>
            </a:r>
          </a:p>
          <a:p>
            <a:pPr marL="984250" lvl="1" indent="-457200">
              <a:lnSpc>
                <a:spcPct val="150000"/>
              </a:lnSpc>
              <a:spcBef>
                <a:spcPts val="0"/>
              </a:spcBef>
              <a:buSzPts val="1600"/>
            </a:pPr>
            <a:r>
              <a:rPr lang="en-GB" altLang="zh-TW" dirty="0" err="1" smtClean="0"/>
              <a:t>p’t</a:t>
            </a:r>
            <a:r>
              <a:rPr lang="en-GB" altLang="zh-TW" dirty="0" smtClean="0"/>
              <a:t> &gt; 60 y/o and not candidates for primary surgery. </a:t>
            </a:r>
          </a:p>
          <a:p>
            <a:pPr marL="984250" lvl="1" indent="-457200">
              <a:lnSpc>
                <a:spcPct val="150000"/>
              </a:lnSpc>
              <a:spcBef>
                <a:spcPts val="0"/>
              </a:spcBef>
              <a:buSzPts val="1600"/>
            </a:pPr>
            <a:r>
              <a:rPr lang="en-GB" altLang="zh-TW" dirty="0" smtClean="0"/>
              <a:t>Lesions at central face, lip, eyelid and ears (inferior cosmetic or functional outcome after surgery)</a:t>
            </a:r>
          </a:p>
          <a:p>
            <a:pPr marL="527050" lvl="1" indent="0">
              <a:lnSpc>
                <a:spcPct val="150000"/>
              </a:lnSpc>
              <a:spcBef>
                <a:spcPts val="0"/>
              </a:spcBef>
              <a:buSzPts val="1600"/>
              <a:buNone/>
            </a:pPr>
            <a:r>
              <a:rPr lang="en-GB" altLang="zh-TW" dirty="0" smtClean="0"/>
              <a:t>Adj. RT to primary sites with skin cancer:</a:t>
            </a:r>
          </a:p>
          <a:p>
            <a:pPr marL="984250" lvl="1" indent="-457200">
              <a:lnSpc>
                <a:spcPct val="150000"/>
              </a:lnSpc>
              <a:spcBef>
                <a:spcPts val="0"/>
              </a:spcBef>
              <a:buSzPts val="1600"/>
            </a:pPr>
            <a:r>
              <a:rPr lang="en-GB" altLang="zh-TW" dirty="0" smtClean="0"/>
              <a:t>Margin(+)</a:t>
            </a:r>
          </a:p>
          <a:p>
            <a:pPr marL="984250" lvl="1" indent="-457200">
              <a:lnSpc>
                <a:spcPct val="150000"/>
              </a:lnSpc>
              <a:spcBef>
                <a:spcPts val="0"/>
              </a:spcBef>
              <a:buSzPts val="1600"/>
            </a:pPr>
            <a:r>
              <a:rPr lang="en-GB" altLang="zh-TW" dirty="0" smtClean="0"/>
              <a:t>Extensive PNI or large nerve</a:t>
            </a:r>
          </a:p>
          <a:p>
            <a:pPr marL="984250" lvl="1" indent="-457200">
              <a:lnSpc>
                <a:spcPct val="150000"/>
              </a:lnSpc>
              <a:spcBef>
                <a:spcPts val="0"/>
              </a:spcBef>
              <a:buSzPts val="1600"/>
            </a:pPr>
            <a:r>
              <a:rPr lang="en-GB" altLang="zh-TW" dirty="0" smtClean="0"/>
              <a:t>Invasion of bone/cartilage or skeletal muscle</a:t>
            </a:r>
            <a:endParaRPr lang="en-GB" altLang="zh-TW" u="sng" dirty="0"/>
          </a:p>
          <a:p>
            <a:pPr marL="127000" lvl="0" indent="0">
              <a:lnSpc>
                <a:spcPct val="150000"/>
              </a:lnSpc>
              <a:spcBef>
                <a:spcPts val="0"/>
              </a:spcBef>
              <a:buSzPts val="1600"/>
              <a:buNone/>
            </a:pPr>
            <a:r>
              <a:rPr lang="en-GB" altLang="zh-TW" u="sng" dirty="0" smtClean="0"/>
              <a:t>2.    BCC</a:t>
            </a:r>
            <a:r>
              <a:rPr lang="zh-TW" altLang="en-US" u="sng" dirty="0" smtClean="0"/>
              <a:t>或</a:t>
            </a:r>
            <a:r>
              <a:rPr lang="en-GB" altLang="zh-TW" u="sng" dirty="0" smtClean="0"/>
              <a:t>SCC</a:t>
            </a:r>
            <a:r>
              <a:rPr lang="zh-TW" altLang="en-US" u="sng" dirty="0" smtClean="0"/>
              <a:t>手術完要不要照</a:t>
            </a:r>
            <a:r>
              <a:rPr lang="en-GB" altLang="zh-TW" u="sng" dirty="0" smtClean="0"/>
              <a:t>lymphatic drainage?</a:t>
            </a:r>
          </a:p>
          <a:p>
            <a:pPr marL="127000" lvl="0" indent="0">
              <a:lnSpc>
                <a:spcPct val="150000"/>
              </a:lnSpc>
              <a:spcBef>
                <a:spcPts val="0"/>
              </a:spcBef>
              <a:buSzPts val="1600"/>
              <a:buNone/>
            </a:pPr>
            <a:r>
              <a:rPr lang="en-GB" altLang="zh-TW" u="sng" dirty="0"/>
              <a:t> </a:t>
            </a:r>
            <a:r>
              <a:rPr lang="en-GB" altLang="zh-TW" dirty="0" smtClean="0"/>
              <a:t>A: Adj. nodal RT indication:</a:t>
            </a:r>
          </a:p>
          <a:p>
            <a:pPr marL="984250" lvl="1" indent="-457200">
              <a:lnSpc>
                <a:spcPct val="150000"/>
              </a:lnSpc>
              <a:spcBef>
                <a:spcPts val="0"/>
              </a:spcBef>
              <a:buSzPts val="1600"/>
            </a:pPr>
            <a:r>
              <a:rPr lang="en-GB" altLang="zh-TW" dirty="0" smtClean="0"/>
              <a:t>T3/T4</a:t>
            </a:r>
          </a:p>
          <a:p>
            <a:pPr marL="984250" lvl="1" indent="-457200">
              <a:lnSpc>
                <a:spcPct val="150000"/>
              </a:lnSpc>
              <a:spcBef>
                <a:spcPts val="0"/>
              </a:spcBef>
              <a:buSzPts val="1600"/>
            </a:pPr>
            <a:r>
              <a:rPr lang="en-GB" altLang="zh-TW" dirty="0" smtClean="0"/>
              <a:t>Multiple LN(+)</a:t>
            </a:r>
          </a:p>
          <a:p>
            <a:pPr marL="984250" lvl="1" indent="-457200">
              <a:lnSpc>
                <a:spcPct val="150000"/>
              </a:lnSpc>
              <a:spcBef>
                <a:spcPts val="0"/>
              </a:spcBef>
              <a:buSzPts val="1600"/>
            </a:pPr>
            <a:r>
              <a:rPr lang="en-GB" altLang="zh-TW" dirty="0" smtClean="0"/>
              <a:t>Large LN (&gt;3cm)</a:t>
            </a:r>
          </a:p>
          <a:p>
            <a:pPr marL="984250" lvl="1" indent="-457200">
              <a:lnSpc>
                <a:spcPct val="150000"/>
              </a:lnSpc>
              <a:spcBef>
                <a:spcPts val="0"/>
              </a:spcBef>
              <a:buSzPts val="1600"/>
            </a:pPr>
            <a:r>
              <a:rPr lang="en-GB" altLang="zh-TW" dirty="0" smtClean="0"/>
              <a:t>Close neck dissection margin</a:t>
            </a:r>
          </a:p>
          <a:p>
            <a:pPr marL="641350" lvl="0" indent="-514350">
              <a:lnSpc>
                <a:spcPct val="150000"/>
              </a:lnSpc>
              <a:spcBef>
                <a:spcPts val="0"/>
              </a:spcBef>
              <a:buSzPts val="1600"/>
              <a:buAutoNum type="arabicPeriod" startAt="3"/>
            </a:pPr>
            <a:r>
              <a:rPr lang="en-GB" altLang="zh-TW" u="sng" dirty="0" smtClean="0"/>
              <a:t>Melanoma RT </a:t>
            </a:r>
            <a:r>
              <a:rPr lang="zh-TW" altLang="en-US" u="sng" dirty="0" smtClean="0"/>
              <a:t>的角色？</a:t>
            </a:r>
            <a:endParaRPr lang="en-US" altLang="zh-TW" u="sng" dirty="0" smtClean="0"/>
          </a:p>
          <a:p>
            <a:pPr marL="127000" lvl="0" indent="0">
              <a:lnSpc>
                <a:spcPct val="150000"/>
              </a:lnSpc>
              <a:spcBef>
                <a:spcPts val="0"/>
              </a:spcBef>
              <a:buSzPts val="1600"/>
              <a:buNone/>
            </a:pPr>
            <a:r>
              <a:rPr lang="en-US" altLang="zh-TW" dirty="0" smtClean="0"/>
              <a:t> A:  Definitive in medically inoperable and </a:t>
            </a:r>
            <a:r>
              <a:rPr lang="en-US" altLang="zh-TW" dirty="0" err="1" smtClean="0"/>
              <a:t>lentiho</a:t>
            </a:r>
            <a:r>
              <a:rPr lang="en-US" altLang="zh-TW" dirty="0" smtClean="0"/>
              <a:t> </a:t>
            </a:r>
            <a:r>
              <a:rPr lang="en-US" altLang="zh-TW" dirty="0" err="1" smtClean="0"/>
              <a:t>maligna</a:t>
            </a:r>
            <a:r>
              <a:rPr lang="en-US" altLang="zh-TW" dirty="0" smtClean="0"/>
              <a:t> of the face;</a:t>
            </a:r>
          </a:p>
          <a:p>
            <a:pPr marL="127000" lvl="0" indent="0">
              <a:lnSpc>
                <a:spcPct val="150000"/>
              </a:lnSpc>
              <a:spcBef>
                <a:spcPts val="0"/>
              </a:spcBef>
              <a:buSzPts val="1600"/>
              <a:buNone/>
            </a:pPr>
            <a:r>
              <a:rPr lang="en-US" altLang="zh-TW" dirty="0"/>
              <a:t> </a:t>
            </a:r>
            <a:r>
              <a:rPr lang="en-US" altLang="zh-TW" dirty="0" smtClean="0"/>
              <a:t>      Adjuvant in deep </a:t>
            </a:r>
            <a:r>
              <a:rPr lang="en-US" altLang="zh-TW" dirty="0" err="1" smtClean="0"/>
              <a:t>desmoplastic</a:t>
            </a:r>
            <a:r>
              <a:rPr lang="en-US" altLang="zh-TW" dirty="0" smtClean="0"/>
              <a:t> melanoma with narrow margins, recurrence disease, and stage III with ENE(+)</a:t>
            </a:r>
          </a:p>
          <a:p>
            <a:pPr marL="127000" indent="0">
              <a:lnSpc>
                <a:spcPct val="150000"/>
              </a:lnSpc>
              <a:spcBef>
                <a:spcPts val="0"/>
              </a:spcBef>
              <a:buSzPts val="1600"/>
              <a:buNone/>
            </a:pPr>
            <a:endParaRPr lang="en-US" altLang="zh-TW" dirty="0" smtClean="0"/>
          </a:p>
          <a:p>
            <a:pPr marL="127000" indent="0">
              <a:lnSpc>
                <a:spcPct val="150000"/>
              </a:lnSpc>
              <a:spcBef>
                <a:spcPts val="0"/>
              </a:spcBef>
              <a:buSzPts val="1600"/>
              <a:buNone/>
            </a:pPr>
            <a:endParaRPr lang="en-US" altLang="zh-TW" dirty="0"/>
          </a:p>
          <a:p>
            <a:pPr marL="127000" indent="0">
              <a:lnSpc>
                <a:spcPct val="150000"/>
              </a:lnSpc>
              <a:spcBef>
                <a:spcPts val="0"/>
              </a:spcBef>
              <a:buSzPts val="1600"/>
              <a:buNone/>
            </a:pPr>
            <a:endParaRPr lang="en-US" altLang="zh-TW" dirty="0" smtClean="0"/>
          </a:p>
          <a:p>
            <a:pPr marL="457200" lvl="0" indent="-330200">
              <a:lnSpc>
                <a:spcPct val="150000"/>
              </a:lnSpc>
              <a:spcBef>
                <a:spcPts val="0"/>
              </a:spcBef>
              <a:buSzPts val="1600"/>
              <a:buAutoNum type="arabicPeriod"/>
            </a:pPr>
            <a:endParaRPr lang="zh-TW" altLang="en-US" dirty="0" smtClean="0"/>
          </a:p>
        </p:txBody>
      </p:sp>
    </p:spTree>
    <p:extLst>
      <p:ext uri="{BB962C8B-B14F-4D97-AF65-F5344CB8AC3E}">
        <p14:creationId xmlns:p14="http://schemas.microsoft.com/office/powerpoint/2010/main" val="35833015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67544" y="0"/>
            <a:ext cx="8229600" cy="1143000"/>
          </a:xfrm>
        </p:spPr>
        <p:txBody>
          <a:bodyPr>
            <a:normAutofit/>
          </a:bodyPr>
          <a:lstStyle/>
          <a:p>
            <a:pPr algn="l"/>
            <a:r>
              <a:rPr lang="en-US" altLang="zh-TW" b="1" dirty="0" smtClean="0"/>
              <a:t>Benign</a:t>
            </a:r>
            <a:r>
              <a:rPr lang="en-US" altLang="zh-TW" dirty="0" smtClean="0"/>
              <a:t>     2015,2018/</a:t>
            </a:r>
            <a:r>
              <a:rPr lang="zh-TW" altLang="en-US" dirty="0" smtClean="0"/>
              <a:t>吳錦榕</a:t>
            </a:r>
            <a:endParaRPr lang="zh-TW" altLang="en-US" dirty="0"/>
          </a:p>
        </p:txBody>
      </p:sp>
      <p:sp>
        <p:nvSpPr>
          <p:cNvPr id="3" name="內容版面配置區 2"/>
          <p:cNvSpPr>
            <a:spLocks noGrp="1"/>
          </p:cNvSpPr>
          <p:nvPr>
            <p:ph idx="1"/>
          </p:nvPr>
        </p:nvSpPr>
        <p:spPr>
          <a:xfrm>
            <a:off x="457200" y="1196752"/>
            <a:ext cx="8229600" cy="5472608"/>
          </a:xfrm>
        </p:spPr>
        <p:txBody>
          <a:bodyPr>
            <a:normAutofit lnSpcReduction="10000"/>
          </a:bodyPr>
          <a:lstStyle/>
          <a:p>
            <a:pPr marL="457200" lvl="0" indent="-330200">
              <a:lnSpc>
                <a:spcPct val="150000"/>
              </a:lnSpc>
              <a:spcBef>
                <a:spcPts val="0"/>
              </a:spcBef>
              <a:buSzPts val="1600"/>
              <a:buAutoNum type="arabicPeriod"/>
            </a:pPr>
            <a:r>
              <a:rPr lang="en-GB" altLang="zh-TW" sz="2000" u="sng" dirty="0" smtClean="0"/>
              <a:t>Benign disease </a:t>
            </a:r>
            <a:r>
              <a:rPr lang="zh-TW" altLang="en-US" sz="2000" u="sng" dirty="0" smtClean="0"/>
              <a:t>目前 </a:t>
            </a:r>
            <a:r>
              <a:rPr lang="en-GB" altLang="zh-TW" sz="2000" u="sng" dirty="0" smtClean="0"/>
              <a:t>RT </a:t>
            </a:r>
            <a:r>
              <a:rPr lang="zh-TW" altLang="en-US" sz="2000" u="sng" dirty="0" smtClean="0"/>
              <a:t>有什麼角色？</a:t>
            </a:r>
            <a:r>
              <a:rPr lang="en-US" altLang="zh-TW" sz="2000" u="sng" dirty="0" smtClean="0"/>
              <a:t>(</a:t>
            </a:r>
            <a:r>
              <a:rPr lang="zh-TW" altLang="en-US" sz="2000" u="sng" dirty="0" smtClean="0"/>
              <a:t>自由發揮</a:t>
            </a:r>
            <a:r>
              <a:rPr lang="en-US" altLang="zh-TW" sz="2000" u="sng" dirty="0" smtClean="0"/>
              <a:t>), </a:t>
            </a:r>
            <a:r>
              <a:rPr lang="zh-TW" altLang="en-US" sz="2000" u="sng" dirty="0" smtClean="0"/>
              <a:t>你</a:t>
            </a:r>
            <a:r>
              <a:rPr lang="zh-TW" altLang="en-US" sz="2000" u="sng" dirty="0"/>
              <a:t>的實作經驗如何</a:t>
            </a:r>
            <a:r>
              <a:rPr lang="en-US" altLang="zh-TW" sz="2000" u="sng" dirty="0"/>
              <a:t>? </a:t>
            </a:r>
            <a:endParaRPr lang="en-US" altLang="zh-TW" sz="2000" u="sng" dirty="0" smtClean="0"/>
          </a:p>
          <a:p>
            <a:pPr marL="127000" lvl="0" indent="0">
              <a:lnSpc>
                <a:spcPct val="150000"/>
              </a:lnSpc>
              <a:spcBef>
                <a:spcPts val="0"/>
              </a:spcBef>
              <a:buSzPts val="1600"/>
              <a:buNone/>
            </a:pPr>
            <a:r>
              <a:rPr lang="en-US" altLang="zh-TW" sz="2000" dirty="0" smtClean="0"/>
              <a:t>     </a:t>
            </a:r>
            <a:r>
              <a:rPr lang="en-US" altLang="zh-TW" sz="1800" dirty="0" smtClean="0"/>
              <a:t>A:  - Pigmented </a:t>
            </a:r>
            <a:r>
              <a:rPr lang="en-US" altLang="zh-TW" sz="1800" dirty="0" err="1" smtClean="0"/>
              <a:t>Villonodular</a:t>
            </a:r>
            <a:r>
              <a:rPr lang="en-US" altLang="zh-TW" sz="1800" dirty="0" smtClean="0"/>
              <a:t> </a:t>
            </a:r>
            <a:r>
              <a:rPr lang="en-US" altLang="zh-TW" sz="1800" dirty="0" err="1" smtClean="0"/>
              <a:t>Synovitis</a:t>
            </a:r>
            <a:r>
              <a:rPr lang="en-US" altLang="zh-TW" sz="1800" dirty="0" smtClean="0"/>
              <a:t> (PVNS): adjuvant RT (36-50 </a:t>
            </a:r>
            <a:r>
              <a:rPr lang="en-US" altLang="zh-TW" sz="1800" dirty="0" err="1" smtClean="0"/>
              <a:t>Gy</a:t>
            </a:r>
            <a:r>
              <a:rPr lang="en-US" altLang="zh-TW" sz="1800" dirty="0" smtClean="0"/>
              <a:t>) in </a:t>
            </a:r>
            <a:r>
              <a:rPr lang="en-US" altLang="zh-TW" sz="1800" dirty="0" smtClean="0">
                <a:solidFill>
                  <a:srgbClr val="0000FF"/>
                </a:solidFill>
              </a:rPr>
              <a:t>diffuse pattern, bulky or multiple recurrence </a:t>
            </a:r>
            <a:r>
              <a:rPr lang="en-US" altLang="zh-TW" sz="1800" dirty="0" smtClean="0"/>
              <a:t>case.</a:t>
            </a:r>
          </a:p>
          <a:p>
            <a:pPr marL="869950" lvl="1">
              <a:lnSpc>
                <a:spcPct val="150000"/>
              </a:lnSpc>
              <a:spcBef>
                <a:spcPts val="0"/>
              </a:spcBef>
              <a:buSzPts val="1600"/>
            </a:pPr>
            <a:r>
              <a:rPr lang="en-US" altLang="zh-TW" sz="1800" dirty="0" err="1" smtClean="0"/>
              <a:t>Paraganglioma</a:t>
            </a:r>
            <a:r>
              <a:rPr lang="en-US" altLang="zh-TW" sz="1800" dirty="0" smtClean="0"/>
              <a:t>: PORT 50Gy (</a:t>
            </a:r>
            <a:r>
              <a:rPr lang="zh-TW" altLang="en-US" sz="1800" dirty="0" smtClean="0"/>
              <a:t>有遇過</a:t>
            </a:r>
            <a:r>
              <a:rPr lang="en-US" altLang="zh-TW" sz="1800" dirty="0" smtClean="0"/>
              <a:t>carotid body </a:t>
            </a:r>
            <a:r>
              <a:rPr lang="en-US" altLang="zh-TW" sz="1800" dirty="0" err="1" smtClean="0"/>
              <a:t>paraganglioma</a:t>
            </a:r>
            <a:r>
              <a:rPr lang="en-US" altLang="zh-TW" sz="1800" dirty="0" smtClean="0"/>
              <a:t>, </a:t>
            </a:r>
            <a:r>
              <a:rPr lang="zh-TW" altLang="en-US" sz="1800" dirty="0" smtClean="0"/>
              <a:t>當時</a:t>
            </a:r>
            <a:r>
              <a:rPr lang="en-US" altLang="zh-TW" sz="1800" dirty="0" smtClean="0"/>
              <a:t>definitive RT 54Gy)</a:t>
            </a:r>
          </a:p>
          <a:p>
            <a:pPr marL="869950" lvl="1">
              <a:lnSpc>
                <a:spcPct val="150000"/>
              </a:lnSpc>
              <a:spcBef>
                <a:spcPts val="0"/>
              </a:spcBef>
              <a:buSzPts val="1600"/>
            </a:pPr>
            <a:r>
              <a:rPr lang="en-US" altLang="zh-TW" sz="1800" dirty="0" smtClean="0"/>
              <a:t>Keloids/Hypertrophic scars: 12-20Gy/3-4Fx or 7.5-10Gy/</a:t>
            </a:r>
            <a:r>
              <a:rPr lang="en-US" altLang="zh-TW" sz="1800" dirty="0" err="1" smtClean="0"/>
              <a:t>Fx</a:t>
            </a:r>
            <a:r>
              <a:rPr lang="en-US" altLang="zh-TW" sz="1800" dirty="0" smtClean="0"/>
              <a:t>, </a:t>
            </a:r>
            <a:r>
              <a:rPr lang="zh-TW" altLang="en-US" sz="1800" b="1" dirty="0" smtClean="0"/>
              <a:t>術後</a:t>
            </a:r>
            <a:r>
              <a:rPr lang="en-US" altLang="zh-TW" sz="1800" b="1" dirty="0" smtClean="0"/>
              <a:t>24hrs</a:t>
            </a:r>
            <a:r>
              <a:rPr lang="zh-TW" altLang="en-US" sz="1800" b="1" dirty="0" smtClean="0"/>
              <a:t>內</a:t>
            </a:r>
            <a:r>
              <a:rPr lang="en-US" altLang="zh-TW" sz="1800" b="1" dirty="0" smtClean="0"/>
              <a:t>RT</a:t>
            </a:r>
            <a:r>
              <a:rPr lang="en-US" altLang="zh-TW" sz="1800" dirty="0" smtClean="0"/>
              <a:t>    </a:t>
            </a:r>
          </a:p>
          <a:p>
            <a:pPr marL="869950" lvl="1">
              <a:lnSpc>
                <a:spcPct val="150000"/>
              </a:lnSpc>
              <a:spcBef>
                <a:spcPts val="0"/>
              </a:spcBef>
              <a:buSzPts val="1600"/>
            </a:pPr>
            <a:r>
              <a:rPr lang="en-US" altLang="zh-TW" sz="1800" dirty="0" smtClean="0"/>
              <a:t>Pituitary adenoma: SRS 20Gy</a:t>
            </a:r>
          </a:p>
          <a:p>
            <a:pPr marL="869950" lvl="1">
              <a:lnSpc>
                <a:spcPct val="150000"/>
              </a:lnSpc>
              <a:spcBef>
                <a:spcPts val="0"/>
              </a:spcBef>
              <a:buSzPts val="1600"/>
            </a:pPr>
            <a:r>
              <a:rPr lang="en-US" altLang="zh-TW" sz="1800" dirty="0" smtClean="0"/>
              <a:t>AVM: SRS 22Gy to 50% IDL</a:t>
            </a:r>
          </a:p>
          <a:p>
            <a:pPr marL="127000" indent="0">
              <a:lnSpc>
                <a:spcPct val="150000"/>
              </a:lnSpc>
              <a:spcBef>
                <a:spcPts val="0"/>
              </a:spcBef>
              <a:buSzPts val="1600"/>
              <a:buNone/>
            </a:pPr>
            <a:r>
              <a:rPr lang="zh-TW" altLang="en-US" sz="2000" dirty="0" smtClean="0"/>
              <a:t>       </a:t>
            </a:r>
            <a:r>
              <a:rPr lang="zh-TW" altLang="en-US" sz="2000" u="sng" dirty="0" smtClean="0"/>
              <a:t>有</a:t>
            </a:r>
            <a:r>
              <a:rPr lang="zh-TW" altLang="en-US" sz="2000" u="sng" dirty="0"/>
              <a:t>沒有治療過</a:t>
            </a:r>
            <a:r>
              <a:rPr lang="en-US" altLang="zh-TW" sz="2000" u="sng" dirty="0"/>
              <a:t>benign disease</a:t>
            </a:r>
            <a:r>
              <a:rPr lang="zh-TW" altLang="en-US" sz="2000" u="sng" dirty="0"/>
              <a:t>，說明一下</a:t>
            </a:r>
            <a:r>
              <a:rPr lang="zh-TW" altLang="en-US" sz="2000" dirty="0" smtClean="0"/>
              <a:t>。</a:t>
            </a:r>
            <a:endParaRPr lang="en-US" altLang="zh-TW" sz="2000" dirty="0" smtClean="0"/>
          </a:p>
          <a:p>
            <a:pPr marL="127000" indent="0">
              <a:lnSpc>
                <a:spcPct val="150000"/>
              </a:lnSpc>
              <a:spcBef>
                <a:spcPts val="0"/>
              </a:spcBef>
              <a:buSzPts val="1600"/>
              <a:buNone/>
            </a:pPr>
            <a:r>
              <a:rPr lang="en-US" altLang="zh-TW" sz="2000" dirty="0"/>
              <a:t> </a:t>
            </a:r>
            <a:r>
              <a:rPr lang="en-US" altLang="zh-TW" sz="2000" dirty="0" smtClean="0"/>
              <a:t>   A: </a:t>
            </a:r>
            <a:r>
              <a:rPr lang="en-US" altLang="zh-TW" sz="2000" dirty="0" err="1" smtClean="0"/>
              <a:t>Tx</a:t>
            </a:r>
            <a:r>
              <a:rPr lang="en-US" altLang="zh-TW" sz="2000" dirty="0" smtClean="0"/>
              <a:t> of Keloid</a:t>
            </a:r>
            <a:r>
              <a:rPr lang="en-US" altLang="zh-TW" sz="2000" dirty="0"/>
              <a:t>: </a:t>
            </a:r>
            <a:r>
              <a:rPr lang="en-US" altLang="zh-TW" sz="2000" dirty="0" smtClean="0"/>
              <a:t>surgery, RT, steroid injection, </a:t>
            </a:r>
            <a:r>
              <a:rPr lang="en-US" altLang="zh-TW" sz="2000" dirty="0" err="1" smtClean="0"/>
              <a:t>cryotherapy</a:t>
            </a:r>
            <a:r>
              <a:rPr lang="en-US" altLang="zh-TW" sz="2000" dirty="0" smtClean="0"/>
              <a:t>, laser…</a:t>
            </a:r>
          </a:p>
          <a:p>
            <a:pPr marL="812800" lvl="1">
              <a:lnSpc>
                <a:spcPct val="150000"/>
              </a:lnSpc>
              <a:spcBef>
                <a:spcPts val="0"/>
              </a:spcBef>
              <a:buSzPts val="1600"/>
            </a:pPr>
            <a:r>
              <a:rPr lang="en-US" altLang="zh-TW" sz="1600" dirty="0"/>
              <a:t>S</a:t>
            </a:r>
            <a:r>
              <a:rPr lang="en-US" altLang="zh-TW" sz="1600" dirty="0" smtClean="0"/>
              <a:t>teroid </a:t>
            </a:r>
            <a:r>
              <a:rPr lang="en-US" altLang="zh-TW" sz="1600" dirty="0"/>
              <a:t>control </a:t>
            </a:r>
            <a:r>
              <a:rPr lang="en-US" altLang="zh-TW" sz="1600" dirty="0" smtClean="0"/>
              <a:t>rate: 60%/ RT </a:t>
            </a:r>
            <a:r>
              <a:rPr lang="en-US" altLang="zh-TW" sz="1600" dirty="0"/>
              <a:t>control rate: </a:t>
            </a:r>
            <a:r>
              <a:rPr lang="en-US" altLang="zh-TW" sz="1600" dirty="0" smtClean="0"/>
              <a:t>65-90%</a:t>
            </a:r>
          </a:p>
          <a:p>
            <a:pPr marL="812800" lvl="1">
              <a:lnSpc>
                <a:spcPct val="150000"/>
              </a:lnSpc>
              <a:spcBef>
                <a:spcPts val="0"/>
              </a:spcBef>
              <a:buSzPts val="1600"/>
            </a:pPr>
            <a:r>
              <a:rPr lang="en-US" altLang="zh-TW" sz="1600" dirty="0" smtClean="0"/>
              <a:t>post-op </a:t>
            </a:r>
            <a:r>
              <a:rPr lang="en-US" altLang="zh-TW" sz="1600" dirty="0"/>
              <a:t>RT </a:t>
            </a:r>
            <a:r>
              <a:rPr lang="en-US" altLang="zh-TW" sz="1600" dirty="0" smtClean="0"/>
              <a:t>timing: within 24hrs</a:t>
            </a:r>
          </a:p>
          <a:p>
            <a:pPr marL="812800" lvl="1">
              <a:lnSpc>
                <a:spcPct val="150000"/>
              </a:lnSpc>
              <a:spcBef>
                <a:spcPts val="0"/>
              </a:spcBef>
              <a:buSzPts val="1600"/>
            </a:pPr>
            <a:r>
              <a:rPr lang="en-US" altLang="zh-TW" sz="1600" dirty="0" err="1" smtClean="0"/>
              <a:t>QoL</a:t>
            </a:r>
            <a:r>
              <a:rPr lang="en-US" altLang="zh-TW" sz="1600" dirty="0" smtClean="0"/>
              <a:t> improved, but RT side effect includes: hyperpigmentation, </a:t>
            </a:r>
            <a:r>
              <a:rPr lang="en-US" altLang="zh-TW" sz="1600" dirty="0" err="1" smtClean="0"/>
              <a:t>pruritis</a:t>
            </a:r>
            <a:r>
              <a:rPr lang="en-US" altLang="zh-TW" sz="1600" dirty="0" smtClean="0"/>
              <a:t> and erythema </a:t>
            </a:r>
            <a:r>
              <a:rPr lang="zh-TW" altLang="en-US" sz="1600" dirty="0" smtClean="0"/>
              <a:t>。 </a:t>
            </a:r>
            <a:endParaRPr lang="zh-TW" altLang="en-US" sz="1600" dirty="0"/>
          </a:p>
          <a:p>
            <a:pPr marL="457200" lvl="0" indent="-330200">
              <a:lnSpc>
                <a:spcPct val="150000"/>
              </a:lnSpc>
              <a:spcBef>
                <a:spcPts val="0"/>
              </a:spcBef>
              <a:buSzPts val="1600"/>
              <a:buAutoNum type="arabicPeriod"/>
            </a:pPr>
            <a:endParaRPr lang="en-US" altLang="zh-TW" dirty="0"/>
          </a:p>
          <a:p>
            <a:pPr marL="457200" lvl="0" indent="-330200">
              <a:lnSpc>
                <a:spcPct val="150000"/>
              </a:lnSpc>
              <a:spcBef>
                <a:spcPts val="0"/>
              </a:spcBef>
              <a:buSzPts val="1600"/>
              <a:buAutoNum type="arabicPeriod"/>
            </a:pPr>
            <a:endParaRPr lang="zh-TW" altLang="en-US" dirty="0" smtClean="0"/>
          </a:p>
        </p:txBody>
      </p:sp>
    </p:spTree>
    <p:extLst>
      <p:ext uri="{BB962C8B-B14F-4D97-AF65-F5344CB8AC3E}">
        <p14:creationId xmlns:p14="http://schemas.microsoft.com/office/powerpoint/2010/main" val="31256627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67544" y="12170"/>
            <a:ext cx="8229600" cy="968558"/>
          </a:xfrm>
        </p:spPr>
        <p:txBody>
          <a:bodyPr/>
          <a:lstStyle/>
          <a:p>
            <a:pPr algn="l"/>
            <a:r>
              <a:rPr lang="en-US" altLang="zh-TW" b="1" dirty="0" smtClean="0"/>
              <a:t>Palliation</a:t>
            </a:r>
            <a:r>
              <a:rPr lang="en-US" altLang="zh-TW" dirty="0" smtClean="0"/>
              <a:t>    2015,2018/</a:t>
            </a:r>
            <a:r>
              <a:rPr lang="zh-TW" altLang="en-US" dirty="0" smtClean="0"/>
              <a:t>吳錦榕</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457200" y="908720"/>
                <a:ext cx="8229600" cy="6480720"/>
              </a:xfrm>
            </p:spPr>
            <p:txBody>
              <a:bodyPr>
                <a:normAutofit fontScale="47500" lnSpcReduction="20000"/>
              </a:bodyPr>
              <a:lstStyle/>
              <a:p>
                <a:pPr marL="127000" lvl="0" indent="0">
                  <a:lnSpc>
                    <a:spcPct val="150000"/>
                  </a:lnSpc>
                  <a:spcBef>
                    <a:spcPts val="0"/>
                  </a:spcBef>
                  <a:buSzPts val="1600"/>
                  <a:buNone/>
                </a:pPr>
                <a:r>
                  <a:rPr lang="en-GB" altLang="zh-TW" sz="2900" dirty="0" smtClean="0"/>
                  <a:t>2018</a:t>
                </a:r>
              </a:p>
              <a:p>
                <a:pPr marL="457200" lvl="0" indent="-330200">
                  <a:lnSpc>
                    <a:spcPct val="150000"/>
                  </a:lnSpc>
                  <a:spcBef>
                    <a:spcPts val="0"/>
                  </a:spcBef>
                  <a:buSzPts val="1600"/>
                  <a:buAutoNum type="arabicPeriod"/>
                </a:pPr>
                <a:r>
                  <a:rPr lang="en-GB" altLang="zh-TW" sz="2900" u="sng" dirty="0" smtClean="0"/>
                  <a:t>Palliation </a:t>
                </a:r>
                <a:r>
                  <a:rPr lang="zh-TW" altLang="en-US" sz="2900" u="sng" dirty="0" smtClean="0"/>
                  <a:t>目前 </a:t>
                </a:r>
                <a:r>
                  <a:rPr lang="en-GB" altLang="zh-TW" sz="2900" u="sng" dirty="0" smtClean="0"/>
                  <a:t>RT </a:t>
                </a:r>
                <a:r>
                  <a:rPr lang="zh-TW" altLang="en-US" sz="2900" u="sng" dirty="0" smtClean="0"/>
                  <a:t>有什麼角色？ </a:t>
                </a:r>
                <a:endParaRPr lang="en-US" altLang="zh-TW" sz="2900" u="sng" dirty="0" smtClean="0"/>
              </a:p>
              <a:p>
                <a:pPr marL="127000" indent="0">
                  <a:lnSpc>
                    <a:spcPct val="150000"/>
                  </a:lnSpc>
                  <a:spcBef>
                    <a:spcPts val="0"/>
                  </a:spcBef>
                  <a:buSzPts val="1600"/>
                  <a:buNone/>
                </a:pPr>
                <a:r>
                  <a:rPr lang="en-US" altLang="zh-TW" sz="2900" dirty="0"/>
                  <a:t> </a:t>
                </a:r>
                <a:r>
                  <a:rPr lang="en-US" altLang="zh-TW" sz="2900" dirty="0" smtClean="0"/>
                  <a:t>   A: </a:t>
                </a:r>
                <a:r>
                  <a:rPr lang="en-US" altLang="zh-TW" sz="2900" dirty="0"/>
                  <a:t>(</a:t>
                </a:r>
                <a:r>
                  <a:rPr lang="zh-TW" altLang="en-US" sz="2900" dirty="0"/>
                  <a:t>自由發揮</a:t>
                </a:r>
                <a:r>
                  <a:rPr lang="en-US" altLang="zh-TW" sz="2900" dirty="0" smtClean="0"/>
                  <a:t>)</a:t>
                </a:r>
              </a:p>
              <a:p>
                <a:pPr marL="984250" lvl="1" indent="-457200">
                  <a:lnSpc>
                    <a:spcPct val="150000"/>
                  </a:lnSpc>
                  <a:spcBef>
                    <a:spcPts val="0"/>
                  </a:spcBef>
                  <a:buSzPts val="1600"/>
                  <a:buFont typeface="+mj-lt"/>
                  <a:buAutoNum type="arabicPeriod"/>
                </a:pPr>
                <a:r>
                  <a:rPr lang="en-US" altLang="zh-TW" sz="2500" dirty="0" smtClean="0"/>
                  <a:t>Brain </a:t>
                </a:r>
                <a:r>
                  <a:rPr lang="en-US" altLang="zh-TW" sz="2500" dirty="0" err="1" smtClean="0"/>
                  <a:t>mets</a:t>
                </a:r>
                <a:endParaRPr lang="en-US" altLang="zh-TW" sz="2500" dirty="0" smtClean="0"/>
              </a:p>
              <a:p>
                <a:pPr marL="1270000" lvl="2" indent="-342900">
                  <a:lnSpc>
                    <a:spcPct val="150000"/>
                  </a:lnSpc>
                  <a:spcBef>
                    <a:spcPts val="0"/>
                  </a:spcBef>
                  <a:buSzPts val="1600"/>
                </a:pPr>
                <a:r>
                  <a:rPr lang="en-US" altLang="zh-TW" sz="2500" dirty="0" smtClean="0"/>
                  <a:t>Most common from: </a:t>
                </a:r>
                <a:r>
                  <a:rPr lang="en-US" altLang="zh-TW" sz="2500" b="1" dirty="0" smtClean="0"/>
                  <a:t>lung(40-50%) </a:t>
                </a:r>
                <a:r>
                  <a:rPr lang="en-US" altLang="zh-TW" sz="2500" dirty="0" smtClean="0"/>
                  <a:t>&gt; breast(15%) &gt; melanoma(10%)</a:t>
                </a:r>
              </a:p>
              <a:p>
                <a:pPr marL="1270000" lvl="2" indent="-342900">
                  <a:lnSpc>
                    <a:spcPct val="150000"/>
                  </a:lnSpc>
                  <a:spcBef>
                    <a:spcPts val="0"/>
                  </a:spcBef>
                  <a:buSzPts val="1600"/>
                </a:pPr>
                <a:r>
                  <a:rPr lang="en-US" altLang="zh-TW" sz="2500" b="1" dirty="0" smtClean="0"/>
                  <a:t>Median survival </a:t>
                </a:r>
                <a:r>
                  <a:rPr lang="en-US" altLang="zh-TW" sz="2500" dirty="0" smtClean="0"/>
                  <a:t>according to RTOG brain met RPA </a:t>
                </a:r>
                <a14:m>
                  <m:oMath xmlns:m="http://schemas.openxmlformats.org/officeDocument/2006/math">
                    <m:r>
                      <a:rPr lang="en-US" altLang="zh-TW" sz="2500" b="1" i="1" smtClean="0">
                        <a:latin typeface="Cambria Math"/>
                        <a:ea typeface="Cambria Math"/>
                      </a:rPr>
                      <m:t>≤</m:t>
                    </m:r>
                  </m:oMath>
                </a14:m>
                <a:r>
                  <a:rPr lang="en-US" altLang="zh-TW" sz="2500" b="1" dirty="0" smtClean="0"/>
                  <a:t> 7 months </a:t>
                </a:r>
                <a:r>
                  <a:rPr lang="en-US" altLang="zh-TW" sz="2500" dirty="0" smtClean="0"/>
                  <a:t>(</a:t>
                </a:r>
                <a:r>
                  <a:rPr lang="zh-TW" altLang="en-US" sz="2500" dirty="0" smtClean="0"/>
                  <a:t>上表</a:t>
                </a:r>
                <a:r>
                  <a:rPr lang="en-US" altLang="zh-TW" sz="2500" dirty="0" smtClean="0"/>
                  <a:t>)</a:t>
                </a:r>
              </a:p>
              <a:p>
                <a:pPr marL="1270000" lvl="2" indent="-342900">
                  <a:lnSpc>
                    <a:spcPct val="150000"/>
                  </a:lnSpc>
                  <a:spcBef>
                    <a:spcPts val="0"/>
                  </a:spcBef>
                  <a:buSzPts val="1600"/>
                </a:pPr>
                <a:r>
                  <a:rPr lang="en-US" altLang="zh-TW" sz="2500" dirty="0" smtClean="0"/>
                  <a:t>Most common WBRT dose: </a:t>
                </a:r>
                <a:r>
                  <a:rPr lang="en-US" altLang="zh-TW" sz="2500" b="1" dirty="0" smtClean="0"/>
                  <a:t>30 </a:t>
                </a:r>
                <a:r>
                  <a:rPr lang="en-US" altLang="zh-TW" sz="2500" b="1" dirty="0" err="1" smtClean="0"/>
                  <a:t>Gy</a:t>
                </a:r>
                <a:r>
                  <a:rPr lang="en-US" altLang="zh-TW" sz="2500" b="1" dirty="0" smtClean="0"/>
                  <a:t>/10Fx</a:t>
                </a:r>
                <a:r>
                  <a:rPr lang="en-US" altLang="zh-TW" sz="2500" dirty="0" smtClean="0"/>
                  <a:t>; 37.5Gy/15, 40 </a:t>
                </a:r>
                <a:r>
                  <a:rPr lang="en-US" altLang="zh-TW" sz="2500" dirty="0" err="1" smtClean="0"/>
                  <a:t>Gy</a:t>
                </a:r>
                <a:r>
                  <a:rPr lang="en-US" altLang="zh-TW" sz="2500" dirty="0" smtClean="0"/>
                  <a:t>/20 for good KPS &amp; longer life expectancy</a:t>
                </a:r>
              </a:p>
              <a:p>
                <a:pPr marL="1270000" lvl="2" indent="-342900">
                  <a:lnSpc>
                    <a:spcPct val="150000"/>
                  </a:lnSpc>
                  <a:spcBef>
                    <a:spcPts val="0"/>
                  </a:spcBef>
                  <a:buSzPts val="1600"/>
                </a:pPr>
                <a:r>
                  <a:rPr lang="en-US" altLang="zh-TW" sz="2500" dirty="0" smtClean="0"/>
                  <a:t>RTOG 9508 (SRS boost): </a:t>
                </a:r>
                <a:r>
                  <a:rPr lang="en-US" altLang="zh-TW" sz="2500" b="1" dirty="0" smtClean="0"/>
                  <a:t>WBRT+SRS</a:t>
                </a:r>
                <a:r>
                  <a:rPr lang="zh-TW" altLang="en-US" sz="2500" b="1" dirty="0" smtClean="0"/>
                  <a:t> ↑</a:t>
                </a:r>
                <a:r>
                  <a:rPr lang="en-US" altLang="zh-TW" sz="2500" b="1" dirty="0" smtClean="0"/>
                  <a:t>MS </a:t>
                </a:r>
                <a:r>
                  <a:rPr lang="en-US" altLang="zh-TW" sz="2500" dirty="0" smtClean="0"/>
                  <a:t>in </a:t>
                </a:r>
                <a:r>
                  <a:rPr lang="en-US" altLang="zh-TW" sz="2500" dirty="0" err="1" smtClean="0"/>
                  <a:t>p’t</a:t>
                </a:r>
                <a:r>
                  <a:rPr lang="en-US" altLang="zh-TW" sz="2500" dirty="0" smtClean="0"/>
                  <a:t> with single brain met/RPA class I/lung cancer primary</a:t>
                </a:r>
              </a:p>
              <a:p>
                <a:pPr marL="984250" lvl="1" indent="-457200">
                  <a:lnSpc>
                    <a:spcPct val="150000"/>
                  </a:lnSpc>
                  <a:spcBef>
                    <a:spcPts val="0"/>
                  </a:spcBef>
                  <a:buSzPts val="1600"/>
                  <a:buFont typeface="+mj-lt"/>
                  <a:buAutoNum type="arabicPeriod"/>
                </a:pPr>
                <a:r>
                  <a:rPr lang="en-US" altLang="zh-TW" sz="2500" dirty="0" smtClean="0"/>
                  <a:t>Bone </a:t>
                </a:r>
                <a:r>
                  <a:rPr lang="en-US" altLang="zh-TW" sz="2500" dirty="0" err="1" smtClean="0"/>
                  <a:t>mets</a:t>
                </a:r>
                <a:endParaRPr lang="en-US" altLang="zh-TW" sz="2500" dirty="0" smtClean="0"/>
              </a:p>
              <a:p>
                <a:pPr marL="1384300" lvl="2" indent="-457200">
                  <a:lnSpc>
                    <a:spcPct val="150000"/>
                  </a:lnSpc>
                  <a:spcBef>
                    <a:spcPts val="0"/>
                  </a:spcBef>
                  <a:buSzPts val="1600"/>
                </a:pPr>
                <a:r>
                  <a:rPr lang="en-US" altLang="zh-TW" sz="2500" dirty="0" smtClean="0"/>
                  <a:t>RT is effective at pain relief in </a:t>
                </a:r>
                <a:r>
                  <a:rPr lang="en-US" altLang="zh-TW" sz="2500" b="1" dirty="0" smtClean="0"/>
                  <a:t>2/3</a:t>
                </a:r>
                <a:r>
                  <a:rPr lang="en-US" altLang="zh-TW" sz="2500" dirty="0" smtClean="0"/>
                  <a:t>; 1/3 eventual CR of pain; median time to pain response is about </a:t>
                </a:r>
                <a:r>
                  <a:rPr lang="en-US" altLang="zh-TW" sz="2500" b="1" dirty="0" smtClean="0"/>
                  <a:t>3 weeks</a:t>
                </a:r>
              </a:p>
              <a:p>
                <a:pPr marL="1384300" lvl="2" indent="-457200">
                  <a:lnSpc>
                    <a:spcPct val="150000"/>
                  </a:lnSpc>
                  <a:spcBef>
                    <a:spcPts val="0"/>
                  </a:spcBef>
                  <a:buSzPts val="1600"/>
                </a:pPr>
                <a:r>
                  <a:rPr lang="en-US" altLang="zh-TW" sz="2500" dirty="0" smtClean="0"/>
                  <a:t>Commonly used regimens: 8Gy/1, 20Gy/5, 30Gy/10</a:t>
                </a:r>
              </a:p>
              <a:p>
                <a:pPr marL="1384300" lvl="2" indent="-457200">
                  <a:lnSpc>
                    <a:spcPct val="150000"/>
                  </a:lnSpc>
                  <a:spcBef>
                    <a:spcPts val="0"/>
                  </a:spcBef>
                  <a:buSzPts val="1600"/>
                </a:pPr>
                <a:r>
                  <a:rPr lang="en-US" altLang="zh-TW" sz="2500" dirty="0" smtClean="0"/>
                  <a:t>Based on Dutch Bone Metastasis Study, RTOG 9714 and Toronto </a:t>
                </a:r>
                <a:r>
                  <a:rPr lang="en-US" altLang="zh-TW" sz="2500" dirty="0" err="1" smtClean="0"/>
                  <a:t>metaanalysis</a:t>
                </a:r>
                <a:r>
                  <a:rPr lang="en-US" altLang="zh-TW" sz="2500" dirty="0" smtClean="0"/>
                  <a:t>: there is no difference in pain control  b/t single and multi-fractionation regimens for uncomplicated bone </a:t>
                </a:r>
                <a:r>
                  <a:rPr lang="en-US" altLang="zh-TW" sz="2500" dirty="0" err="1" smtClean="0"/>
                  <a:t>mets</a:t>
                </a:r>
                <a:r>
                  <a:rPr lang="en-US" altLang="zh-TW" sz="2500" dirty="0" smtClean="0"/>
                  <a:t>*. But re-</a:t>
                </a:r>
                <a:r>
                  <a:rPr lang="en-US" altLang="zh-TW" sz="2500" dirty="0" err="1" smtClean="0"/>
                  <a:t>Tx</a:t>
                </a:r>
                <a:r>
                  <a:rPr lang="en-US" altLang="zh-TW" sz="2500" dirty="0" smtClean="0"/>
                  <a:t> was more common with single-</a:t>
                </a:r>
                <a:r>
                  <a:rPr lang="en-US" altLang="zh-TW" sz="2500" dirty="0" err="1" smtClean="0"/>
                  <a:t>fx</a:t>
                </a:r>
                <a:r>
                  <a:rPr lang="en-US" altLang="zh-TW" sz="2500" dirty="0" smtClean="0"/>
                  <a:t> </a:t>
                </a:r>
                <a:r>
                  <a:rPr lang="en-US" altLang="zh-TW" sz="2500" dirty="0" err="1" smtClean="0"/>
                  <a:t>Tx</a:t>
                </a:r>
                <a:r>
                  <a:rPr lang="en-US" altLang="zh-TW" sz="2500" dirty="0" smtClean="0"/>
                  <a:t>.</a:t>
                </a:r>
              </a:p>
              <a:p>
                <a:pPr marL="927100" lvl="2" indent="0">
                  <a:lnSpc>
                    <a:spcPct val="150000"/>
                  </a:lnSpc>
                  <a:spcBef>
                    <a:spcPts val="0"/>
                  </a:spcBef>
                  <a:buSzPts val="1600"/>
                  <a:buNone/>
                </a:pPr>
                <a:r>
                  <a:rPr lang="en-US" altLang="zh-TW" sz="2500" dirty="0" smtClean="0"/>
                  <a:t>*</a:t>
                </a:r>
                <a:r>
                  <a:rPr lang="en-US" altLang="zh-TW" sz="2500" dirty="0"/>
                  <a:t>Complicated bone metastasis: fracture, cord compression, previous </a:t>
                </a:r>
                <a:r>
                  <a:rPr lang="en-US" altLang="zh-TW" sz="2500" dirty="0" smtClean="0"/>
                  <a:t>RT</a:t>
                </a:r>
              </a:p>
              <a:p>
                <a:pPr marL="984250" lvl="1" indent="-457200">
                  <a:lnSpc>
                    <a:spcPct val="150000"/>
                  </a:lnSpc>
                  <a:spcBef>
                    <a:spcPts val="0"/>
                  </a:spcBef>
                  <a:buSzPts val="1600"/>
                  <a:buFont typeface="+mj-lt"/>
                  <a:buAutoNum type="arabicPeriod"/>
                </a:pPr>
                <a:r>
                  <a:rPr lang="en-US" altLang="zh-TW" sz="2500" dirty="0" smtClean="0"/>
                  <a:t>Cord compression – oncology emergency</a:t>
                </a:r>
              </a:p>
              <a:p>
                <a:pPr marL="1384300" lvl="2" indent="-457200">
                  <a:lnSpc>
                    <a:spcPct val="150000"/>
                  </a:lnSpc>
                  <a:spcBef>
                    <a:spcPts val="0"/>
                  </a:spcBef>
                  <a:buSzPts val="1600"/>
                </a:pPr>
                <a14:m>
                  <m:oMath xmlns:m="http://schemas.openxmlformats.org/officeDocument/2006/math">
                    <m:r>
                      <a:rPr lang="en-US" altLang="zh-TW" sz="2500" i="1" smtClean="0">
                        <a:latin typeface="Cambria Math"/>
                        <a:ea typeface="Cambria Math"/>
                      </a:rPr>
                      <m:t>±</m:t>
                    </m:r>
                  </m:oMath>
                </a14:m>
                <a:r>
                  <a:rPr lang="en-US" altLang="zh-TW" sz="2500" dirty="0" smtClean="0"/>
                  <a:t> surgery -&gt; RT: 30Gy/10  (20Gy/10  may be used in radiosensitive tumor </a:t>
                </a:r>
                <a:r>
                  <a:rPr lang="en-US" altLang="zh-TW" sz="2500" dirty="0" err="1" smtClean="0"/>
                  <a:t>eg</a:t>
                </a:r>
                <a:r>
                  <a:rPr lang="en-US" altLang="zh-TW" sz="2500" dirty="0" smtClean="0"/>
                  <a:t>. MM)</a:t>
                </a:r>
              </a:p>
              <a:p>
                <a:pPr marL="1384300" lvl="2" indent="-457200">
                  <a:lnSpc>
                    <a:spcPct val="150000"/>
                  </a:lnSpc>
                  <a:spcBef>
                    <a:spcPts val="0"/>
                  </a:spcBef>
                  <a:buSzPts val="1600"/>
                </a:pPr>
                <a:r>
                  <a:rPr lang="en-US" altLang="zh-TW" sz="2500" dirty="0" smtClean="0"/>
                  <a:t>Goal is palliation of pain and LC for prevention  or reduction of neurologic deficit</a:t>
                </a:r>
              </a:p>
              <a:p>
                <a:pPr marL="1841500" lvl="3" indent="-457200">
                  <a:lnSpc>
                    <a:spcPct val="150000"/>
                  </a:lnSpc>
                  <a:spcBef>
                    <a:spcPts val="0"/>
                  </a:spcBef>
                  <a:buSzPts val="1600"/>
                </a:pPr>
                <a:r>
                  <a:rPr lang="en-US" altLang="zh-TW" sz="2500" dirty="0" smtClean="0"/>
                  <a:t>70% improved in pain; LC &gt;75%</a:t>
                </a:r>
              </a:p>
              <a:p>
                <a:pPr marL="1384300" lvl="2" indent="-457200">
                  <a:lnSpc>
                    <a:spcPct val="150000"/>
                  </a:lnSpc>
                  <a:spcBef>
                    <a:spcPts val="0"/>
                  </a:spcBef>
                  <a:buSzPts val="1600"/>
                </a:pPr>
                <a:r>
                  <a:rPr lang="en-US" altLang="zh-TW" sz="2500" dirty="0" smtClean="0"/>
                  <a:t>Re-</a:t>
                </a:r>
                <a:r>
                  <a:rPr lang="en-US" altLang="zh-TW" sz="2500" dirty="0" err="1" smtClean="0"/>
                  <a:t>Tx</a:t>
                </a:r>
                <a:r>
                  <a:rPr lang="en-US" altLang="zh-TW" sz="2500" dirty="0" smtClean="0"/>
                  <a:t> dose: 20Gy/10</a:t>
                </a:r>
              </a:p>
              <a:p>
                <a:pPr marL="984250" lvl="1" indent="-457200">
                  <a:lnSpc>
                    <a:spcPct val="150000"/>
                  </a:lnSpc>
                  <a:spcBef>
                    <a:spcPts val="0"/>
                  </a:spcBef>
                  <a:buSzPts val="1600"/>
                  <a:buFont typeface="+mj-lt"/>
                  <a:buAutoNum type="arabicPeriod"/>
                </a:pPr>
                <a:r>
                  <a:rPr lang="en-US" altLang="zh-TW" sz="2500" dirty="0" smtClean="0"/>
                  <a:t>SVC syndrome</a:t>
                </a:r>
              </a:p>
              <a:p>
                <a:pPr marL="1384300" lvl="2" indent="-457200">
                  <a:lnSpc>
                    <a:spcPct val="150000"/>
                  </a:lnSpc>
                  <a:spcBef>
                    <a:spcPts val="0"/>
                  </a:spcBef>
                  <a:buSzPts val="1600"/>
                </a:pPr>
                <a:r>
                  <a:rPr lang="zh-TW" altLang="en-US" sz="2500" dirty="0" smtClean="0"/>
                  <a:t>最常見於</a:t>
                </a:r>
                <a:r>
                  <a:rPr lang="en-US" altLang="zh-TW" sz="2500" dirty="0" smtClean="0"/>
                  <a:t>NSCLC, SCLC and lymphoma</a:t>
                </a:r>
              </a:p>
              <a:p>
                <a:pPr marL="1384300" lvl="2" indent="-457200">
                  <a:lnSpc>
                    <a:spcPct val="150000"/>
                  </a:lnSpc>
                  <a:spcBef>
                    <a:spcPts val="0"/>
                  </a:spcBef>
                  <a:buSzPts val="1600"/>
                </a:pPr>
                <a:r>
                  <a:rPr lang="en-US" altLang="zh-TW" sz="2500" dirty="0" smtClean="0"/>
                  <a:t>60-80% respond to C/T or RT within 2 weeks</a:t>
                </a:r>
              </a:p>
              <a:p>
                <a:pPr marL="1384300" lvl="2" indent="-457200">
                  <a:lnSpc>
                    <a:spcPct val="150000"/>
                  </a:lnSpc>
                  <a:spcBef>
                    <a:spcPts val="0"/>
                  </a:spcBef>
                  <a:buSzPts val="1600"/>
                </a:pPr>
                <a:r>
                  <a:rPr lang="en-US" altLang="zh-TW" sz="2500" b="1" dirty="0" smtClean="0"/>
                  <a:t>30Gy/10</a:t>
                </a:r>
                <a:r>
                  <a:rPr lang="en-US" altLang="zh-TW" sz="2500" dirty="0" smtClean="0"/>
                  <a:t>, urgent case may use large fractionation up front </a:t>
                </a:r>
                <a:r>
                  <a:rPr lang="en-US" altLang="zh-TW" sz="2500" b="1" dirty="0" smtClean="0"/>
                  <a:t>(3-4Gy/</a:t>
                </a:r>
                <a:r>
                  <a:rPr lang="en-US" altLang="zh-TW" sz="2500" b="1" dirty="0" err="1" smtClean="0"/>
                  <a:t>fx</a:t>
                </a:r>
                <a:r>
                  <a:rPr lang="en-US" altLang="zh-TW" sz="2500" b="1" dirty="0" smtClean="0"/>
                  <a:t>) for 2-3 days</a:t>
                </a:r>
                <a:r>
                  <a:rPr lang="en-US" altLang="zh-TW" sz="2500" dirty="0" smtClean="0"/>
                  <a:t> to alleviate symptoms</a:t>
                </a:r>
                <a:endParaRPr lang="en-GB" altLang="zh-TW" sz="2500" u="sng" dirty="0" smtClean="0"/>
              </a:p>
              <a:p>
                <a:pPr marL="127000" lvl="0" indent="0">
                  <a:lnSpc>
                    <a:spcPct val="150000"/>
                  </a:lnSpc>
                  <a:spcBef>
                    <a:spcPts val="0"/>
                  </a:spcBef>
                  <a:buSzPts val="1600"/>
                  <a:buNone/>
                </a:pPr>
                <a:endParaRPr lang="zh-TW" altLang="en-US" sz="25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457200" y="908720"/>
                <a:ext cx="8229600" cy="6480720"/>
              </a:xfrm>
              <a:blipFill rotWithShape="1">
                <a:blip r:embed="rId3"/>
                <a:stretch>
                  <a:fillRect/>
                </a:stretch>
              </a:blipFill>
            </p:spPr>
            <p:txBody>
              <a:bodyPr/>
              <a:lstStyle/>
              <a:p>
                <a:r>
                  <a:rPr lang="zh-TW" altLang="en-US">
                    <a:noFill/>
                  </a:rPr>
                  <a:t> </a:t>
                </a:r>
              </a:p>
            </p:txBody>
          </p:sp>
        </mc:Fallback>
      </mc:AlternateContent>
      <p:pic>
        <p:nvPicPr>
          <p:cNvPr id="1026"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3288" t="23188" r="29973" b="42464"/>
          <a:stretch/>
        </p:blipFill>
        <p:spPr bwMode="auto">
          <a:xfrm>
            <a:off x="4860032" y="692696"/>
            <a:ext cx="4176464" cy="1396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575311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332656"/>
            <a:ext cx="8435280" cy="5793507"/>
          </a:xfrm>
        </p:spPr>
        <p:txBody>
          <a:bodyPr>
            <a:normAutofit/>
          </a:bodyPr>
          <a:lstStyle/>
          <a:p>
            <a:pPr marL="457200" lvl="0" indent="-330200">
              <a:lnSpc>
                <a:spcPct val="150000"/>
              </a:lnSpc>
              <a:spcBef>
                <a:spcPts val="0"/>
              </a:spcBef>
              <a:buSzPts val="1600"/>
              <a:buAutoNum type="arabicPeriod"/>
            </a:pPr>
            <a:r>
              <a:rPr lang="en-GB" altLang="zh-TW" sz="2000" u="sng" dirty="0"/>
              <a:t>Palliative RT for bone </a:t>
            </a:r>
            <a:r>
              <a:rPr lang="en-GB" altLang="zh-TW" sz="2000" u="sng" dirty="0" err="1"/>
              <a:t>mets</a:t>
            </a:r>
            <a:r>
              <a:rPr lang="en-GB" altLang="zh-TW" sz="2000" u="sng" dirty="0"/>
              <a:t> </a:t>
            </a:r>
            <a:r>
              <a:rPr lang="zh-TW" altLang="en-US" sz="2000" u="sng" dirty="0"/>
              <a:t>是否增加 </a:t>
            </a:r>
            <a:r>
              <a:rPr lang="en-GB" altLang="zh-TW" sz="2000" u="sng" dirty="0"/>
              <a:t>survival? (</a:t>
            </a:r>
            <a:r>
              <a:rPr lang="en-GB" altLang="zh-TW" sz="2000" u="sng" dirty="0">
                <a:solidFill>
                  <a:srgbClr val="FF0000"/>
                </a:solidFill>
              </a:rPr>
              <a:t>ENABLE III trial</a:t>
            </a:r>
            <a:r>
              <a:rPr lang="en-GB" altLang="zh-TW" sz="2000" u="sng" dirty="0"/>
              <a:t>) </a:t>
            </a:r>
            <a:r>
              <a:rPr lang="zh-TW" altLang="en-US" sz="2000" u="sng" dirty="0"/>
              <a:t>增加多少</a:t>
            </a:r>
            <a:r>
              <a:rPr lang="en-US" altLang="zh-TW" sz="2000" u="sng" dirty="0"/>
              <a:t>?</a:t>
            </a:r>
          </a:p>
          <a:p>
            <a:pPr marL="457200" indent="-330200">
              <a:lnSpc>
                <a:spcPct val="150000"/>
              </a:lnSpc>
              <a:spcBef>
                <a:spcPts val="0"/>
              </a:spcBef>
              <a:buSzPts val="1600"/>
              <a:buFont typeface="Arial" pitchFamily="34" charset="0"/>
              <a:buAutoNum type="arabicPeriod"/>
            </a:pPr>
            <a:r>
              <a:rPr lang="zh-TW" altLang="en-US" sz="2000" u="sng" dirty="0"/>
              <a:t>癌症評鑑條文</a:t>
            </a:r>
            <a:r>
              <a:rPr lang="en-US" altLang="zh-TW" sz="2000" u="sng" dirty="0"/>
              <a:t>3.3</a:t>
            </a:r>
            <a:r>
              <a:rPr lang="zh-TW" altLang="en-US" sz="2000" u="sng" dirty="0"/>
              <a:t>內容是什麼</a:t>
            </a:r>
            <a:r>
              <a:rPr lang="zh-TW" altLang="en-US" sz="2000" u="sng" dirty="0" smtClean="0"/>
              <a:t>？</a:t>
            </a:r>
            <a:r>
              <a:rPr lang="en-US" altLang="zh-TW" sz="2000" dirty="0" smtClean="0"/>
              <a:t>A: </a:t>
            </a:r>
            <a:r>
              <a:rPr lang="zh-TW" altLang="en-US" sz="2000" dirty="0" smtClean="0"/>
              <a:t>癌症防治醫療機構應針對晚期癌症病人建立緩和醫療之照護標準與流程 </a:t>
            </a:r>
            <a:r>
              <a:rPr lang="en-US" altLang="zh-TW" sz="2000" dirty="0" smtClean="0"/>
              <a:t>(</a:t>
            </a:r>
            <a:r>
              <a:rPr lang="zh-TW" altLang="en-US" sz="2000" dirty="0" smtClean="0"/>
              <a:t>要</a:t>
            </a:r>
            <a:r>
              <a:rPr lang="zh-TW" altLang="en-US" sz="2000" dirty="0"/>
              <a:t>有安寧團隊</a:t>
            </a:r>
            <a:r>
              <a:rPr lang="en-US" altLang="zh-TW" sz="2000" dirty="0"/>
              <a:t>.....</a:t>
            </a:r>
          </a:p>
          <a:p>
            <a:pPr marL="127000" lvl="0" indent="0">
              <a:lnSpc>
                <a:spcPct val="150000"/>
              </a:lnSpc>
              <a:spcBef>
                <a:spcPts val="0"/>
              </a:spcBef>
              <a:buSzPts val="1600"/>
              <a:buNone/>
            </a:pPr>
            <a:endParaRPr lang="en-US" altLang="zh-TW" dirty="0" smtClean="0"/>
          </a:p>
        </p:txBody>
      </p:sp>
      <p:grpSp>
        <p:nvGrpSpPr>
          <p:cNvPr id="4" name="群組 3"/>
          <p:cNvGrpSpPr/>
          <p:nvPr/>
        </p:nvGrpSpPr>
        <p:grpSpPr>
          <a:xfrm>
            <a:off x="755576" y="1772815"/>
            <a:ext cx="6127729" cy="5081127"/>
            <a:chOff x="611560" y="908720"/>
            <a:chExt cx="6390862" cy="5609322"/>
          </a:xfrm>
        </p:grpSpPr>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3152" t="16812" r="24429" b="11739"/>
            <a:stretch/>
          </p:blipFill>
          <p:spPr bwMode="auto">
            <a:xfrm>
              <a:off x="611560" y="908720"/>
              <a:ext cx="6390862" cy="4899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23315" t="75217" r="25000" b="14203"/>
            <a:stretch/>
          </p:blipFill>
          <p:spPr bwMode="auto">
            <a:xfrm>
              <a:off x="633974" y="5792485"/>
              <a:ext cx="6301410" cy="725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mc:AlternateContent xmlns:mc="http://schemas.openxmlformats.org/markup-compatibility/2006" xmlns:p14="http://schemas.microsoft.com/office/powerpoint/2010/main">
        <mc:Choice Requires="p14">
          <p:contentPart p14:bwMode="auto" r:id="rId4">
            <p14:nvContentPartPr>
              <p14:cNvPr id="5" name="筆跡 4"/>
              <p14:cNvContentPartPr/>
              <p14:nvPr/>
            </p14:nvContentPartPr>
            <p14:xfrm>
              <a:off x="1613160" y="3537000"/>
              <a:ext cx="609840" cy="6480"/>
            </p14:xfrm>
          </p:contentPart>
        </mc:Choice>
        <mc:Fallback xmlns="">
          <p:pic>
            <p:nvPicPr>
              <p:cNvPr id="5" name="筆跡 4"/>
              <p:cNvPicPr/>
              <p:nvPr/>
            </p:nvPicPr>
            <p:blipFill>
              <a:blip r:embed="rId5"/>
              <a:stretch>
                <a:fillRect/>
              </a:stretch>
            </p:blipFill>
            <p:spPr>
              <a:xfrm>
                <a:off x="1597320" y="3473280"/>
                <a:ext cx="64152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筆跡 5"/>
              <p14:cNvContentPartPr/>
              <p14:nvPr/>
            </p14:nvContentPartPr>
            <p14:xfrm>
              <a:off x="2444760" y="3530520"/>
              <a:ext cx="1333800" cy="19440"/>
            </p14:xfrm>
          </p:contentPart>
        </mc:Choice>
        <mc:Fallback xmlns="">
          <p:pic>
            <p:nvPicPr>
              <p:cNvPr id="6" name="筆跡 5"/>
              <p:cNvPicPr/>
              <p:nvPr/>
            </p:nvPicPr>
            <p:blipFill>
              <a:blip r:embed="rId7"/>
              <a:stretch>
                <a:fillRect/>
              </a:stretch>
            </p:blipFill>
            <p:spPr>
              <a:xfrm>
                <a:off x="2428920" y="3467160"/>
                <a:ext cx="136584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筆跡 6"/>
              <p14:cNvContentPartPr/>
              <p14:nvPr/>
            </p14:nvContentPartPr>
            <p14:xfrm>
              <a:off x="4000680" y="3505320"/>
              <a:ext cx="984600" cy="70200"/>
            </p14:xfrm>
          </p:contentPart>
        </mc:Choice>
        <mc:Fallback xmlns="">
          <p:pic>
            <p:nvPicPr>
              <p:cNvPr id="7" name="筆跡 6"/>
              <p:cNvPicPr/>
              <p:nvPr/>
            </p:nvPicPr>
            <p:blipFill>
              <a:blip r:embed="rId9"/>
              <a:stretch>
                <a:fillRect/>
              </a:stretch>
            </p:blipFill>
            <p:spPr>
              <a:xfrm>
                <a:off x="3984840" y="3441600"/>
                <a:ext cx="101628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筆跡 7"/>
              <p14:cNvContentPartPr/>
              <p14:nvPr/>
            </p14:nvContentPartPr>
            <p14:xfrm>
              <a:off x="1447920" y="4641840"/>
              <a:ext cx="628920" cy="76680"/>
            </p14:xfrm>
          </p:contentPart>
        </mc:Choice>
        <mc:Fallback xmlns="">
          <p:pic>
            <p:nvPicPr>
              <p:cNvPr id="8" name="筆跡 7"/>
              <p:cNvPicPr/>
              <p:nvPr/>
            </p:nvPicPr>
            <p:blipFill>
              <a:blip r:embed="rId11"/>
              <a:stretch>
                <a:fillRect/>
              </a:stretch>
            </p:blipFill>
            <p:spPr>
              <a:xfrm>
                <a:off x="1432080" y="4578480"/>
                <a:ext cx="66060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筆跡 8"/>
              <p14:cNvContentPartPr/>
              <p14:nvPr/>
            </p14:nvContentPartPr>
            <p14:xfrm>
              <a:off x="3359160" y="4699080"/>
              <a:ext cx="610200" cy="38520"/>
            </p14:xfrm>
          </p:contentPart>
        </mc:Choice>
        <mc:Fallback xmlns="">
          <p:pic>
            <p:nvPicPr>
              <p:cNvPr id="9" name="筆跡 8"/>
              <p:cNvPicPr/>
              <p:nvPr/>
            </p:nvPicPr>
            <p:blipFill>
              <a:blip r:embed="rId13"/>
              <a:stretch>
                <a:fillRect/>
              </a:stretch>
            </p:blipFill>
            <p:spPr>
              <a:xfrm>
                <a:off x="3343320" y="4635360"/>
                <a:ext cx="64188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筆跡 9"/>
              <p14:cNvContentPartPr/>
              <p14:nvPr/>
            </p14:nvContentPartPr>
            <p14:xfrm>
              <a:off x="4184640" y="4699080"/>
              <a:ext cx="336960" cy="360"/>
            </p14:xfrm>
          </p:contentPart>
        </mc:Choice>
        <mc:Fallback xmlns="">
          <p:pic>
            <p:nvPicPr>
              <p:cNvPr id="10" name="筆跡 9"/>
              <p:cNvPicPr/>
              <p:nvPr/>
            </p:nvPicPr>
            <p:blipFill>
              <a:blip r:embed="rId15"/>
              <a:stretch>
                <a:fillRect/>
              </a:stretch>
            </p:blipFill>
            <p:spPr>
              <a:xfrm>
                <a:off x="4168800" y="4635360"/>
                <a:ext cx="36864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筆跡 10"/>
              <p14:cNvContentPartPr/>
              <p14:nvPr/>
            </p14:nvContentPartPr>
            <p14:xfrm>
              <a:off x="1765440" y="4921200"/>
              <a:ext cx="1791000" cy="6840"/>
            </p14:xfrm>
          </p:contentPart>
        </mc:Choice>
        <mc:Fallback xmlns="">
          <p:pic>
            <p:nvPicPr>
              <p:cNvPr id="11" name="筆跡 10"/>
              <p:cNvPicPr/>
              <p:nvPr/>
            </p:nvPicPr>
            <p:blipFill>
              <a:blip r:embed="rId17"/>
              <a:stretch>
                <a:fillRect/>
              </a:stretch>
            </p:blipFill>
            <p:spPr>
              <a:xfrm>
                <a:off x="1749600" y="4857840"/>
                <a:ext cx="182268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筆跡 11"/>
              <p14:cNvContentPartPr/>
              <p14:nvPr/>
            </p14:nvContentPartPr>
            <p14:xfrm>
              <a:off x="3733920" y="5638680"/>
              <a:ext cx="940320" cy="6840"/>
            </p14:xfrm>
          </p:contentPart>
        </mc:Choice>
        <mc:Fallback xmlns="">
          <p:pic>
            <p:nvPicPr>
              <p:cNvPr id="12" name="筆跡 11"/>
              <p:cNvPicPr/>
              <p:nvPr/>
            </p:nvPicPr>
            <p:blipFill>
              <a:blip r:embed="rId19"/>
              <a:stretch>
                <a:fillRect/>
              </a:stretch>
            </p:blipFill>
            <p:spPr>
              <a:xfrm>
                <a:off x="3718080" y="5575320"/>
                <a:ext cx="97200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筆跡 12"/>
              <p14:cNvContentPartPr/>
              <p14:nvPr/>
            </p14:nvContentPartPr>
            <p14:xfrm>
              <a:off x="4896000" y="5607000"/>
              <a:ext cx="1035360" cy="6840"/>
            </p14:xfrm>
          </p:contentPart>
        </mc:Choice>
        <mc:Fallback xmlns="">
          <p:pic>
            <p:nvPicPr>
              <p:cNvPr id="13" name="筆跡 12"/>
              <p:cNvPicPr/>
              <p:nvPr/>
            </p:nvPicPr>
            <p:blipFill>
              <a:blip r:embed="rId21"/>
              <a:stretch>
                <a:fillRect/>
              </a:stretch>
            </p:blipFill>
            <p:spPr>
              <a:xfrm>
                <a:off x="4880160" y="5543640"/>
                <a:ext cx="106704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筆跡 13"/>
              <p14:cNvContentPartPr/>
              <p14:nvPr/>
            </p14:nvContentPartPr>
            <p14:xfrm>
              <a:off x="3327480" y="6489720"/>
              <a:ext cx="940320" cy="360"/>
            </p14:xfrm>
          </p:contentPart>
        </mc:Choice>
        <mc:Fallback xmlns="">
          <p:pic>
            <p:nvPicPr>
              <p:cNvPr id="14" name="筆跡 13"/>
              <p:cNvPicPr/>
              <p:nvPr/>
            </p:nvPicPr>
            <p:blipFill>
              <a:blip r:embed="rId23"/>
              <a:stretch>
                <a:fillRect/>
              </a:stretch>
            </p:blipFill>
            <p:spPr>
              <a:xfrm>
                <a:off x="3311640" y="6426360"/>
                <a:ext cx="97200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筆跡 14"/>
              <p14:cNvContentPartPr/>
              <p14:nvPr/>
            </p14:nvContentPartPr>
            <p14:xfrm>
              <a:off x="5981760" y="6502320"/>
              <a:ext cx="546480" cy="360"/>
            </p14:xfrm>
          </p:contentPart>
        </mc:Choice>
        <mc:Fallback xmlns="">
          <p:pic>
            <p:nvPicPr>
              <p:cNvPr id="15" name="筆跡 14"/>
              <p:cNvPicPr/>
              <p:nvPr/>
            </p:nvPicPr>
            <p:blipFill>
              <a:blip r:embed="rId25"/>
              <a:stretch>
                <a:fillRect/>
              </a:stretch>
            </p:blipFill>
            <p:spPr>
              <a:xfrm>
                <a:off x="5965920" y="6438960"/>
                <a:ext cx="57816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筆跡 15"/>
              <p14:cNvContentPartPr/>
              <p14:nvPr/>
            </p14:nvContentPartPr>
            <p14:xfrm>
              <a:off x="1752840" y="6711840"/>
              <a:ext cx="959040" cy="25920"/>
            </p14:xfrm>
          </p:contentPart>
        </mc:Choice>
        <mc:Fallback xmlns="">
          <p:pic>
            <p:nvPicPr>
              <p:cNvPr id="16" name="筆跡 15"/>
              <p:cNvPicPr/>
              <p:nvPr/>
            </p:nvPicPr>
            <p:blipFill>
              <a:blip r:embed="rId27"/>
              <a:stretch>
                <a:fillRect/>
              </a:stretch>
            </p:blipFill>
            <p:spPr>
              <a:xfrm>
                <a:off x="1737000" y="6648480"/>
                <a:ext cx="99072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筆跡 16"/>
              <p14:cNvContentPartPr/>
              <p14:nvPr/>
            </p14:nvContentPartPr>
            <p14:xfrm>
              <a:off x="2978280" y="6724800"/>
              <a:ext cx="787680" cy="12960"/>
            </p14:xfrm>
          </p:contentPart>
        </mc:Choice>
        <mc:Fallback xmlns="">
          <p:pic>
            <p:nvPicPr>
              <p:cNvPr id="17" name="筆跡 16"/>
              <p:cNvPicPr/>
              <p:nvPr/>
            </p:nvPicPr>
            <p:blipFill>
              <a:blip r:embed="rId29"/>
              <a:stretch>
                <a:fillRect/>
              </a:stretch>
            </p:blipFill>
            <p:spPr>
              <a:xfrm>
                <a:off x="2962440" y="6661080"/>
                <a:ext cx="81936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筆跡 17"/>
              <p14:cNvContentPartPr/>
              <p14:nvPr/>
            </p14:nvContentPartPr>
            <p14:xfrm>
              <a:off x="6553440" y="6496200"/>
              <a:ext cx="279720" cy="38160"/>
            </p14:xfrm>
          </p:contentPart>
        </mc:Choice>
        <mc:Fallback xmlns="">
          <p:pic>
            <p:nvPicPr>
              <p:cNvPr id="18" name="筆跡 17"/>
              <p:cNvPicPr/>
              <p:nvPr/>
            </p:nvPicPr>
            <p:blipFill>
              <a:blip r:embed="rId31"/>
              <a:stretch>
                <a:fillRect/>
              </a:stretch>
            </p:blipFill>
            <p:spPr>
              <a:xfrm>
                <a:off x="6537600" y="6432480"/>
                <a:ext cx="31140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筆跡 18"/>
              <p14:cNvContentPartPr/>
              <p14:nvPr/>
            </p14:nvContentPartPr>
            <p14:xfrm>
              <a:off x="1403640" y="6711840"/>
              <a:ext cx="95400" cy="25920"/>
            </p14:xfrm>
          </p:contentPart>
        </mc:Choice>
        <mc:Fallback xmlns="">
          <p:pic>
            <p:nvPicPr>
              <p:cNvPr id="19" name="筆跡 18"/>
              <p:cNvPicPr/>
              <p:nvPr/>
            </p:nvPicPr>
            <p:blipFill>
              <a:blip r:embed="rId33"/>
              <a:stretch>
                <a:fillRect/>
              </a:stretch>
            </p:blipFill>
            <p:spPr>
              <a:xfrm>
                <a:off x="1387440" y="6648480"/>
                <a:ext cx="127440" cy="152640"/>
              </a:xfrm>
              <a:prstGeom prst="rect">
                <a:avLst/>
              </a:prstGeom>
            </p:spPr>
          </p:pic>
        </mc:Fallback>
      </mc:AlternateContent>
    </p:spTree>
    <p:extLst>
      <p:ext uri="{BB962C8B-B14F-4D97-AF65-F5344CB8AC3E}">
        <p14:creationId xmlns:p14="http://schemas.microsoft.com/office/powerpoint/2010/main" val="427380375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457200" y="44624"/>
                <a:ext cx="8229600" cy="6912768"/>
              </a:xfrm>
            </p:spPr>
            <p:txBody>
              <a:bodyPr>
                <a:normAutofit fontScale="32500" lnSpcReduction="20000"/>
              </a:bodyPr>
              <a:lstStyle/>
              <a:p>
                <a:pPr marL="127000" lvl="0" indent="0">
                  <a:lnSpc>
                    <a:spcPct val="150000"/>
                  </a:lnSpc>
                  <a:spcBef>
                    <a:spcPts val="0"/>
                  </a:spcBef>
                  <a:buSzPts val="1600"/>
                  <a:buNone/>
                </a:pPr>
                <a:r>
                  <a:rPr lang="en-US" altLang="zh-TW" dirty="0"/>
                  <a:t>2015</a:t>
                </a:r>
              </a:p>
              <a:p>
                <a:pPr marL="457200" lvl="0" indent="-330200">
                  <a:lnSpc>
                    <a:spcPct val="150000"/>
                  </a:lnSpc>
                  <a:spcBef>
                    <a:spcPts val="0"/>
                  </a:spcBef>
                  <a:buSzPts val="1600"/>
                  <a:buAutoNum type="arabicPeriod"/>
                </a:pPr>
                <a:r>
                  <a:rPr lang="en-US" altLang="zh-TW" sz="4500" u="sng" dirty="0"/>
                  <a:t>Brain meta</a:t>
                </a:r>
                <a:r>
                  <a:rPr lang="zh-TW" altLang="en-US" sz="4500" u="sng" dirty="0"/>
                  <a:t>不治療可以活多久</a:t>
                </a:r>
                <a:r>
                  <a:rPr lang="en-US" altLang="zh-TW" sz="4500" u="sng" dirty="0"/>
                  <a:t>? </a:t>
                </a:r>
                <a:r>
                  <a:rPr lang="en-US" altLang="zh-TW" sz="4500" dirty="0" smtClean="0"/>
                  <a:t>A: </a:t>
                </a:r>
                <a:r>
                  <a:rPr lang="zh-TW" altLang="en-US" sz="4500" dirty="0" smtClean="0"/>
                  <a:t>一個月</a:t>
                </a:r>
                <a:endParaRPr lang="en-US" altLang="zh-TW" sz="4500" dirty="0"/>
              </a:p>
              <a:p>
                <a:pPr marL="127000" lvl="0" indent="0">
                  <a:lnSpc>
                    <a:spcPct val="150000"/>
                  </a:lnSpc>
                  <a:spcBef>
                    <a:spcPts val="0"/>
                  </a:spcBef>
                  <a:buSzPts val="1600"/>
                  <a:buNone/>
                </a:pPr>
                <a:r>
                  <a:rPr lang="zh-TW" altLang="en-US" sz="4500" u="sng" dirty="0" smtClean="0"/>
                  <a:t>用</a:t>
                </a:r>
                <a:r>
                  <a:rPr lang="zh-TW" altLang="en-US" sz="4500" u="sng" dirty="0"/>
                  <a:t>類固醇呢</a:t>
                </a:r>
                <a:r>
                  <a:rPr lang="en-US" altLang="zh-TW" sz="4500" u="sng" dirty="0"/>
                  <a:t>? </a:t>
                </a:r>
                <a:r>
                  <a:rPr lang="zh-TW" altLang="en-US" sz="4500" u="sng" dirty="0" smtClean="0"/>
                  <a:t> </a:t>
                </a:r>
                <a:r>
                  <a:rPr lang="en-US" altLang="zh-TW" sz="4500" dirty="0" smtClean="0"/>
                  <a:t>A:</a:t>
                </a:r>
                <a:r>
                  <a:rPr lang="zh-TW" altLang="en-US" sz="4500" dirty="0"/>
                  <a:t>兩個</a:t>
                </a:r>
                <a:r>
                  <a:rPr lang="zh-TW" altLang="en-US" sz="4500" dirty="0" smtClean="0"/>
                  <a:t>月 </a:t>
                </a:r>
                <a:r>
                  <a:rPr lang="en-US" altLang="zh-TW" sz="4500" dirty="0" smtClean="0"/>
                  <a:t>(MS of brain met treated with steroid alone:2 </a:t>
                </a:r>
                <a:r>
                  <a:rPr lang="en-US" altLang="zh-TW" sz="4500" dirty="0" err="1" smtClean="0"/>
                  <a:t>mo</a:t>
                </a:r>
                <a:r>
                  <a:rPr lang="en-US" altLang="zh-TW" sz="4500" dirty="0" smtClean="0"/>
                  <a:t>)</a:t>
                </a:r>
              </a:p>
              <a:p>
                <a:pPr marL="127000" lvl="0" indent="0">
                  <a:lnSpc>
                    <a:spcPct val="150000"/>
                  </a:lnSpc>
                  <a:spcBef>
                    <a:spcPts val="0"/>
                  </a:spcBef>
                  <a:buSzPts val="1600"/>
                  <a:buNone/>
                </a:pPr>
                <a:r>
                  <a:rPr lang="zh-TW" altLang="en-US" sz="4500" u="sng" dirty="0" smtClean="0"/>
                  <a:t>有</a:t>
                </a:r>
                <a:r>
                  <a:rPr lang="zh-TW" altLang="en-US" sz="4500" u="sng" dirty="0"/>
                  <a:t>什麼</a:t>
                </a:r>
                <a:r>
                  <a:rPr lang="en-US" altLang="zh-TW" sz="4500" u="sng" dirty="0"/>
                  <a:t>index</a:t>
                </a:r>
                <a:r>
                  <a:rPr lang="zh-TW" altLang="en-US" sz="4500" u="sng" dirty="0"/>
                  <a:t>可以評估病人</a:t>
                </a:r>
                <a:r>
                  <a:rPr lang="en-US" altLang="zh-TW" sz="4500" u="sng" dirty="0"/>
                  <a:t>? </a:t>
                </a:r>
                <a:endParaRPr lang="en-US" altLang="zh-TW" sz="4500" u="sng" dirty="0" smtClean="0"/>
              </a:p>
              <a:p>
                <a:pPr marL="0" indent="0">
                  <a:buNone/>
                </a:pPr>
                <a:r>
                  <a:rPr lang="en-US" altLang="zh-TW" sz="4500" u="sng" dirty="0" smtClean="0"/>
                  <a:t>    A: </a:t>
                </a:r>
                <a:r>
                  <a:rPr lang="en-US" altLang="zh-TW" sz="4500" b="1" dirty="0" err="1"/>
                  <a:t>Sperduto</a:t>
                </a:r>
                <a:r>
                  <a:rPr lang="en-US" altLang="zh-TW" sz="4500" b="1" dirty="0"/>
                  <a:t> Index </a:t>
                </a:r>
                <a:r>
                  <a:rPr lang="en-US" altLang="zh-TW" sz="4500" b="1" dirty="0" smtClean="0"/>
                  <a:t>- </a:t>
                </a:r>
                <a:r>
                  <a:rPr lang="en-US" altLang="zh-TW" sz="4500" dirty="0" smtClean="0"/>
                  <a:t>a </a:t>
                </a:r>
                <a:r>
                  <a:rPr lang="en-US" altLang="zh-TW" sz="4500" dirty="0"/>
                  <a:t>graded prognostic assessment based on </a:t>
                </a:r>
                <a:r>
                  <a:rPr lang="en-US" altLang="zh-TW" sz="4500" b="1" dirty="0"/>
                  <a:t>age, KPS, </a:t>
                </a:r>
                <a:r>
                  <a:rPr lang="en-US" altLang="zh-TW" sz="4500" b="1" dirty="0" smtClean="0"/>
                  <a:t>#of </a:t>
                </a:r>
                <a:r>
                  <a:rPr lang="en-US" altLang="zh-TW" sz="4500" b="1" dirty="0"/>
                  <a:t>brain </a:t>
                </a:r>
                <a:r>
                  <a:rPr lang="en-US" altLang="zh-TW" sz="4500" b="1" dirty="0" err="1"/>
                  <a:t>mets</a:t>
                </a:r>
                <a:r>
                  <a:rPr lang="en-US" altLang="zh-TW" sz="4500" dirty="0"/>
                  <a:t>, and the </a:t>
                </a:r>
                <a:r>
                  <a:rPr lang="en-US" altLang="zh-TW" sz="4500" b="1" dirty="0"/>
                  <a:t>presence or absence of </a:t>
                </a:r>
                <a:r>
                  <a:rPr lang="en-US" altLang="zh-TW" sz="4500" b="1" dirty="0" err="1"/>
                  <a:t>extracranial</a:t>
                </a:r>
                <a:r>
                  <a:rPr lang="en-US" altLang="zh-TW" sz="4500" b="1" dirty="0"/>
                  <a:t> </a:t>
                </a:r>
                <a:r>
                  <a:rPr lang="en-US" altLang="zh-TW" sz="4500" b="1" dirty="0" err="1"/>
                  <a:t>mets</a:t>
                </a:r>
                <a:r>
                  <a:rPr lang="en-US" altLang="zh-TW" sz="4500" b="1" dirty="0"/>
                  <a:t> </a:t>
                </a:r>
                <a:r>
                  <a:rPr lang="en-US" altLang="zh-TW" sz="4500" dirty="0" smtClean="0"/>
                  <a:t>(from </a:t>
                </a:r>
                <a:r>
                  <a:rPr lang="en-US" altLang="zh-TW" sz="4500" dirty="0"/>
                  <a:t>an analysis of 1,960 </a:t>
                </a:r>
                <a:r>
                  <a:rPr lang="en-US" altLang="zh-TW" sz="4500" dirty="0" err="1"/>
                  <a:t>pts</a:t>
                </a:r>
                <a:r>
                  <a:rPr lang="en-US" altLang="zh-TW" sz="4500" dirty="0"/>
                  <a:t> in the RTOG </a:t>
                </a:r>
                <a:r>
                  <a:rPr lang="en-US" altLang="zh-TW" sz="4500" dirty="0" smtClean="0"/>
                  <a:t>database)</a:t>
                </a:r>
                <a:r>
                  <a:rPr lang="it-IT" altLang="zh-TW" sz="4500" dirty="0"/>
                  <a:t> (Sperduto P et al., IJROBP 2007</a:t>
                </a:r>
                <a:r>
                  <a:rPr lang="it-IT" altLang="zh-TW" sz="4500" dirty="0" smtClean="0"/>
                  <a:t>)</a:t>
                </a:r>
                <a:endParaRPr lang="en-US" altLang="zh-TW" sz="4500" dirty="0" smtClean="0"/>
              </a:p>
              <a:p>
                <a:pPr marL="0" indent="0">
                  <a:buNone/>
                </a:pPr>
                <a:r>
                  <a:rPr lang="en-US" altLang="zh-TW" sz="4500" dirty="0" smtClean="0"/>
                  <a:t>       Criteria </a:t>
                </a:r>
                <a:r>
                  <a:rPr lang="en-US" altLang="zh-TW" sz="4500" dirty="0"/>
                  <a:t>is based on </a:t>
                </a:r>
                <a:r>
                  <a:rPr lang="en-US" altLang="zh-TW" sz="4500" dirty="0" smtClean="0"/>
                  <a:t>a point </a:t>
                </a:r>
                <a:r>
                  <a:rPr lang="en-US" altLang="zh-TW" sz="4500" dirty="0"/>
                  <a:t>system:</a:t>
                </a:r>
              </a:p>
              <a:p>
                <a:pPr lvl="1"/>
                <a:r>
                  <a:rPr lang="en-US" altLang="zh-TW" sz="4500" dirty="0"/>
                  <a:t>0 points: age &gt;60 </a:t>
                </a:r>
                <a:r>
                  <a:rPr lang="en-US" altLang="zh-TW" sz="4500" dirty="0" err="1"/>
                  <a:t>yrs</a:t>
                </a:r>
                <a:r>
                  <a:rPr lang="en-US" altLang="zh-TW" sz="4500" dirty="0"/>
                  <a:t>, KPS &lt;70, &gt;3 brain </a:t>
                </a:r>
                <a:r>
                  <a:rPr lang="en-US" altLang="zh-TW" sz="4500" dirty="0" err="1"/>
                  <a:t>mets</a:t>
                </a:r>
                <a:r>
                  <a:rPr lang="en-US" altLang="zh-TW" sz="4500" dirty="0"/>
                  <a:t>, presence of </a:t>
                </a:r>
                <a:r>
                  <a:rPr lang="en-US" altLang="zh-TW" sz="4500" dirty="0" err="1"/>
                  <a:t>extracranial</a:t>
                </a:r>
                <a:r>
                  <a:rPr lang="en-US" altLang="zh-TW" sz="4500" dirty="0"/>
                  <a:t> </a:t>
                </a:r>
                <a:r>
                  <a:rPr lang="en-US" altLang="zh-TW" sz="4500" dirty="0" err="1"/>
                  <a:t>mets</a:t>
                </a:r>
                <a:endParaRPr lang="en-US" altLang="zh-TW" sz="4500" dirty="0"/>
              </a:p>
              <a:p>
                <a:pPr lvl="1"/>
                <a:r>
                  <a:rPr lang="en-US" altLang="zh-TW" sz="4500" dirty="0"/>
                  <a:t>0.5 points: age 50–59 </a:t>
                </a:r>
                <a:r>
                  <a:rPr lang="en-US" altLang="zh-TW" sz="4500" dirty="0" err="1"/>
                  <a:t>yrs</a:t>
                </a:r>
                <a:r>
                  <a:rPr lang="en-US" altLang="zh-TW" sz="4500" dirty="0"/>
                  <a:t>, KPS 70–80, 2 CNS </a:t>
                </a:r>
                <a:r>
                  <a:rPr lang="en-US" altLang="zh-TW" sz="4500" dirty="0" err="1"/>
                  <a:t>mets</a:t>
                </a:r>
                <a:endParaRPr lang="en-US" altLang="zh-TW" sz="4500" dirty="0"/>
              </a:p>
              <a:p>
                <a:pPr lvl="1"/>
                <a:r>
                  <a:rPr lang="en-US" altLang="zh-TW" sz="4500" dirty="0"/>
                  <a:t>1 point: age &lt;50 </a:t>
                </a:r>
                <a:r>
                  <a:rPr lang="en-US" altLang="zh-TW" sz="4500" dirty="0" err="1"/>
                  <a:t>yrs</a:t>
                </a:r>
                <a:r>
                  <a:rPr lang="en-US" altLang="zh-TW" sz="4500" dirty="0"/>
                  <a:t>, KPS 90–100, 1 CNS met, no </a:t>
                </a:r>
                <a:r>
                  <a:rPr lang="en-US" altLang="zh-TW" sz="4500" dirty="0" err="1"/>
                  <a:t>extracranial</a:t>
                </a:r>
                <a:r>
                  <a:rPr lang="en-US" altLang="zh-TW" sz="4500" dirty="0"/>
                  <a:t> </a:t>
                </a:r>
                <a:r>
                  <a:rPr lang="en-US" altLang="zh-TW" sz="4500" dirty="0" err="1"/>
                  <a:t>mets</a:t>
                </a:r>
                <a:endParaRPr lang="en-US" altLang="zh-TW" sz="4500" dirty="0"/>
              </a:p>
              <a:p>
                <a:pPr marL="0" indent="0">
                  <a:buNone/>
                </a:pPr>
                <a:r>
                  <a:rPr lang="en-US" altLang="zh-TW" sz="4500" dirty="0" smtClean="0"/>
                  <a:t>       The </a:t>
                </a:r>
                <a:r>
                  <a:rPr lang="en-US" altLang="zh-TW" sz="4500" dirty="0"/>
                  <a:t>sum of points predicts MS in </a:t>
                </a:r>
                <a:r>
                  <a:rPr lang="en-US" altLang="zh-TW" sz="4500" dirty="0" err="1"/>
                  <a:t>mos</a:t>
                </a:r>
                <a:r>
                  <a:rPr lang="en-US" altLang="zh-TW" sz="4500" dirty="0"/>
                  <a:t>:</a:t>
                </a:r>
              </a:p>
              <a:p>
                <a:pPr lvl="1"/>
                <a:r>
                  <a:rPr lang="en-US" altLang="zh-TW" sz="4500" dirty="0"/>
                  <a:t>0–1 point: 2.6 </a:t>
                </a:r>
                <a:r>
                  <a:rPr lang="en-US" altLang="zh-TW" sz="4500" dirty="0" err="1"/>
                  <a:t>mos</a:t>
                </a:r>
                <a:endParaRPr lang="en-US" altLang="zh-TW" sz="4500" dirty="0"/>
              </a:p>
              <a:p>
                <a:pPr lvl="1"/>
                <a:r>
                  <a:rPr lang="en-US" altLang="zh-TW" sz="4500" dirty="0"/>
                  <a:t>1.5–2.5 points: 3.8 </a:t>
                </a:r>
                <a:r>
                  <a:rPr lang="en-US" altLang="zh-TW" sz="4500" dirty="0" err="1"/>
                  <a:t>mos</a:t>
                </a:r>
                <a:endParaRPr lang="en-US" altLang="zh-TW" sz="4500" dirty="0"/>
              </a:p>
              <a:p>
                <a:pPr lvl="1"/>
                <a:r>
                  <a:rPr lang="en-US" altLang="zh-TW" sz="4500" dirty="0"/>
                  <a:t>3 points: 6.9 </a:t>
                </a:r>
                <a:r>
                  <a:rPr lang="en-US" altLang="zh-TW" sz="4500" dirty="0" err="1"/>
                  <a:t>mos</a:t>
                </a:r>
                <a:endParaRPr lang="en-US" altLang="zh-TW" sz="4500" dirty="0"/>
              </a:p>
              <a:p>
                <a:pPr lvl="1"/>
                <a:r>
                  <a:rPr lang="en-US" altLang="zh-TW" sz="4500" dirty="0"/>
                  <a:t>3.5–4 points: 11 </a:t>
                </a:r>
                <a:r>
                  <a:rPr lang="en-US" altLang="zh-TW" sz="4500" dirty="0" err="1"/>
                  <a:t>mos</a:t>
                </a:r>
                <a:endParaRPr lang="en-US" altLang="zh-TW" sz="4500" dirty="0"/>
              </a:p>
              <a:p>
                <a:pPr marL="127000" lvl="0" indent="0">
                  <a:lnSpc>
                    <a:spcPct val="150000"/>
                  </a:lnSpc>
                  <a:spcBef>
                    <a:spcPts val="0"/>
                  </a:spcBef>
                  <a:buSzPts val="1600"/>
                  <a:buNone/>
                </a:pPr>
                <a:r>
                  <a:rPr lang="zh-TW" altLang="en-US" sz="4500" u="sng" dirty="0" smtClean="0"/>
                  <a:t>要</a:t>
                </a:r>
                <a:r>
                  <a:rPr lang="zh-TW" altLang="en-US" sz="4500" u="sng" dirty="0"/>
                  <a:t>怎麼治療</a:t>
                </a:r>
                <a:r>
                  <a:rPr lang="en-US" altLang="zh-TW" sz="4500" u="sng" dirty="0"/>
                  <a:t>? </a:t>
                </a:r>
                <a:endParaRPr lang="en-US" altLang="zh-TW" sz="4500" u="sng" dirty="0" smtClean="0"/>
              </a:p>
              <a:p>
                <a:pPr marL="127000" indent="0">
                  <a:lnSpc>
                    <a:spcPct val="150000"/>
                  </a:lnSpc>
                  <a:spcBef>
                    <a:spcPts val="0"/>
                  </a:spcBef>
                  <a:buSzPts val="1600"/>
                  <a:buNone/>
                </a:pPr>
                <a:r>
                  <a:rPr lang="en-US" altLang="zh-TW" sz="4500" dirty="0"/>
                  <a:t> </a:t>
                </a:r>
                <a:r>
                  <a:rPr lang="en-US" altLang="zh-TW" sz="4500" dirty="0" smtClean="0"/>
                  <a:t>A: Steroids, surgery, WBRT and SRS</a:t>
                </a:r>
              </a:p>
              <a:p>
                <a:pPr marL="984250" lvl="1" indent="-457200">
                  <a:lnSpc>
                    <a:spcPct val="150000"/>
                  </a:lnSpc>
                  <a:spcBef>
                    <a:spcPts val="0"/>
                  </a:spcBef>
                  <a:buSzPts val="1600"/>
                </a:pPr>
                <a:r>
                  <a:rPr lang="en-US" altLang="zh-TW" sz="4500" dirty="0" smtClean="0"/>
                  <a:t>WBRT </a:t>
                </a:r>
                <a:r>
                  <a:rPr lang="en-US" altLang="zh-TW" sz="4500" dirty="0"/>
                  <a:t>dose: </a:t>
                </a:r>
                <a:r>
                  <a:rPr lang="en-US" altLang="zh-TW" sz="4500" b="1" dirty="0"/>
                  <a:t>30 </a:t>
                </a:r>
                <a:r>
                  <a:rPr lang="en-US" altLang="zh-TW" sz="4500" b="1" dirty="0" err="1"/>
                  <a:t>Gy</a:t>
                </a:r>
                <a:r>
                  <a:rPr lang="en-US" altLang="zh-TW" sz="4500" b="1" dirty="0"/>
                  <a:t>/10Fx</a:t>
                </a:r>
                <a:r>
                  <a:rPr lang="en-US" altLang="zh-TW" sz="4500" dirty="0"/>
                  <a:t>; 37.5Gy/15, 40 </a:t>
                </a:r>
                <a:r>
                  <a:rPr lang="en-US" altLang="zh-TW" sz="4500" dirty="0" err="1"/>
                  <a:t>Gy</a:t>
                </a:r>
                <a:r>
                  <a:rPr lang="en-US" altLang="zh-TW" sz="4500" dirty="0"/>
                  <a:t>/20 for good KPS &amp; longer life </a:t>
                </a:r>
                <a:r>
                  <a:rPr lang="en-US" altLang="zh-TW" sz="4500" dirty="0" smtClean="0"/>
                  <a:t>expectancy</a:t>
                </a:r>
              </a:p>
              <a:p>
                <a:pPr marL="984250" lvl="1" indent="-457200">
                  <a:lnSpc>
                    <a:spcPct val="150000"/>
                  </a:lnSpc>
                  <a:spcBef>
                    <a:spcPts val="0"/>
                  </a:spcBef>
                  <a:buSzPts val="1600"/>
                </a:pPr>
                <a:r>
                  <a:rPr lang="en-US" altLang="zh-TW" sz="4500" b="1" dirty="0" smtClean="0"/>
                  <a:t>RTOG </a:t>
                </a:r>
                <a:r>
                  <a:rPr lang="en-US" altLang="zh-TW" sz="4500" b="1" dirty="0"/>
                  <a:t>9508 </a:t>
                </a:r>
                <a:r>
                  <a:rPr lang="en-US" altLang="zh-TW" sz="4500" dirty="0"/>
                  <a:t>(SRS boost): </a:t>
                </a:r>
                <a:r>
                  <a:rPr lang="en-US" altLang="zh-TW" sz="4500" b="1" dirty="0"/>
                  <a:t>WBRT+SRS</a:t>
                </a:r>
                <a:r>
                  <a:rPr lang="zh-TW" altLang="en-US" sz="4500" b="1" dirty="0"/>
                  <a:t> ↑</a:t>
                </a:r>
                <a:r>
                  <a:rPr lang="en-US" altLang="zh-TW" sz="4500" b="1" dirty="0"/>
                  <a:t>MS </a:t>
                </a:r>
                <a:r>
                  <a:rPr lang="en-US" altLang="zh-TW" sz="4500" dirty="0"/>
                  <a:t>in </a:t>
                </a:r>
                <a:r>
                  <a:rPr lang="en-US" altLang="zh-TW" sz="4500" dirty="0" err="1"/>
                  <a:t>p’t</a:t>
                </a:r>
                <a:r>
                  <a:rPr lang="en-US" altLang="zh-TW" sz="4500" dirty="0"/>
                  <a:t> with single brain met/RPA class I/lung cancer </a:t>
                </a:r>
                <a:r>
                  <a:rPr lang="en-US" altLang="zh-TW" sz="4500" dirty="0" smtClean="0"/>
                  <a:t>primary</a:t>
                </a:r>
                <a:endParaRPr lang="en-US" altLang="zh-TW" sz="4500" u="sng" dirty="0" smtClean="0"/>
              </a:p>
              <a:p>
                <a:pPr marL="127000" indent="0">
                  <a:lnSpc>
                    <a:spcPct val="150000"/>
                  </a:lnSpc>
                  <a:spcBef>
                    <a:spcPts val="0"/>
                  </a:spcBef>
                  <a:buSzPts val="1600"/>
                  <a:buNone/>
                </a:pPr>
                <a:r>
                  <a:rPr lang="en-US" altLang="zh-TW" sz="4900" u="sng" dirty="0" smtClean="0"/>
                  <a:t>2.    Spinal </a:t>
                </a:r>
                <a:r>
                  <a:rPr lang="en-US" altLang="zh-TW" sz="4900" u="sng" dirty="0"/>
                  <a:t>meta/Spinal cord compression</a:t>
                </a:r>
                <a:r>
                  <a:rPr lang="zh-TW" altLang="en-US" sz="4900" u="sng" dirty="0"/>
                  <a:t>要怎麼治療</a:t>
                </a:r>
                <a:r>
                  <a:rPr lang="en-US" altLang="zh-TW" sz="4900" u="sng" dirty="0" smtClean="0"/>
                  <a:t>?</a:t>
                </a:r>
              </a:p>
              <a:p>
                <a:pPr marL="127000" indent="0">
                  <a:lnSpc>
                    <a:spcPct val="150000"/>
                  </a:lnSpc>
                  <a:spcBef>
                    <a:spcPts val="0"/>
                  </a:spcBef>
                  <a:buSzPts val="1600"/>
                  <a:buNone/>
                </a:pPr>
                <a:r>
                  <a:rPr lang="en-US" altLang="zh-TW" sz="4600" dirty="0" smtClean="0"/>
                  <a:t>A: </a:t>
                </a:r>
                <a:r>
                  <a:rPr lang="en-US" altLang="zh-TW" sz="4600" dirty="0"/>
                  <a:t>8Gy/1, 20Gy/5, </a:t>
                </a:r>
                <a:r>
                  <a:rPr lang="en-US" altLang="zh-TW" sz="4600" dirty="0" smtClean="0"/>
                  <a:t>30Gy/10 for spinal met; 30Gy/10 for spinal cord compression  </a:t>
                </a:r>
                <a:endParaRPr lang="en-US" altLang="zh-TW" sz="4600" u="sng" dirty="0"/>
              </a:p>
              <a:p>
                <a:pPr marL="127000" lvl="0" indent="0">
                  <a:lnSpc>
                    <a:spcPct val="150000"/>
                  </a:lnSpc>
                  <a:spcBef>
                    <a:spcPts val="0"/>
                  </a:spcBef>
                  <a:buSzPts val="1600"/>
                  <a:buNone/>
                </a:pPr>
                <a:r>
                  <a:rPr lang="en-US" altLang="zh-TW" sz="4500" u="sng" dirty="0" smtClean="0"/>
                  <a:t>3.     </a:t>
                </a:r>
                <a:r>
                  <a:rPr lang="zh-TW" altLang="en-US" sz="4500" u="sng" dirty="0" smtClean="0"/>
                  <a:t>有</a:t>
                </a:r>
                <a:r>
                  <a:rPr lang="zh-TW" altLang="en-US" sz="4500" u="sng" dirty="0"/>
                  <a:t>沒有治療過</a:t>
                </a:r>
                <a:r>
                  <a:rPr lang="en-US" altLang="zh-TW" sz="4500" u="sng" dirty="0"/>
                  <a:t>SVC syndrome</a:t>
                </a:r>
                <a:r>
                  <a:rPr lang="zh-TW" altLang="en-US" sz="4500" u="sng" dirty="0"/>
                  <a:t>的病人，</a:t>
                </a:r>
                <a:r>
                  <a:rPr lang="en-US" altLang="zh-TW" sz="4500" u="sng" dirty="0"/>
                  <a:t>response rate</a:t>
                </a:r>
                <a:r>
                  <a:rPr lang="zh-TW" altLang="en-US" sz="4500" u="sng" dirty="0"/>
                  <a:t>如何</a:t>
                </a:r>
                <a:r>
                  <a:rPr lang="en-US" altLang="zh-TW" sz="4500" u="sng" dirty="0"/>
                  <a:t>? </a:t>
                </a:r>
                <a:endParaRPr lang="en-US" altLang="zh-TW" sz="4500" u="sng" dirty="0" smtClean="0"/>
              </a:p>
              <a:p>
                <a:pPr marL="127000" indent="0">
                  <a:lnSpc>
                    <a:spcPct val="150000"/>
                  </a:lnSpc>
                  <a:spcBef>
                    <a:spcPts val="0"/>
                  </a:spcBef>
                  <a:buSzPts val="1600"/>
                  <a:buNone/>
                </a:pPr>
                <a:r>
                  <a:rPr lang="en-US" altLang="zh-TW" sz="4500" dirty="0" smtClean="0"/>
                  <a:t>A: Total RT dose for SVC syndrome depends on </a:t>
                </a:r>
                <a:r>
                  <a:rPr lang="en-US" altLang="zh-TW" sz="4500" b="1" dirty="0" smtClean="0"/>
                  <a:t>underlying pathology </a:t>
                </a:r>
                <a:r>
                  <a:rPr lang="en-US" altLang="zh-TW" sz="4500" dirty="0" smtClean="0"/>
                  <a:t>(lung </a:t>
                </a:r>
                <a14:m>
                  <m:oMath xmlns:m="http://schemas.openxmlformats.org/officeDocument/2006/math">
                    <m:r>
                      <a:rPr lang="en-US" altLang="zh-TW" sz="4500" b="0" i="1" smtClean="0">
                        <a:latin typeface="Cambria Math"/>
                        <a:ea typeface="Cambria Math"/>
                      </a:rPr>
                      <m:t>≥</m:t>
                    </m:r>
                  </m:oMath>
                </a14:m>
                <a:r>
                  <a:rPr lang="en-US" altLang="zh-TW" sz="4500" dirty="0" smtClean="0"/>
                  <a:t> 60Gy; lymphoma 40Gy; palliation: 30Gy/10); </a:t>
                </a:r>
                <a:r>
                  <a:rPr lang="en-US" altLang="zh-TW" sz="4500" b="1" dirty="0" smtClean="0"/>
                  <a:t>overall symptomatic response to RT: </a:t>
                </a:r>
                <a:r>
                  <a:rPr lang="en-US" altLang="zh-TW" sz="4800" b="1" dirty="0" smtClean="0"/>
                  <a:t>60%.</a:t>
                </a:r>
                <a:endParaRPr lang="en-US" altLang="zh-TW" sz="4800" b="1" dirty="0"/>
              </a:p>
              <a:p>
                <a:pPr marL="127000" lvl="0" indent="0">
                  <a:lnSpc>
                    <a:spcPct val="150000"/>
                  </a:lnSpc>
                  <a:spcBef>
                    <a:spcPts val="0"/>
                  </a:spcBef>
                  <a:buSzPts val="1600"/>
                  <a:buNone/>
                </a:pPr>
                <a:endParaRPr lang="en-US" altLang="zh-TW" sz="4500" dirty="0"/>
              </a:p>
              <a:p>
                <a:endParaRPr lang="zh-TW" altLang="en-US" b="1" dirty="0"/>
              </a:p>
              <a:p>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457200" y="44624"/>
                <a:ext cx="8229600" cy="6912768"/>
              </a:xfrm>
              <a:blipFill rotWithShape="1">
                <a:blip r:embed="rId3"/>
                <a:stretch>
                  <a:fillRect l="-22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7098199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smtClean="0"/>
              <a:t>Skin</a:t>
            </a:r>
            <a:endParaRPr lang="zh-TW" altLang="en-US" dirty="0"/>
          </a:p>
        </p:txBody>
      </p:sp>
      <p:sp>
        <p:nvSpPr>
          <p:cNvPr id="3" name="副標題 2"/>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7087282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116632"/>
            <a:ext cx="8229600" cy="6741368"/>
          </a:xfrm>
        </p:spPr>
        <p:txBody>
          <a:bodyPr>
            <a:normAutofit fontScale="55000" lnSpcReduction="20000"/>
          </a:bodyPr>
          <a:lstStyle/>
          <a:p>
            <a:pPr marL="127000" lvl="0" indent="0">
              <a:lnSpc>
                <a:spcPct val="150000"/>
              </a:lnSpc>
              <a:spcBef>
                <a:spcPts val="0"/>
              </a:spcBef>
              <a:buSzPts val="1600"/>
              <a:buNone/>
            </a:pPr>
            <a:r>
              <a:rPr lang="en-GB" altLang="zh-TW" dirty="0" smtClean="0"/>
              <a:t>2018/</a:t>
            </a:r>
            <a:r>
              <a:rPr lang="zh-TW" altLang="en-US" dirty="0" smtClean="0"/>
              <a:t>吳錦榕</a:t>
            </a:r>
            <a:endParaRPr lang="en-GB" altLang="zh-TW" dirty="0" smtClean="0"/>
          </a:p>
          <a:p>
            <a:pPr marL="457200" lvl="0" indent="-330200">
              <a:lnSpc>
                <a:spcPct val="150000"/>
              </a:lnSpc>
              <a:spcBef>
                <a:spcPts val="0"/>
              </a:spcBef>
              <a:buSzPts val="1600"/>
              <a:buAutoNum type="arabicPeriod"/>
            </a:pPr>
            <a:r>
              <a:rPr lang="en-GB" altLang="zh-TW" u="sng" dirty="0" smtClean="0"/>
              <a:t>Skin cancer RT </a:t>
            </a:r>
            <a:r>
              <a:rPr lang="zh-TW" altLang="en-US" u="sng" dirty="0" smtClean="0"/>
              <a:t>的 </a:t>
            </a:r>
            <a:r>
              <a:rPr lang="en-GB" altLang="zh-TW" u="sng" dirty="0" smtClean="0"/>
              <a:t>indication? </a:t>
            </a:r>
          </a:p>
          <a:p>
            <a:pPr marL="127000" lvl="0" indent="0">
              <a:lnSpc>
                <a:spcPct val="150000"/>
              </a:lnSpc>
              <a:spcBef>
                <a:spcPts val="0"/>
              </a:spcBef>
              <a:buSzPts val="1600"/>
              <a:buNone/>
            </a:pPr>
            <a:r>
              <a:rPr lang="en-GB" altLang="zh-TW" dirty="0" smtClean="0"/>
              <a:t>A:  RT is preferred for </a:t>
            </a:r>
          </a:p>
          <a:p>
            <a:pPr marL="984250" lvl="1" indent="-457200">
              <a:lnSpc>
                <a:spcPct val="150000"/>
              </a:lnSpc>
              <a:spcBef>
                <a:spcPts val="0"/>
              </a:spcBef>
              <a:buSzPts val="1600"/>
            </a:pPr>
            <a:r>
              <a:rPr lang="en-GB" altLang="zh-TW" dirty="0" err="1" smtClean="0"/>
              <a:t>p’t</a:t>
            </a:r>
            <a:r>
              <a:rPr lang="en-GB" altLang="zh-TW" dirty="0" smtClean="0"/>
              <a:t> &gt; 60 y/o and not candidates for primary surgery. </a:t>
            </a:r>
          </a:p>
          <a:p>
            <a:pPr marL="984250" lvl="1" indent="-457200">
              <a:lnSpc>
                <a:spcPct val="150000"/>
              </a:lnSpc>
              <a:spcBef>
                <a:spcPts val="0"/>
              </a:spcBef>
              <a:buSzPts val="1600"/>
            </a:pPr>
            <a:r>
              <a:rPr lang="en-GB" altLang="zh-TW" dirty="0" smtClean="0"/>
              <a:t>Lesions at central face, lip, eyelid and ears (inferior cosmetic or functional outcome after surgery)</a:t>
            </a:r>
          </a:p>
          <a:p>
            <a:pPr marL="527050" lvl="1" indent="0">
              <a:lnSpc>
                <a:spcPct val="150000"/>
              </a:lnSpc>
              <a:spcBef>
                <a:spcPts val="0"/>
              </a:spcBef>
              <a:buSzPts val="1600"/>
              <a:buNone/>
            </a:pPr>
            <a:r>
              <a:rPr lang="en-GB" altLang="zh-TW" dirty="0" smtClean="0"/>
              <a:t>Adj. RT to primary sites with skin cancer:</a:t>
            </a:r>
          </a:p>
          <a:p>
            <a:pPr marL="984250" lvl="1" indent="-457200">
              <a:lnSpc>
                <a:spcPct val="150000"/>
              </a:lnSpc>
              <a:spcBef>
                <a:spcPts val="0"/>
              </a:spcBef>
              <a:buSzPts val="1600"/>
            </a:pPr>
            <a:r>
              <a:rPr lang="en-GB" altLang="zh-TW" dirty="0" smtClean="0"/>
              <a:t>Margin(+)</a:t>
            </a:r>
          </a:p>
          <a:p>
            <a:pPr marL="984250" lvl="1" indent="-457200">
              <a:lnSpc>
                <a:spcPct val="150000"/>
              </a:lnSpc>
              <a:spcBef>
                <a:spcPts val="0"/>
              </a:spcBef>
              <a:buSzPts val="1600"/>
            </a:pPr>
            <a:r>
              <a:rPr lang="en-GB" altLang="zh-TW" dirty="0" smtClean="0"/>
              <a:t>Extensive PNI or large nerve</a:t>
            </a:r>
          </a:p>
          <a:p>
            <a:pPr marL="984250" lvl="1" indent="-457200">
              <a:lnSpc>
                <a:spcPct val="150000"/>
              </a:lnSpc>
              <a:spcBef>
                <a:spcPts val="0"/>
              </a:spcBef>
              <a:buSzPts val="1600"/>
            </a:pPr>
            <a:r>
              <a:rPr lang="en-GB" altLang="zh-TW" dirty="0" smtClean="0"/>
              <a:t>Invasion of bone/cartilage or skeletal muscle</a:t>
            </a:r>
            <a:endParaRPr lang="en-GB" altLang="zh-TW" u="sng" dirty="0"/>
          </a:p>
          <a:p>
            <a:pPr marL="127000" lvl="0" indent="0">
              <a:lnSpc>
                <a:spcPct val="150000"/>
              </a:lnSpc>
              <a:spcBef>
                <a:spcPts val="0"/>
              </a:spcBef>
              <a:buSzPts val="1600"/>
              <a:buNone/>
            </a:pPr>
            <a:r>
              <a:rPr lang="en-GB" altLang="zh-TW" u="sng" dirty="0" smtClean="0"/>
              <a:t>2.    BCC</a:t>
            </a:r>
            <a:r>
              <a:rPr lang="zh-TW" altLang="en-US" u="sng" dirty="0" smtClean="0"/>
              <a:t>或</a:t>
            </a:r>
            <a:r>
              <a:rPr lang="en-GB" altLang="zh-TW" u="sng" dirty="0" smtClean="0"/>
              <a:t>SCC</a:t>
            </a:r>
            <a:r>
              <a:rPr lang="zh-TW" altLang="en-US" u="sng" dirty="0" smtClean="0"/>
              <a:t>手術完要不要照</a:t>
            </a:r>
            <a:r>
              <a:rPr lang="en-GB" altLang="zh-TW" u="sng" dirty="0" smtClean="0"/>
              <a:t>lymphatic drainage?</a:t>
            </a:r>
          </a:p>
          <a:p>
            <a:pPr marL="127000" lvl="0" indent="0">
              <a:lnSpc>
                <a:spcPct val="150000"/>
              </a:lnSpc>
              <a:spcBef>
                <a:spcPts val="0"/>
              </a:spcBef>
              <a:buSzPts val="1600"/>
              <a:buNone/>
            </a:pPr>
            <a:r>
              <a:rPr lang="en-GB" altLang="zh-TW" u="sng" dirty="0"/>
              <a:t> </a:t>
            </a:r>
            <a:r>
              <a:rPr lang="en-GB" altLang="zh-TW" dirty="0" smtClean="0"/>
              <a:t>A: Adj. nodal RT indication:</a:t>
            </a:r>
          </a:p>
          <a:p>
            <a:pPr marL="984250" lvl="1" indent="-457200">
              <a:lnSpc>
                <a:spcPct val="150000"/>
              </a:lnSpc>
              <a:spcBef>
                <a:spcPts val="0"/>
              </a:spcBef>
              <a:buSzPts val="1600"/>
            </a:pPr>
            <a:r>
              <a:rPr lang="en-GB" altLang="zh-TW" dirty="0" smtClean="0"/>
              <a:t>T3/T4</a:t>
            </a:r>
          </a:p>
          <a:p>
            <a:pPr marL="984250" lvl="1" indent="-457200">
              <a:lnSpc>
                <a:spcPct val="150000"/>
              </a:lnSpc>
              <a:spcBef>
                <a:spcPts val="0"/>
              </a:spcBef>
              <a:buSzPts val="1600"/>
            </a:pPr>
            <a:r>
              <a:rPr lang="en-GB" altLang="zh-TW" dirty="0" smtClean="0"/>
              <a:t>Multiple LN(+)</a:t>
            </a:r>
          </a:p>
          <a:p>
            <a:pPr marL="984250" lvl="1" indent="-457200">
              <a:lnSpc>
                <a:spcPct val="150000"/>
              </a:lnSpc>
              <a:spcBef>
                <a:spcPts val="0"/>
              </a:spcBef>
              <a:buSzPts val="1600"/>
            </a:pPr>
            <a:r>
              <a:rPr lang="en-GB" altLang="zh-TW" dirty="0" smtClean="0"/>
              <a:t>Large LN (&gt;3cm)</a:t>
            </a:r>
          </a:p>
          <a:p>
            <a:pPr marL="984250" lvl="1" indent="-457200">
              <a:lnSpc>
                <a:spcPct val="150000"/>
              </a:lnSpc>
              <a:spcBef>
                <a:spcPts val="0"/>
              </a:spcBef>
              <a:buSzPts val="1600"/>
            </a:pPr>
            <a:r>
              <a:rPr lang="en-GB" altLang="zh-TW" dirty="0" smtClean="0"/>
              <a:t>Close neck dissection margin</a:t>
            </a:r>
          </a:p>
          <a:p>
            <a:pPr marL="641350" lvl="0" indent="-514350">
              <a:lnSpc>
                <a:spcPct val="150000"/>
              </a:lnSpc>
              <a:spcBef>
                <a:spcPts val="0"/>
              </a:spcBef>
              <a:buSzPts val="1600"/>
              <a:buAutoNum type="arabicPeriod" startAt="3"/>
            </a:pPr>
            <a:r>
              <a:rPr lang="en-GB" altLang="zh-TW" u="sng" dirty="0" smtClean="0"/>
              <a:t>Melanoma RT </a:t>
            </a:r>
            <a:r>
              <a:rPr lang="zh-TW" altLang="en-US" u="sng" dirty="0" smtClean="0"/>
              <a:t>的角色？</a:t>
            </a:r>
            <a:endParaRPr lang="en-US" altLang="zh-TW" u="sng" dirty="0" smtClean="0"/>
          </a:p>
          <a:p>
            <a:pPr marL="127000" lvl="0" indent="0">
              <a:lnSpc>
                <a:spcPct val="150000"/>
              </a:lnSpc>
              <a:spcBef>
                <a:spcPts val="0"/>
              </a:spcBef>
              <a:buSzPts val="1600"/>
              <a:buNone/>
            </a:pPr>
            <a:r>
              <a:rPr lang="en-US" altLang="zh-TW" dirty="0" smtClean="0"/>
              <a:t> A:  Definitive in medically inoperable and </a:t>
            </a:r>
            <a:r>
              <a:rPr lang="en-US" altLang="zh-TW" dirty="0" err="1" smtClean="0"/>
              <a:t>lentiho</a:t>
            </a:r>
            <a:r>
              <a:rPr lang="en-US" altLang="zh-TW" dirty="0" smtClean="0"/>
              <a:t> </a:t>
            </a:r>
            <a:r>
              <a:rPr lang="en-US" altLang="zh-TW" dirty="0" err="1" smtClean="0"/>
              <a:t>maligna</a:t>
            </a:r>
            <a:r>
              <a:rPr lang="en-US" altLang="zh-TW" dirty="0" smtClean="0"/>
              <a:t> of the face;</a:t>
            </a:r>
          </a:p>
          <a:p>
            <a:pPr marL="127000" lvl="0" indent="0">
              <a:lnSpc>
                <a:spcPct val="150000"/>
              </a:lnSpc>
              <a:spcBef>
                <a:spcPts val="0"/>
              </a:spcBef>
              <a:buSzPts val="1600"/>
              <a:buNone/>
            </a:pPr>
            <a:r>
              <a:rPr lang="en-US" altLang="zh-TW" dirty="0"/>
              <a:t> </a:t>
            </a:r>
            <a:r>
              <a:rPr lang="en-US" altLang="zh-TW" dirty="0" smtClean="0"/>
              <a:t>      Adjuvant in deep </a:t>
            </a:r>
            <a:r>
              <a:rPr lang="en-US" altLang="zh-TW" dirty="0" err="1" smtClean="0"/>
              <a:t>desmoplastic</a:t>
            </a:r>
            <a:r>
              <a:rPr lang="en-US" altLang="zh-TW" dirty="0" smtClean="0"/>
              <a:t> melanoma with narrow margins, recurrence disease, and stage III with ENE(+)</a:t>
            </a:r>
          </a:p>
          <a:p>
            <a:pPr marL="127000" indent="0">
              <a:lnSpc>
                <a:spcPct val="150000"/>
              </a:lnSpc>
              <a:spcBef>
                <a:spcPts val="0"/>
              </a:spcBef>
              <a:buSzPts val="1600"/>
              <a:buNone/>
            </a:pPr>
            <a:endParaRPr lang="en-US" altLang="zh-TW" dirty="0" smtClean="0"/>
          </a:p>
          <a:p>
            <a:pPr marL="127000" indent="0">
              <a:lnSpc>
                <a:spcPct val="150000"/>
              </a:lnSpc>
              <a:spcBef>
                <a:spcPts val="0"/>
              </a:spcBef>
              <a:buSzPts val="1600"/>
              <a:buNone/>
            </a:pPr>
            <a:endParaRPr lang="en-US" altLang="zh-TW" dirty="0"/>
          </a:p>
          <a:p>
            <a:pPr marL="127000" indent="0">
              <a:lnSpc>
                <a:spcPct val="150000"/>
              </a:lnSpc>
              <a:spcBef>
                <a:spcPts val="0"/>
              </a:spcBef>
              <a:buSzPts val="1600"/>
              <a:buNone/>
            </a:pPr>
            <a:endParaRPr lang="en-US" altLang="zh-TW" dirty="0" smtClean="0"/>
          </a:p>
          <a:p>
            <a:pPr marL="457200" lvl="0" indent="-330200">
              <a:lnSpc>
                <a:spcPct val="150000"/>
              </a:lnSpc>
              <a:spcBef>
                <a:spcPts val="0"/>
              </a:spcBef>
              <a:buSzPts val="1600"/>
              <a:buAutoNum type="arabicPeriod"/>
            </a:pPr>
            <a:endParaRPr lang="zh-TW" altLang="en-US" dirty="0" smtClean="0"/>
          </a:p>
        </p:txBody>
      </p:sp>
    </p:spTree>
    <p:extLst>
      <p:ext uri="{BB962C8B-B14F-4D97-AF65-F5344CB8AC3E}">
        <p14:creationId xmlns:p14="http://schemas.microsoft.com/office/powerpoint/2010/main" val="30864423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2011/</a:t>
            </a:r>
            <a:r>
              <a:rPr lang="zh-TW" altLang="en-US" dirty="0" smtClean="0"/>
              <a:t>蔡若婷</a:t>
            </a:r>
            <a:endParaRPr lang="zh-TW" altLang="en-US" dirty="0"/>
          </a:p>
        </p:txBody>
      </p:sp>
      <p:sp>
        <p:nvSpPr>
          <p:cNvPr id="3" name="內容版面配置區 2"/>
          <p:cNvSpPr>
            <a:spLocks noGrp="1"/>
          </p:cNvSpPr>
          <p:nvPr>
            <p:ph idx="1"/>
          </p:nvPr>
        </p:nvSpPr>
        <p:spPr>
          <a:xfrm>
            <a:off x="457200" y="1412776"/>
            <a:ext cx="8229600" cy="5256584"/>
          </a:xfrm>
        </p:spPr>
        <p:txBody>
          <a:bodyPr>
            <a:normAutofit fontScale="77500" lnSpcReduction="20000"/>
          </a:bodyPr>
          <a:lstStyle/>
          <a:p>
            <a:r>
              <a:rPr lang="zh-TW" altLang="zh-TW" dirty="0" smtClean="0"/>
              <a:t>關於皮膚癌有哪些情況下適合</a:t>
            </a:r>
            <a:r>
              <a:rPr lang="en-US" altLang="zh-TW" dirty="0" smtClean="0"/>
              <a:t>RT? </a:t>
            </a:r>
            <a:r>
              <a:rPr lang="zh-TW" altLang="zh-TW" dirty="0" smtClean="0"/>
              <a:t>有哪些</a:t>
            </a:r>
            <a:r>
              <a:rPr lang="en-US" altLang="zh-TW" dirty="0" smtClean="0"/>
              <a:t>risk factor</a:t>
            </a:r>
            <a:r>
              <a:rPr lang="zh-TW" altLang="zh-TW" dirty="0" smtClean="0"/>
              <a:t>需要照</a:t>
            </a:r>
            <a:r>
              <a:rPr lang="en-US" altLang="zh-TW" dirty="0" smtClean="0"/>
              <a:t>RT? </a:t>
            </a:r>
            <a:r>
              <a:rPr lang="zh-TW" altLang="zh-TW" dirty="0" smtClean="0"/>
              <a:t>長在耳朵靠近軟骨的地方要注意哪些地方？</a:t>
            </a:r>
            <a:endParaRPr lang="en-US" altLang="zh-TW" dirty="0" smtClean="0"/>
          </a:p>
          <a:p>
            <a:r>
              <a:rPr lang="en-US" altLang="zh-TW" dirty="0" smtClean="0"/>
              <a:t>Cutaneous T cell lymphoma</a:t>
            </a:r>
            <a:r>
              <a:rPr lang="zh-TW" altLang="zh-TW" dirty="0" smtClean="0"/>
              <a:t>做</a:t>
            </a:r>
            <a:r>
              <a:rPr lang="en-US" altLang="zh-TW" dirty="0" smtClean="0"/>
              <a:t>RT</a:t>
            </a:r>
            <a:r>
              <a:rPr lang="zh-TW" altLang="zh-TW" dirty="0" smtClean="0"/>
              <a:t>的適應症以及貴院的做法</a:t>
            </a:r>
            <a:r>
              <a:rPr lang="en-US" altLang="zh-TW" dirty="0" smtClean="0"/>
              <a:t>? </a:t>
            </a:r>
            <a:r>
              <a:rPr lang="zh-TW" altLang="zh-TW" dirty="0" smtClean="0"/>
              <a:t>包含治療的技術，</a:t>
            </a:r>
            <a:r>
              <a:rPr lang="en-US" altLang="zh-TW" dirty="0" smtClean="0"/>
              <a:t>RT</a:t>
            </a:r>
            <a:r>
              <a:rPr lang="zh-TW" altLang="zh-TW" dirty="0" smtClean="0"/>
              <a:t>的劑量，病人的擺位，劑量如何監測</a:t>
            </a:r>
            <a:r>
              <a:rPr lang="en-US" altLang="zh-TW" dirty="0" smtClean="0"/>
              <a:t>? </a:t>
            </a:r>
            <a:r>
              <a:rPr lang="zh-TW" altLang="zh-TW" dirty="0" smtClean="0"/>
              <a:t>病人皮膚的反應？</a:t>
            </a:r>
            <a:r>
              <a:rPr lang="en-US" altLang="zh-TW" dirty="0" smtClean="0"/>
              <a:t>(Cutaneous T cell lymphoma: TSEI</a:t>
            </a:r>
            <a:r>
              <a:rPr lang="zh-TW" altLang="zh-TW" dirty="0" smtClean="0"/>
              <a:t>怎麼做</a:t>
            </a:r>
            <a:r>
              <a:rPr lang="en-US" altLang="zh-TW" dirty="0" smtClean="0"/>
              <a:t>)</a:t>
            </a:r>
            <a:endParaRPr lang="zh-TW" altLang="zh-TW" dirty="0" smtClean="0"/>
          </a:p>
          <a:p>
            <a:pPr lvl="0"/>
            <a:r>
              <a:rPr lang="en-US" altLang="zh-TW" dirty="0" smtClean="0"/>
              <a:t>Skin cancer</a:t>
            </a:r>
            <a:r>
              <a:rPr lang="zh-TW" altLang="zh-TW" dirty="0" smtClean="0"/>
              <a:t>挑一個說</a:t>
            </a:r>
            <a:r>
              <a:rPr lang="en-US" altLang="zh-TW" dirty="0" smtClean="0"/>
              <a:t>RT indication </a:t>
            </a:r>
            <a:r>
              <a:rPr lang="zh-TW" altLang="zh-TW" dirty="0" smtClean="0"/>
              <a:t>我好像是挑</a:t>
            </a:r>
            <a:r>
              <a:rPr lang="en-US" altLang="zh-TW" dirty="0" smtClean="0"/>
              <a:t>non melanoma skin cancer, </a:t>
            </a:r>
            <a:r>
              <a:rPr lang="zh-TW" altLang="zh-TW" dirty="0" smtClean="0"/>
              <a:t>就把</a:t>
            </a:r>
            <a:r>
              <a:rPr lang="en-US" altLang="zh-TW" dirty="0" smtClean="0"/>
              <a:t>guideline</a:t>
            </a:r>
            <a:r>
              <a:rPr lang="zh-TW" altLang="zh-TW" dirty="0" smtClean="0"/>
              <a:t>上的東西</a:t>
            </a:r>
            <a:r>
              <a:rPr lang="en-US" altLang="zh-TW" dirty="0" smtClean="0"/>
              <a:t>, high risk or low risk , post-op RT indication</a:t>
            </a:r>
            <a:r>
              <a:rPr lang="zh-TW" altLang="zh-TW" dirty="0" smtClean="0"/>
              <a:t>說一下</a:t>
            </a:r>
            <a:r>
              <a:rPr lang="en-US" altLang="zh-TW" dirty="0" smtClean="0"/>
              <a:t>, </a:t>
            </a:r>
            <a:r>
              <a:rPr lang="zh-TW" altLang="zh-TW" dirty="0" smtClean="0"/>
              <a:t>劑量</a:t>
            </a:r>
            <a:r>
              <a:rPr lang="en-US" altLang="zh-TW" dirty="0" smtClean="0"/>
              <a:t>: </a:t>
            </a:r>
            <a:r>
              <a:rPr lang="zh-TW" altLang="zh-TW" dirty="0" smtClean="0"/>
              <a:t>我有跟蔡醫師說書上劑量</a:t>
            </a:r>
            <a:r>
              <a:rPr lang="en-US" altLang="zh-TW" dirty="0" err="1" smtClean="0"/>
              <a:t>fx</a:t>
            </a:r>
            <a:r>
              <a:rPr lang="en-US" altLang="zh-TW" dirty="0" smtClean="0"/>
              <a:t> size</a:t>
            </a:r>
            <a:r>
              <a:rPr lang="zh-TW" altLang="zh-TW" dirty="0" smtClean="0"/>
              <a:t>都很大</a:t>
            </a:r>
            <a:r>
              <a:rPr lang="en-US" altLang="zh-TW" dirty="0" smtClean="0"/>
              <a:t>, </a:t>
            </a:r>
            <a:r>
              <a:rPr lang="zh-TW" altLang="zh-TW" dirty="0" smtClean="0"/>
              <a:t>例如什麼</a:t>
            </a:r>
            <a:r>
              <a:rPr lang="en-US" altLang="zh-TW" dirty="0" smtClean="0"/>
              <a:t>48Gy/16fx</a:t>
            </a:r>
            <a:r>
              <a:rPr lang="zh-TW" altLang="zh-TW" dirty="0" smtClean="0"/>
              <a:t>啦</a:t>
            </a:r>
            <a:r>
              <a:rPr lang="en-US" altLang="zh-TW" dirty="0" smtClean="0"/>
              <a:t>, </a:t>
            </a:r>
            <a:r>
              <a:rPr lang="zh-TW" altLang="zh-TW" dirty="0" smtClean="0"/>
              <a:t>我們醫院是做</a:t>
            </a:r>
            <a:r>
              <a:rPr lang="en-US" altLang="zh-TW" dirty="0" smtClean="0"/>
              <a:t>60-66Gy/30-33fx, </a:t>
            </a:r>
            <a:r>
              <a:rPr lang="zh-TW" altLang="zh-TW" dirty="0" smtClean="0"/>
              <a:t>不過我有跟他說</a:t>
            </a:r>
            <a:r>
              <a:rPr lang="en-US" altLang="zh-TW" dirty="0" smtClean="0"/>
              <a:t>NCCN guideline</a:t>
            </a:r>
            <a:r>
              <a:rPr lang="zh-TW" altLang="zh-TW" dirty="0" smtClean="0"/>
              <a:t>上也有這樣的劑量</a:t>
            </a:r>
            <a:r>
              <a:rPr lang="en-US" altLang="zh-TW" dirty="0" smtClean="0"/>
              <a:t>, </a:t>
            </a:r>
            <a:r>
              <a:rPr lang="zh-TW" altLang="zh-TW" dirty="0" smtClean="0"/>
              <a:t>所以我們也是</a:t>
            </a:r>
            <a:r>
              <a:rPr lang="en-US" altLang="zh-TW" dirty="0" smtClean="0"/>
              <a:t>follow guideline</a:t>
            </a:r>
            <a:r>
              <a:rPr lang="zh-TW" altLang="zh-TW" dirty="0" smtClean="0"/>
              <a:t>走</a:t>
            </a:r>
            <a:r>
              <a:rPr lang="en-US" altLang="zh-TW" dirty="0" smtClean="0"/>
              <a:t>, </a:t>
            </a:r>
            <a:r>
              <a:rPr lang="zh-TW" altLang="zh-TW" dirty="0" smtClean="0"/>
              <a:t>接下來又問</a:t>
            </a:r>
            <a:r>
              <a:rPr lang="en-US" altLang="zh-TW" dirty="0" smtClean="0"/>
              <a:t>field, </a:t>
            </a:r>
            <a:r>
              <a:rPr lang="zh-TW" altLang="zh-TW" dirty="0" smtClean="0"/>
              <a:t>就說書上的</a:t>
            </a:r>
            <a:r>
              <a:rPr lang="en-US" altLang="zh-TW" dirty="0" err="1" smtClean="0"/>
              <a:t>orthovoltage</a:t>
            </a:r>
            <a:r>
              <a:rPr lang="zh-TW" altLang="zh-TW" dirty="0" smtClean="0"/>
              <a:t>現在又沒人在做</a:t>
            </a:r>
            <a:r>
              <a:rPr lang="en-US" altLang="zh-TW" dirty="0" smtClean="0"/>
              <a:t>, electron margin</a:t>
            </a:r>
            <a:r>
              <a:rPr lang="zh-TW" altLang="zh-TW" dirty="0" smtClean="0"/>
              <a:t>要加大一點</a:t>
            </a:r>
            <a:r>
              <a:rPr lang="en-US" altLang="zh-TW" dirty="0" smtClean="0"/>
              <a:t>, </a:t>
            </a:r>
            <a:r>
              <a:rPr lang="zh-TW" altLang="zh-TW" dirty="0" smtClean="0"/>
              <a:t>因為邊緣劑量會不夠</a:t>
            </a:r>
            <a:r>
              <a:rPr lang="en-US" altLang="zh-TW" dirty="0" smtClean="0"/>
              <a:t>(</a:t>
            </a:r>
            <a:r>
              <a:rPr lang="zh-TW" altLang="zh-TW" dirty="0" smtClean="0"/>
              <a:t>物理的關係</a:t>
            </a:r>
            <a:r>
              <a:rPr lang="en-US" altLang="zh-TW" dirty="0" smtClean="0"/>
              <a:t>), energy</a:t>
            </a:r>
            <a:r>
              <a:rPr lang="zh-TW" altLang="zh-TW" dirty="0" smtClean="0"/>
              <a:t>的選擇則是要看</a:t>
            </a:r>
            <a:r>
              <a:rPr lang="en-US" altLang="zh-TW" dirty="0" smtClean="0"/>
              <a:t>depth, </a:t>
            </a:r>
            <a:r>
              <a:rPr lang="zh-TW" altLang="zh-TW" dirty="0" smtClean="0"/>
              <a:t>要</a:t>
            </a:r>
            <a:r>
              <a:rPr lang="en-US" altLang="zh-TW" dirty="0" smtClean="0"/>
              <a:t>cover</a:t>
            </a:r>
            <a:r>
              <a:rPr lang="zh-TW" altLang="zh-TW" dirty="0" smtClean="0"/>
              <a:t>夠</a:t>
            </a:r>
            <a:r>
              <a:rPr lang="en-US" altLang="zh-TW" dirty="0" smtClean="0"/>
              <a:t>, </a:t>
            </a:r>
            <a:r>
              <a:rPr lang="zh-TW" altLang="zh-TW" dirty="0" smtClean="0"/>
              <a:t>忘了說</a:t>
            </a:r>
            <a:r>
              <a:rPr lang="en-US" altLang="zh-TW" dirty="0" smtClean="0"/>
              <a:t>bolus…  </a:t>
            </a:r>
            <a:endParaRPr lang="zh-TW" altLang="zh-TW" dirty="0" smtClean="0"/>
          </a:p>
        </p:txBody>
      </p:sp>
    </p:spTree>
    <p:extLst>
      <p:ext uri="{BB962C8B-B14F-4D97-AF65-F5344CB8AC3E}">
        <p14:creationId xmlns:p14="http://schemas.microsoft.com/office/powerpoint/2010/main" val="28382070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2010/</a:t>
            </a:r>
            <a:r>
              <a:rPr lang="zh-TW" altLang="zh-TW" dirty="0" smtClean="0"/>
              <a:t>馬偕</a:t>
            </a:r>
            <a:r>
              <a:rPr lang="en-US" altLang="zh-TW" dirty="0" smtClean="0"/>
              <a:t>_</a:t>
            </a:r>
            <a:r>
              <a:rPr lang="zh-TW" altLang="zh-TW" dirty="0" smtClean="0"/>
              <a:t>吳孟浩主任</a:t>
            </a:r>
            <a:endParaRPr lang="zh-TW" altLang="en-US" dirty="0"/>
          </a:p>
        </p:txBody>
      </p:sp>
      <p:sp>
        <p:nvSpPr>
          <p:cNvPr id="3" name="內容版面配置區 2"/>
          <p:cNvSpPr>
            <a:spLocks noGrp="1"/>
          </p:cNvSpPr>
          <p:nvPr>
            <p:ph idx="1"/>
          </p:nvPr>
        </p:nvSpPr>
        <p:spPr>
          <a:xfrm>
            <a:off x="457200" y="1268760"/>
            <a:ext cx="8229600" cy="4857403"/>
          </a:xfrm>
        </p:spPr>
        <p:txBody>
          <a:bodyPr>
            <a:normAutofit fontScale="70000" lnSpcReduction="20000"/>
          </a:bodyPr>
          <a:lstStyle/>
          <a:p>
            <a:pPr marL="127000" indent="0">
              <a:lnSpc>
                <a:spcPct val="150000"/>
              </a:lnSpc>
              <a:spcBef>
                <a:spcPts val="0"/>
              </a:spcBef>
              <a:buSzPts val="1600"/>
              <a:buNone/>
            </a:pPr>
            <a:r>
              <a:rPr lang="en-US" altLang="zh-TW" dirty="0"/>
              <a:t>2013/</a:t>
            </a:r>
            <a:r>
              <a:rPr lang="zh-TW" altLang="en-US" dirty="0"/>
              <a:t>吳孟</a:t>
            </a:r>
            <a:r>
              <a:rPr lang="zh-TW" altLang="zh-TW" dirty="0"/>
              <a:t>浩</a:t>
            </a:r>
            <a:endParaRPr lang="en-US" altLang="zh-TW" dirty="0"/>
          </a:p>
          <a:p>
            <a:pPr marL="457200" indent="-330200">
              <a:lnSpc>
                <a:spcPct val="150000"/>
              </a:lnSpc>
              <a:spcBef>
                <a:spcPts val="0"/>
              </a:spcBef>
              <a:buSzPts val="1600"/>
              <a:buFont typeface="Arial" pitchFamily="34" charset="0"/>
              <a:buAutoNum type="arabicPeriod"/>
            </a:pPr>
            <a:r>
              <a:rPr lang="zh-TW" altLang="en-US" dirty="0"/>
              <a:t>有沒有遇過</a:t>
            </a:r>
            <a:r>
              <a:rPr lang="en-US" altLang="zh-TW" dirty="0"/>
              <a:t>Merkel cell carcinoma?</a:t>
            </a:r>
            <a:r>
              <a:rPr lang="zh-TW" altLang="en-US" dirty="0"/>
              <a:t>說明對他了解，要怎麼治療</a:t>
            </a:r>
            <a:r>
              <a:rPr lang="en-US" altLang="zh-TW" dirty="0"/>
              <a:t>?</a:t>
            </a:r>
          </a:p>
          <a:p>
            <a:pPr marL="0" lvl="0" indent="0">
              <a:buNone/>
            </a:pPr>
            <a:r>
              <a:rPr lang="en-US" altLang="zh-TW" dirty="0" smtClean="0"/>
              <a:t>  2010</a:t>
            </a:r>
          </a:p>
          <a:p>
            <a:pPr lvl="0"/>
            <a:r>
              <a:rPr lang="zh-TW" altLang="zh-TW" dirty="0" smtClean="0"/>
              <a:t>一病人有</a:t>
            </a:r>
            <a:r>
              <a:rPr lang="en-US" altLang="zh-TW" dirty="0" smtClean="0"/>
              <a:t>diffuse skin lesion</a:t>
            </a:r>
            <a:r>
              <a:rPr lang="zh-TW" altLang="zh-TW" dirty="0" smtClean="0"/>
              <a:t>，切片證實</a:t>
            </a:r>
            <a:r>
              <a:rPr lang="en-US" altLang="zh-TW" dirty="0" smtClean="0"/>
              <a:t>mycosis </a:t>
            </a:r>
            <a:r>
              <a:rPr lang="en-US" altLang="zh-TW" dirty="0" err="1" smtClean="0"/>
              <a:t>fungoides</a:t>
            </a:r>
            <a:r>
              <a:rPr lang="zh-TW" altLang="zh-TW" dirty="0" smtClean="0"/>
              <a:t>，</a:t>
            </a:r>
            <a:r>
              <a:rPr lang="en-US" altLang="zh-TW" dirty="0" smtClean="0"/>
              <a:t>2</a:t>
            </a:r>
            <a:r>
              <a:rPr lang="zh-TW" altLang="zh-TW" dirty="0" smtClean="0"/>
              <a:t>個月後</a:t>
            </a:r>
            <a:r>
              <a:rPr lang="en-US" altLang="zh-TW" dirty="0" smtClean="0"/>
              <a:t>inguinal node enlargement</a:t>
            </a:r>
            <a:r>
              <a:rPr lang="zh-TW" altLang="zh-TW" dirty="0" smtClean="0"/>
              <a:t>，來到你門診如何處置</a:t>
            </a:r>
            <a:r>
              <a:rPr lang="en-US" altLang="zh-TW" dirty="0" smtClean="0"/>
              <a:t>?</a:t>
            </a:r>
            <a:endParaRPr lang="zh-TW" altLang="zh-TW" dirty="0" smtClean="0"/>
          </a:p>
          <a:p>
            <a:r>
              <a:rPr lang="en-US" altLang="zh-TW" dirty="0" smtClean="0"/>
              <a:t>  (</a:t>
            </a:r>
            <a:r>
              <a:rPr lang="zh-TW" altLang="zh-TW" dirty="0" smtClean="0"/>
              <a:t>我回答</a:t>
            </a:r>
            <a:r>
              <a:rPr lang="en-US" altLang="zh-TW" dirty="0" smtClean="0"/>
              <a:t>: </a:t>
            </a:r>
            <a:r>
              <a:rPr lang="zh-TW" altLang="zh-TW" dirty="0" smtClean="0"/>
              <a:t>重新評估</a:t>
            </a:r>
            <a:r>
              <a:rPr lang="en-US" altLang="zh-TW" dirty="0" smtClean="0"/>
              <a:t>History &amp; PE</a:t>
            </a:r>
            <a:r>
              <a:rPr lang="zh-TW" altLang="zh-TW" dirty="0" smtClean="0"/>
              <a:t>，做</a:t>
            </a:r>
            <a:r>
              <a:rPr lang="en-US" altLang="zh-TW" dirty="0" smtClean="0"/>
              <a:t>PET</a:t>
            </a:r>
            <a:endParaRPr lang="zh-TW" altLang="zh-TW" dirty="0" smtClean="0"/>
          </a:p>
          <a:p>
            <a:r>
              <a:rPr lang="en-US" altLang="zh-TW" dirty="0" smtClean="0"/>
              <a:t>   </a:t>
            </a:r>
            <a:r>
              <a:rPr lang="zh-TW" altLang="zh-TW" dirty="0" smtClean="0"/>
              <a:t>吳</a:t>
            </a:r>
            <a:r>
              <a:rPr lang="en-US" altLang="zh-TW" dirty="0" smtClean="0"/>
              <a:t>: inguinal node(+), </a:t>
            </a:r>
            <a:r>
              <a:rPr lang="zh-TW" altLang="zh-TW" dirty="0" smtClean="0"/>
              <a:t>其他</a:t>
            </a:r>
            <a:r>
              <a:rPr lang="en-US" altLang="zh-TW" dirty="0" smtClean="0"/>
              <a:t>negative</a:t>
            </a:r>
            <a:r>
              <a:rPr lang="zh-TW" altLang="zh-TW" dirty="0" smtClean="0"/>
              <a:t>，下一步</a:t>
            </a:r>
          </a:p>
          <a:p>
            <a:r>
              <a:rPr lang="zh-TW" altLang="zh-TW" dirty="0" smtClean="0"/>
              <a:t>我</a:t>
            </a:r>
            <a:r>
              <a:rPr lang="en-US" altLang="zh-TW" dirty="0" smtClean="0"/>
              <a:t>: inguinal node excisional biopsy</a:t>
            </a:r>
            <a:endParaRPr lang="zh-TW" altLang="zh-TW" dirty="0" smtClean="0"/>
          </a:p>
          <a:p>
            <a:r>
              <a:rPr lang="zh-TW" altLang="zh-TW" dirty="0" smtClean="0"/>
              <a:t>吳</a:t>
            </a:r>
            <a:r>
              <a:rPr lang="en-US" altLang="zh-TW" dirty="0" smtClean="0"/>
              <a:t>: pathology: Hodgkin disease</a:t>
            </a:r>
            <a:r>
              <a:rPr lang="zh-TW" altLang="zh-TW" dirty="0" smtClean="0"/>
              <a:t>，那</a:t>
            </a:r>
            <a:r>
              <a:rPr lang="en-US" altLang="zh-TW" dirty="0" smtClean="0"/>
              <a:t>stage?</a:t>
            </a:r>
            <a:endParaRPr lang="zh-TW" altLang="zh-TW" dirty="0" smtClean="0"/>
          </a:p>
          <a:p>
            <a:r>
              <a:rPr lang="zh-TW" altLang="zh-TW" dirty="0" smtClean="0"/>
              <a:t>我</a:t>
            </a:r>
            <a:r>
              <a:rPr lang="en-US" altLang="zh-TW" dirty="0" smtClean="0"/>
              <a:t>: </a:t>
            </a:r>
            <a:r>
              <a:rPr lang="zh-TW" altLang="zh-TW" dirty="0" smtClean="0"/>
              <a:t>應該</a:t>
            </a:r>
            <a:r>
              <a:rPr lang="en-US" altLang="zh-TW" dirty="0" smtClean="0"/>
              <a:t>2</a:t>
            </a:r>
            <a:r>
              <a:rPr lang="zh-TW" altLang="zh-TW" dirty="0" smtClean="0"/>
              <a:t>個分別</a:t>
            </a:r>
            <a:r>
              <a:rPr lang="en-US" altLang="zh-TW" dirty="0" smtClean="0"/>
              <a:t>staging</a:t>
            </a:r>
            <a:endParaRPr lang="zh-TW" altLang="zh-TW" dirty="0" smtClean="0"/>
          </a:p>
          <a:p>
            <a:r>
              <a:rPr lang="zh-TW" altLang="zh-TW" dirty="0" smtClean="0"/>
              <a:t>吳</a:t>
            </a:r>
            <a:r>
              <a:rPr lang="en-US" altLang="zh-TW" dirty="0" smtClean="0"/>
              <a:t>: </a:t>
            </a:r>
            <a:r>
              <a:rPr lang="zh-TW" altLang="zh-TW" dirty="0" smtClean="0"/>
              <a:t>那</a:t>
            </a:r>
            <a:r>
              <a:rPr lang="en-US" altLang="zh-TW" dirty="0" smtClean="0"/>
              <a:t>mycosis </a:t>
            </a:r>
            <a:r>
              <a:rPr lang="en-US" altLang="zh-TW" dirty="0" err="1" smtClean="0"/>
              <a:t>fungoides</a:t>
            </a:r>
            <a:r>
              <a:rPr lang="zh-TW" altLang="zh-TW" dirty="0" smtClean="0"/>
              <a:t>的</a:t>
            </a:r>
            <a:r>
              <a:rPr lang="en-US" altLang="zh-TW" dirty="0" smtClean="0"/>
              <a:t> TNM stage?</a:t>
            </a:r>
            <a:endParaRPr lang="zh-TW" altLang="zh-TW" dirty="0" smtClean="0"/>
          </a:p>
          <a:p>
            <a:r>
              <a:rPr lang="zh-TW" altLang="zh-TW" dirty="0" smtClean="0"/>
              <a:t>我</a:t>
            </a:r>
            <a:r>
              <a:rPr lang="en-US" altLang="zh-TW" dirty="0" smtClean="0"/>
              <a:t>:????TNM of primary cutaneous lymphoma</a:t>
            </a:r>
            <a:r>
              <a:rPr lang="zh-TW" altLang="zh-TW" dirty="0" smtClean="0"/>
              <a:t>沒記</a:t>
            </a:r>
            <a:r>
              <a:rPr lang="en-US" altLang="zh-TW" dirty="0" smtClean="0"/>
              <a:t>)</a:t>
            </a:r>
            <a:endParaRPr lang="zh-TW" altLang="zh-TW" dirty="0" smtClean="0"/>
          </a:p>
          <a:p>
            <a:r>
              <a:rPr lang="zh-TW" altLang="zh-TW" dirty="0" smtClean="0"/>
              <a:t>接下來又問了</a:t>
            </a:r>
            <a:r>
              <a:rPr lang="en-US" altLang="zh-TW" dirty="0" smtClean="0"/>
              <a:t>TSEI</a:t>
            </a:r>
            <a:r>
              <a:rPr lang="zh-TW" altLang="zh-TW" dirty="0" smtClean="0"/>
              <a:t>如何做</a:t>
            </a:r>
            <a:r>
              <a:rPr lang="en-US" altLang="zh-TW" dirty="0" smtClean="0"/>
              <a:t>?</a:t>
            </a:r>
            <a:r>
              <a:rPr lang="zh-TW" altLang="zh-TW" dirty="0" smtClean="0"/>
              <a:t>劑量</a:t>
            </a:r>
            <a:r>
              <a:rPr lang="en-US" altLang="zh-TW" dirty="0" smtClean="0"/>
              <a:t>?</a:t>
            </a:r>
            <a:r>
              <a:rPr lang="zh-TW" altLang="zh-TW" dirty="0" smtClean="0"/>
              <a:t>要注意哪些事</a:t>
            </a:r>
            <a:r>
              <a:rPr lang="en-US" altLang="zh-TW" dirty="0" smtClean="0"/>
              <a:t>?</a:t>
            </a:r>
            <a:endParaRPr lang="zh-TW" altLang="zh-TW" dirty="0" smtClean="0"/>
          </a:p>
          <a:p>
            <a:endParaRPr lang="zh-TW" altLang="en-US" dirty="0"/>
          </a:p>
        </p:txBody>
      </p:sp>
    </p:spTree>
    <p:extLst>
      <p:ext uri="{BB962C8B-B14F-4D97-AF65-F5344CB8AC3E}">
        <p14:creationId xmlns:p14="http://schemas.microsoft.com/office/powerpoint/2010/main" val="33997263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smtClean="0"/>
              <a:t>Benign</a:t>
            </a:r>
            <a:endParaRPr lang="zh-TW" altLang="en-US" dirty="0"/>
          </a:p>
        </p:txBody>
      </p:sp>
      <p:sp>
        <p:nvSpPr>
          <p:cNvPr id="3" name="副標題 2"/>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1966344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67544" y="0"/>
            <a:ext cx="8229600" cy="1143000"/>
          </a:xfrm>
        </p:spPr>
        <p:txBody>
          <a:bodyPr>
            <a:normAutofit/>
          </a:bodyPr>
          <a:lstStyle/>
          <a:p>
            <a:r>
              <a:rPr lang="en-US" altLang="zh-TW" dirty="0" smtClean="0"/>
              <a:t>2015,2018/</a:t>
            </a:r>
            <a:r>
              <a:rPr lang="zh-TW" altLang="en-US" dirty="0" smtClean="0"/>
              <a:t>吳錦榕</a:t>
            </a:r>
            <a:endParaRPr lang="zh-TW" altLang="en-US" dirty="0"/>
          </a:p>
        </p:txBody>
      </p:sp>
      <p:sp>
        <p:nvSpPr>
          <p:cNvPr id="3" name="內容版面配置區 2"/>
          <p:cNvSpPr>
            <a:spLocks noGrp="1"/>
          </p:cNvSpPr>
          <p:nvPr>
            <p:ph idx="1"/>
          </p:nvPr>
        </p:nvSpPr>
        <p:spPr>
          <a:xfrm>
            <a:off x="457200" y="1196752"/>
            <a:ext cx="8229600" cy="5472608"/>
          </a:xfrm>
        </p:spPr>
        <p:txBody>
          <a:bodyPr>
            <a:normAutofit lnSpcReduction="10000"/>
          </a:bodyPr>
          <a:lstStyle/>
          <a:p>
            <a:pPr marL="457200" lvl="0" indent="-330200">
              <a:lnSpc>
                <a:spcPct val="150000"/>
              </a:lnSpc>
              <a:spcBef>
                <a:spcPts val="0"/>
              </a:spcBef>
              <a:buSzPts val="1600"/>
              <a:buAutoNum type="arabicPeriod"/>
            </a:pPr>
            <a:r>
              <a:rPr lang="en-GB" altLang="zh-TW" sz="2000" u="sng" dirty="0" smtClean="0"/>
              <a:t>Benign disease </a:t>
            </a:r>
            <a:r>
              <a:rPr lang="zh-TW" altLang="en-US" sz="2000" u="sng" dirty="0" smtClean="0"/>
              <a:t>目前 </a:t>
            </a:r>
            <a:r>
              <a:rPr lang="en-GB" altLang="zh-TW" sz="2000" u="sng" dirty="0" smtClean="0"/>
              <a:t>RT </a:t>
            </a:r>
            <a:r>
              <a:rPr lang="zh-TW" altLang="en-US" sz="2000" u="sng" dirty="0" smtClean="0"/>
              <a:t>有什麼角色？</a:t>
            </a:r>
            <a:r>
              <a:rPr lang="en-US" altLang="zh-TW" sz="2000" u="sng" dirty="0" smtClean="0"/>
              <a:t>(</a:t>
            </a:r>
            <a:r>
              <a:rPr lang="zh-TW" altLang="en-US" sz="2000" u="sng" dirty="0" smtClean="0"/>
              <a:t>自由發揮</a:t>
            </a:r>
            <a:r>
              <a:rPr lang="en-US" altLang="zh-TW" sz="2000" u="sng" dirty="0" smtClean="0"/>
              <a:t>), </a:t>
            </a:r>
            <a:r>
              <a:rPr lang="zh-TW" altLang="en-US" sz="2000" u="sng" dirty="0" smtClean="0"/>
              <a:t>你</a:t>
            </a:r>
            <a:r>
              <a:rPr lang="zh-TW" altLang="en-US" sz="2000" u="sng" dirty="0"/>
              <a:t>的實作經驗如何</a:t>
            </a:r>
            <a:r>
              <a:rPr lang="en-US" altLang="zh-TW" sz="2000" u="sng" dirty="0"/>
              <a:t>? </a:t>
            </a:r>
            <a:endParaRPr lang="en-US" altLang="zh-TW" sz="2000" u="sng" dirty="0" smtClean="0"/>
          </a:p>
          <a:p>
            <a:pPr marL="127000" lvl="0" indent="0">
              <a:lnSpc>
                <a:spcPct val="150000"/>
              </a:lnSpc>
              <a:spcBef>
                <a:spcPts val="0"/>
              </a:spcBef>
              <a:buSzPts val="1600"/>
              <a:buNone/>
            </a:pPr>
            <a:r>
              <a:rPr lang="en-US" altLang="zh-TW" sz="2000" dirty="0" smtClean="0"/>
              <a:t>     </a:t>
            </a:r>
            <a:r>
              <a:rPr lang="en-US" altLang="zh-TW" sz="1800" dirty="0" smtClean="0"/>
              <a:t>A:  - Pigmented </a:t>
            </a:r>
            <a:r>
              <a:rPr lang="en-US" altLang="zh-TW" sz="1800" dirty="0" err="1" smtClean="0"/>
              <a:t>Villonodular</a:t>
            </a:r>
            <a:r>
              <a:rPr lang="en-US" altLang="zh-TW" sz="1800" dirty="0" smtClean="0"/>
              <a:t> </a:t>
            </a:r>
            <a:r>
              <a:rPr lang="en-US" altLang="zh-TW" sz="1800" dirty="0" err="1" smtClean="0"/>
              <a:t>Synovitis</a:t>
            </a:r>
            <a:r>
              <a:rPr lang="en-US" altLang="zh-TW" sz="1800" dirty="0" smtClean="0"/>
              <a:t> (PVNS): adjuvant RT (36-50 </a:t>
            </a:r>
            <a:r>
              <a:rPr lang="en-US" altLang="zh-TW" sz="1800" dirty="0" err="1" smtClean="0"/>
              <a:t>Gy</a:t>
            </a:r>
            <a:r>
              <a:rPr lang="en-US" altLang="zh-TW" sz="1800" dirty="0" smtClean="0"/>
              <a:t>) in </a:t>
            </a:r>
            <a:r>
              <a:rPr lang="en-US" altLang="zh-TW" sz="1800" dirty="0" smtClean="0">
                <a:solidFill>
                  <a:srgbClr val="0000FF"/>
                </a:solidFill>
              </a:rPr>
              <a:t>diffuse pattern, bulky or multiple recurrence </a:t>
            </a:r>
            <a:r>
              <a:rPr lang="en-US" altLang="zh-TW" sz="1800" dirty="0" smtClean="0"/>
              <a:t>case.</a:t>
            </a:r>
          </a:p>
          <a:p>
            <a:pPr marL="869950" lvl="1">
              <a:lnSpc>
                <a:spcPct val="150000"/>
              </a:lnSpc>
              <a:spcBef>
                <a:spcPts val="0"/>
              </a:spcBef>
              <a:buSzPts val="1600"/>
            </a:pPr>
            <a:r>
              <a:rPr lang="en-US" altLang="zh-TW" sz="1800" dirty="0" err="1" smtClean="0"/>
              <a:t>Paraganglioma</a:t>
            </a:r>
            <a:r>
              <a:rPr lang="en-US" altLang="zh-TW" sz="1800" dirty="0" smtClean="0"/>
              <a:t>: PORT 50Gy (</a:t>
            </a:r>
            <a:r>
              <a:rPr lang="zh-TW" altLang="en-US" sz="1800" dirty="0" smtClean="0"/>
              <a:t>有遇過</a:t>
            </a:r>
            <a:r>
              <a:rPr lang="en-US" altLang="zh-TW" sz="1800" dirty="0" smtClean="0"/>
              <a:t>carotid body </a:t>
            </a:r>
            <a:r>
              <a:rPr lang="en-US" altLang="zh-TW" sz="1800" dirty="0" err="1" smtClean="0"/>
              <a:t>paraganglioma</a:t>
            </a:r>
            <a:r>
              <a:rPr lang="en-US" altLang="zh-TW" sz="1800" dirty="0" smtClean="0"/>
              <a:t>, </a:t>
            </a:r>
            <a:r>
              <a:rPr lang="zh-TW" altLang="en-US" sz="1800" dirty="0" smtClean="0"/>
              <a:t>當時</a:t>
            </a:r>
            <a:r>
              <a:rPr lang="en-US" altLang="zh-TW" sz="1800" dirty="0" smtClean="0"/>
              <a:t>definitive RT 54Gy)</a:t>
            </a:r>
          </a:p>
          <a:p>
            <a:pPr marL="869950" lvl="1">
              <a:lnSpc>
                <a:spcPct val="150000"/>
              </a:lnSpc>
              <a:spcBef>
                <a:spcPts val="0"/>
              </a:spcBef>
              <a:buSzPts val="1600"/>
            </a:pPr>
            <a:r>
              <a:rPr lang="en-US" altLang="zh-TW" sz="1800" dirty="0" smtClean="0"/>
              <a:t>Keloids/Hypertrophic scars: 12-20Gy/3-4Fx or 7.5-10Gy/</a:t>
            </a:r>
            <a:r>
              <a:rPr lang="en-US" altLang="zh-TW" sz="1800" dirty="0" err="1" smtClean="0"/>
              <a:t>Fx</a:t>
            </a:r>
            <a:r>
              <a:rPr lang="en-US" altLang="zh-TW" sz="1800" dirty="0" smtClean="0"/>
              <a:t>, </a:t>
            </a:r>
            <a:r>
              <a:rPr lang="zh-TW" altLang="en-US" sz="1800" b="1" dirty="0" smtClean="0"/>
              <a:t>術後</a:t>
            </a:r>
            <a:r>
              <a:rPr lang="en-US" altLang="zh-TW" sz="1800" b="1" dirty="0" smtClean="0"/>
              <a:t>24hrs</a:t>
            </a:r>
            <a:r>
              <a:rPr lang="zh-TW" altLang="en-US" sz="1800" b="1" dirty="0" smtClean="0"/>
              <a:t>內</a:t>
            </a:r>
            <a:r>
              <a:rPr lang="en-US" altLang="zh-TW" sz="1800" b="1" dirty="0" smtClean="0"/>
              <a:t>RT</a:t>
            </a:r>
            <a:r>
              <a:rPr lang="en-US" altLang="zh-TW" sz="1800" dirty="0" smtClean="0"/>
              <a:t>    </a:t>
            </a:r>
          </a:p>
          <a:p>
            <a:pPr marL="869950" lvl="1">
              <a:lnSpc>
                <a:spcPct val="150000"/>
              </a:lnSpc>
              <a:spcBef>
                <a:spcPts val="0"/>
              </a:spcBef>
              <a:buSzPts val="1600"/>
            </a:pPr>
            <a:r>
              <a:rPr lang="en-US" altLang="zh-TW" sz="1800" dirty="0" smtClean="0"/>
              <a:t>Pituitary adenoma: SRS 20Gy</a:t>
            </a:r>
          </a:p>
          <a:p>
            <a:pPr marL="869950" lvl="1">
              <a:lnSpc>
                <a:spcPct val="150000"/>
              </a:lnSpc>
              <a:spcBef>
                <a:spcPts val="0"/>
              </a:spcBef>
              <a:buSzPts val="1600"/>
            </a:pPr>
            <a:r>
              <a:rPr lang="en-US" altLang="zh-TW" sz="1800" dirty="0" smtClean="0"/>
              <a:t>AVM: SRS 22Gy to 50% IDL</a:t>
            </a:r>
          </a:p>
          <a:p>
            <a:pPr marL="127000" indent="0">
              <a:lnSpc>
                <a:spcPct val="150000"/>
              </a:lnSpc>
              <a:spcBef>
                <a:spcPts val="0"/>
              </a:spcBef>
              <a:buSzPts val="1600"/>
              <a:buNone/>
            </a:pPr>
            <a:r>
              <a:rPr lang="zh-TW" altLang="en-US" sz="2000" dirty="0" smtClean="0"/>
              <a:t>       </a:t>
            </a:r>
            <a:r>
              <a:rPr lang="zh-TW" altLang="en-US" sz="2000" u="sng" dirty="0" smtClean="0"/>
              <a:t>有</a:t>
            </a:r>
            <a:r>
              <a:rPr lang="zh-TW" altLang="en-US" sz="2000" u="sng" dirty="0"/>
              <a:t>沒有治療過</a:t>
            </a:r>
            <a:r>
              <a:rPr lang="en-US" altLang="zh-TW" sz="2000" u="sng" dirty="0"/>
              <a:t>benign disease</a:t>
            </a:r>
            <a:r>
              <a:rPr lang="zh-TW" altLang="en-US" sz="2000" u="sng" dirty="0"/>
              <a:t>，說明一下</a:t>
            </a:r>
            <a:r>
              <a:rPr lang="zh-TW" altLang="en-US" sz="2000" dirty="0" smtClean="0"/>
              <a:t>。</a:t>
            </a:r>
            <a:endParaRPr lang="en-US" altLang="zh-TW" sz="2000" dirty="0" smtClean="0"/>
          </a:p>
          <a:p>
            <a:pPr marL="127000" indent="0">
              <a:lnSpc>
                <a:spcPct val="150000"/>
              </a:lnSpc>
              <a:spcBef>
                <a:spcPts val="0"/>
              </a:spcBef>
              <a:buSzPts val="1600"/>
              <a:buNone/>
            </a:pPr>
            <a:r>
              <a:rPr lang="en-US" altLang="zh-TW" sz="2000" dirty="0"/>
              <a:t> </a:t>
            </a:r>
            <a:r>
              <a:rPr lang="en-US" altLang="zh-TW" sz="2000" dirty="0" smtClean="0"/>
              <a:t>   A: </a:t>
            </a:r>
            <a:r>
              <a:rPr lang="en-US" altLang="zh-TW" sz="2000" dirty="0" err="1" smtClean="0"/>
              <a:t>Tx</a:t>
            </a:r>
            <a:r>
              <a:rPr lang="en-US" altLang="zh-TW" sz="2000" dirty="0" smtClean="0"/>
              <a:t> of Keloid</a:t>
            </a:r>
            <a:r>
              <a:rPr lang="en-US" altLang="zh-TW" sz="2000" dirty="0"/>
              <a:t>: </a:t>
            </a:r>
            <a:r>
              <a:rPr lang="en-US" altLang="zh-TW" sz="2000" dirty="0" smtClean="0"/>
              <a:t>surgery, RT, steroid injection, </a:t>
            </a:r>
            <a:r>
              <a:rPr lang="en-US" altLang="zh-TW" sz="2000" dirty="0" err="1" smtClean="0"/>
              <a:t>cryotherapy</a:t>
            </a:r>
            <a:r>
              <a:rPr lang="en-US" altLang="zh-TW" sz="2000" dirty="0" smtClean="0"/>
              <a:t>, laser…</a:t>
            </a:r>
          </a:p>
          <a:p>
            <a:pPr marL="812800" lvl="1">
              <a:lnSpc>
                <a:spcPct val="150000"/>
              </a:lnSpc>
              <a:spcBef>
                <a:spcPts val="0"/>
              </a:spcBef>
              <a:buSzPts val="1600"/>
            </a:pPr>
            <a:r>
              <a:rPr lang="en-US" altLang="zh-TW" sz="1600" dirty="0"/>
              <a:t>S</a:t>
            </a:r>
            <a:r>
              <a:rPr lang="en-US" altLang="zh-TW" sz="1600" dirty="0" smtClean="0"/>
              <a:t>teroid </a:t>
            </a:r>
            <a:r>
              <a:rPr lang="en-US" altLang="zh-TW" sz="1600" dirty="0"/>
              <a:t>control </a:t>
            </a:r>
            <a:r>
              <a:rPr lang="en-US" altLang="zh-TW" sz="1600" dirty="0" smtClean="0"/>
              <a:t>rate: 60%/ RT </a:t>
            </a:r>
            <a:r>
              <a:rPr lang="en-US" altLang="zh-TW" sz="1600" dirty="0"/>
              <a:t>control rate: </a:t>
            </a:r>
            <a:r>
              <a:rPr lang="en-US" altLang="zh-TW" sz="1600" dirty="0" smtClean="0"/>
              <a:t>65-90%</a:t>
            </a:r>
          </a:p>
          <a:p>
            <a:pPr marL="812800" lvl="1">
              <a:lnSpc>
                <a:spcPct val="150000"/>
              </a:lnSpc>
              <a:spcBef>
                <a:spcPts val="0"/>
              </a:spcBef>
              <a:buSzPts val="1600"/>
            </a:pPr>
            <a:r>
              <a:rPr lang="en-US" altLang="zh-TW" sz="1600" dirty="0" smtClean="0"/>
              <a:t>post-op </a:t>
            </a:r>
            <a:r>
              <a:rPr lang="en-US" altLang="zh-TW" sz="1600" dirty="0"/>
              <a:t>RT </a:t>
            </a:r>
            <a:r>
              <a:rPr lang="en-US" altLang="zh-TW" sz="1600" dirty="0" smtClean="0"/>
              <a:t>timing: within 24hrs</a:t>
            </a:r>
          </a:p>
          <a:p>
            <a:pPr marL="812800" lvl="1">
              <a:lnSpc>
                <a:spcPct val="150000"/>
              </a:lnSpc>
              <a:spcBef>
                <a:spcPts val="0"/>
              </a:spcBef>
              <a:buSzPts val="1600"/>
            </a:pPr>
            <a:r>
              <a:rPr lang="en-US" altLang="zh-TW" sz="1600" dirty="0" err="1" smtClean="0"/>
              <a:t>QoL</a:t>
            </a:r>
            <a:r>
              <a:rPr lang="en-US" altLang="zh-TW" sz="1600" dirty="0" smtClean="0"/>
              <a:t> improved, but RT side effect includes: hyperpigmentation, </a:t>
            </a:r>
            <a:r>
              <a:rPr lang="en-US" altLang="zh-TW" sz="1600" dirty="0" err="1" smtClean="0"/>
              <a:t>pruritis</a:t>
            </a:r>
            <a:r>
              <a:rPr lang="en-US" altLang="zh-TW" sz="1600" dirty="0" smtClean="0"/>
              <a:t> and erythema </a:t>
            </a:r>
            <a:r>
              <a:rPr lang="zh-TW" altLang="en-US" sz="1600" dirty="0" smtClean="0"/>
              <a:t>。 </a:t>
            </a:r>
            <a:endParaRPr lang="zh-TW" altLang="en-US" sz="1600" dirty="0"/>
          </a:p>
          <a:p>
            <a:pPr marL="457200" lvl="0" indent="-330200">
              <a:lnSpc>
                <a:spcPct val="150000"/>
              </a:lnSpc>
              <a:spcBef>
                <a:spcPts val="0"/>
              </a:spcBef>
              <a:buSzPts val="1600"/>
              <a:buAutoNum type="arabicPeriod"/>
            </a:pPr>
            <a:endParaRPr lang="en-US" altLang="zh-TW" dirty="0"/>
          </a:p>
          <a:p>
            <a:pPr marL="457200" lvl="0" indent="-330200">
              <a:lnSpc>
                <a:spcPct val="150000"/>
              </a:lnSpc>
              <a:spcBef>
                <a:spcPts val="0"/>
              </a:spcBef>
              <a:buSzPts val="1600"/>
              <a:buAutoNum type="arabicPeriod"/>
            </a:pPr>
            <a:endParaRPr lang="zh-TW" altLang="en-US" dirty="0" smtClean="0"/>
          </a:p>
        </p:txBody>
      </p:sp>
    </p:spTree>
    <p:extLst>
      <p:ext uri="{BB962C8B-B14F-4D97-AF65-F5344CB8AC3E}">
        <p14:creationId xmlns:p14="http://schemas.microsoft.com/office/powerpoint/2010/main" val="21116219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p:txBody>
          <a:bodyPr/>
          <a:lstStyle/>
          <a:p>
            <a:r>
              <a:rPr lang="en-US" altLang="zh-TW" dirty="0"/>
              <a:t>RT to benign disease</a:t>
            </a:r>
            <a:r>
              <a:rPr lang="zh-TW" altLang="en-US" dirty="0"/>
              <a:t>有哪些</a:t>
            </a:r>
            <a:r>
              <a:rPr lang="en-US" altLang="zh-TW" dirty="0"/>
              <a:t>indication? </a:t>
            </a:r>
          </a:p>
          <a:p>
            <a:r>
              <a:rPr lang="zh-TW" altLang="en-US" dirty="0"/>
              <a:t>和病人解釋用</a:t>
            </a:r>
            <a:r>
              <a:rPr lang="en-US" altLang="zh-TW" dirty="0"/>
              <a:t>RT</a:t>
            </a:r>
            <a:r>
              <a:rPr lang="zh-TW" altLang="en-US" dirty="0"/>
              <a:t>治療</a:t>
            </a:r>
            <a:r>
              <a:rPr lang="en-US" altLang="zh-TW" dirty="0"/>
              <a:t>benign</a:t>
            </a:r>
            <a:r>
              <a:rPr lang="zh-TW" altLang="en-US" dirty="0"/>
              <a:t>時要注意甚麼</a:t>
            </a:r>
            <a:r>
              <a:rPr lang="en-US" altLang="zh-TW" dirty="0"/>
              <a:t>? </a:t>
            </a:r>
          </a:p>
          <a:p>
            <a:r>
              <a:rPr lang="zh-TW" altLang="en-US" dirty="0"/>
              <a:t>問</a:t>
            </a:r>
            <a:r>
              <a:rPr lang="en-US" altLang="zh-TW" dirty="0"/>
              <a:t>Grave’ disease </a:t>
            </a:r>
            <a:r>
              <a:rPr lang="zh-TW" altLang="en-US" dirty="0"/>
              <a:t>造成</a:t>
            </a:r>
            <a:r>
              <a:rPr lang="en-US" altLang="zh-TW" dirty="0" err="1"/>
              <a:t>ophthalmopathy</a:t>
            </a:r>
            <a:r>
              <a:rPr lang="zh-TW" altLang="en-US" dirty="0"/>
              <a:t>如何治療</a:t>
            </a:r>
            <a:r>
              <a:rPr lang="en-US" altLang="zh-TW" dirty="0"/>
              <a:t>? </a:t>
            </a:r>
          </a:p>
          <a:p>
            <a:r>
              <a:rPr lang="zh-TW" altLang="en-US" dirty="0"/>
              <a:t>問</a:t>
            </a:r>
            <a:r>
              <a:rPr lang="en-US" altLang="zh-TW" dirty="0"/>
              <a:t>Keloid</a:t>
            </a:r>
            <a:r>
              <a:rPr lang="zh-TW" altLang="en-US" dirty="0"/>
              <a:t>如何治療</a:t>
            </a:r>
            <a:r>
              <a:rPr lang="en-US" altLang="zh-TW" dirty="0"/>
              <a:t>? RT </a:t>
            </a:r>
            <a:r>
              <a:rPr lang="zh-TW" altLang="en-US" dirty="0"/>
              <a:t>治療的</a:t>
            </a:r>
            <a:r>
              <a:rPr lang="en-US" altLang="zh-TW" dirty="0"/>
              <a:t>mechanism? </a:t>
            </a:r>
            <a:endParaRPr lang="zh-TW" altLang="en-US" dirty="0"/>
          </a:p>
        </p:txBody>
      </p:sp>
      <p:sp>
        <p:nvSpPr>
          <p:cNvPr id="4" name="標題 1"/>
          <p:cNvSpPr>
            <a:spLocks noGrp="1"/>
          </p:cNvSpPr>
          <p:nvPr>
            <p:ph type="title"/>
          </p:nvPr>
        </p:nvSpPr>
        <p:spPr/>
        <p:txBody>
          <a:bodyPr>
            <a:normAutofit/>
          </a:bodyPr>
          <a:lstStyle/>
          <a:p>
            <a:r>
              <a:rPr lang="en-US" altLang="zh-TW" dirty="0" smtClean="0"/>
              <a:t>2014/</a:t>
            </a:r>
            <a:r>
              <a:rPr lang="zh-TW" altLang="en-US" dirty="0" smtClean="0"/>
              <a:t>劉岱瑋</a:t>
            </a:r>
            <a:endParaRPr lang="zh-TW" altLang="en-US" dirty="0"/>
          </a:p>
        </p:txBody>
      </p:sp>
    </p:spTree>
    <p:extLst>
      <p:ext uri="{BB962C8B-B14F-4D97-AF65-F5344CB8AC3E}">
        <p14:creationId xmlns:p14="http://schemas.microsoft.com/office/powerpoint/2010/main" val="3334059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2013/</a:t>
            </a:r>
            <a:r>
              <a:rPr lang="zh-TW" altLang="en-US" dirty="0" smtClean="0"/>
              <a:t>吳孟浩</a:t>
            </a:r>
            <a:endParaRPr lang="zh-TW" altLang="en-US" dirty="0"/>
          </a:p>
        </p:txBody>
      </p:sp>
      <p:sp>
        <p:nvSpPr>
          <p:cNvPr id="3" name="內容版面配置區 2"/>
          <p:cNvSpPr>
            <a:spLocks noGrp="1"/>
          </p:cNvSpPr>
          <p:nvPr>
            <p:ph idx="1"/>
          </p:nvPr>
        </p:nvSpPr>
        <p:spPr/>
        <p:txBody>
          <a:bodyPr/>
          <a:lstStyle/>
          <a:p>
            <a:r>
              <a:rPr lang="en-US" altLang="zh-TW" dirty="0" smtClean="0"/>
              <a:t>1. </a:t>
            </a:r>
            <a:r>
              <a:rPr lang="zh-TW" altLang="en-US" dirty="0" smtClean="0"/>
              <a:t>大概說明</a:t>
            </a:r>
            <a:r>
              <a:rPr lang="en-US" altLang="zh-TW" dirty="0" err="1" smtClean="0"/>
              <a:t>chordoma</a:t>
            </a:r>
            <a:r>
              <a:rPr lang="zh-TW" altLang="en-US" dirty="0" smtClean="0"/>
              <a:t>，好發部位、性別以及大概治療的劑量</a:t>
            </a:r>
            <a:endParaRPr lang="en-US" altLang="zh-TW" dirty="0" smtClean="0"/>
          </a:p>
          <a:p>
            <a:pPr marL="0" indent="0">
              <a:buNone/>
            </a:pPr>
            <a:r>
              <a:rPr lang="en-US" altLang="zh-TW" dirty="0" smtClean="0"/>
              <a:t>A: 50% </a:t>
            </a:r>
            <a:r>
              <a:rPr lang="en-US" altLang="zh-TW" dirty="0" err="1" smtClean="0"/>
              <a:t>sacrococcygeal</a:t>
            </a:r>
            <a:r>
              <a:rPr lang="en-US" altLang="zh-TW" dirty="0" smtClean="0"/>
              <a:t>, 35% intracranial, 15% cervical vertebrae; male predominant (2~3:1), OP→60Gy or inoperable→66-70Gy</a:t>
            </a:r>
          </a:p>
        </p:txBody>
      </p:sp>
    </p:spTree>
    <p:extLst>
      <p:ext uri="{BB962C8B-B14F-4D97-AF65-F5344CB8AC3E}">
        <p14:creationId xmlns:p14="http://schemas.microsoft.com/office/powerpoint/2010/main" val="270398865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2011/</a:t>
            </a:r>
            <a:r>
              <a:rPr lang="zh-TW" altLang="zh-TW" dirty="0" smtClean="0"/>
              <a:t>蔡若婷</a:t>
            </a:r>
            <a:endParaRPr lang="zh-TW" altLang="en-US" dirty="0"/>
          </a:p>
        </p:txBody>
      </p:sp>
      <p:sp>
        <p:nvSpPr>
          <p:cNvPr id="3" name="內容版面配置區 2"/>
          <p:cNvSpPr>
            <a:spLocks noGrp="1"/>
          </p:cNvSpPr>
          <p:nvPr>
            <p:ph idx="1"/>
          </p:nvPr>
        </p:nvSpPr>
        <p:spPr/>
        <p:txBody>
          <a:bodyPr>
            <a:normAutofit fontScale="85000" lnSpcReduction="20000"/>
          </a:bodyPr>
          <a:lstStyle/>
          <a:p>
            <a:pPr lvl="0"/>
            <a:r>
              <a:rPr lang="zh-TW" altLang="zh-TW" dirty="0" smtClean="0"/>
              <a:t>常見</a:t>
            </a:r>
            <a:r>
              <a:rPr lang="zh-TW" altLang="zh-TW" dirty="0"/>
              <a:t>的</a:t>
            </a:r>
            <a:r>
              <a:rPr lang="en-US" altLang="zh-TW" dirty="0"/>
              <a:t>benign disease</a:t>
            </a:r>
            <a:r>
              <a:rPr lang="zh-TW" altLang="zh-TW" dirty="0"/>
              <a:t>有哪些</a:t>
            </a:r>
            <a:r>
              <a:rPr lang="en-US" altLang="zh-TW" dirty="0"/>
              <a:t>? RT</a:t>
            </a:r>
            <a:r>
              <a:rPr lang="zh-TW" altLang="zh-TW" dirty="0"/>
              <a:t>的角色為何</a:t>
            </a:r>
            <a:r>
              <a:rPr lang="en-US" altLang="zh-TW" dirty="0"/>
              <a:t>? </a:t>
            </a:r>
            <a:r>
              <a:rPr lang="zh-TW" altLang="zh-TW" dirty="0"/>
              <a:t>可抑制哪些結構及使用</a:t>
            </a:r>
            <a:r>
              <a:rPr lang="en-US" altLang="zh-TW" dirty="0"/>
              <a:t>?</a:t>
            </a:r>
            <a:endParaRPr lang="zh-TW" altLang="zh-TW" dirty="0"/>
          </a:p>
          <a:p>
            <a:pPr lvl="0"/>
            <a:r>
              <a:rPr lang="en-US" altLang="zh-TW" dirty="0" smtClean="0"/>
              <a:t>AVM</a:t>
            </a:r>
            <a:r>
              <a:rPr lang="zh-TW" altLang="zh-TW" dirty="0"/>
              <a:t>使用</a:t>
            </a:r>
            <a:r>
              <a:rPr lang="en-US" altLang="zh-TW" dirty="0"/>
              <a:t>SRS</a:t>
            </a:r>
            <a:r>
              <a:rPr lang="zh-TW" altLang="zh-TW" dirty="0"/>
              <a:t>以及手術的適應症</a:t>
            </a:r>
            <a:r>
              <a:rPr lang="en-US" altLang="zh-TW" dirty="0"/>
              <a:t>? </a:t>
            </a:r>
            <a:r>
              <a:rPr lang="zh-TW" altLang="zh-TW" dirty="0"/>
              <a:t>要如何選擇治療方式</a:t>
            </a:r>
            <a:r>
              <a:rPr lang="en-US" altLang="zh-TW" dirty="0"/>
              <a:t>?</a:t>
            </a:r>
            <a:r>
              <a:rPr lang="zh-TW" altLang="zh-TW" dirty="0"/>
              <a:t>後續的</a:t>
            </a:r>
            <a:r>
              <a:rPr lang="en-US" altLang="zh-TW" dirty="0"/>
              <a:t>survey</a:t>
            </a:r>
            <a:r>
              <a:rPr lang="zh-TW" altLang="zh-TW" dirty="0"/>
              <a:t>包含哪些</a:t>
            </a:r>
            <a:r>
              <a:rPr lang="en-US" altLang="zh-TW" dirty="0"/>
              <a:t>? AVM</a:t>
            </a:r>
            <a:r>
              <a:rPr lang="zh-TW" altLang="zh-TW" dirty="0"/>
              <a:t>可分哪幾個</a:t>
            </a:r>
            <a:r>
              <a:rPr lang="en-US" altLang="zh-TW" dirty="0"/>
              <a:t>grade? 2.5cm</a:t>
            </a:r>
            <a:r>
              <a:rPr lang="zh-TW" altLang="zh-TW" dirty="0"/>
              <a:t>的</a:t>
            </a:r>
            <a:r>
              <a:rPr lang="en-US" altLang="zh-TW" dirty="0"/>
              <a:t>lesion</a:t>
            </a:r>
            <a:r>
              <a:rPr lang="zh-TW" altLang="zh-TW" dirty="0"/>
              <a:t>預計</a:t>
            </a:r>
            <a:r>
              <a:rPr lang="en-US" altLang="zh-TW" dirty="0"/>
              <a:t>response rate</a:t>
            </a:r>
            <a:r>
              <a:rPr lang="zh-TW" altLang="zh-TW" dirty="0"/>
              <a:t>會有多少？放射治療是針對血管的甚麼細胞的作用</a:t>
            </a:r>
            <a:r>
              <a:rPr lang="en-US" altLang="zh-TW" dirty="0"/>
              <a:t>? </a:t>
            </a:r>
            <a:r>
              <a:rPr lang="zh-TW" altLang="zh-TW" dirty="0"/>
              <a:t>給</a:t>
            </a:r>
            <a:r>
              <a:rPr lang="en-US" altLang="zh-TW" dirty="0"/>
              <a:t>RT</a:t>
            </a:r>
            <a:r>
              <a:rPr lang="zh-TW" altLang="zh-TW" dirty="0"/>
              <a:t>要注意哪些部分</a:t>
            </a:r>
            <a:r>
              <a:rPr lang="en-US" altLang="zh-TW" dirty="0"/>
              <a:t>? (constrain</a:t>
            </a:r>
            <a:r>
              <a:rPr lang="zh-TW" altLang="zh-TW" dirty="0"/>
              <a:t>及其</a:t>
            </a:r>
            <a:r>
              <a:rPr lang="en-US" altLang="zh-TW" dirty="0"/>
              <a:t>dose)</a:t>
            </a:r>
            <a:r>
              <a:rPr lang="zh-TW" altLang="zh-TW" dirty="0"/>
              <a:t>治療後效果各為如何</a:t>
            </a:r>
            <a:r>
              <a:rPr lang="en-US" altLang="zh-TW" dirty="0"/>
              <a:t>?</a:t>
            </a:r>
            <a:r>
              <a:rPr lang="zh-TW" altLang="zh-TW" dirty="0"/>
              <a:t>出現的副作用比較</a:t>
            </a:r>
            <a:r>
              <a:rPr lang="en-US" altLang="zh-TW" dirty="0"/>
              <a:t>?</a:t>
            </a:r>
            <a:endParaRPr lang="zh-TW" altLang="zh-TW" dirty="0"/>
          </a:p>
          <a:p>
            <a:pPr lvl="0"/>
            <a:r>
              <a:rPr lang="en-US" altLang="zh-TW" dirty="0"/>
              <a:t>Acoustic neuroma</a:t>
            </a:r>
            <a:r>
              <a:rPr lang="zh-TW" altLang="zh-TW" dirty="0"/>
              <a:t>使用</a:t>
            </a:r>
            <a:r>
              <a:rPr lang="en-US" altLang="zh-TW" dirty="0"/>
              <a:t>SRS, FSRS, </a:t>
            </a:r>
            <a:r>
              <a:rPr lang="zh-TW" altLang="zh-TW" dirty="0"/>
              <a:t>手術的適應症</a:t>
            </a:r>
            <a:r>
              <a:rPr lang="en-US" altLang="zh-TW" dirty="0"/>
              <a:t>? Acoustic neuroma</a:t>
            </a:r>
            <a:r>
              <a:rPr lang="zh-TW" altLang="zh-TW" dirty="0"/>
              <a:t>可分哪幾個</a:t>
            </a:r>
            <a:r>
              <a:rPr lang="en-US" altLang="zh-TW" dirty="0"/>
              <a:t>grade? </a:t>
            </a:r>
            <a:r>
              <a:rPr lang="zh-TW" altLang="zh-TW" dirty="0"/>
              <a:t>給</a:t>
            </a:r>
            <a:r>
              <a:rPr lang="en-US" altLang="zh-TW" dirty="0"/>
              <a:t>RT</a:t>
            </a:r>
            <a:r>
              <a:rPr lang="zh-TW" altLang="zh-TW" dirty="0"/>
              <a:t>要注意哪些部分</a:t>
            </a:r>
            <a:r>
              <a:rPr lang="en-US" altLang="zh-TW" dirty="0"/>
              <a:t>? (constrain</a:t>
            </a:r>
            <a:r>
              <a:rPr lang="zh-TW" altLang="zh-TW" dirty="0"/>
              <a:t>及其</a:t>
            </a:r>
            <a:r>
              <a:rPr lang="en-US" altLang="zh-TW" dirty="0"/>
              <a:t>dose)</a:t>
            </a:r>
            <a:r>
              <a:rPr lang="zh-TW" altLang="zh-TW" dirty="0"/>
              <a:t>治療後效果各為如何</a:t>
            </a:r>
            <a:r>
              <a:rPr lang="en-US" altLang="zh-TW" dirty="0"/>
              <a:t>?</a:t>
            </a:r>
            <a:r>
              <a:rPr lang="zh-TW" altLang="zh-TW" dirty="0"/>
              <a:t>出現的副作用比較</a:t>
            </a:r>
            <a:r>
              <a:rPr lang="en-US" altLang="zh-TW" dirty="0"/>
              <a:t>?</a:t>
            </a:r>
            <a:endParaRPr lang="zh-TW" altLang="zh-TW" dirty="0"/>
          </a:p>
          <a:p>
            <a:endParaRPr lang="zh-TW" altLang="en-US" dirty="0"/>
          </a:p>
        </p:txBody>
      </p:sp>
    </p:spTree>
    <p:extLst>
      <p:ext uri="{BB962C8B-B14F-4D97-AF65-F5344CB8AC3E}">
        <p14:creationId xmlns:p14="http://schemas.microsoft.com/office/powerpoint/2010/main" val="136727224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fontScale="77500" lnSpcReduction="20000"/>
          </a:bodyPr>
          <a:lstStyle/>
          <a:p>
            <a:r>
              <a:rPr lang="zh-TW" altLang="zh-TW" dirty="0"/>
              <a:t>蔡醫師</a:t>
            </a:r>
          </a:p>
          <a:p>
            <a:pPr lvl="0"/>
            <a:r>
              <a:rPr lang="zh-TW" altLang="zh-TW" u="sng" dirty="0"/>
              <a:t>講一些</a:t>
            </a:r>
            <a:r>
              <a:rPr lang="en-US" altLang="zh-TW" u="sng" dirty="0"/>
              <a:t>benign disease RT</a:t>
            </a:r>
            <a:r>
              <a:rPr lang="zh-TW" altLang="zh-TW" u="sng" dirty="0"/>
              <a:t>的應用的原理</a:t>
            </a:r>
            <a:r>
              <a:rPr lang="en-US" altLang="zh-TW" dirty="0"/>
              <a:t>…</a:t>
            </a:r>
            <a:r>
              <a:rPr lang="zh-TW" altLang="zh-TW" dirty="0"/>
              <a:t>能想到的就都講吧</a:t>
            </a:r>
            <a:r>
              <a:rPr lang="en-US" altLang="zh-TW" dirty="0"/>
              <a:t>, </a:t>
            </a:r>
            <a:r>
              <a:rPr lang="zh-TW" altLang="zh-TW" dirty="0"/>
              <a:t>例如</a:t>
            </a:r>
            <a:r>
              <a:rPr lang="en-US" altLang="zh-TW" dirty="0"/>
              <a:t>AVM</a:t>
            </a:r>
            <a:r>
              <a:rPr lang="zh-TW" altLang="zh-TW" dirty="0"/>
              <a:t>是用大劑量造成</a:t>
            </a:r>
            <a:r>
              <a:rPr lang="en-US" altLang="zh-TW" dirty="0"/>
              <a:t>pathologic abnormal vessel obliteration, </a:t>
            </a:r>
            <a:r>
              <a:rPr lang="zh-TW" altLang="zh-TW" dirty="0"/>
              <a:t>小劑量則可降低</a:t>
            </a:r>
            <a:r>
              <a:rPr lang="en-US" altLang="zh-TW" dirty="0"/>
              <a:t>inflammation, </a:t>
            </a:r>
            <a:r>
              <a:rPr lang="zh-TW" altLang="zh-TW" dirty="0"/>
              <a:t>如甲狀腺凸眼症</a:t>
            </a:r>
            <a:r>
              <a:rPr lang="en-US" altLang="zh-TW" dirty="0"/>
              <a:t>, keloid</a:t>
            </a:r>
            <a:r>
              <a:rPr lang="zh-TW" altLang="zh-TW" dirty="0"/>
              <a:t>是</a:t>
            </a:r>
            <a:r>
              <a:rPr lang="en-US" altLang="zh-TW" dirty="0"/>
              <a:t>RT</a:t>
            </a:r>
            <a:r>
              <a:rPr lang="zh-TW" altLang="zh-TW" dirty="0"/>
              <a:t>抑制</a:t>
            </a:r>
            <a:r>
              <a:rPr lang="en-US" altLang="zh-TW" dirty="0"/>
              <a:t>fibroblast proliferation, HO</a:t>
            </a:r>
            <a:r>
              <a:rPr lang="zh-TW" altLang="zh-TW" dirty="0"/>
              <a:t>是抑制</a:t>
            </a:r>
            <a:r>
              <a:rPr lang="en-US" altLang="zh-TW" dirty="0"/>
              <a:t>hip joint</a:t>
            </a:r>
            <a:r>
              <a:rPr lang="zh-TW" altLang="zh-TW" dirty="0"/>
              <a:t>附近組織的</a:t>
            </a:r>
            <a:r>
              <a:rPr lang="en-US" altLang="zh-TW" dirty="0"/>
              <a:t>ossification…</a:t>
            </a:r>
            <a:r>
              <a:rPr lang="en-US" altLang="zh-TW" dirty="0" err="1"/>
              <a:t>blablabla</a:t>
            </a:r>
            <a:r>
              <a:rPr lang="en-US" altLang="zh-TW" dirty="0"/>
              <a:t>…</a:t>
            </a:r>
            <a:endParaRPr lang="zh-TW" altLang="zh-TW" dirty="0"/>
          </a:p>
          <a:p>
            <a:pPr lvl="0"/>
            <a:r>
              <a:rPr lang="en-US" altLang="zh-TW" u="sng" dirty="0"/>
              <a:t>AVM dose </a:t>
            </a:r>
            <a:r>
              <a:rPr lang="zh-TW" altLang="zh-TW" u="sng" dirty="0"/>
              <a:t>要怎麼給 </a:t>
            </a:r>
            <a:r>
              <a:rPr lang="zh-TW" altLang="zh-TW" dirty="0"/>
              <a:t>我抬出了</a:t>
            </a:r>
            <a:r>
              <a:rPr lang="en-US" altLang="zh-TW" dirty="0"/>
              <a:t>RTOG9005</a:t>
            </a:r>
            <a:r>
              <a:rPr lang="zh-TW" altLang="zh-TW" dirty="0"/>
              <a:t>分</a:t>
            </a:r>
            <a:r>
              <a:rPr lang="en-US" altLang="zh-TW" dirty="0"/>
              <a:t>size</a:t>
            </a:r>
            <a:r>
              <a:rPr lang="zh-TW" altLang="zh-TW" dirty="0"/>
              <a:t>的</a:t>
            </a:r>
            <a:r>
              <a:rPr lang="en-US" altLang="zh-TW" dirty="0"/>
              <a:t>tolerance dose, </a:t>
            </a:r>
            <a:r>
              <a:rPr lang="zh-TW" altLang="zh-TW" dirty="0"/>
              <a:t>不過蔡醫師問的是要</a:t>
            </a:r>
            <a:r>
              <a:rPr lang="zh-TW" altLang="zh-TW" u="sng" dirty="0"/>
              <a:t>怎麼決定這個病人適不適合做</a:t>
            </a:r>
            <a:r>
              <a:rPr lang="en-US" altLang="zh-TW" u="sng" dirty="0"/>
              <a:t>RT</a:t>
            </a:r>
            <a:r>
              <a:rPr lang="en-US" altLang="zh-TW" dirty="0"/>
              <a:t>, </a:t>
            </a:r>
            <a:r>
              <a:rPr lang="zh-TW" altLang="zh-TW" dirty="0"/>
              <a:t>我有再扯出</a:t>
            </a:r>
            <a:r>
              <a:rPr lang="en-US" altLang="zh-TW" dirty="0"/>
              <a:t>location, </a:t>
            </a:r>
            <a:r>
              <a:rPr lang="zh-TW" altLang="zh-TW" dirty="0"/>
              <a:t>太靠近</a:t>
            </a:r>
            <a:r>
              <a:rPr lang="en-US" altLang="zh-TW" dirty="0"/>
              <a:t>brainstem or optic apparatus</a:t>
            </a:r>
            <a:r>
              <a:rPr lang="zh-TW" altLang="zh-TW" dirty="0"/>
              <a:t>可能不適合</a:t>
            </a:r>
            <a:r>
              <a:rPr lang="en-US" altLang="zh-TW" dirty="0"/>
              <a:t>  </a:t>
            </a:r>
            <a:r>
              <a:rPr lang="zh-TW" altLang="zh-TW" dirty="0"/>
              <a:t>不過蔡醫師想問的是一個某某</a:t>
            </a:r>
            <a:r>
              <a:rPr lang="en-US" altLang="zh-TW" dirty="0"/>
              <a:t>grading</a:t>
            </a:r>
            <a:r>
              <a:rPr lang="zh-TW" altLang="zh-TW" dirty="0"/>
              <a:t>的東西決定是不適合做</a:t>
            </a:r>
            <a:r>
              <a:rPr lang="en-US" altLang="zh-TW" dirty="0"/>
              <a:t>RT…</a:t>
            </a:r>
            <a:r>
              <a:rPr lang="zh-TW" altLang="zh-TW" dirty="0"/>
              <a:t>又順勢問</a:t>
            </a:r>
            <a:r>
              <a:rPr lang="en-US" altLang="zh-TW" dirty="0"/>
              <a:t>brainstem SRS limited dose </a:t>
            </a:r>
            <a:r>
              <a:rPr lang="en-US" altLang="zh-TW" dirty="0" smtClean="0"/>
              <a:t>constraint</a:t>
            </a:r>
            <a:endParaRPr lang="zh-TW" altLang="zh-TW" dirty="0"/>
          </a:p>
        </p:txBody>
      </p:sp>
    </p:spTree>
    <p:extLst>
      <p:ext uri="{BB962C8B-B14F-4D97-AF65-F5344CB8AC3E}">
        <p14:creationId xmlns:p14="http://schemas.microsoft.com/office/powerpoint/2010/main" val="11884241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smtClean="0"/>
              <a:t>Palliation</a:t>
            </a:r>
            <a:endParaRPr lang="zh-TW" altLang="en-US" dirty="0"/>
          </a:p>
        </p:txBody>
      </p:sp>
      <p:sp>
        <p:nvSpPr>
          <p:cNvPr id="3" name="副標題 2"/>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19185494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67544" y="12170"/>
            <a:ext cx="8229600" cy="968558"/>
          </a:xfrm>
        </p:spPr>
        <p:txBody>
          <a:bodyPr/>
          <a:lstStyle/>
          <a:p>
            <a:r>
              <a:rPr lang="en-US" altLang="zh-TW" dirty="0" smtClean="0"/>
              <a:t>2015,2018/</a:t>
            </a:r>
            <a:r>
              <a:rPr lang="zh-TW" altLang="en-US" dirty="0" smtClean="0"/>
              <a:t>吳錦榕</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457200" y="908720"/>
                <a:ext cx="8229600" cy="6480720"/>
              </a:xfrm>
            </p:spPr>
            <p:txBody>
              <a:bodyPr>
                <a:normAutofit fontScale="47500" lnSpcReduction="20000"/>
              </a:bodyPr>
              <a:lstStyle/>
              <a:p>
                <a:pPr marL="127000" lvl="0" indent="0">
                  <a:lnSpc>
                    <a:spcPct val="150000"/>
                  </a:lnSpc>
                  <a:spcBef>
                    <a:spcPts val="0"/>
                  </a:spcBef>
                  <a:buSzPts val="1600"/>
                  <a:buNone/>
                </a:pPr>
                <a:r>
                  <a:rPr lang="en-GB" altLang="zh-TW" sz="2900" dirty="0" smtClean="0"/>
                  <a:t>2018</a:t>
                </a:r>
              </a:p>
              <a:p>
                <a:pPr marL="457200" lvl="0" indent="-330200">
                  <a:lnSpc>
                    <a:spcPct val="150000"/>
                  </a:lnSpc>
                  <a:spcBef>
                    <a:spcPts val="0"/>
                  </a:spcBef>
                  <a:buSzPts val="1600"/>
                  <a:buAutoNum type="arabicPeriod"/>
                </a:pPr>
                <a:r>
                  <a:rPr lang="en-GB" altLang="zh-TW" sz="2900" u="sng" dirty="0" smtClean="0"/>
                  <a:t>Palliation </a:t>
                </a:r>
                <a:r>
                  <a:rPr lang="zh-TW" altLang="en-US" sz="2900" u="sng" dirty="0" smtClean="0"/>
                  <a:t>目前 </a:t>
                </a:r>
                <a:r>
                  <a:rPr lang="en-GB" altLang="zh-TW" sz="2900" u="sng" dirty="0" smtClean="0"/>
                  <a:t>RT </a:t>
                </a:r>
                <a:r>
                  <a:rPr lang="zh-TW" altLang="en-US" sz="2900" u="sng" dirty="0" smtClean="0"/>
                  <a:t>有什麼角色？ </a:t>
                </a:r>
                <a:endParaRPr lang="en-US" altLang="zh-TW" sz="2900" u="sng" dirty="0" smtClean="0"/>
              </a:p>
              <a:p>
                <a:pPr marL="127000" indent="0">
                  <a:lnSpc>
                    <a:spcPct val="150000"/>
                  </a:lnSpc>
                  <a:spcBef>
                    <a:spcPts val="0"/>
                  </a:spcBef>
                  <a:buSzPts val="1600"/>
                  <a:buNone/>
                </a:pPr>
                <a:r>
                  <a:rPr lang="en-US" altLang="zh-TW" sz="2900" dirty="0"/>
                  <a:t> </a:t>
                </a:r>
                <a:r>
                  <a:rPr lang="en-US" altLang="zh-TW" sz="2900" dirty="0" smtClean="0"/>
                  <a:t>   A: </a:t>
                </a:r>
                <a:r>
                  <a:rPr lang="en-US" altLang="zh-TW" sz="2900" dirty="0"/>
                  <a:t>(</a:t>
                </a:r>
                <a:r>
                  <a:rPr lang="zh-TW" altLang="en-US" sz="2900" dirty="0"/>
                  <a:t>自由發揮</a:t>
                </a:r>
                <a:r>
                  <a:rPr lang="en-US" altLang="zh-TW" sz="2900" dirty="0" smtClean="0"/>
                  <a:t>)</a:t>
                </a:r>
              </a:p>
              <a:p>
                <a:pPr marL="984250" lvl="1" indent="-457200">
                  <a:lnSpc>
                    <a:spcPct val="150000"/>
                  </a:lnSpc>
                  <a:spcBef>
                    <a:spcPts val="0"/>
                  </a:spcBef>
                  <a:buSzPts val="1600"/>
                  <a:buFont typeface="+mj-lt"/>
                  <a:buAutoNum type="arabicPeriod"/>
                </a:pPr>
                <a:r>
                  <a:rPr lang="en-US" altLang="zh-TW" sz="2500" dirty="0" smtClean="0"/>
                  <a:t>Brain </a:t>
                </a:r>
                <a:r>
                  <a:rPr lang="en-US" altLang="zh-TW" sz="2500" dirty="0" err="1" smtClean="0"/>
                  <a:t>mets</a:t>
                </a:r>
                <a:endParaRPr lang="en-US" altLang="zh-TW" sz="2500" dirty="0" smtClean="0"/>
              </a:p>
              <a:p>
                <a:pPr marL="1270000" lvl="2" indent="-342900">
                  <a:lnSpc>
                    <a:spcPct val="150000"/>
                  </a:lnSpc>
                  <a:spcBef>
                    <a:spcPts val="0"/>
                  </a:spcBef>
                  <a:buSzPts val="1600"/>
                </a:pPr>
                <a:r>
                  <a:rPr lang="en-US" altLang="zh-TW" sz="2500" dirty="0" smtClean="0"/>
                  <a:t>Most common from: </a:t>
                </a:r>
                <a:r>
                  <a:rPr lang="en-US" altLang="zh-TW" sz="2500" b="1" dirty="0" smtClean="0"/>
                  <a:t>lung(40-50%) </a:t>
                </a:r>
                <a:r>
                  <a:rPr lang="en-US" altLang="zh-TW" sz="2500" dirty="0" smtClean="0"/>
                  <a:t>&gt; breast(15%) &gt; melanoma(10%)</a:t>
                </a:r>
              </a:p>
              <a:p>
                <a:pPr marL="1270000" lvl="2" indent="-342900">
                  <a:lnSpc>
                    <a:spcPct val="150000"/>
                  </a:lnSpc>
                  <a:spcBef>
                    <a:spcPts val="0"/>
                  </a:spcBef>
                  <a:buSzPts val="1600"/>
                </a:pPr>
                <a:r>
                  <a:rPr lang="en-US" altLang="zh-TW" sz="2500" b="1" dirty="0" smtClean="0"/>
                  <a:t>Median survival </a:t>
                </a:r>
                <a:r>
                  <a:rPr lang="en-US" altLang="zh-TW" sz="2500" dirty="0" smtClean="0"/>
                  <a:t>according to RTOG brain met RPA </a:t>
                </a:r>
                <a14:m>
                  <m:oMath xmlns:m="http://schemas.openxmlformats.org/officeDocument/2006/math">
                    <m:r>
                      <a:rPr lang="en-US" altLang="zh-TW" sz="2500" b="1" i="1" smtClean="0">
                        <a:latin typeface="Cambria Math"/>
                        <a:ea typeface="Cambria Math"/>
                      </a:rPr>
                      <m:t>≤</m:t>
                    </m:r>
                  </m:oMath>
                </a14:m>
                <a:r>
                  <a:rPr lang="en-US" altLang="zh-TW" sz="2500" b="1" dirty="0" smtClean="0"/>
                  <a:t> 7 months </a:t>
                </a:r>
                <a:r>
                  <a:rPr lang="en-US" altLang="zh-TW" sz="2500" dirty="0" smtClean="0"/>
                  <a:t>(</a:t>
                </a:r>
                <a:r>
                  <a:rPr lang="zh-TW" altLang="en-US" sz="2500" dirty="0" smtClean="0"/>
                  <a:t>上表</a:t>
                </a:r>
                <a:r>
                  <a:rPr lang="en-US" altLang="zh-TW" sz="2500" dirty="0" smtClean="0"/>
                  <a:t>)</a:t>
                </a:r>
              </a:p>
              <a:p>
                <a:pPr marL="1270000" lvl="2" indent="-342900">
                  <a:lnSpc>
                    <a:spcPct val="150000"/>
                  </a:lnSpc>
                  <a:spcBef>
                    <a:spcPts val="0"/>
                  </a:spcBef>
                  <a:buSzPts val="1600"/>
                </a:pPr>
                <a:r>
                  <a:rPr lang="en-US" altLang="zh-TW" sz="2500" dirty="0" smtClean="0"/>
                  <a:t>Most common WBRT dose: </a:t>
                </a:r>
                <a:r>
                  <a:rPr lang="en-US" altLang="zh-TW" sz="2500" b="1" dirty="0" smtClean="0"/>
                  <a:t>30 </a:t>
                </a:r>
                <a:r>
                  <a:rPr lang="en-US" altLang="zh-TW" sz="2500" b="1" dirty="0" err="1" smtClean="0"/>
                  <a:t>Gy</a:t>
                </a:r>
                <a:r>
                  <a:rPr lang="en-US" altLang="zh-TW" sz="2500" b="1" dirty="0" smtClean="0"/>
                  <a:t>/10Fx</a:t>
                </a:r>
                <a:r>
                  <a:rPr lang="en-US" altLang="zh-TW" sz="2500" dirty="0" smtClean="0"/>
                  <a:t>; 37.5Gy/15, 40 </a:t>
                </a:r>
                <a:r>
                  <a:rPr lang="en-US" altLang="zh-TW" sz="2500" dirty="0" err="1" smtClean="0"/>
                  <a:t>Gy</a:t>
                </a:r>
                <a:r>
                  <a:rPr lang="en-US" altLang="zh-TW" sz="2500" dirty="0" smtClean="0"/>
                  <a:t>/20 for good KPS &amp; longer life expectancy</a:t>
                </a:r>
              </a:p>
              <a:p>
                <a:pPr marL="1270000" lvl="2" indent="-342900">
                  <a:lnSpc>
                    <a:spcPct val="150000"/>
                  </a:lnSpc>
                  <a:spcBef>
                    <a:spcPts val="0"/>
                  </a:spcBef>
                  <a:buSzPts val="1600"/>
                </a:pPr>
                <a:r>
                  <a:rPr lang="en-US" altLang="zh-TW" sz="2500" dirty="0" smtClean="0"/>
                  <a:t>RTOG 9508 (SRS boost): </a:t>
                </a:r>
                <a:r>
                  <a:rPr lang="en-US" altLang="zh-TW" sz="2500" b="1" dirty="0" smtClean="0"/>
                  <a:t>WBRT+SRS</a:t>
                </a:r>
                <a:r>
                  <a:rPr lang="zh-TW" altLang="en-US" sz="2500" b="1" dirty="0" smtClean="0"/>
                  <a:t> ↑</a:t>
                </a:r>
                <a:r>
                  <a:rPr lang="en-US" altLang="zh-TW" sz="2500" b="1" dirty="0" smtClean="0"/>
                  <a:t>MS </a:t>
                </a:r>
                <a:r>
                  <a:rPr lang="en-US" altLang="zh-TW" sz="2500" dirty="0" smtClean="0"/>
                  <a:t>in </a:t>
                </a:r>
                <a:r>
                  <a:rPr lang="en-US" altLang="zh-TW" sz="2500" dirty="0" err="1" smtClean="0"/>
                  <a:t>p’t</a:t>
                </a:r>
                <a:r>
                  <a:rPr lang="en-US" altLang="zh-TW" sz="2500" dirty="0" smtClean="0"/>
                  <a:t> with single brain met/RPA class I/lung cancer primary</a:t>
                </a:r>
              </a:p>
              <a:p>
                <a:pPr marL="984250" lvl="1" indent="-457200">
                  <a:lnSpc>
                    <a:spcPct val="150000"/>
                  </a:lnSpc>
                  <a:spcBef>
                    <a:spcPts val="0"/>
                  </a:spcBef>
                  <a:buSzPts val="1600"/>
                  <a:buFont typeface="+mj-lt"/>
                  <a:buAutoNum type="arabicPeriod"/>
                </a:pPr>
                <a:r>
                  <a:rPr lang="en-US" altLang="zh-TW" sz="2500" dirty="0" smtClean="0"/>
                  <a:t>Bone </a:t>
                </a:r>
                <a:r>
                  <a:rPr lang="en-US" altLang="zh-TW" sz="2500" dirty="0" err="1" smtClean="0"/>
                  <a:t>mets</a:t>
                </a:r>
                <a:endParaRPr lang="en-US" altLang="zh-TW" sz="2500" dirty="0" smtClean="0"/>
              </a:p>
              <a:p>
                <a:pPr marL="1384300" lvl="2" indent="-457200">
                  <a:lnSpc>
                    <a:spcPct val="150000"/>
                  </a:lnSpc>
                  <a:spcBef>
                    <a:spcPts val="0"/>
                  </a:spcBef>
                  <a:buSzPts val="1600"/>
                </a:pPr>
                <a:r>
                  <a:rPr lang="en-US" altLang="zh-TW" sz="2500" dirty="0" smtClean="0"/>
                  <a:t>RT is effective at pain relief in </a:t>
                </a:r>
                <a:r>
                  <a:rPr lang="en-US" altLang="zh-TW" sz="2500" b="1" dirty="0" smtClean="0"/>
                  <a:t>2/3</a:t>
                </a:r>
                <a:r>
                  <a:rPr lang="en-US" altLang="zh-TW" sz="2500" dirty="0" smtClean="0"/>
                  <a:t>; 1/3 eventual CR of pain; median time to pain response is about </a:t>
                </a:r>
                <a:r>
                  <a:rPr lang="en-US" altLang="zh-TW" sz="2500" b="1" dirty="0" smtClean="0"/>
                  <a:t>3 weeks</a:t>
                </a:r>
              </a:p>
              <a:p>
                <a:pPr marL="1384300" lvl="2" indent="-457200">
                  <a:lnSpc>
                    <a:spcPct val="150000"/>
                  </a:lnSpc>
                  <a:spcBef>
                    <a:spcPts val="0"/>
                  </a:spcBef>
                  <a:buSzPts val="1600"/>
                </a:pPr>
                <a:r>
                  <a:rPr lang="en-US" altLang="zh-TW" sz="2500" dirty="0" smtClean="0"/>
                  <a:t>Commonly used regimens: 8Gy/1, 20Gy/5, 30Gy/10</a:t>
                </a:r>
              </a:p>
              <a:p>
                <a:pPr marL="1384300" lvl="2" indent="-457200">
                  <a:lnSpc>
                    <a:spcPct val="150000"/>
                  </a:lnSpc>
                  <a:spcBef>
                    <a:spcPts val="0"/>
                  </a:spcBef>
                  <a:buSzPts val="1600"/>
                </a:pPr>
                <a:r>
                  <a:rPr lang="en-US" altLang="zh-TW" sz="2500" dirty="0" smtClean="0"/>
                  <a:t>Based on Dutch Bone Metastasis Study, RTOG 9714 and Toronto </a:t>
                </a:r>
                <a:r>
                  <a:rPr lang="en-US" altLang="zh-TW" sz="2500" dirty="0" err="1" smtClean="0"/>
                  <a:t>metaanalysis</a:t>
                </a:r>
                <a:r>
                  <a:rPr lang="en-US" altLang="zh-TW" sz="2500" dirty="0" smtClean="0"/>
                  <a:t>: there is no difference in pain control  b/t single and multi-fractionation regimens for uncomplicated bone </a:t>
                </a:r>
                <a:r>
                  <a:rPr lang="en-US" altLang="zh-TW" sz="2500" dirty="0" err="1" smtClean="0"/>
                  <a:t>mets</a:t>
                </a:r>
                <a:r>
                  <a:rPr lang="en-US" altLang="zh-TW" sz="2500" dirty="0" smtClean="0"/>
                  <a:t>*. But re-</a:t>
                </a:r>
                <a:r>
                  <a:rPr lang="en-US" altLang="zh-TW" sz="2500" dirty="0" err="1" smtClean="0"/>
                  <a:t>Tx</a:t>
                </a:r>
                <a:r>
                  <a:rPr lang="en-US" altLang="zh-TW" sz="2500" dirty="0" smtClean="0"/>
                  <a:t> was more common with single-</a:t>
                </a:r>
                <a:r>
                  <a:rPr lang="en-US" altLang="zh-TW" sz="2500" dirty="0" err="1" smtClean="0"/>
                  <a:t>fx</a:t>
                </a:r>
                <a:r>
                  <a:rPr lang="en-US" altLang="zh-TW" sz="2500" dirty="0" smtClean="0"/>
                  <a:t> </a:t>
                </a:r>
                <a:r>
                  <a:rPr lang="en-US" altLang="zh-TW" sz="2500" dirty="0" err="1" smtClean="0"/>
                  <a:t>Tx</a:t>
                </a:r>
                <a:r>
                  <a:rPr lang="en-US" altLang="zh-TW" sz="2500" dirty="0" smtClean="0"/>
                  <a:t>.</a:t>
                </a:r>
              </a:p>
              <a:p>
                <a:pPr marL="927100" lvl="2" indent="0">
                  <a:lnSpc>
                    <a:spcPct val="150000"/>
                  </a:lnSpc>
                  <a:spcBef>
                    <a:spcPts val="0"/>
                  </a:spcBef>
                  <a:buSzPts val="1600"/>
                  <a:buNone/>
                </a:pPr>
                <a:r>
                  <a:rPr lang="en-US" altLang="zh-TW" sz="2500" dirty="0" smtClean="0"/>
                  <a:t>*</a:t>
                </a:r>
                <a:r>
                  <a:rPr lang="en-US" altLang="zh-TW" sz="2500" dirty="0"/>
                  <a:t>Complicated bone metastasis: fracture, cord compression, previous </a:t>
                </a:r>
                <a:r>
                  <a:rPr lang="en-US" altLang="zh-TW" sz="2500" dirty="0" smtClean="0"/>
                  <a:t>RT</a:t>
                </a:r>
              </a:p>
              <a:p>
                <a:pPr marL="984250" lvl="1" indent="-457200">
                  <a:lnSpc>
                    <a:spcPct val="150000"/>
                  </a:lnSpc>
                  <a:spcBef>
                    <a:spcPts val="0"/>
                  </a:spcBef>
                  <a:buSzPts val="1600"/>
                  <a:buFont typeface="+mj-lt"/>
                  <a:buAutoNum type="arabicPeriod"/>
                </a:pPr>
                <a:r>
                  <a:rPr lang="en-US" altLang="zh-TW" sz="2500" dirty="0" smtClean="0"/>
                  <a:t>Cord compression – oncology emergency</a:t>
                </a:r>
              </a:p>
              <a:p>
                <a:pPr marL="1384300" lvl="2" indent="-457200">
                  <a:lnSpc>
                    <a:spcPct val="150000"/>
                  </a:lnSpc>
                  <a:spcBef>
                    <a:spcPts val="0"/>
                  </a:spcBef>
                  <a:buSzPts val="1600"/>
                </a:pPr>
                <a14:m>
                  <m:oMath xmlns:m="http://schemas.openxmlformats.org/officeDocument/2006/math">
                    <m:r>
                      <a:rPr lang="en-US" altLang="zh-TW" sz="2500" i="1" smtClean="0">
                        <a:latin typeface="Cambria Math"/>
                        <a:ea typeface="Cambria Math"/>
                      </a:rPr>
                      <m:t>±</m:t>
                    </m:r>
                  </m:oMath>
                </a14:m>
                <a:r>
                  <a:rPr lang="en-US" altLang="zh-TW" sz="2500" dirty="0" smtClean="0"/>
                  <a:t> surgery -&gt; RT: 30Gy/10  (20Gy/10  may be used in radiosensitive tumor </a:t>
                </a:r>
                <a:r>
                  <a:rPr lang="en-US" altLang="zh-TW" sz="2500" dirty="0" err="1" smtClean="0"/>
                  <a:t>eg</a:t>
                </a:r>
                <a:r>
                  <a:rPr lang="en-US" altLang="zh-TW" sz="2500" dirty="0" smtClean="0"/>
                  <a:t>. MM)</a:t>
                </a:r>
              </a:p>
              <a:p>
                <a:pPr marL="1384300" lvl="2" indent="-457200">
                  <a:lnSpc>
                    <a:spcPct val="150000"/>
                  </a:lnSpc>
                  <a:spcBef>
                    <a:spcPts val="0"/>
                  </a:spcBef>
                  <a:buSzPts val="1600"/>
                </a:pPr>
                <a:r>
                  <a:rPr lang="en-US" altLang="zh-TW" sz="2500" dirty="0" smtClean="0"/>
                  <a:t>Goal is palliation of pain and LC for prevention  or reduction of neurologic deficit</a:t>
                </a:r>
              </a:p>
              <a:p>
                <a:pPr marL="1841500" lvl="3" indent="-457200">
                  <a:lnSpc>
                    <a:spcPct val="150000"/>
                  </a:lnSpc>
                  <a:spcBef>
                    <a:spcPts val="0"/>
                  </a:spcBef>
                  <a:buSzPts val="1600"/>
                </a:pPr>
                <a:r>
                  <a:rPr lang="en-US" altLang="zh-TW" sz="2500" dirty="0" smtClean="0"/>
                  <a:t>70% improved in pain; LC &gt;75%</a:t>
                </a:r>
              </a:p>
              <a:p>
                <a:pPr marL="1384300" lvl="2" indent="-457200">
                  <a:lnSpc>
                    <a:spcPct val="150000"/>
                  </a:lnSpc>
                  <a:spcBef>
                    <a:spcPts val="0"/>
                  </a:spcBef>
                  <a:buSzPts val="1600"/>
                </a:pPr>
                <a:r>
                  <a:rPr lang="en-US" altLang="zh-TW" sz="2500" dirty="0" smtClean="0"/>
                  <a:t>Re-</a:t>
                </a:r>
                <a:r>
                  <a:rPr lang="en-US" altLang="zh-TW" sz="2500" dirty="0" err="1" smtClean="0"/>
                  <a:t>Tx</a:t>
                </a:r>
                <a:r>
                  <a:rPr lang="en-US" altLang="zh-TW" sz="2500" dirty="0" smtClean="0"/>
                  <a:t> dose: 20Gy/10</a:t>
                </a:r>
              </a:p>
              <a:p>
                <a:pPr marL="984250" lvl="1" indent="-457200">
                  <a:lnSpc>
                    <a:spcPct val="150000"/>
                  </a:lnSpc>
                  <a:spcBef>
                    <a:spcPts val="0"/>
                  </a:spcBef>
                  <a:buSzPts val="1600"/>
                  <a:buFont typeface="+mj-lt"/>
                  <a:buAutoNum type="arabicPeriod"/>
                </a:pPr>
                <a:r>
                  <a:rPr lang="en-US" altLang="zh-TW" sz="2500" dirty="0" smtClean="0"/>
                  <a:t>SVC syndrome</a:t>
                </a:r>
              </a:p>
              <a:p>
                <a:pPr marL="1384300" lvl="2" indent="-457200">
                  <a:lnSpc>
                    <a:spcPct val="150000"/>
                  </a:lnSpc>
                  <a:spcBef>
                    <a:spcPts val="0"/>
                  </a:spcBef>
                  <a:buSzPts val="1600"/>
                </a:pPr>
                <a:r>
                  <a:rPr lang="zh-TW" altLang="en-US" sz="2500" dirty="0" smtClean="0"/>
                  <a:t>最常見於</a:t>
                </a:r>
                <a:r>
                  <a:rPr lang="en-US" altLang="zh-TW" sz="2500" dirty="0" smtClean="0"/>
                  <a:t>NSCLC, SCLC and lymphoma</a:t>
                </a:r>
              </a:p>
              <a:p>
                <a:pPr marL="1384300" lvl="2" indent="-457200">
                  <a:lnSpc>
                    <a:spcPct val="150000"/>
                  </a:lnSpc>
                  <a:spcBef>
                    <a:spcPts val="0"/>
                  </a:spcBef>
                  <a:buSzPts val="1600"/>
                </a:pPr>
                <a:r>
                  <a:rPr lang="en-US" altLang="zh-TW" sz="2500" dirty="0" smtClean="0"/>
                  <a:t>60-80% respond to C/T or RT within 2 weeks</a:t>
                </a:r>
              </a:p>
              <a:p>
                <a:pPr marL="1384300" lvl="2" indent="-457200">
                  <a:lnSpc>
                    <a:spcPct val="150000"/>
                  </a:lnSpc>
                  <a:spcBef>
                    <a:spcPts val="0"/>
                  </a:spcBef>
                  <a:buSzPts val="1600"/>
                </a:pPr>
                <a:r>
                  <a:rPr lang="en-US" altLang="zh-TW" sz="2500" b="1" dirty="0" smtClean="0"/>
                  <a:t>30Gy/10</a:t>
                </a:r>
                <a:r>
                  <a:rPr lang="en-US" altLang="zh-TW" sz="2500" dirty="0" smtClean="0"/>
                  <a:t>, urgent case may use large fractionation up front </a:t>
                </a:r>
                <a:r>
                  <a:rPr lang="en-US" altLang="zh-TW" sz="2500" b="1" dirty="0" smtClean="0"/>
                  <a:t>(3-4Gy/</a:t>
                </a:r>
                <a:r>
                  <a:rPr lang="en-US" altLang="zh-TW" sz="2500" b="1" dirty="0" err="1" smtClean="0"/>
                  <a:t>fx</a:t>
                </a:r>
                <a:r>
                  <a:rPr lang="en-US" altLang="zh-TW" sz="2500" b="1" dirty="0" smtClean="0"/>
                  <a:t>) for 2-3 days</a:t>
                </a:r>
                <a:r>
                  <a:rPr lang="en-US" altLang="zh-TW" sz="2500" dirty="0" smtClean="0"/>
                  <a:t> to alleviate symptoms</a:t>
                </a:r>
                <a:endParaRPr lang="en-GB" altLang="zh-TW" sz="2500" u="sng" dirty="0" smtClean="0"/>
              </a:p>
              <a:p>
                <a:pPr marL="127000" lvl="0" indent="0">
                  <a:lnSpc>
                    <a:spcPct val="150000"/>
                  </a:lnSpc>
                  <a:spcBef>
                    <a:spcPts val="0"/>
                  </a:spcBef>
                  <a:buSzPts val="1600"/>
                  <a:buNone/>
                </a:pPr>
                <a:endParaRPr lang="zh-TW" altLang="en-US" sz="25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457200" y="908720"/>
                <a:ext cx="8229600" cy="6480720"/>
              </a:xfrm>
              <a:blipFill rotWithShape="1">
                <a:blip r:embed="rId3"/>
                <a:stretch>
                  <a:fillRect/>
                </a:stretch>
              </a:blipFill>
            </p:spPr>
            <p:txBody>
              <a:bodyPr/>
              <a:lstStyle/>
              <a:p>
                <a:r>
                  <a:rPr lang="zh-TW" altLang="en-US">
                    <a:noFill/>
                  </a:rPr>
                  <a:t> </a:t>
                </a:r>
              </a:p>
            </p:txBody>
          </p:sp>
        </mc:Fallback>
      </mc:AlternateContent>
      <p:pic>
        <p:nvPicPr>
          <p:cNvPr id="1026"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3288" t="23188" r="29973" b="42464"/>
          <a:stretch/>
        </p:blipFill>
        <p:spPr bwMode="auto">
          <a:xfrm>
            <a:off x="4860032" y="692696"/>
            <a:ext cx="4176464" cy="1396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80867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332656"/>
            <a:ext cx="8435280" cy="5793507"/>
          </a:xfrm>
        </p:spPr>
        <p:txBody>
          <a:bodyPr>
            <a:normAutofit/>
          </a:bodyPr>
          <a:lstStyle/>
          <a:p>
            <a:pPr marL="457200" lvl="0" indent="-330200">
              <a:lnSpc>
                <a:spcPct val="150000"/>
              </a:lnSpc>
              <a:spcBef>
                <a:spcPts val="0"/>
              </a:spcBef>
              <a:buSzPts val="1600"/>
              <a:buAutoNum type="arabicPeriod"/>
            </a:pPr>
            <a:r>
              <a:rPr lang="en-GB" altLang="zh-TW" sz="2000" u="sng" dirty="0"/>
              <a:t>Palliative RT for bone </a:t>
            </a:r>
            <a:r>
              <a:rPr lang="en-GB" altLang="zh-TW" sz="2000" u="sng" dirty="0" err="1"/>
              <a:t>mets</a:t>
            </a:r>
            <a:r>
              <a:rPr lang="en-GB" altLang="zh-TW" sz="2000" u="sng" dirty="0"/>
              <a:t> </a:t>
            </a:r>
            <a:r>
              <a:rPr lang="zh-TW" altLang="en-US" sz="2000" u="sng" dirty="0"/>
              <a:t>是否增加 </a:t>
            </a:r>
            <a:r>
              <a:rPr lang="en-GB" altLang="zh-TW" sz="2000" u="sng" dirty="0"/>
              <a:t>survival? (</a:t>
            </a:r>
            <a:r>
              <a:rPr lang="en-GB" altLang="zh-TW" sz="2000" u="sng" dirty="0">
                <a:solidFill>
                  <a:srgbClr val="FF0000"/>
                </a:solidFill>
              </a:rPr>
              <a:t>ENABLE III trial</a:t>
            </a:r>
            <a:r>
              <a:rPr lang="en-GB" altLang="zh-TW" sz="2000" u="sng" dirty="0"/>
              <a:t>) </a:t>
            </a:r>
            <a:r>
              <a:rPr lang="zh-TW" altLang="en-US" sz="2000" u="sng" dirty="0"/>
              <a:t>增加多少</a:t>
            </a:r>
            <a:r>
              <a:rPr lang="en-US" altLang="zh-TW" sz="2000" u="sng" dirty="0"/>
              <a:t>?</a:t>
            </a:r>
          </a:p>
          <a:p>
            <a:pPr marL="457200" indent="-330200">
              <a:lnSpc>
                <a:spcPct val="150000"/>
              </a:lnSpc>
              <a:spcBef>
                <a:spcPts val="0"/>
              </a:spcBef>
              <a:buSzPts val="1600"/>
              <a:buFont typeface="Arial" pitchFamily="34" charset="0"/>
              <a:buAutoNum type="arabicPeriod"/>
            </a:pPr>
            <a:r>
              <a:rPr lang="zh-TW" altLang="en-US" sz="2000" u="sng" dirty="0"/>
              <a:t>癌症評鑑條文</a:t>
            </a:r>
            <a:r>
              <a:rPr lang="en-US" altLang="zh-TW" sz="2000" u="sng" dirty="0"/>
              <a:t>3.3</a:t>
            </a:r>
            <a:r>
              <a:rPr lang="zh-TW" altLang="en-US" sz="2000" u="sng" dirty="0"/>
              <a:t>內容是什麼</a:t>
            </a:r>
            <a:r>
              <a:rPr lang="zh-TW" altLang="en-US" sz="2000" u="sng" dirty="0" smtClean="0"/>
              <a:t>？</a:t>
            </a:r>
            <a:r>
              <a:rPr lang="en-US" altLang="zh-TW" sz="2000" dirty="0" smtClean="0"/>
              <a:t>A: </a:t>
            </a:r>
            <a:r>
              <a:rPr lang="zh-TW" altLang="en-US" sz="2000" dirty="0" smtClean="0"/>
              <a:t>癌症防治醫療機構應針對晚期癌症病人建立緩和醫療之照護標準與流程 </a:t>
            </a:r>
            <a:r>
              <a:rPr lang="en-US" altLang="zh-TW" sz="2000" dirty="0" smtClean="0"/>
              <a:t>(</a:t>
            </a:r>
            <a:r>
              <a:rPr lang="zh-TW" altLang="en-US" sz="2000" dirty="0" smtClean="0"/>
              <a:t>要</a:t>
            </a:r>
            <a:r>
              <a:rPr lang="zh-TW" altLang="en-US" sz="2000" dirty="0"/>
              <a:t>有安寧團隊</a:t>
            </a:r>
            <a:r>
              <a:rPr lang="en-US" altLang="zh-TW" sz="2000" dirty="0"/>
              <a:t>.....</a:t>
            </a:r>
          </a:p>
          <a:p>
            <a:pPr marL="127000" lvl="0" indent="0">
              <a:lnSpc>
                <a:spcPct val="150000"/>
              </a:lnSpc>
              <a:spcBef>
                <a:spcPts val="0"/>
              </a:spcBef>
              <a:buSzPts val="1600"/>
              <a:buNone/>
            </a:pPr>
            <a:endParaRPr lang="en-US" altLang="zh-TW" dirty="0" smtClean="0"/>
          </a:p>
        </p:txBody>
      </p:sp>
      <p:grpSp>
        <p:nvGrpSpPr>
          <p:cNvPr id="4" name="群組 3"/>
          <p:cNvGrpSpPr/>
          <p:nvPr/>
        </p:nvGrpSpPr>
        <p:grpSpPr>
          <a:xfrm>
            <a:off x="755576" y="1772815"/>
            <a:ext cx="6127729" cy="5081127"/>
            <a:chOff x="611560" y="908720"/>
            <a:chExt cx="6390862" cy="5609322"/>
          </a:xfrm>
        </p:grpSpPr>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3152" t="16812" r="24429" b="11739"/>
            <a:stretch/>
          </p:blipFill>
          <p:spPr bwMode="auto">
            <a:xfrm>
              <a:off x="611560" y="908720"/>
              <a:ext cx="6390862" cy="4899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23315" t="75217" r="25000" b="14203"/>
            <a:stretch/>
          </p:blipFill>
          <p:spPr bwMode="auto">
            <a:xfrm>
              <a:off x="633974" y="5792485"/>
              <a:ext cx="6301410" cy="725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mc:AlternateContent xmlns:mc="http://schemas.openxmlformats.org/markup-compatibility/2006" xmlns:p14="http://schemas.microsoft.com/office/powerpoint/2010/main">
        <mc:Choice Requires="p14">
          <p:contentPart p14:bwMode="auto" r:id="rId4">
            <p14:nvContentPartPr>
              <p14:cNvPr id="5" name="筆跡 4"/>
              <p14:cNvContentPartPr/>
              <p14:nvPr/>
            </p14:nvContentPartPr>
            <p14:xfrm>
              <a:off x="1613160" y="3537000"/>
              <a:ext cx="609840" cy="6480"/>
            </p14:xfrm>
          </p:contentPart>
        </mc:Choice>
        <mc:Fallback xmlns="">
          <p:pic>
            <p:nvPicPr>
              <p:cNvPr id="5" name="筆跡 4"/>
              <p:cNvPicPr/>
              <p:nvPr/>
            </p:nvPicPr>
            <p:blipFill>
              <a:blip r:embed="rId5"/>
              <a:stretch>
                <a:fillRect/>
              </a:stretch>
            </p:blipFill>
            <p:spPr>
              <a:xfrm>
                <a:off x="1597320" y="3473280"/>
                <a:ext cx="64152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筆跡 5"/>
              <p14:cNvContentPartPr/>
              <p14:nvPr/>
            </p14:nvContentPartPr>
            <p14:xfrm>
              <a:off x="2444760" y="3530520"/>
              <a:ext cx="1333800" cy="19440"/>
            </p14:xfrm>
          </p:contentPart>
        </mc:Choice>
        <mc:Fallback xmlns="">
          <p:pic>
            <p:nvPicPr>
              <p:cNvPr id="6" name="筆跡 5"/>
              <p:cNvPicPr/>
              <p:nvPr/>
            </p:nvPicPr>
            <p:blipFill>
              <a:blip r:embed="rId7"/>
              <a:stretch>
                <a:fillRect/>
              </a:stretch>
            </p:blipFill>
            <p:spPr>
              <a:xfrm>
                <a:off x="2428920" y="3467160"/>
                <a:ext cx="136584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筆跡 6"/>
              <p14:cNvContentPartPr/>
              <p14:nvPr/>
            </p14:nvContentPartPr>
            <p14:xfrm>
              <a:off x="4000680" y="3505320"/>
              <a:ext cx="984600" cy="70200"/>
            </p14:xfrm>
          </p:contentPart>
        </mc:Choice>
        <mc:Fallback xmlns="">
          <p:pic>
            <p:nvPicPr>
              <p:cNvPr id="7" name="筆跡 6"/>
              <p:cNvPicPr/>
              <p:nvPr/>
            </p:nvPicPr>
            <p:blipFill>
              <a:blip r:embed="rId9"/>
              <a:stretch>
                <a:fillRect/>
              </a:stretch>
            </p:blipFill>
            <p:spPr>
              <a:xfrm>
                <a:off x="3984840" y="3441600"/>
                <a:ext cx="101628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筆跡 7"/>
              <p14:cNvContentPartPr/>
              <p14:nvPr/>
            </p14:nvContentPartPr>
            <p14:xfrm>
              <a:off x="1447920" y="4641840"/>
              <a:ext cx="628920" cy="76680"/>
            </p14:xfrm>
          </p:contentPart>
        </mc:Choice>
        <mc:Fallback xmlns="">
          <p:pic>
            <p:nvPicPr>
              <p:cNvPr id="8" name="筆跡 7"/>
              <p:cNvPicPr/>
              <p:nvPr/>
            </p:nvPicPr>
            <p:blipFill>
              <a:blip r:embed="rId11"/>
              <a:stretch>
                <a:fillRect/>
              </a:stretch>
            </p:blipFill>
            <p:spPr>
              <a:xfrm>
                <a:off x="1432080" y="4578480"/>
                <a:ext cx="66060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筆跡 8"/>
              <p14:cNvContentPartPr/>
              <p14:nvPr/>
            </p14:nvContentPartPr>
            <p14:xfrm>
              <a:off x="3359160" y="4699080"/>
              <a:ext cx="610200" cy="38520"/>
            </p14:xfrm>
          </p:contentPart>
        </mc:Choice>
        <mc:Fallback xmlns="">
          <p:pic>
            <p:nvPicPr>
              <p:cNvPr id="9" name="筆跡 8"/>
              <p:cNvPicPr/>
              <p:nvPr/>
            </p:nvPicPr>
            <p:blipFill>
              <a:blip r:embed="rId13"/>
              <a:stretch>
                <a:fillRect/>
              </a:stretch>
            </p:blipFill>
            <p:spPr>
              <a:xfrm>
                <a:off x="3343320" y="4635360"/>
                <a:ext cx="64188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筆跡 9"/>
              <p14:cNvContentPartPr/>
              <p14:nvPr/>
            </p14:nvContentPartPr>
            <p14:xfrm>
              <a:off x="4184640" y="4699080"/>
              <a:ext cx="336960" cy="360"/>
            </p14:xfrm>
          </p:contentPart>
        </mc:Choice>
        <mc:Fallback xmlns="">
          <p:pic>
            <p:nvPicPr>
              <p:cNvPr id="10" name="筆跡 9"/>
              <p:cNvPicPr/>
              <p:nvPr/>
            </p:nvPicPr>
            <p:blipFill>
              <a:blip r:embed="rId15"/>
              <a:stretch>
                <a:fillRect/>
              </a:stretch>
            </p:blipFill>
            <p:spPr>
              <a:xfrm>
                <a:off x="4168800" y="4635360"/>
                <a:ext cx="36864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筆跡 10"/>
              <p14:cNvContentPartPr/>
              <p14:nvPr/>
            </p14:nvContentPartPr>
            <p14:xfrm>
              <a:off x="1765440" y="4921200"/>
              <a:ext cx="1791000" cy="6840"/>
            </p14:xfrm>
          </p:contentPart>
        </mc:Choice>
        <mc:Fallback xmlns="">
          <p:pic>
            <p:nvPicPr>
              <p:cNvPr id="11" name="筆跡 10"/>
              <p:cNvPicPr/>
              <p:nvPr/>
            </p:nvPicPr>
            <p:blipFill>
              <a:blip r:embed="rId17"/>
              <a:stretch>
                <a:fillRect/>
              </a:stretch>
            </p:blipFill>
            <p:spPr>
              <a:xfrm>
                <a:off x="1749600" y="4857840"/>
                <a:ext cx="182268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筆跡 11"/>
              <p14:cNvContentPartPr/>
              <p14:nvPr/>
            </p14:nvContentPartPr>
            <p14:xfrm>
              <a:off x="3733920" y="5638680"/>
              <a:ext cx="940320" cy="6840"/>
            </p14:xfrm>
          </p:contentPart>
        </mc:Choice>
        <mc:Fallback xmlns="">
          <p:pic>
            <p:nvPicPr>
              <p:cNvPr id="12" name="筆跡 11"/>
              <p:cNvPicPr/>
              <p:nvPr/>
            </p:nvPicPr>
            <p:blipFill>
              <a:blip r:embed="rId19"/>
              <a:stretch>
                <a:fillRect/>
              </a:stretch>
            </p:blipFill>
            <p:spPr>
              <a:xfrm>
                <a:off x="3718080" y="5575320"/>
                <a:ext cx="97200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筆跡 12"/>
              <p14:cNvContentPartPr/>
              <p14:nvPr/>
            </p14:nvContentPartPr>
            <p14:xfrm>
              <a:off x="4896000" y="5607000"/>
              <a:ext cx="1035360" cy="6840"/>
            </p14:xfrm>
          </p:contentPart>
        </mc:Choice>
        <mc:Fallback xmlns="">
          <p:pic>
            <p:nvPicPr>
              <p:cNvPr id="13" name="筆跡 12"/>
              <p:cNvPicPr/>
              <p:nvPr/>
            </p:nvPicPr>
            <p:blipFill>
              <a:blip r:embed="rId21"/>
              <a:stretch>
                <a:fillRect/>
              </a:stretch>
            </p:blipFill>
            <p:spPr>
              <a:xfrm>
                <a:off x="4880160" y="5543640"/>
                <a:ext cx="106704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筆跡 13"/>
              <p14:cNvContentPartPr/>
              <p14:nvPr/>
            </p14:nvContentPartPr>
            <p14:xfrm>
              <a:off x="3327480" y="6489720"/>
              <a:ext cx="940320" cy="360"/>
            </p14:xfrm>
          </p:contentPart>
        </mc:Choice>
        <mc:Fallback xmlns="">
          <p:pic>
            <p:nvPicPr>
              <p:cNvPr id="14" name="筆跡 13"/>
              <p:cNvPicPr/>
              <p:nvPr/>
            </p:nvPicPr>
            <p:blipFill>
              <a:blip r:embed="rId23"/>
              <a:stretch>
                <a:fillRect/>
              </a:stretch>
            </p:blipFill>
            <p:spPr>
              <a:xfrm>
                <a:off x="3311640" y="6426360"/>
                <a:ext cx="97200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筆跡 14"/>
              <p14:cNvContentPartPr/>
              <p14:nvPr/>
            </p14:nvContentPartPr>
            <p14:xfrm>
              <a:off x="5981760" y="6502320"/>
              <a:ext cx="546480" cy="360"/>
            </p14:xfrm>
          </p:contentPart>
        </mc:Choice>
        <mc:Fallback xmlns="">
          <p:pic>
            <p:nvPicPr>
              <p:cNvPr id="15" name="筆跡 14"/>
              <p:cNvPicPr/>
              <p:nvPr/>
            </p:nvPicPr>
            <p:blipFill>
              <a:blip r:embed="rId25"/>
              <a:stretch>
                <a:fillRect/>
              </a:stretch>
            </p:blipFill>
            <p:spPr>
              <a:xfrm>
                <a:off x="5965920" y="6438960"/>
                <a:ext cx="57816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筆跡 15"/>
              <p14:cNvContentPartPr/>
              <p14:nvPr/>
            </p14:nvContentPartPr>
            <p14:xfrm>
              <a:off x="1752840" y="6711840"/>
              <a:ext cx="959040" cy="25920"/>
            </p14:xfrm>
          </p:contentPart>
        </mc:Choice>
        <mc:Fallback xmlns="">
          <p:pic>
            <p:nvPicPr>
              <p:cNvPr id="16" name="筆跡 15"/>
              <p:cNvPicPr/>
              <p:nvPr/>
            </p:nvPicPr>
            <p:blipFill>
              <a:blip r:embed="rId27"/>
              <a:stretch>
                <a:fillRect/>
              </a:stretch>
            </p:blipFill>
            <p:spPr>
              <a:xfrm>
                <a:off x="1737000" y="6648480"/>
                <a:ext cx="99072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筆跡 16"/>
              <p14:cNvContentPartPr/>
              <p14:nvPr/>
            </p14:nvContentPartPr>
            <p14:xfrm>
              <a:off x="2978280" y="6724800"/>
              <a:ext cx="787680" cy="12960"/>
            </p14:xfrm>
          </p:contentPart>
        </mc:Choice>
        <mc:Fallback xmlns="">
          <p:pic>
            <p:nvPicPr>
              <p:cNvPr id="17" name="筆跡 16"/>
              <p:cNvPicPr/>
              <p:nvPr/>
            </p:nvPicPr>
            <p:blipFill>
              <a:blip r:embed="rId29"/>
              <a:stretch>
                <a:fillRect/>
              </a:stretch>
            </p:blipFill>
            <p:spPr>
              <a:xfrm>
                <a:off x="2962440" y="6661080"/>
                <a:ext cx="81936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筆跡 17"/>
              <p14:cNvContentPartPr/>
              <p14:nvPr/>
            </p14:nvContentPartPr>
            <p14:xfrm>
              <a:off x="6553440" y="6496200"/>
              <a:ext cx="279720" cy="38160"/>
            </p14:xfrm>
          </p:contentPart>
        </mc:Choice>
        <mc:Fallback xmlns="">
          <p:pic>
            <p:nvPicPr>
              <p:cNvPr id="18" name="筆跡 17"/>
              <p:cNvPicPr/>
              <p:nvPr/>
            </p:nvPicPr>
            <p:blipFill>
              <a:blip r:embed="rId31"/>
              <a:stretch>
                <a:fillRect/>
              </a:stretch>
            </p:blipFill>
            <p:spPr>
              <a:xfrm>
                <a:off x="6537600" y="6432480"/>
                <a:ext cx="31140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筆跡 18"/>
              <p14:cNvContentPartPr/>
              <p14:nvPr/>
            </p14:nvContentPartPr>
            <p14:xfrm>
              <a:off x="1403640" y="6711840"/>
              <a:ext cx="95400" cy="25920"/>
            </p14:xfrm>
          </p:contentPart>
        </mc:Choice>
        <mc:Fallback xmlns="">
          <p:pic>
            <p:nvPicPr>
              <p:cNvPr id="19" name="筆跡 18"/>
              <p:cNvPicPr/>
              <p:nvPr/>
            </p:nvPicPr>
            <p:blipFill>
              <a:blip r:embed="rId33"/>
              <a:stretch>
                <a:fillRect/>
              </a:stretch>
            </p:blipFill>
            <p:spPr>
              <a:xfrm>
                <a:off x="1387440" y="6648480"/>
                <a:ext cx="127440" cy="152640"/>
              </a:xfrm>
              <a:prstGeom prst="rect">
                <a:avLst/>
              </a:prstGeom>
            </p:spPr>
          </p:pic>
        </mc:Fallback>
      </mc:AlternateContent>
    </p:spTree>
    <p:extLst>
      <p:ext uri="{BB962C8B-B14F-4D97-AF65-F5344CB8AC3E}">
        <p14:creationId xmlns:p14="http://schemas.microsoft.com/office/powerpoint/2010/main" val="191236854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457200" y="44624"/>
                <a:ext cx="8229600" cy="6912768"/>
              </a:xfrm>
            </p:spPr>
            <p:txBody>
              <a:bodyPr>
                <a:normAutofit fontScale="32500" lnSpcReduction="20000"/>
              </a:bodyPr>
              <a:lstStyle/>
              <a:p>
                <a:pPr marL="127000" lvl="0" indent="0">
                  <a:lnSpc>
                    <a:spcPct val="150000"/>
                  </a:lnSpc>
                  <a:spcBef>
                    <a:spcPts val="0"/>
                  </a:spcBef>
                  <a:buSzPts val="1600"/>
                  <a:buNone/>
                </a:pPr>
                <a:r>
                  <a:rPr lang="en-US" altLang="zh-TW" dirty="0"/>
                  <a:t>2015</a:t>
                </a:r>
              </a:p>
              <a:p>
                <a:pPr marL="457200" lvl="0" indent="-330200">
                  <a:lnSpc>
                    <a:spcPct val="150000"/>
                  </a:lnSpc>
                  <a:spcBef>
                    <a:spcPts val="0"/>
                  </a:spcBef>
                  <a:buSzPts val="1600"/>
                  <a:buAutoNum type="arabicPeriod"/>
                </a:pPr>
                <a:r>
                  <a:rPr lang="en-US" altLang="zh-TW" sz="4500" u="sng" dirty="0"/>
                  <a:t>Brain meta</a:t>
                </a:r>
                <a:r>
                  <a:rPr lang="zh-TW" altLang="en-US" sz="4500" u="sng" dirty="0"/>
                  <a:t>不治療可以活多久</a:t>
                </a:r>
                <a:r>
                  <a:rPr lang="en-US" altLang="zh-TW" sz="4500" u="sng" dirty="0"/>
                  <a:t>? </a:t>
                </a:r>
                <a:r>
                  <a:rPr lang="en-US" altLang="zh-TW" sz="4500" dirty="0" smtClean="0"/>
                  <a:t>A: </a:t>
                </a:r>
                <a:r>
                  <a:rPr lang="zh-TW" altLang="en-US" sz="4500" dirty="0" smtClean="0"/>
                  <a:t>一個月</a:t>
                </a:r>
                <a:endParaRPr lang="en-US" altLang="zh-TW" sz="4500" dirty="0"/>
              </a:p>
              <a:p>
                <a:pPr marL="127000" lvl="0" indent="0">
                  <a:lnSpc>
                    <a:spcPct val="150000"/>
                  </a:lnSpc>
                  <a:spcBef>
                    <a:spcPts val="0"/>
                  </a:spcBef>
                  <a:buSzPts val="1600"/>
                  <a:buNone/>
                </a:pPr>
                <a:r>
                  <a:rPr lang="zh-TW" altLang="en-US" sz="4500" u="sng" dirty="0" smtClean="0"/>
                  <a:t>用</a:t>
                </a:r>
                <a:r>
                  <a:rPr lang="zh-TW" altLang="en-US" sz="4500" u="sng" dirty="0"/>
                  <a:t>類固醇呢</a:t>
                </a:r>
                <a:r>
                  <a:rPr lang="en-US" altLang="zh-TW" sz="4500" u="sng" dirty="0"/>
                  <a:t>? </a:t>
                </a:r>
                <a:r>
                  <a:rPr lang="zh-TW" altLang="en-US" sz="4500" u="sng" dirty="0" smtClean="0"/>
                  <a:t> </a:t>
                </a:r>
                <a:r>
                  <a:rPr lang="en-US" altLang="zh-TW" sz="4500" dirty="0" smtClean="0"/>
                  <a:t>A:</a:t>
                </a:r>
                <a:r>
                  <a:rPr lang="zh-TW" altLang="en-US" sz="4500" dirty="0"/>
                  <a:t>兩個</a:t>
                </a:r>
                <a:r>
                  <a:rPr lang="zh-TW" altLang="en-US" sz="4500" dirty="0" smtClean="0"/>
                  <a:t>月 </a:t>
                </a:r>
                <a:r>
                  <a:rPr lang="en-US" altLang="zh-TW" sz="4500" dirty="0" smtClean="0"/>
                  <a:t>(MS of brain met treated with steroid alone:2 </a:t>
                </a:r>
                <a:r>
                  <a:rPr lang="en-US" altLang="zh-TW" sz="4500" dirty="0" err="1" smtClean="0"/>
                  <a:t>mo</a:t>
                </a:r>
                <a:r>
                  <a:rPr lang="en-US" altLang="zh-TW" sz="4500" dirty="0" smtClean="0"/>
                  <a:t>)</a:t>
                </a:r>
              </a:p>
              <a:p>
                <a:pPr marL="127000" lvl="0" indent="0">
                  <a:lnSpc>
                    <a:spcPct val="150000"/>
                  </a:lnSpc>
                  <a:spcBef>
                    <a:spcPts val="0"/>
                  </a:spcBef>
                  <a:buSzPts val="1600"/>
                  <a:buNone/>
                </a:pPr>
                <a:r>
                  <a:rPr lang="zh-TW" altLang="en-US" sz="4500" u="sng" dirty="0" smtClean="0"/>
                  <a:t>有</a:t>
                </a:r>
                <a:r>
                  <a:rPr lang="zh-TW" altLang="en-US" sz="4500" u="sng" dirty="0"/>
                  <a:t>什麼</a:t>
                </a:r>
                <a:r>
                  <a:rPr lang="en-US" altLang="zh-TW" sz="4500" u="sng" dirty="0"/>
                  <a:t>index</a:t>
                </a:r>
                <a:r>
                  <a:rPr lang="zh-TW" altLang="en-US" sz="4500" u="sng" dirty="0"/>
                  <a:t>可以評估病人</a:t>
                </a:r>
                <a:r>
                  <a:rPr lang="en-US" altLang="zh-TW" sz="4500" u="sng" dirty="0"/>
                  <a:t>? </a:t>
                </a:r>
                <a:endParaRPr lang="en-US" altLang="zh-TW" sz="4500" u="sng" dirty="0" smtClean="0"/>
              </a:p>
              <a:p>
                <a:pPr marL="0" indent="0">
                  <a:buNone/>
                </a:pPr>
                <a:r>
                  <a:rPr lang="en-US" altLang="zh-TW" sz="4500" u="sng" dirty="0" smtClean="0"/>
                  <a:t>    A: </a:t>
                </a:r>
                <a:r>
                  <a:rPr lang="en-US" altLang="zh-TW" sz="4500" b="1" dirty="0" err="1"/>
                  <a:t>Sperduto</a:t>
                </a:r>
                <a:r>
                  <a:rPr lang="en-US" altLang="zh-TW" sz="4500" b="1" dirty="0"/>
                  <a:t> Index </a:t>
                </a:r>
                <a:r>
                  <a:rPr lang="en-US" altLang="zh-TW" sz="4500" b="1" dirty="0" smtClean="0"/>
                  <a:t>- </a:t>
                </a:r>
                <a:r>
                  <a:rPr lang="en-US" altLang="zh-TW" sz="4500" dirty="0" smtClean="0"/>
                  <a:t>a </a:t>
                </a:r>
                <a:r>
                  <a:rPr lang="en-US" altLang="zh-TW" sz="4500" dirty="0"/>
                  <a:t>graded prognostic assessment based on </a:t>
                </a:r>
                <a:r>
                  <a:rPr lang="en-US" altLang="zh-TW" sz="4500" b="1" dirty="0"/>
                  <a:t>age, KPS, </a:t>
                </a:r>
                <a:r>
                  <a:rPr lang="en-US" altLang="zh-TW" sz="4500" b="1" dirty="0" smtClean="0"/>
                  <a:t>#of </a:t>
                </a:r>
                <a:r>
                  <a:rPr lang="en-US" altLang="zh-TW" sz="4500" b="1" dirty="0"/>
                  <a:t>brain </a:t>
                </a:r>
                <a:r>
                  <a:rPr lang="en-US" altLang="zh-TW" sz="4500" b="1" dirty="0" err="1"/>
                  <a:t>mets</a:t>
                </a:r>
                <a:r>
                  <a:rPr lang="en-US" altLang="zh-TW" sz="4500" dirty="0"/>
                  <a:t>, and the </a:t>
                </a:r>
                <a:r>
                  <a:rPr lang="en-US" altLang="zh-TW" sz="4500" b="1" dirty="0"/>
                  <a:t>presence or absence of </a:t>
                </a:r>
                <a:r>
                  <a:rPr lang="en-US" altLang="zh-TW" sz="4500" b="1" dirty="0" err="1"/>
                  <a:t>extracranial</a:t>
                </a:r>
                <a:r>
                  <a:rPr lang="en-US" altLang="zh-TW" sz="4500" b="1" dirty="0"/>
                  <a:t> </a:t>
                </a:r>
                <a:r>
                  <a:rPr lang="en-US" altLang="zh-TW" sz="4500" b="1" dirty="0" err="1"/>
                  <a:t>mets</a:t>
                </a:r>
                <a:r>
                  <a:rPr lang="en-US" altLang="zh-TW" sz="4500" b="1" dirty="0"/>
                  <a:t> </a:t>
                </a:r>
                <a:r>
                  <a:rPr lang="en-US" altLang="zh-TW" sz="4500" dirty="0" smtClean="0"/>
                  <a:t>(from </a:t>
                </a:r>
                <a:r>
                  <a:rPr lang="en-US" altLang="zh-TW" sz="4500" dirty="0"/>
                  <a:t>an analysis of 1,960 </a:t>
                </a:r>
                <a:r>
                  <a:rPr lang="en-US" altLang="zh-TW" sz="4500" dirty="0" err="1"/>
                  <a:t>pts</a:t>
                </a:r>
                <a:r>
                  <a:rPr lang="en-US" altLang="zh-TW" sz="4500" dirty="0"/>
                  <a:t> in the RTOG </a:t>
                </a:r>
                <a:r>
                  <a:rPr lang="en-US" altLang="zh-TW" sz="4500" dirty="0" smtClean="0"/>
                  <a:t>database)</a:t>
                </a:r>
                <a:r>
                  <a:rPr lang="it-IT" altLang="zh-TW" sz="4500" dirty="0"/>
                  <a:t> (Sperduto P et al., IJROBP 2007</a:t>
                </a:r>
                <a:r>
                  <a:rPr lang="it-IT" altLang="zh-TW" sz="4500" dirty="0" smtClean="0"/>
                  <a:t>)</a:t>
                </a:r>
                <a:endParaRPr lang="en-US" altLang="zh-TW" sz="4500" dirty="0" smtClean="0"/>
              </a:p>
              <a:p>
                <a:pPr marL="0" indent="0">
                  <a:buNone/>
                </a:pPr>
                <a:r>
                  <a:rPr lang="en-US" altLang="zh-TW" sz="4500" dirty="0" smtClean="0"/>
                  <a:t>       Criteria </a:t>
                </a:r>
                <a:r>
                  <a:rPr lang="en-US" altLang="zh-TW" sz="4500" dirty="0"/>
                  <a:t>is based on </a:t>
                </a:r>
                <a:r>
                  <a:rPr lang="en-US" altLang="zh-TW" sz="4500" dirty="0" smtClean="0"/>
                  <a:t>a point </a:t>
                </a:r>
                <a:r>
                  <a:rPr lang="en-US" altLang="zh-TW" sz="4500" dirty="0"/>
                  <a:t>system:</a:t>
                </a:r>
              </a:p>
              <a:p>
                <a:pPr lvl="1"/>
                <a:r>
                  <a:rPr lang="en-US" altLang="zh-TW" sz="4500" dirty="0"/>
                  <a:t>0 points: age &gt;60 </a:t>
                </a:r>
                <a:r>
                  <a:rPr lang="en-US" altLang="zh-TW" sz="4500" dirty="0" err="1"/>
                  <a:t>yrs</a:t>
                </a:r>
                <a:r>
                  <a:rPr lang="en-US" altLang="zh-TW" sz="4500" dirty="0"/>
                  <a:t>, KPS &lt;70, &gt;3 brain </a:t>
                </a:r>
                <a:r>
                  <a:rPr lang="en-US" altLang="zh-TW" sz="4500" dirty="0" err="1"/>
                  <a:t>mets</a:t>
                </a:r>
                <a:r>
                  <a:rPr lang="en-US" altLang="zh-TW" sz="4500" dirty="0"/>
                  <a:t>, presence of </a:t>
                </a:r>
                <a:r>
                  <a:rPr lang="en-US" altLang="zh-TW" sz="4500" dirty="0" err="1"/>
                  <a:t>extracranial</a:t>
                </a:r>
                <a:r>
                  <a:rPr lang="en-US" altLang="zh-TW" sz="4500" dirty="0"/>
                  <a:t> </a:t>
                </a:r>
                <a:r>
                  <a:rPr lang="en-US" altLang="zh-TW" sz="4500" dirty="0" err="1"/>
                  <a:t>mets</a:t>
                </a:r>
                <a:endParaRPr lang="en-US" altLang="zh-TW" sz="4500" dirty="0"/>
              </a:p>
              <a:p>
                <a:pPr lvl="1"/>
                <a:r>
                  <a:rPr lang="en-US" altLang="zh-TW" sz="4500" dirty="0"/>
                  <a:t>0.5 points: age 50–59 </a:t>
                </a:r>
                <a:r>
                  <a:rPr lang="en-US" altLang="zh-TW" sz="4500" dirty="0" err="1"/>
                  <a:t>yrs</a:t>
                </a:r>
                <a:r>
                  <a:rPr lang="en-US" altLang="zh-TW" sz="4500" dirty="0"/>
                  <a:t>, KPS 70–80, 2 CNS </a:t>
                </a:r>
                <a:r>
                  <a:rPr lang="en-US" altLang="zh-TW" sz="4500" dirty="0" err="1"/>
                  <a:t>mets</a:t>
                </a:r>
                <a:endParaRPr lang="en-US" altLang="zh-TW" sz="4500" dirty="0"/>
              </a:p>
              <a:p>
                <a:pPr lvl="1"/>
                <a:r>
                  <a:rPr lang="en-US" altLang="zh-TW" sz="4500" dirty="0"/>
                  <a:t>1 point: age &lt;50 </a:t>
                </a:r>
                <a:r>
                  <a:rPr lang="en-US" altLang="zh-TW" sz="4500" dirty="0" err="1"/>
                  <a:t>yrs</a:t>
                </a:r>
                <a:r>
                  <a:rPr lang="en-US" altLang="zh-TW" sz="4500" dirty="0"/>
                  <a:t>, KPS 90–100, 1 CNS met, no </a:t>
                </a:r>
                <a:r>
                  <a:rPr lang="en-US" altLang="zh-TW" sz="4500" dirty="0" err="1"/>
                  <a:t>extracranial</a:t>
                </a:r>
                <a:r>
                  <a:rPr lang="en-US" altLang="zh-TW" sz="4500" dirty="0"/>
                  <a:t> </a:t>
                </a:r>
                <a:r>
                  <a:rPr lang="en-US" altLang="zh-TW" sz="4500" dirty="0" err="1"/>
                  <a:t>mets</a:t>
                </a:r>
                <a:endParaRPr lang="en-US" altLang="zh-TW" sz="4500" dirty="0"/>
              </a:p>
              <a:p>
                <a:pPr marL="0" indent="0">
                  <a:buNone/>
                </a:pPr>
                <a:r>
                  <a:rPr lang="en-US" altLang="zh-TW" sz="4500" dirty="0" smtClean="0"/>
                  <a:t>       The </a:t>
                </a:r>
                <a:r>
                  <a:rPr lang="en-US" altLang="zh-TW" sz="4500" dirty="0"/>
                  <a:t>sum of points predicts MS in </a:t>
                </a:r>
                <a:r>
                  <a:rPr lang="en-US" altLang="zh-TW" sz="4500" dirty="0" err="1"/>
                  <a:t>mos</a:t>
                </a:r>
                <a:r>
                  <a:rPr lang="en-US" altLang="zh-TW" sz="4500" dirty="0"/>
                  <a:t>:</a:t>
                </a:r>
              </a:p>
              <a:p>
                <a:pPr lvl="1"/>
                <a:r>
                  <a:rPr lang="en-US" altLang="zh-TW" sz="4500" dirty="0"/>
                  <a:t>0–1 point: 2.6 </a:t>
                </a:r>
                <a:r>
                  <a:rPr lang="en-US" altLang="zh-TW" sz="4500" dirty="0" err="1"/>
                  <a:t>mos</a:t>
                </a:r>
                <a:endParaRPr lang="en-US" altLang="zh-TW" sz="4500" dirty="0"/>
              </a:p>
              <a:p>
                <a:pPr lvl="1"/>
                <a:r>
                  <a:rPr lang="en-US" altLang="zh-TW" sz="4500" dirty="0"/>
                  <a:t>1.5–2.5 points: 3.8 </a:t>
                </a:r>
                <a:r>
                  <a:rPr lang="en-US" altLang="zh-TW" sz="4500" dirty="0" err="1"/>
                  <a:t>mos</a:t>
                </a:r>
                <a:endParaRPr lang="en-US" altLang="zh-TW" sz="4500" dirty="0"/>
              </a:p>
              <a:p>
                <a:pPr lvl="1"/>
                <a:r>
                  <a:rPr lang="en-US" altLang="zh-TW" sz="4500" dirty="0"/>
                  <a:t>3 points: 6.9 </a:t>
                </a:r>
                <a:r>
                  <a:rPr lang="en-US" altLang="zh-TW" sz="4500" dirty="0" err="1"/>
                  <a:t>mos</a:t>
                </a:r>
                <a:endParaRPr lang="en-US" altLang="zh-TW" sz="4500" dirty="0"/>
              </a:p>
              <a:p>
                <a:pPr lvl="1"/>
                <a:r>
                  <a:rPr lang="en-US" altLang="zh-TW" sz="4500" dirty="0"/>
                  <a:t>3.5–4 points: 11 </a:t>
                </a:r>
                <a:r>
                  <a:rPr lang="en-US" altLang="zh-TW" sz="4500" dirty="0" err="1"/>
                  <a:t>mos</a:t>
                </a:r>
                <a:endParaRPr lang="en-US" altLang="zh-TW" sz="4500" dirty="0"/>
              </a:p>
              <a:p>
                <a:pPr marL="127000" lvl="0" indent="0">
                  <a:lnSpc>
                    <a:spcPct val="150000"/>
                  </a:lnSpc>
                  <a:spcBef>
                    <a:spcPts val="0"/>
                  </a:spcBef>
                  <a:buSzPts val="1600"/>
                  <a:buNone/>
                </a:pPr>
                <a:r>
                  <a:rPr lang="zh-TW" altLang="en-US" sz="4500" u="sng" dirty="0" smtClean="0"/>
                  <a:t>要</a:t>
                </a:r>
                <a:r>
                  <a:rPr lang="zh-TW" altLang="en-US" sz="4500" u="sng" dirty="0"/>
                  <a:t>怎麼治療</a:t>
                </a:r>
                <a:r>
                  <a:rPr lang="en-US" altLang="zh-TW" sz="4500" u="sng" dirty="0"/>
                  <a:t>? </a:t>
                </a:r>
                <a:endParaRPr lang="en-US" altLang="zh-TW" sz="4500" u="sng" dirty="0" smtClean="0"/>
              </a:p>
              <a:p>
                <a:pPr marL="127000" indent="0">
                  <a:lnSpc>
                    <a:spcPct val="150000"/>
                  </a:lnSpc>
                  <a:spcBef>
                    <a:spcPts val="0"/>
                  </a:spcBef>
                  <a:buSzPts val="1600"/>
                  <a:buNone/>
                </a:pPr>
                <a:r>
                  <a:rPr lang="en-US" altLang="zh-TW" sz="4500" dirty="0"/>
                  <a:t> </a:t>
                </a:r>
                <a:r>
                  <a:rPr lang="en-US" altLang="zh-TW" sz="4500" dirty="0" smtClean="0"/>
                  <a:t>A: Steroids, surgery, WBRT and SRS</a:t>
                </a:r>
              </a:p>
              <a:p>
                <a:pPr marL="984250" lvl="1" indent="-457200">
                  <a:lnSpc>
                    <a:spcPct val="150000"/>
                  </a:lnSpc>
                  <a:spcBef>
                    <a:spcPts val="0"/>
                  </a:spcBef>
                  <a:buSzPts val="1600"/>
                </a:pPr>
                <a:r>
                  <a:rPr lang="en-US" altLang="zh-TW" sz="4500" dirty="0" smtClean="0"/>
                  <a:t>WBRT </a:t>
                </a:r>
                <a:r>
                  <a:rPr lang="en-US" altLang="zh-TW" sz="4500" dirty="0"/>
                  <a:t>dose: </a:t>
                </a:r>
                <a:r>
                  <a:rPr lang="en-US" altLang="zh-TW" sz="4500" b="1" dirty="0"/>
                  <a:t>30 </a:t>
                </a:r>
                <a:r>
                  <a:rPr lang="en-US" altLang="zh-TW" sz="4500" b="1" dirty="0" err="1"/>
                  <a:t>Gy</a:t>
                </a:r>
                <a:r>
                  <a:rPr lang="en-US" altLang="zh-TW" sz="4500" b="1" dirty="0"/>
                  <a:t>/10Fx</a:t>
                </a:r>
                <a:r>
                  <a:rPr lang="en-US" altLang="zh-TW" sz="4500" dirty="0"/>
                  <a:t>; 37.5Gy/15, 40 </a:t>
                </a:r>
                <a:r>
                  <a:rPr lang="en-US" altLang="zh-TW" sz="4500" dirty="0" err="1"/>
                  <a:t>Gy</a:t>
                </a:r>
                <a:r>
                  <a:rPr lang="en-US" altLang="zh-TW" sz="4500" dirty="0"/>
                  <a:t>/20 for good KPS &amp; longer life </a:t>
                </a:r>
                <a:r>
                  <a:rPr lang="en-US" altLang="zh-TW" sz="4500" dirty="0" smtClean="0"/>
                  <a:t>expectancy</a:t>
                </a:r>
              </a:p>
              <a:p>
                <a:pPr marL="984250" lvl="1" indent="-457200">
                  <a:lnSpc>
                    <a:spcPct val="150000"/>
                  </a:lnSpc>
                  <a:spcBef>
                    <a:spcPts val="0"/>
                  </a:spcBef>
                  <a:buSzPts val="1600"/>
                </a:pPr>
                <a:r>
                  <a:rPr lang="en-US" altLang="zh-TW" sz="4500" b="1" dirty="0" smtClean="0"/>
                  <a:t>RTOG </a:t>
                </a:r>
                <a:r>
                  <a:rPr lang="en-US" altLang="zh-TW" sz="4500" b="1" dirty="0"/>
                  <a:t>9508 </a:t>
                </a:r>
                <a:r>
                  <a:rPr lang="en-US" altLang="zh-TW" sz="4500" dirty="0"/>
                  <a:t>(SRS boost): </a:t>
                </a:r>
                <a:r>
                  <a:rPr lang="en-US" altLang="zh-TW" sz="4500" b="1" dirty="0"/>
                  <a:t>WBRT+SRS</a:t>
                </a:r>
                <a:r>
                  <a:rPr lang="zh-TW" altLang="en-US" sz="4500" b="1" dirty="0"/>
                  <a:t> ↑</a:t>
                </a:r>
                <a:r>
                  <a:rPr lang="en-US" altLang="zh-TW" sz="4500" b="1" dirty="0"/>
                  <a:t>MS </a:t>
                </a:r>
                <a:r>
                  <a:rPr lang="en-US" altLang="zh-TW" sz="4500" dirty="0"/>
                  <a:t>in </a:t>
                </a:r>
                <a:r>
                  <a:rPr lang="en-US" altLang="zh-TW" sz="4500" dirty="0" err="1"/>
                  <a:t>p’t</a:t>
                </a:r>
                <a:r>
                  <a:rPr lang="en-US" altLang="zh-TW" sz="4500" dirty="0"/>
                  <a:t> with single brain met/RPA class I/lung cancer </a:t>
                </a:r>
                <a:r>
                  <a:rPr lang="en-US" altLang="zh-TW" sz="4500" dirty="0" smtClean="0"/>
                  <a:t>primary</a:t>
                </a:r>
                <a:endParaRPr lang="en-US" altLang="zh-TW" sz="4500" u="sng" dirty="0" smtClean="0"/>
              </a:p>
              <a:p>
                <a:pPr marL="127000" indent="0">
                  <a:lnSpc>
                    <a:spcPct val="150000"/>
                  </a:lnSpc>
                  <a:spcBef>
                    <a:spcPts val="0"/>
                  </a:spcBef>
                  <a:buSzPts val="1600"/>
                  <a:buNone/>
                </a:pPr>
                <a:r>
                  <a:rPr lang="en-US" altLang="zh-TW" sz="4900" u="sng" dirty="0" smtClean="0"/>
                  <a:t>2.    Spinal </a:t>
                </a:r>
                <a:r>
                  <a:rPr lang="en-US" altLang="zh-TW" sz="4900" u="sng" dirty="0"/>
                  <a:t>meta/Spinal cord compression</a:t>
                </a:r>
                <a:r>
                  <a:rPr lang="zh-TW" altLang="en-US" sz="4900" u="sng" dirty="0"/>
                  <a:t>要怎麼治療</a:t>
                </a:r>
                <a:r>
                  <a:rPr lang="en-US" altLang="zh-TW" sz="4900" u="sng" dirty="0" smtClean="0"/>
                  <a:t>?</a:t>
                </a:r>
              </a:p>
              <a:p>
                <a:pPr marL="127000" indent="0">
                  <a:lnSpc>
                    <a:spcPct val="150000"/>
                  </a:lnSpc>
                  <a:spcBef>
                    <a:spcPts val="0"/>
                  </a:spcBef>
                  <a:buSzPts val="1600"/>
                  <a:buNone/>
                </a:pPr>
                <a:r>
                  <a:rPr lang="en-US" altLang="zh-TW" sz="4600" dirty="0" smtClean="0"/>
                  <a:t>A: </a:t>
                </a:r>
                <a:r>
                  <a:rPr lang="en-US" altLang="zh-TW" sz="4600" dirty="0"/>
                  <a:t>8Gy/1, 20Gy/5, </a:t>
                </a:r>
                <a:r>
                  <a:rPr lang="en-US" altLang="zh-TW" sz="4600" dirty="0" smtClean="0"/>
                  <a:t>30Gy/10 for spinal met; 30Gy/10 for spinal cord compression  </a:t>
                </a:r>
                <a:endParaRPr lang="en-US" altLang="zh-TW" sz="4600" u="sng" dirty="0"/>
              </a:p>
              <a:p>
                <a:pPr marL="127000" lvl="0" indent="0">
                  <a:lnSpc>
                    <a:spcPct val="150000"/>
                  </a:lnSpc>
                  <a:spcBef>
                    <a:spcPts val="0"/>
                  </a:spcBef>
                  <a:buSzPts val="1600"/>
                  <a:buNone/>
                </a:pPr>
                <a:r>
                  <a:rPr lang="en-US" altLang="zh-TW" sz="4500" u="sng" dirty="0" smtClean="0"/>
                  <a:t>3.     </a:t>
                </a:r>
                <a:r>
                  <a:rPr lang="zh-TW" altLang="en-US" sz="4500" u="sng" dirty="0" smtClean="0"/>
                  <a:t>有</a:t>
                </a:r>
                <a:r>
                  <a:rPr lang="zh-TW" altLang="en-US" sz="4500" u="sng" dirty="0"/>
                  <a:t>沒有治療過</a:t>
                </a:r>
                <a:r>
                  <a:rPr lang="en-US" altLang="zh-TW" sz="4500" u="sng" dirty="0"/>
                  <a:t>SVC syndrome</a:t>
                </a:r>
                <a:r>
                  <a:rPr lang="zh-TW" altLang="en-US" sz="4500" u="sng" dirty="0"/>
                  <a:t>的病人，</a:t>
                </a:r>
                <a:r>
                  <a:rPr lang="en-US" altLang="zh-TW" sz="4500" u="sng" dirty="0"/>
                  <a:t>response rate</a:t>
                </a:r>
                <a:r>
                  <a:rPr lang="zh-TW" altLang="en-US" sz="4500" u="sng" dirty="0"/>
                  <a:t>如何</a:t>
                </a:r>
                <a:r>
                  <a:rPr lang="en-US" altLang="zh-TW" sz="4500" u="sng" dirty="0"/>
                  <a:t>? </a:t>
                </a:r>
                <a:endParaRPr lang="en-US" altLang="zh-TW" sz="4500" u="sng" dirty="0" smtClean="0"/>
              </a:p>
              <a:p>
                <a:pPr marL="127000" indent="0">
                  <a:lnSpc>
                    <a:spcPct val="150000"/>
                  </a:lnSpc>
                  <a:spcBef>
                    <a:spcPts val="0"/>
                  </a:spcBef>
                  <a:buSzPts val="1600"/>
                  <a:buNone/>
                </a:pPr>
                <a:r>
                  <a:rPr lang="en-US" altLang="zh-TW" sz="4500" dirty="0" smtClean="0"/>
                  <a:t>A: Total RT dose for SVC syndrome depends on </a:t>
                </a:r>
                <a:r>
                  <a:rPr lang="en-US" altLang="zh-TW" sz="4500" b="1" dirty="0" smtClean="0"/>
                  <a:t>underlying pathology </a:t>
                </a:r>
                <a:r>
                  <a:rPr lang="en-US" altLang="zh-TW" sz="4500" dirty="0" smtClean="0"/>
                  <a:t>(lung </a:t>
                </a:r>
                <a14:m>
                  <m:oMath xmlns:m="http://schemas.openxmlformats.org/officeDocument/2006/math">
                    <m:r>
                      <a:rPr lang="en-US" altLang="zh-TW" sz="4500" b="0" i="1" smtClean="0">
                        <a:latin typeface="Cambria Math"/>
                        <a:ea typeface="Cambria Math"/>
                      </a:rPr>
                      <m:t>≥</m:t>
                    </m:r>
                  </m:oMath>
                </a14:m>
                <a:r>
                  <a:rPr lang="en-US" altLang="zh-TW" sz="4500" dirty="0" smtClean="0"/>
                  <a:t> 60Gy; lymphoma 40Gy; palliation: 30Gy/10); </a:t>
                </a:r>
                <a:r>
                  <a:rPr lang="en-US" altLang="zh-TW" sz="4500" b="1" dirty="0" smtClean="0"/>
                  <a:t>overall symptomatic response to RT: </a:t>
                </a:r>
                <a:r>
                  <a:rPr lang="en-US" altLang="zh-TW" sz="4800" b="1" dirty="0" smtClean="0"/>
                  <a:t>60%.</a:t>
                </a:r>
                <a:endParaRPr lang="en-US" altLang="zh-TW" sz="4800" b="1" dirty="0"/>
              </a:p>
              <a:p>
                <a:pPr marL="127000" lvl="0" indent="0">
                  <a:lnSpc>
                    <a:spcPct val="150000"/>
                  </a:lnSpc>
                  <a:spcBef>
                    <a:spcPts val="0"/>
                  </a:spcBef>
                  <a:buSzPts val="1600"/>
                  <a:buNone/>
                </a:pPr>
                <a:endParaRPr lang="en-US" altLang="zh-TW" sz="4500" dirty="0"/>
              </a:p>
              <a:p>
                <a:endParaRPr lang="zh-TW" altLang="en-US" b="1" dirty="0"/>
              </a:p>
              <a:p>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457200" y="44624"/>
                <a:ext cx="8229600" cy="6912768"/>
              </a:xfrm>
              <a:blipFill rotWithShape="1">
                <a:blip r:embed="rId3"/>
                <a:stretch>
                  <a:fillRect l="-22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2729069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2016/</a:t>
            </a:r>
            <a:r>
              <a:rPr lang="zh-TW" altLang="en-US" dirty="0" smtClean="0"/>
              <a:t>梁雲</a:t>
            </a:r>
            <a:endParaRPr lang="zh-TW" altLang="en-US" dirty="0"/>
          </a:p>
        </p:txBody>
      </p:sp>
      <p:sp>
        <p:nvSpPr>
          <p:cNvPr id="3" name="內容版面配置區 2"/>
          <p:cNvSpPr>
            <a:spLocks noGrp="1"/>
          </p:cNvSpPr>
          <p:nvPr>
            <p:ph idx="1"/>
          </p:nvPr>
        </p:nvSpPr>
        <p:spPr/>
        <p:txBody>
          <a:bodyPr>
            <a:normAutofit fontScale="55000" lnSpcReduction="20000"/>
          </a:bodyPr>
          <a:lstStyle/>
          <a:p>
            <a:r>
              <a:rPr lang="zh-TW" altLang="en-US" u="sng" dirty="0" smtClean="0"/>
              <a:t>先</a:t>
            </a:r>
            <a:r>
              <a:rPr lang="zh-TW" altLang="en-US" u="sng" dirty="0"/>
              <a:t>問了</a:t>
            </a:r>
            <a:r>
              <a:rPr lang="en-US" altLang="zh-TW" u="sng" dirty="0"/>
              <a:t>bone, brain metastasis</a:t>
            </a:r>
            <a:r>
              <a:rPr lang="zh-TW" altLang="en-US" u="sng" dirty="0"/>
              <a:t>的治療方法與劑量，然後會不會做</a:t>
            </a:r>
            <a:r>
              <a:rPr lang="en-US" altLang="zh-TW" u="sng" dirty="0"/>
              <a:t>SRS</a:t>
            </a:r>
            <a:r>
              <a:rPr lang="zh-TW" altLang="en-US" u="sng" dirty="0"/>
              <a:t>，甚麼情況會做</a:t>
            </a:r>
            <a:r>
              <a:rPr lang="en-US" altLang="zh-TW" u="sng" dirty="0"/>
              <a:t>SRS</a:t>
            </a:r>
            <a:r>
              <a:rPr lang="zh-TW" altLang="en-US" u="sng" dirty="0"/>
              <a:t>？要不要做</a:t>
            </a:r>
            <a:r>
              <a:rPr lang="en-US" altLang="zh-TW" u="sng" dirty="0"/>
              <a:t>WBRT? </a:t>
            </a:r>
            <a:r>
              <a:rPr lang="zh-TW" altLang="en-US" u="sng" dirty="0"/>
              <a:t>病人很年輕</a:t>
            </a:r>
            <a:r>
              <a:rPr lang="en-US" altLang="zh-TW" u="sng" dirty="0" err="1"/>
              <a:t>ps</a:t>
            </a:r>
            <a:r>
              <a:rPr lang="zh-TW" altLang="en-US" u="sng" dirty="0"/>
              <a:t>很好</a:t>
            </a:r>
            <a:r>
              <a:rPr lang="en-US" altLang="zh-TW" u="sng" dirty="0"/>
              <a:t>1</a:t>
            </a:r>
            <a:r>
              <a:rPr lang="zh-TW" altLang="en-US" u="sng" dirty="0"/>
              <a:t>顆</a:t>
            </a:r>
            <a:r>
              <a:rPr lang="en-US" altLang="zh-TW" u="sng" dirty="0"/>
              <a:t>brain meta </a:t>
            </a:r>
            <a:r>
              <a:rPr lang="zh-TW" altLang="en-US" u="sng" dirty="0"/>
              <a:t>拒絕</a:t>
            </a:r>
            <a:r>
              <a:rPr lang="en-US" altLang="zh-TW" u="sng" dirty="0"/>
              <a:t>OP</a:t>
            </a:r>
            <a:r>
              <a:rPr lang="zh-TW" altLang="en-US" u="sng" dirty="0"/>
              <a:t>，有甚麼方法</a:t>
            </a:r>
            <a:r>
              <a:rPr lang="en-US" altLang="zh-TW" u="sng" dirty="0"/>
              <a:t>? </a:t>
            </a:r>
            <a:r>
              <a:rPr lang="en-US" altLang="zh-TW" dirty="0"/>
              <a:t>(</a:t>
            </a:r>
            <a:r>
              <a:rPr lang="zh-TW" altLang="en-US" dirty="0"/>
              <a:t>我回答可以用</a:t>
            </a:r>
            <a:r>
              <a:rPr lang="en-US" altLang="zh-TW" dirty="0"/>
              <a:t>RTOG 9508 WBRT +SRS; </a:t>
            </a:r>
            <a:endParaRPr lang="en-US" altLang="zh-TW" dirty="0" smtClean="0"/>
          </a:p>
          <a:p>
            <a:r>
              <a:rPr lang="zh-TW" altLang="en-US" u="sng" dirty="0" smtClean="0"/>
              <a:t>他</a:t>
            </a:r>
            <a:r>
              <a:rPr lang="zh-TW" altLang="en-US" u="sng" dirty="0"/>
              <a:t>繼續問</a:t>
            </a:r>
            <a:r>
              <a:rPr lang="en-US" altLang="zh-TW" u="sng" dirty="0"/>
              <a:t>WBRT </a:t>
            </a:r>
            <a:r>
              <a:rPr lang="zh-TW" altLang="en-US" u="sng" dirty="0"/>
              <a:t>的</a:t>
            </a:r>
            <a:r>
              <a:rPr lang="en-US" altLang="zh-TW" u="sng" dirty="0"/>
              <a:t>side effect? </a:t>
            </a:r>
            <a:r>
              <a:rPr lang="zh-TW" altLang="en-US" u="sng" dirty="0"/>
              <a:t>病人很年輕高知識份子你會</a:t>
            </a:r>
            <a:r>
              <a:rPr lang="en-US" altLang="zh-TW" u="sng" dirty="0"/>
              <a:t>? </a:t>
            </a:r>
            <a:endParaRPr lang="en-US" altLang="zh-TW" u="sng" dirty="0" smtClean="0"/>
          </a:p>
          <a:p>
            <a:pPr marL="0" lvl="2" indent="0">
              <a:buNone/>
            </a:pPr>
            <a:r>
              <a:rPr lang="en-US" altLang="zh-TW" sz="2700" dirty="0" smtClean="0"/>
              <a:t>       A: </a:t>
            </a:r>
            <a:r>
              <a:rPr lang="en-US" altLang="zh-TW" sz="2700" dirty="0"/>
              <a:t>neurocognitive impairment: </a:t>
            </a:r>
            <a:r>
              <a:rPr lang="en-US" altLang="zh-TW" sz="2700" dirty="0" err="1" smtClean="0">
                <a:solidFill>
                  <a:srgbClr val="0000FF"/>
                </a:solidFill>
              </a:rPr>
              <a:t>memantine</a:t>
            </a:r>
            <a:r>
              <a:rPr lang="en-US" altLang="zh-TW" sz="2700" dirty="0" smtClean="0"/>
              <a:t> + </a:t>
            </a:r>
            <a:r>
              <a:rPr lang="en-US" altLang="zh-TW" sz="2700" dirty="0">
                <a:solidFill>
                  <a:srgbClr val="0000FF"/>
                </a:solidFill>
              </a:rPr>
              <a:t>hippocampal avoidance </a:t>
            </a:r>
            <a:r>
              <a:rPr lang="en-US" altLang="zh-TW" sz="2700" dirty="0"/>
              <a:t>may improve neurocognitive </a:t>
            </a:r>
            <a:r>
              <a:rPr lang="en-US" altLang="zh-TW" sz="2700" dirty="0" smtClean="0"/>
              <a:t>function. </a:t>
            </a:r>
            <a:r>
              <a:rPr lang="zh-TW" altLang="en-US" sz="2700" dirty="0" smtClean="0"/>
              <a:t>可以用</a:t>
            </a:r>
            <a:r>
              <a:rPr lang="en-US" altLang="zh-TW" sz="2700" dirty="0" err="1" smtClean="0"/>
              <a:t>Tomotherapy</a:t>
            </a:r>
            <a:r>
              <a:rPr lang="en-US" altLang="zh-TW" sz="2700" dirty="0" smtClean="0"/>
              <a:t> or IMRT </a:t>
            </a:r>
            <a:r>
              <a:rPr lang="zh-TW" altLang="en-US" sz="2700" dirty="0" smtClean="0"/>
              <a:t>做</a:t>
            </a:r>
            <a:r>
              <a:rPr lang="en-US" altLang="zh-TW" sz="2700" dirty="0" smtClean="0"/>
              <a:t>hippocampus sparing.</a:t>
            </a:r>
            <a:endParaRPr lang="en-US" altLang="zh-TW" sz="2700" dirty="0"/>
          </a:p>
          <a:p>
            <a:r>
              <a:rPr lang="zh-TW" altLang="en-US" sz="3300" dirty="0"/>
              <a:t>接下來問有沒有做過</a:t>
            </a:r>
            <a:r>
              <a:rPr lang="en-US" altLang="zh-TW" sz="3300" dirty="0"/>
              <a:t>benign</a:t>
            </a:r>
            <a:r>
              <a:rPr lang="zh-TW" altLang="en-US" sz="3300" dirty="0"/>
              <a:t>的腫瘤，然後怎麼做，劑量</a:t>
            </a:r>
            <a:r>
              <a:rPr lang="en-US" altLang="zh-TW" sz="3300" dirty="0"/>
              <a:t>? </a:t>
            </a:r>
            <a:r>
              <a:rPr lang="zh-TW" altLang="en-US" sz="3300" dirty="0"/>
              <a:t>講越多他就會問越多</a:t>
            </a:r>
            <a:r>
              <a:rPr lang="en-US" altLang="zh-TW" sz="3300" dirty="0"/>
              <a:t>(</a:t>
            </a:r>
            <a:r>
              <a:rPr lang="zh-TW" altLang="en-US" sz="3300" dirty="0"/>
              <a:t>至少要知道</a:t>
            </a:r>
            <a:r>
              <a:rPr lang="en-US" altLang="zh-TW" sz="3300" dirty="0"/>
              <a:t>AVM)</a:t>
            </a:r>
          </a:p>
          <a:p>
            <a:r>
              <a:rPr lang="en-US" altLang="zh-TW" sz="3300" dirty="0"/>
              <a:t>(</a:t>
            </a:r>
            <a:r>
              <a:rPr lang="zh-TW" altLang="en-US" sz="3300" dirty="0"/>
              <a:t>王帝皓</a:t>
            </a:r>
            <a:r>
              <a:rPr lang="en-US" altLang="zh-TW" sz="3300" dirty="0"/>
              <a:t>) brain metastases </a:t>
            </a:r>
            <a:r>
              <a:rPr lang="zh-TW" altLang="en-US" sz="3300" dirty="0"/>
              <a:t>主任問我</a:t>
            </a:r>
            <a:r>
              <a:rPr lang="en-US" altLang="zh-TW" sz="3300" dirty="0"/>
              <a:t>fraction size </a:t>
            </a:r>
            <a:r>
              <a:rPr lang="zh-TW" altLang="en-US" sz="3300" dirty="0"/>
              <a:t>差別？他建議</a:t>
            </a:r>
            <a:r>
              <a:rPr lang="en-US" altLang="zh-TW" sz="3300" dirty="0"/>
              <a:t>200 </a:t>
            </a:r>
            <a:r>
              <a:rPr lang="en-US" altLang="zh-TW" sz="3300" dirty="0" err="1"/>
              <a:t>cGy</a:t>
            </a:r>
            <a:r>
              <a:rPr lang="en-US" altLang="zh-TW" sz="3300" dirty="0"/>
              <a:t> x 20 </a:t>
            </a:r>
            <a:r>
              <a:rPr lang="en-US" altLang="zh-TW" sz="3300" dirty="0" err="1"/>
              <a:t>Fx</a:t>
            </a:r>
            <a:r>
              <a:rPr lang="zh-TW" altLang="en-US" sz="3300" dirty="0"/>
              <a:t>會有比較小的副作用。</a:t>
            </a:r>
          </a:p>
          <a:p>
            <a:r>
              <a:rPr lang="en-US" altLang="zh-TW" sz="3300" dirty="0"/>
              <a:t>Spine metastases </a:t>
            </a:r>
            <a:r>
              <a:rPr lang="zh-TW" altLang="en-US" sz="3300" dirty="0"/>
              <a:t>考慮一個乳癌病人多處骨轉移，無明顯症狀，走路進來，怎麼評估放射治療？</a:t>
            </a:r>
          </a:p>
          <a:p>
            <a:r>
              <a:rPr lang="en-US" altLang="zh-TW" sz="3300" dirty="0"/>
              <a:t>Spine metastases </a:t>
            </a:r>
            <a:r>
              <a:rPr lang="zh-TW" altLang="en-US" sz="3300" dirty="0"/>
              <a:t>考慮一個乳癌病人</a:t>
            </a:r>
            <a:r>
              <a:rPr lang="en-US" altLang="zh-TW" sz="3300" dirty="0"/>
              <a:t>T9-L3</a:t>
            </a:r>
            <a:r>
              <a:rPr lang="zh-TW" altLang="en-US" sz="3300" dirty="0"/>
              <a:t>骨轉移，如果要照射</a:t>
            </a:r>
            <a:r>
              <a:rPr lang="en-US" altLang="zh-TW" sz="3300" dirty="0"/>
              <a:t>Dose/fraction size</a:t>
            </a:r>
            <a:r>
              <a:rPr lang="zh-TW" altLang="en-US" sz="3300" dirty="0"/>
              <a:t>需考量什麼，他建議</a:t>
            </a:r>
            <a:r>
              <a:rPr lang="en-US" altLang="zh-TW" sz="3300" dirty="0" err="1"/>
              <a:t>Fx</a:t>
            </a:r>
            <a:r>
              <a:rPr lang="en-US" altLang="zh-TW" sz="3300" dirty="0"/>
              <a:t> &lt;=200</a:t>
            </a:r>
            <a:r>
              <a:rPr lang="zh-TW" altLang="en-US" sz="3300" dirty="0"/>
              <a:t>，因前面很多小腸。</a:t>
            </a:r>
          </a:p>
          <a:p>
            <a:r>
              <a:rPr lang="en-US" altLang="zh-TW" sz="3300" dirty="0"/>
              <a:t>AVM</a:t>
            </a:r>
            <a:r>
              <a:rPr lang="zh-TW" altLang="en-US" sz="3300" dirty="0"/>
              <a:t>治療劑量？</a:t>
            </a:r>
            <a:r>
              <a:rPr lang="en-US" altLang="zh-TW" sz="3300" dirty="0"/>
              <a:t>Brain SRS</a:t>
            </a:r>
            <a:r>
              <a:rPr lang="zh-TW" altLang="en-US" sz="3300" dirty="0"/>
              <a:t>須注意什麼</a:t>
            </a:r>
            <a:r>
              <a:rPr lang="en-US" altLang="zh-TW" sz="3300" dirty="0"/>
              <a:t>? (</a:t>
            </a:r>
            <a:r>
              <a:rPr lang="zh-TW" altLang="en-US" sz="3300" dirty="0"/>
              <a:t>他說體積、位置、病兆型態</a:t>
            </a:r>
            <a:r>
              <a:rPr lang="en-US" altLang="zh-TW" sz="3300" dirty="0"/>
              <a:t>)</a:t>
            </a:r>
          </a:p>
          <a:p>
            <a:r>
              <a:rPr lang="zh-TW" altLang="en-US" sz="3300" dirty="0"/>
              <a:t>有沒治療過</a:t>
            </a:r>
            <a:r>
              <a:rPr lang="en-US" altLang="zh-TW" sz="3300" dirty="0" err="1"/>
              <a:t>hemangioma</a:t>
            </a:r>
            <a:r>
              <a:rPr lang="en-US" altLang="zh-TW" sz="3300" dirty="0"/>
              <a:t>. </a:t>
            </a:r>
            <a:r>
              <a:rPr lang="zh-TW" altLang="en-US" sz="3300" dirty="0"/>
              <a:t>長在臉上</a:t>
            </a:r>
            <a:r>
              <a:rPr lang="en-US" altLang="zh-TW" sz="3300" dirty="0"/>
              <a:t>18 y/o girl</a:t>
            </a:r>
            <a:r>
              <a:rPr lang="zh-TW" altLang="en-US" sz="3300" dirty="0"/>
              <a:t>，劑量？在肝臟？</a:t>
            </a:r>
          </a:p>
          <a:p>
            <a:r>
              <a:rPr lang="en-US" altLang="zh-TW" sz="3300" dirty="0"/>
              <a:t>keloid</a:t>
            </a:r>
            <a:r>
              <a:rPr lang="zh-TW" altLang="en-US" sz="3300" dirty="0"/>
              <a:t>的治療劑量怎麼給？術後甚麼時候要治療？大部分是甚麼科轉介的？</a:t>
            </a:r>
          </a:p>
        </p:txBody>
      </p:sp>
    </p:spTree>
    <p:extLst>
      <p:ext uri="{BB962C8B-B14F-4D97-AF65-F5344CB8AC3E}">
        <p14:creationId xmlns:p14="http://schemas.microsoft.com/office/powerpoint/2010/main" val="90354553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2014/</a:t>
            </a:r>
            <a:r>
              <a:rPr lang="zh-TW" altLang="en-US" dirty="0" smtClean="0"/>
              <a:t>劉岱瑋</a:t>
            </a:r>
            <a:endParaRPr lang="zh-TW" altLang="en-US" dirty="0"/>
          </a:p>
        </p:txBody>
      </p:sp>
      <p:sp>
        <p:nvSpPr>
          <p:cNvPr id="3" name="內容版面配置區 2"/>
          <p:cNvSpPr>
            <a:spLocks noGrp="1"/>
          </p:cNvSpPr>
          <p:nvPr>
            <p:ph idx="1"/>
          </p:nvPr>
        </p:nvSpPr>
        <p:spPr/>
        <p:txBody>
          <a:bodyPr>
            <a:normAutofit/>
          </a:bodyPr>
          <a:lstStyle/>
          <a:p>
            <a:r>
              <a:rPr lang="zh-TW" altLang="en-US" dirty="0" smtClean="0"/>
              <a:t>今天</a:t>
            </a:r>
            <a:r>
              <a:rPr lang="zh-TW" altLang="en-US" dirty="0"/>
              <a:t>有一個病人</a:t>
            </a:r>
            <a:r>
              <a:rPr lang="en-US" altLang="zh-TW" dirty="0"/>
              <a:t>brain </a:t>
            </a:r>
            <a:r>
              <a:rPr lang="en-US" altLang="zh-TW" dirty="0" err="1"/>
              <a:t>mets</a:t>
            </a:r>
            <a:r>
              <a:rPr lang="zh-TW" altLang="en-US" dirty="0"/>
              <a:t>來找你</a:t>
            </a:r>
            <a:r>
              <a:rPr lang="en-US" altLang="zh-TW" dirty="0"/>
              <a:t>, </a:t>
            </a:r>
            <a:r>
              <a:rPr lang="zh-TW" altLang="en-US" dirty="0"/>
              <a:t>你的</a:t>
            </a:r>
            <a:r>
              <a:rPr lang="en-US" altLang="zh-TW" dirty="0" smtClean="0"/>
              <a:t>management</a:t>
            </a:r>
            <a:r>
              <a:rPr lang="zh-TW" altLang="en-US" dirty="0"/>
              <a:t>有哪些方式</a:t>
            </a:r>
            <a:r>
              <a:rPr lang="en-US" altLang="zh-TW" dirty="0"/>
              <a:t>? </a:t>
            </a:r>
          </a:p>
          <a:p>
            <a:r>
              <a:rPr lang="zh-TW" altLang="en-US" dirty="0"/>
              <a:t>你有沒有治療過哪些</a:t>
            </a:r>
            <a:r>
              <a:rPr lang="en-US" altLang="zh-TW" dirty="0"/>
              <a:t>benign disease? </a:t>
            </a:r>
            <a:r>
              <a:rPr lang="zh-TW" altLang="en-US" dirty="0"/>
              <a:t>然後會根據你回答的細問你</a:t>
            </a:r>
            <a:r>
              <a:rPr lang="en-US" altLang="zh-TW" dirty="0"/>
              <a:t>~ </a:t>
            </a:r>
          </a:p>
          <a:p>
            <a:r>
              <a:rPr lang="en-US" altLang="zh-TW" dirty="0"/>
              <a:t>ex. </a:t>
            </a:r>
            <a:r>
              <a:rPr lang="zh-TW" altLang="en-US" dirty="0"/>
              <a:t>什麼時候做</a:t>
            </a:r>
            <a:r>
              <a:rPr lang="en-US" altLang="zh-TW" dirty="0"/>
              <a:t>SRS</a:t>
            </a:r>
            <a:r>
              <a:rPr lang="zh-TW" altLang="en-US" dirty="0"/>
              <a:t>，</a:t>
            </a:r>
            <a:r>
              <a:rPr lang="en-US" altLang="zh-TW" dirty="0" err="1"/>
              <a:t>oligometastasis</a:t>
            </a:r>
            <a:r>
              <a:rPr lang="zh-TW" altLang="en-US" dirty="0"/>
              <a:t>做</a:t>
            </a:r>
            <a:r>
              <a:rPr lang="en-US" altLang="zh-TW" dirty="0"/>
              <a:t>SRS</a:t>
            </a:r>
            <a:r>
              <a:rPr lang="zh-TW" altLang="en-US" dirty="0"/>
              <a:t>之後要不要</a:t>
            </a:r>
            <a:r>
              <a:rPr lang="en-US" altLang="zh-TW" dirty="0"/>
              <a:t>WBRT</a:t>
            </a:r>
            <a:r>
              <a:rPr lang="zh-TW" altLang="en-US" dirty="0"/>
              <a:t>、若建議去開刀，開完刀之後要不要</a:t>
            </a:r>
            <a:r>
              <a:rPr lang="en-US" altLang="zh-TW" dirty="0"/>
              <a:t>WBRT? </a:t>
            </a:r>
          </a:p>
          <a:p>
            <a:r>
              <a:rPr lang="zh-TW" altLang="en-US" dirty="0"/>
              <a:t>腦瘤</a:t>
            </a:r>
            <a:r>
              <a:rPr lang="en-US" altLang="zh-TW" dirty="0"/>
              <a:t>RPA(Recursive Partitioning Analysis)</a:t>
            </a:r>
            <a:r>
              <a:rPr lang="zh-TW" altLang="en-US" dirty="0"/>
              <a:t>內容</a:t>
            </a:r>
            <a:r>
              <a:rPr lang="en-US" altLang="zh-TW" dirty="0"/>
              <a:t>? </a:t>
            </a:r>
            <a:endParaRPr lang="zh-TW" altLang="en-US" dirty="0"/>
          </a:p>
        </p:txBody>
      </p:sp>
    </p:spTree>
    <p:extLst>
      <p:ext uri="{BB962C8B-B14F-4D97-AF65-F5344CB8AC3E}">
        <p14:creationId xmlns:p14="http://schemas.microsoft.com/office/powerpoint/2010/main" val="386942798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2013/</a:t>
            </a:r>
            <a:r>
              <a:rPr lang="zh-TW" altLang="en-US" dirty="0" smtClean="0"/>
              <a:t>吳孟浩</a:t>
            </a:r>
            <a:endParaRPr lang="zh-TW" altLang="en-US" dirty="0"/>
          </a:p>
        </p:txBody>
      </p:sp>
      <p:sp>
        <p:nvSpPr>
          <p:cNvPr id="3" name="內容版面配置區 2"/>
          <p:cNvSpPr>
            <a:spLocks noGrp="1"/>
          </p:cNvSpPr>
          <p:nvPr>
            <p:ph idx="1"/>
          </p:nvPr>
        </p:nvSpPr>
        <p:spPr>
          <a:xfrm>
            <a:off x="457200" y="1600200"/>
            <a:ext cx="8229600" cy="4853136"/>
          </a:xfrm>
        </p:spPr>
        <p:txBody>
          <a:bodyPr>
            <a:normAutofit fontScale="62500" lnSpcReduction="20000"/>
          </a:bodyPr>
          <a:lstStyle/>
          <a:p>
            <a:r>
              <a:rPr lang="en-US" altLang="zh-TW" dirty="0" smtClean="0"/>
              <a:t>Palliation </a:t>
            </a:r>
          </a:p>
          <a:p>
            <a:r>
              <a:rPr lang="en-US" altLang="zh-TW" dirty="0" smtClean="0"/>
              <a:t>3</a:t>
            </a:r>
            <a:r>
              <a:rPr lang="en-US" altLang="zh-TW" dirty="0"/>
              <a:t>. </a:t>
            </a:r>
            <a:r>
              <a:rPr lang="zh-TW" altLang="en-US" dirty="0"/>
              <a:t>說明</a:t>
            </a:r>
            <a:r>
              <a:rPr lang="en-US" altLang="zh-TW" dirty="0"/>
              <a:t>RILD (</a:t>
            </a:r>
            <a:r>
              <a:rPr lang="zh-TW" altLang="en-US" dirty="0"/>
              <a:t>分成</a:t>
            </a:r>
            <a:r>
              <a:rPr lang="en-US" altLang="zh-TW" dirty="0"/>
              <a:t>classic and non-classic</a:t>
            </a:r>
            <a:r>
              <a:rPr lang="zh-TW" altLang="en-US" dirty="0"/>
              <a:t>來講，</a:t>
            </a:r>
            <a:r>
              <a:rPr lang="en-US" altLang="zh-TW" dirty="0"/>
              <a:t>non-classic</a:t>
            </a:r>
            <a:r>
              <a:rPr lang="zh-TW" altLang="en-US" dirty="0"/>
              <a:t>出現的時間最早是多久就會出現</a:t>
            </a:r>
            <a:r>
              <a:rPr lang="en-US" altLang="zh-TW" dirty="0"/>
              <a:t>? )</a:t>
            </a:r>
          </a:p>
          <a:p>
            <a:r>
              <a:rPr lang="en-US" altLang="zh-TW" dirty="0"/>
              <a:t>4. Ovarian cancer </a:t>
            </a:r>
            <a:r>
              <a:rPr lang="zh-TW" altLang="en-US" dirty="0"/>
              <a:t>的病人</a:t>
            </a:r>
            <a:r>
              <a:rPr lang="en-US" altLang="zh-TW" dirty="0"/>
              <a:t>peritoneal seeding</a:t>
            </a:r>
            <a:r>
              <a:rPr lang="zh-TW" altLang="en-US" dirty="0"/>
              <a:t>，現在</a:t>
            </a:r>
            <a:r>
              <a:rPr lang="en-US" altLang="zh-TW" dirty="0"/>
              <a:t>vagina bleeding</a:t>
            </a:r>
            <a:r>
              <a:rPr lang="zh-TW" altLang="en-US" dirty="0"/>
              <a:t>，請問如何處置</a:t>
            </a:r>
            <a:r>
              <a:rPr lang="en-US" altLang="zh-TW" dirty="0"/>
              <a:t>? Palliative RT </a:t>
            </a:r>
            <a:r>
              <a:rPr lang="zh-TW" altLang="en-US" dirty="0"/>
              <a:t>的劑量怎麼給，請問大約多久會止血</a:t>
            </a:r>
            <a:r>
              <a:rPr lang="en-US" altLang="zh-TW" dirty="0"/>
              <a:t>? </a:t>
            </a:r>
          </a:p>
          <a:p>
            <a:r>
              <a:rPr lang="en-US" altLang="zh-TW" dirty="0"/>
              <a:t>5. </a:t>
            </a:r>
            <a:r>
              <a:rPr lang="zh-TW" altLang="en-US" dirty="0"/>
              <a:t>什麼是</a:t>
            </a:r>
            <a:r>
              <a:rPr lang="en-US" altLang="zh-TW" dirty="0"/>
              <a:t>SIRT? Y90 for liver tumors</a:t>
            </a:r>
            <a:r>
              <a:rPr lang="zh-TW" altLang="en-US" dirty="0"/>
              <a:t>。</a:t>
            </a:r>
          </a:p>
          <a:p>
            <a:r>
              <a:rPr lang="en-US" altLang="zh-TW" dirty="0"/>
              <a:t>6. </a:t>
            </a:r>
            <a:r>
              <a:rPr lang="zh-TW" altLang="en-US" dirty="0"/>
              <a:t>肝臟轉移。</a:t>
            </a:r>
            <a:r>
              <a:rPr lang="en-US" altLang="zh-TW" dirty="0"/>
              <a:t>Whole liver RT</a:t>
            </a:r>
            <a:r>
              <a:rPr lang="zh-TW" altLang="en-US" dirty="0"/>
              <a:t>怎麼做</a:t>
            </a:r>
            <a:r>
              <a:rPr lang="en-US" altLang="zh-TW" dirty="0"/>
              <a:t>?3Gy x 7fx</a:t>
            </a:r>
          </a:p>
          <a:p>
            <a:r>
              <a:rPr lang="en-US" altLang="zh-TW" dirty="0"/>
              <a:t>7. Whole spleen RT</a:t>
            </a:r>
            <a:r>
              <a:rPr lang="zh-TW" altLang="en-US" dirty="0"/>
              <a:t>怎麼做</a:t>
            </a:r>
            <a:r>
              <a:rPr lang="en-US" altLang="zh-TW" dirty="0"/>
              <a:t>?</a:t>
            </a:r>
          </a:p>
          <a:p>
            <a:r>
              <a:rPr lang="en-US" altLang="zh-TW" dirty="0"/>
              <a:t>8. Analgesics WHO</a:t>
            </a:r>
            <a:r>
              <a:rPr lang="zh-TW" altLang="en-US" dirty="0"/>
              <a:t>建議如何</a:t>
            </a:r>
            <a:r>
              <a:rPr lang="en-US" altLang="zh-TW" dirty="0"/>
              <a:t>?</a:t>
            </a:r>
            <a:r>
              <a:rPr lang="zh-TW" altLang="en-US" dirty="0"/>
              <a:t>吳主任強調書上有五點請講出來。</a:t>
            </a:r>
            <a:r>
              <a:rPr lang="en-US" altLang="zh-TW" dirty="0"/>
              <a:t>By oral, by schedule, by scale, individualized, constant concern of detail on prescription</a:t>
            </a:r>
            <a:r>
              <a:rPr lang="zh-TW" altLang="en-US" dirty="0"/>
              <a:t>另有強調</a:t>
            </a:r>
            <a:r>
              <a:rPr lang="en-US" altLang="zh-TW" dirty="0" err="1"/>
              <a:t>perez</a:t>
            </a:r>
            <a:r>
              <a:rPr lang="zh-TW" altLang="en-US" dirty="0"/>
              <a:t>新版</a:t>
            </a:r>
            <a:r>
              <a:rPr lang="en-US" altLang="zh-TW" dirty="0"/>
              <a:t>pain control</a:t>
            </a:r>
            <a:r>
              <a:rPr lang="zh-TW" altLang="en-US" dirty="0"/>
              <a:t>的部分很值得念。</a:t>
            </a:r>
          </a:p>
          <a:p>
            <a:r>
              <a:rPr lang="en-US" altLang="zh-TW" dirty="0"/>
              <a:t>9. Y90 </a:t>
            </a:r>
            <a:r>
              <a:rPr lang="zh-TW" altLang="en-US" dirty="0"/>
              <a:t>半衰期大概多久</a:t>
            </a:r>
            <a:r>
              <a:rPr lang="en-US" altLang="zh-TW" dirty="0"/>
              <a:t>64 days</a:t>
            </a:r>
          </a:p>
          <a:p>
            <a:r>
              <a:rPr lang="en-US" altLang="zh-TW" dirty="0"/>
              <a:t>10. vagina bleeding</a:t>
            </a:r>
            <a:r>
              <a:rPr lang="zh-TW" altLang="en-US" dirty="0"/>
              <a:t>如果幫病人治療完兩個禮拜病人又說</a:t>
            </a:r>
            <a:r>
              <a:rPr lang="en-US" altLang="zh-TW" dirty="0"/>
              <a:t>bleeding </a:t>
            </a:r>
            <a:r>
              <a:rPr lang="zh-TW" altLang="en-US" dirty="0"/>
              <a:t>是否可在</a:t>
            </a:r>
            <a:r>
              <a:rPr lang="en-US" altLang="zh-TW" dirty="0"/>
              <a:t>treat dose</a:t>
            </a:r>
            <a:r>
              <a:rPr lang="zh-TW" altLang="en-US" dirty="0"/>
              <a:t>要給多少</a:t>
            </a:r>
            <a:r>
              <a:rPr lang="en-US" altLang="zh-TW" dirty="0"/>
              <a:t>3.7 BID x 2 days (repeat every 2 weeks x 2 PRN)</a:t>
            </a:r>
          </a:p>
          <a:p>
            <a:endParaRPr lang="zh-TW" altLang="en-US" dirty="0"/>
          </a:p>
        </p:txBody>
      </p:sp>
    </p:spTree>
    <p:extLst>
      <p:ext uri="{BB962C8B-B14F-4D97-AF65-F5344CB8AC3E}">
        <p14:creationId xmlns:p14="http://schemas.microsoft.com/office/powerpoint/2010/main" val="24491528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1196752"/>
            <a:ext cx="8229600" cy="5760640"/>
          </a:xfrm>
        </p:spPr>
        <p:txBody>
          <a:bodyPr>
            <a:normAutofit fontScale="55000" lnSpcReduction="20000"/>
          </a:bodyPr>
          <a:lstStyle/>
          <a:p>
            <a:r>
              <a:rPr lang="zh-TW" altLang="en-US" dirty="0" smtClean="0"/>
              <a:t>⚫ </a:t>
            </a:r>
            <a:r>
              <a:rPr lang="zh-TW" altLang="en-US" dirty="0"/>
              <a:t>一個</a:t>
            </a:r>
            <a:r>
              <a:rPr lang="en-US" altLang="zh-TW" dirty="0"/>
              <a:t>lung cancer</a:t>
            </a:r>
            <a:r>
              <a:rPr lang="zh-TW" altLang="en-US" dirty="0"/>
              <a:t>病人接受治療完三年，先前並無復發跡象，但突然頭痛➔ 你要如何</a:t>
            </a:r>
            <a:r>
              <a:rPr lang="en-US" altLang="zh-TW" dirty="0"/>
              <a:t>approach? </a:t>
            </a:r>
          </a:p>
          <a:p>
            <a:r>
              <a:rPr lang="zh-TW" altLang="en-US" dirty="0"/>
              <a:t>➔ 做完</a:t>
            </a:r>
            <a:r>
              <a:rPr lang="en-US" altLang="zh-TW" dirty="0"/>
              <a:t>MRI</a:t>
            </a:r>
            <a:r>
              <a:rPr lang="zh-TW" altLang="en-US" dirty="0"/>
              <a:t>發現有三個</a:t>
            </a:r>
            <a:r>
              <a:rPr lang="en-US" altLang="zh-TW" dirty="0"/>
              <a:t>brain metastatic lesion</a:t>
            </a:r>
            <a:r>
              <a:rPr lang="zh-TW" altLang="en-US" dirty="0"/>
              <a:t>，各約</a:t>
            </a:r>
            <a:r>
              <a:rPr lang="en-US" altLang="zh-TW" dirty="0"/>
              <a:t>1</a:t>
            </a:r>
            <a:r>
              <a:rPr lang="zh-TW" altLang="en-US" dirty="0"/>
              <a:t>公分多，你如何評估並建議後續</a:t>
            </a:r>
            <a:r>
              <a:rPr lang="en-US" altLang="zh-TW" dirty="0"/>
              <a:t>treatment?(RPA</a:t>
            </a:r>
            <a:r>
              <a:rPr lang="zh-TW" altLang="en-US" dirty="0"/>
              <a:t>、</a:t>
            </a:r>
            <a:r>
              <a:rPr lang="en-US" altLang="zh-TW" dirty="0"/>
              <a:t>GPI)</a:t>
            </a:r>
          </a:p>
          <a:p>
            <a:r>
              <a:rPr lang="zh-TW" altLang="en-US" dirty="0"/>
              <a:t>➔ 如果要</a:t>
            </a:r>
            <a:r>
              <a:rPr lang="en-US" altLang="zh-TW" dirty="0"/>
              <a:t>boost</a:t>
            </a:r>
            <a:r>
              <a:rPr lang="zh-TW" altLang="en-US" dirty="0"/>
              <a:t>，</a:t>
            </a:r>
            <a:r>
              <a:rPr lang="en-US" altLang="zh-TW" dirty="0"/>
              <a:t>RT</a:t>
            </a:r>
            <a:r>
              <a:rPr lang="zh-TW" altLang="en-US" dirty="0"/>
              <a:t>劑量為多少</a:t>
            </a:r>
            <a:r>
              <a:rPr lang="en-US" altLang="zh-TW" dirty="0"/>
              <a:t>?RTOG 95-08 WBRT+SRS boost only </a:t>
            </a:r>
            <a:r>
              <a:rPr lang="en-US" altLang="zh-TW" dirty="0" smtClean="0"/>
              <a:t>showed </a:t>
            </a:r>
            <a:r>
              <a:rPr lang="en-US" altLang="zh-TW" dirty="0"/>
              <a:t>OS benefit in </a:t>
            </a:r>
            <a:r>
              <a:rPr lang="en-US" altLang="zh-TW" dirty="0" err="1"/>
              <a:t>pts</a:t>
            </a:r>
            <a:r>
              <a:rPr lang="en-US" altLang="zh-TW" dirty="0"/>
              <a:t> with single tumor, second analysis showed OS benefit for GPI3.5~4 patients…</a:t>
            </a:r>
          </a:p>
          <a:p>
            <a:r>
              <a:rPr lang="zh-TW" altLang="en-US" dirty="0"/>
              <a:t>➔ 你的評估和建議如何</a:t>
            </a:r>
            <a:r>
              <a:rPr lang="en-US" altLang="zh-TW" dirty="0"/>
              <a:t>? </a:t>
            </a:r>
          </a:p>
          <a:p>
            <a:r>
              <a:rPr lang="zh-TW" altLang="en-US" dirty="0"/>
              <a:t>➔ 如何評估是否要接受手術</a:t>
            </a:r>
            <a:r>
              <a:rPr lang="en-US" altLang="zh-TW" dirty="0"/>
              <a:t>? </a:t>
            </a:r>
          </a:p>
          <a:p>
            <a:r>
              <a:rPr lang="zh-TW" altLang="en-US" dirty="0"/>
              <a:t>➔ 如果不需要手術，你的治療建議</a:t>
            </a:r>
            <a:r>
              <a:rPr lang="en-US" altLang="zh-TW" dirty="0"/>
              <a:t>? (</a:t>
            </a:r>
            <a:r>
              <a:rPr lang="zh-TW" altLang="en-US" dirty="0"/>
              <a:t>包括</a:t>
            </a:r>
            <a:r>
              <a:rPr lang="en-US" altLang="zh-TW" dirty="0"/>
              <a:t>steroid</a:t>
            </a:r>
            <a:r>
              <a:rPr lang="zh-TW" altLang="en-US" dirty="0"/>
              <a:t>劑量</a:t>
            </a:r>
            <a:r>
              <a:rPr lang="en-US" altLang="zh-TW" dirty="0"/>
              <a:t>for spinal cord compression</a:t>
            </a:r>
            <a:r>
              <a:rPr lang="zh-TW" altLang="en-US" dirty="0"/>
              <a:t>和</a:t>
            </a:r>
            <a:r>
              <a:rPr lang="en-US" altLang="zh-TW" dirty="0"/>
              <a:t>RT</a:t>
            </a:r>
            <a:r>
              <a:rPr lang="zh-TW" altLang="en-US" dirty="0"/>
              <a:t>劑量</a:t>
            </a:r>
            <a:r>
              <a:rPr lang="en-US" altLang="zh-TW" dirty="0" smtClean="0"/>
              <a:t>)</a:t>
            </a:r>
          </a:p>
          <a:p>
            <a:r>
              <a:rPr lang="en-US" altLang="zh-TW" dirty="0" smtClean="0"/>
              <a:t>A: Dexamethasone </a:t>
            </a:r>
            <a:r>
              <a:rPr lang="en-US" altLang="zh-TW" dirty="0"/>
              <a:t>10 mg IV bolus then 4~6 mg PO </a:t>
            </a:r>
            <a:r>
              <a:rPr lang="en-US" altLang="zh-TW" dirty="0" err="1"/>
              <a:t>TIDfor</a:t>
            </a:r>
            <a:r>
              <a:rPr lang="en-US" altLang="zh-TW" dirty="0"/>
              <a:t> 3 days and 10 days taper</a:t>
            </a:r>
          </a:p>
          <a:p>
            <a:r>
              <a:rPr lang="zh-TW" altLang="en-US" dirty="0"/>
              <a:t>➔ 若治療之後，</a:t>
            </a:r>
            <a:r>
              <a:rPr lang="en-US" altLang="zh-TW" dirty="0"/>
              <a:t>3</a:t>
            </a:r>
            <a:r>
              <a:rPr lang="zh-TW" altLang="en-US" dirty="0"/>
              <a:t>個月又痛起來，你會怎麼處理</a:t>
            </a:r>
            <a:r>
              <a:rPr lang="en-US" altLang="zh-TW" dirty="0"/>
              <a:t>?o RT</a:t>
            </a:r>
            <a:r>
              <a:rPr lang="zh-TW" altLang="en-US" dirty="0"/>
              <a:t>在治療要考慮甚麼</a:t>
            </a:r>
            <a:r>
              <a:rPr lang="en-US" altLang="zh-TW" dirty="0"/>
              <a:t>? (BED, QUANTEC</a:t>
            </a:r>
            <a:r>
              <a:rPr lang="zh-TW" altLang="en-US" dirty="0"/>
              <a:t>上的恆河猴研究</a:t>
            </a:r>
            <a:r>
              <a:rPr lang="en-US" altLang="zh-TW" dirty="0"/>
              <a:t>)</a:t>
            </a:r>
          </a:p>
          <a:p>
            <a:endParaRPr lang="zh-TW" altLang="en-US" dirty="0"/>
          </a:p>
          <a:p>
            <a:r>
              <a:rPr lang="zh-TW" altLang="en-US" dirty="0"/>
              <a:t>➔ 請回答建議劑量給法</a:t>
            </a:r>
            <a:r>
              <a:rPr lang="en-US" altLang="zh-TW" dirty="0"/>
              <a:t>?Perez</a:t>
            </a:r>
            <a:r>
              <a:rPr lang="zh-TW" altLang="en-US" dirty="0"/>
              <a:t>上說有五篇</a:t>
            </a:r>
            <a:r>
              <a:rPr lang="en-US" altLang="zh-TW" dirty="0"/>
              <a:t>study</a:t>
            </a:r>
            <a:r>
              <a:rPr lang="zh-TW" altLang="en-US" dirty="0"/>
              <a:t>說</a:t>
            </a:r>
            <a:r>
              <a:rPr lang="en-US" altLang="zh-TW" dirty="0"/>
              <a:t>10Gy/</a:t>
            </a:r>
            <a:r>
              <a:rPr lang="en-US" altLang="zh-TW" dirty="0" err="1"/>
              <a:t>fx</a:t>
            </a:r>
            <a:r>
              <a:rPr lang="zh-TW" altLang="en-US" dirty="0"/>
              <a:t>間隔</a:t>
            </a:r>
            <a:r>
              <a:rPr lang="en-US" altLang="zh-TW" dirty="0"/>
              <a:t>3~4</a:t>
            </a:r>
            <a:r>
              <a:rPr lang="zh-TW" altLang="en-US" dirty="0"/>
              <a:t>週總共做</a:t>
            </a:r>
            <a:r>
              <a:rPr lang="en-US" altLang="zh-TW" dirty="0"/>
              <a:t>3</a:t>
            </a:r>
            <a:r>
              <a:rPr lang="zh-TW" altLang="en-US" dirty="0"/>
              <a:t>次效果最好，不過</a:t>
            </a:r>
            <a:r>
              <a:rPr lang="en-US" altLang="zh-TW" dirty="0"/>
              <a:t>3Gyx10fx</a:t>
            </a:r>
            <a:r>
              <a:rPr lang="zh-TW" altLang="en-US" dirty="0"/>
              <a:t>或</a:t>
            </a:r>
            <a:r>
              <a:rPr lang="en-US" altLang="zh-TW" dirty="0"/>
              <a:t>4Gyx5fx</a:t>
            </a:r>
            <a:r>
              <a:rPr lang="zh-TW" altLang="en-US" dirty="0"/>
              <a:t>也不錯</a:t>
            </a:r>
          </a:p>
          <a:p>
            <a:r>
              <a:rPr lang="en-US" altLang="zh-TW" dirty="0"/>
              <a:t>➔ RT</a:t>
            </a:r>
            <a:r>
              <a:rPr lang="zh-TW" altLang="en-US" dirty="0"/>
              <a:t>止血的機轉</a:t>
            </a:r>
            <a:r>
              <a:rPr lang="en-US" altLang="zh-TW" dirty="0"/>
              <a:t>? </a:t>
            </a:r>
          </a:p>
          <a:p>
            <a:r>
              <a:rPr lang="zh-TW" altLang="en-US" dirty="0"/>
              <a:t>➔ 經過你的治療成功止血，病人突然想接受</a:t>
            </a:r>
            <a:r>
              <a:rPr lang="en-US" altLang="zh-TW" dirty="0"/>
              <a:t>definitive</a:t>
            </a:r>
            <a:r>
              <a:rPr lang="zh-TW" altLang="en-US" dirty="0"/>
              <a:t>治療，此時</a:t>
            </a:r>
            <a:r>
              <a:rPr lang="en-US" altLang="zh-TW" dirty="0"/>
              <a:t>restaging cT3N0M0</a:t>
            </a:r>
            <a:r>
              <a:rPr lang="zh-TW" altLang="en-US" dirty="0"/>
              <a:t>，你的治療建議為何</a:t>
            </a:r>
            <a:r>
              <a:rPr lang="en-US" altLang="zh-TW" dirty="0"/>
              <a:t>? </a:t>
            </a:r>
            <a:r>
              <a:rPr lang="zh-TW" altLang="en-US" dirty="0"/>
              <a:t>是否會考慮包括</a:t>
            </a:r>
            <a:r>
              <a:rPr lang="en-US" altLang="zh-TW" dirty="0"/>
              <a:t>brachytherapy?</a:t>
            </a:r>
            <a:r>
              <a:rPr lang="zh-TW" altLang="en-US" dirty="0"/>
              <a:t>你的</a:t>
            </a:r>
            <a:r>
              <a:rPr lang="en-US" altLang="zh-TW" dirty="0"/>
              <a:t>dose</a:t>
            </a:r>
            <a:r>
              <a:rPr lang="zh-TW" altLang="en-US" dirty="0"/>
              <a:t>要怎麼調整</a:t>
            </a:r>
            <a:r>
              <a:rPr lang="en-US" altLang="zh-TW" dirty="0"/>
              <a:t>(</a:t>
            </a:r>
            <a:r>
              <a:rPr lang="zh-TW" altLang="en-US" dirty="0"/>
              <a:t>需不需要考慮止血的</a:t>
            </a:r>
            <a:r>
              <a:rPr lang="en-US" altLang="zh-TW" dirty="0"/>
              <a:t>dose)??</a:t>
            </a:r>
          </a:p>
          <a:p>
            <a:pPr marL="0" indent="0">
              <a:buNone/>
            </a:pPr>
            <a:endParaRPr lang="zh-TW" altLang="en-US" dirty="0"/>
          </a:p>
        </p:txBody>
      </p:sp>
      <p:sp>
        <p:nvSpPr>
          <p:cNvPr id="4" name="標題 1"/>
          <p:cNvSpPr>
            <a:spLocks noGrp="1"/>
          </p:cNvSpPr>
          <p:nvPr>
            <p:ph type="title"/>
          </p:nvPr>
        </p:nvSpPr>
        <p:spPr/>
        <p:txBody>
          <a:bodyPr/>
          <a:lstStyle/>
          <a:p>
            <a:r>
              <a:rPr lang="en-US" altLang="zh-TW" dirty="0" smtClean="0"/>
              <a:t>2012/</a:t>
            </a:r>
            <a:r>
              <a:rPr lang="zh-TW" altLang="en-US" dirty="0" smtClean="0"/>
              <a:t>吳孟浩</a:t>
            </a:r>
            <a:endParaRPr lang="zh-TW" altLang="en-US" dirty="0"/>
          </a:p>
        </p:txBody>
      </p:sp>
    </p:spTree>
    <p:extLst>
      <p:ext uri="{BB962C8B-B14F-4D97-AF65-F5344CB8AC3E}">
        <p14:creationId xmlns:p14="http://schemas.microsoft.com/office/powerpoint/2010/main" val="34743296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r>
              <a:rPr lang="zh-TW" altLang="en-US" dirty="0" smtClean="0"/>
              <a:t>⚫</a:t>
            </a:r>
            <a:r>
              <a:rPr lang="zh-TW" altLang="en-US" sz="2100" dirty="0" smtClean="0"/>
              <a:t>一個</a:t>
            </a:r>
            <a:r>
              <a:rPr lang="en-US" altLang="zh-TW" sz="2100" dirty="0" smtClean="0"/>
              <a:t>prostate cancer</a:t>
            </a:r>
            <a:r>
              <a:rPr lang="zh-TW" altLang="en-US" sz="2100" dirty="0" smtClean="0"/>
              <a:t>病人接受根治性治療效果良好，數年後發現背痛，</a:t>
            </a:r>
            <a:r>
              <a:rPr lang="en-US" altLang="zh-TW" sz="2100" dirty="0" smtClean="0"/>
              <a:t>bone scan </a:t>
            </a:r>
            <a:r>
              <a:rPr lang="zh-TW" altLang="en-US" sz="2100" dirty="0" smtClean="0"/>
              <a:t>發現有一</a:t>
            </a:r>
            <a:r>
              <a:rPr lang="en-US" altLang="zh-TW" sz="2100" dirty="0" smtClean="0"/>
              <a:t>L1 lesion</a:t>
            </a:r>
          </a:p>
          <a:p>
            <a:endParaRPr lang="zh-TW" altLang="en-US" sz="2100" dirty="0"/>
          </a:p>
          <a:p>
            <a:r>
              <a:rPr lang="zh-TW" altLang="en-US" sz="2100" dirty="0"/>
              <a:t>➔ 你的評估和建議如何</a:t>
            </a:r>
            <a:r>
              <a:rPr lang="en-US" altLang="zh-TW" sz="2100" dirty="0"/>
              <a:t>? </a:t>
            </a:r>
          </a:p>
          <a:p>
            <a:r>
              <a:rPr lang="zh-TW" altLang="en-US" sz="2100" dirty="0"/>
              <a:t>➔ 如何評估是否要接受手術</a:t>
            </a:r>
            <a:r>
              <a:rPr lang="en-US" altLang="zh-TW" sz="2100" dirty="0"/>
              <a:t>? </a:t>
            </a:r>
          </a:p>
          <a:p>
            <a:r>
              <a:rPr lang="zh-TW" altLang="en-US" sz="2100" dirty="0"/>
              <a:t>➔ 如果不需要手術，你的治療建議</a:t>
            </a:r>
            <a:r>
              <a:rPr lang="en-US" altLang="zh-TW" sz="2100" dirty="0"/>
              <a:t>? (</a:t>
            </a:r>
            <a:r>
              <a:rPr lang="zh-TW" altLang="en-US" sz="2100" dirty="0"/>
              <a:t>包括</a:t>
            </a:r>
            <a:r>
              <a:rPr lang="en-US" altLang="zh-TW" sz="2100" dirty="0"/>
              <a:t>steroid</a:t>
            </a:r>
            <a:r>
              <a:rPr lang="zh-TW" altLang="en-US" sz="2100" dirty="0"/>
              <a:t>劑量</a:t>
            </a:r>
            <a:r>
              <a:rPr lang="en-US" altLang="zh-TW" sz="2100" dirty="0"/>
              <a:t>for spinal cord compression</a:t>
            </a:r>
            <a:r>
              <a:rPr lang="zh-TW" altLang="en-US" sz="2100" dirty="0"/>
              <a:t>和</a:t>
            </a:r>
            <a:r>
              <a:rPr lang="en-US" altLang="zh-TW" sz="2100" dirty="0"/>
              <a:t>RT</a:t>
            </a:r>
            <a:r>
              <a:rPr lang="zh-TW" altLang="en-US" sz="2100" dirty="0"/>
              <a:t>劑量</a:t>
            </a:r>
            <a:r>
              <a:rPr lang="en-US" altLang="zh-TW" sz="2100" dirty="0"/>
              <a:t>)Dexamethasone 10 mg IV bolus then 4~6 mg PO </a:t>
            </a:r>
            <a:r>
              <a:rPr lang="en-US" altLang="zh-TW" sz="2100" dirty="0" err="1"/>
              <a:t>TIDfor</a:t>
            </a:r>
            <a:r>
              <a:rPr lang="en-US" altLang="zh-TW" sz="2100" dirty="0"/>
              <a:t> 3 days and 10 days taper</a:t>
            </a:r>
          </a:p>
          <a:p>
            <a:r>
              <a:rPr lang="zh-TW" altLang="en-US" sz="2100" dirty="0"/>
              <a:t>➔ 若治療之後，</a:t>
            </a:r>
            <a:r>
              <a:rPr lang="en-US" altLang="zh-TW" sz="2100" dirty="0"/>
              <a:t>3</a:t>
            </a:r>
            <a:r>
              <a:rPr lang="zh-TW" altLang="en-US" sz="2100" dirty="0"/>
              <a:t>個月又痛起來，你會怎麼處理</a:t>
            </a:r>
            <a:r>
              <a:rPr lang="en-US" altLang="zh-TW" sz="2100" dirty="0"/>
              <a:t>?o RT</a:t>
            </a:r>
            <a:r>
              <a:rPr lang="zh-TW" altLang="en-US" sz="2100" dirty="0"/>
              <a:t>在治療要考慮甚麼</a:t>
            </a:r>
            <a:r>
              <a:rPr lang="en-US" altLang="zh-TW" sz="2100" dirty="0"/>
              <a:t>? (BED, QUANTEC</a:t>
            </a:r>
            <a:r>
              <a:rPr lang="zh-TW" altLang="en-US" sz="2100" dirty="0"/>
              <a:t>上的恆河猴研究</a:t>
            </a:r>
            <a:r>
              <a:rPr lang="en-US" altLang="zh-TW" sz="2100" dirty="0"/>
              <a:t>)</a:t>
            </a:r>
          </a:p>
          <a:p>
            <a:pPr marL="0" indent="0">
              <a:buNone/>
            </a:pPr>
            <a:endParaRPr lang="zh-TW" altLang="en-US" dirty="0" smtClean="0"/>
          </a:p>
          <a:p>
            <a:endParaRPr lang="zh-TW" altLang="en-US" dirty="0"/>
          </a:p>
        </p:txBody>
      </p:sp>
    </p:spTree>
    <p:extLst>
      <p:ext uri="{BB962C8B-B14F-4D97-AF65-F5344CB8AC3E}">
        <p14:creationId xmlns:p14="http://schemas.microsoft.com/office/powerpoint/2010/main" val="347265347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pPr marL="0" indent="0">
              <a:buNone/>
            </a:pPr>
            <a:r>
              <a:rPr lang="zh-TW" altLang="en-US" dirty="0" smtClean="0"/>
              <a:t>⚫ </a:t>
            </a:r>
            <a:r>
              <a:rPr lang="zh-TW" altLang="en-US" sz="2100" dirty="0" smtClean="0"/>
              <a:t>一個</a:t>
            </a:r>
            <a:r>
              <a:rPr lang="en-US" altLang="zh-TW" sz="2100" dirty="0" smtClean="0"/>
              <a:t>patient</a:t>
            </a:r>
            <a:r>
              <a:rPr lang="zh-TW" altLang="en-US" sz="2100" dirty="0" smtClean="0"/>
              <a:t>三年前診斷</a:t>
            </a:r>
            <a:r>
              <a:rPr lang="en-US" altLang="zh-TW" sz="2100" dirty="0" smtClean="0"/>
              <a:t>cervical cancer</a:t>
            </a:r>
            <a:r>
              <a:rPr lang="zh-TW" altLang="en-US" sz="2100" dirty="0" smtClean="0"/>
              <a:t>後拒絕接受任何治療，一日</a:t>
            </a:r>
            <a:r>
              <a:rPr lang="en-US" altLang="zh-TW" sz="2100" dirty="0" smtClean="0"/>
              <a:t>GYN doctor</a:t>
            </a:r>
            <a:r>
              <a:rPr lang="zh-TW" altLang="en-US" sz="2100" dirty="0" smtClean="0"/>
              <a:t>因</a:t>
            </a:r>
            <a:r>
              <a:rPr lang="en-US" altLang="zh-TW" sz="2100" dirty="0" smtClean="0"/>
              <a:t>tumor bleeding</a:t>
            </a:r>
            <a:r>
              <a:rPr lang="zh-TW" altLang="en-US" sz="2100" dirty="0" smtClean="0"/>
              <a:t>將此病人</a:t>
            </a:r>
            <a:r>
              <a:rPr lang="en-US" altLang="zh-TW" sz="2100" dirty="0" smtClean="0"/>
              <a:t>refer</a:t>
            </a:r>
            <a:r>
              <a:rPr lang="zh-TW" altLang="en-US" sz="2100" dirty="0" smtClean="0"/>
              <a:t>給你，希望用</a:t>
            </a:r>
            <a:r>
              <a:rPr lang="en-US" altLang="zh-TW" sz="2100" dirty="0" smtClean="0"/>
              <a:t>RT</a:t>
            </a:r>
            <a:r>
              <a:rPr lang="zh-TW" altLang="en-US" sz="2100" dirty="0" smtClean="0"/>
              <a:t>止血，</a:t>
            </a:r>
          </a:p>
          <a:p>
            <a:pPr marL="0" indent="0">
              <a:buNone/>
            </a:pPr>
            <a:endParaRPr lang="en-US" altLang="zh-TW" sz="2100" dirty="0" smtClean="0"/>
          </a:p>
          <a:p>
            <a:r>
              <a:rPr lang="zh-TW" altLang="en-US" sz="2100" dirty="0" smtClean="0"/>
              <a:t>➔ </a:t>
            </a:r>
            <a:r>
              <a:rPr lang="zh-TW" altLang="en-US" sz="2100" dirty="0"/>
              <a:t>請回答建議劑量給法</a:t>
            </a:r>
            <a:r>
              <a:rPr lang="en-US" altLang="zh-TW" sz="2100" dirty="0"/>
              <a:t>?Perez</a:t>
            </a:r>
            <a:r>
              <a:rPr lang="zh-TW" altLang="en-US" sz="2100" dirty="0"/>
              <a:t>上說有五篇</a:t>
            </a:r>
            <a:r>
              <a:rPr lang="en-US" altLang="zh-TW" sz="2100" dirty="0"/>
              <a:t>study</a:t>
            </a:r>
            <a:r>
              <a:rPr lang="zh-TW" altLang="en-US" sz="2100" dirty="0"/>
              <a:t>說</a:t>
            </a:r>
            <a:r>
              <a:rPr lang="en-US" altLang="zh-TW" sz="2100" dirty="0"/>
              <a:t>10Gy/</a:t>
            </a:r>
            <a:r>
              <a:rPr lang="en-US" altLang="zh-TW" sz="2100" dirty="0" err="1"/>
              <a:t>fx</a:t>
            </a:r>
            <a:r>
              <a:rPr lang="zh-TW" altLang="en-US" sz="2100" dirty="0"/>
              <a:t>間隔</a:t>
            </a:r>
            <a:r>
              <a:rPr lang="en-US" altLang="zh-TW" sz="2100" dirty="0"/>
              <a:t>3~4</a:t>
            </a:r>
            <a:r>
              <a:rPr lang="zh-TW" altLang="en-US" sz="2100" dirty="0"/>
              <a:t>週總共做</a:t>
            </a:r>
            <a:r>
              <a:rPr lang="en-US" altLang="zh-TW" sz="2100" dirty="0"/>
              <a:t>3</a:t>
            </a:r>
            <a:r>
              <a:rPr lang="zh-TW" altLang="en-US" sz="2100" dirty="0"/>
              <a:t>次效果最好，不過</a:t>
            </a:r>
            <a:r>
              <a:rPr lang="en-US" altLang="zh-TW" sz="2100" dirty="0"/>
              <a:t>3Gyx10fx</a:t>
            </a:r>
            <a:r>
              <a:rPr lang="zh-TW" altLang="en-US" sz="2100" dirty="0"/>
              <a:t>或</a:t>
            </a:r>
            <a:r>
              <a:rPr lang="en-US" altLang="zh-TW" sz="2100" dirty="0"/>
              <a:t>4Gyx5fx</a:t>
            </a:r>
            <a:r>
              <a:rPr lang="zh-TW" altLang="en-US" sz="2100" dirty="0"/>
              <a:t>也不錯</a:t>
            </a:r>
          </a:p>
          <a:p>
            <a:r>
              <a:rPr lang="en-US" altLang="zh-TW" sz="2100" dirty="0"/>
              <a:t>➔ RT</a:t>
            </a:r>
            <a:r>
              <a:rPr lang="zh-TW" altLang="en-US" sz="2100" dirty="0"/>
              <a:t>止血的機轉</a:t>
            </a:r>
            <a:r>
              <a:rPr lang="en-US" altLang="zh-TW" sz="2100" dirty="0"/>
              <a:t>? </a:t>
            </a:r>
          </a:p>
          <a:p>
            <a:r>
              <a:rPr lang="zh-TW" altLang="en-US" sz="2100" dirty="0"/>
              <a:t>➔ 經過你的治療成功止血，病人突然想接受</a:t>
            </a:r>
            <a:r>
              <a:rPr lang="en-US" altLang="zh-TW" sz="2100" dirty="0"/>
              <a:t>definitive</a:t>
            </a:r>
            <a:r>
              <a:rPr lang="zh-TW" altLang="en-US" sz="2100" dirty="0"/>
              <a:t>治療，此時</a:t>
            </a:r>
            <a:r>
              <a:rPr lang="en-US" altLang="zh-TW" sz="2100" dirty="0"/>
              <a:t>restaging cT3N0M0</a:t>
            </a:r>
            <a:r>
              <a:rPr lang="zh-TW" altLang="en-US" sz="2100" dirty="0"/>
              <a:t>，你的治療建議為何</a:t>
            </a:r>
            <a:r>
              <a:rPr lang="en-US" altLang="zh-TW" sz="2100" dirty="0"/>
              <a:t>? </a:t>
            </a:r>
            <a:r>
              <a:rPr lang="zh-TW" altLang="en-US" sz="2100" dirty="0"/>
              <a:t>是否會考慮包括</a:t>
            </a:r>
            <a:r>
              <a:rPr lang="en-US" altLang="zh-TW" sz="2100" dirty="0"/>
              <a:t>brachytherapy?</a:t>
            </a:r>
            <a:r>
              <a:rPr lang="zh-TW" altLang="en-US" sz="2100" dirty="0"/>
              <a:t>你的</a:t>
            </a:r>
            <a:r>
              <a:rPr lang="en-US" altLang="zh-TW" sz="2100" dirty="0"/>
              <a:t>dose</a:t>
            </a:r>
            <a:r>
              <a:rPr lang="zh-TW" altLang="en-US" sz="2100" dirty="0"/>
              <a:t>要怎麼調整</a:t>
            </a:r>
            <a:r>
              <a:rPr lang="en-US" altLang="zh-TW" sz="2100" dirty="0"/>
              <a:t>(</a:t>
            </a:r>
            <a:r>
              <a:rPr lang="zh-TW" altLang="en-US" sz="2100" dirty="0"/>
              <a:t>需不需要考慮止血的</a:t>
            </a:r>
            <a:r>
              <a:rPr lang="en-US" altLang="zh-TW" sz="2100" dirty="0"/>
              <a:t>dose)??</a:t>
            </a:r>
          </a:p>
          <a:p>
            <a:endParaRPr lang="zh-TW" altLang="en-US" dirty="0"/>
          </a:p>
          <a:p>
            <a:endParaRPr lang="zh-TW" altLang="en-US" dirty="0"/>
          </a:p>
          <a:p>
            <a:endParaRPr lang="zh-TW" altLang="en-US" dirty="0"/>
          </a:p>
        </p:txBody>
      </p:sp>
    </p:spTree>
    <p:extLst>
      <p:ext uri="{BB962C8B-B14F-4D97-AF65-F5344CB8AC3E}">
        <p14:creationId xmlns:p14="http://schemas.microsoft.com/office/powerpoint/2010/main" val="355101983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2011/</a:t>
            </a:r>
            <a:r>
              <a:rPr lang="zh-TW" altLang="en-US" dirty="0" smtClean="0"/>
              <a:t>吳孟浩</a:t>
            </a:r>
            <a:endParaRPr lang="zh-TW" altLang="en-US" dirty="0"/>
          </a:p>
        </p:txBody>
      </p:sp>
      <p:sp>
        <p:nvSpPr>
          <p:cNvPr id="3" name="內容版面配置區 2"/>
          <p:cNvSpPr>
            <a:spLocks noGrp="1"/>
          </p:cNvSpPr>
          <p:nvPr>
            <p:ph idx="1"/>
          </p:nvPr>
        </p:nvSpPr>
        <p:spPr/>
        <p:txBody>
          <a:bodyPr>
            <a:normAutofit/>
          </a:bodyPr>
          <a:lstStyle/>
          <a:p>
            <a:r>
              <a:rPr lang="en-US" altLang="zh-TW" dirty="0" err="1" smtClean="0"/>
              <a:t>Prophylatic</a:t>
            </a:r>
            <a:r>
              <a:rPr lang="en-US" altLang="zh-TW" dirty="0" smtClean="0"/>
              <a:t> </a:t>
            </a:r>
            <a:r>
              <a:rPr lang="en-US" altLang="zh-TW" dirty="0"/>
              <a:t>cranial irradiation</a:t>
            </a:r>
            <a:r>
              <a:rPr lang="zh-TW" altLang="zh-TW" dirty="0"/>
              <a:t>的角色</a:t>
            </a:r>
            <a:r>
              <a:rPr lang="en-US" altLang="zh-TW" dirty="0"/>
              <a:t>?</a:t>
            </a:r>
            <a:endParaRPr lang="zh-TW" altLang="zh-TW" dirty="0"/>
          </a:p>
          <a:p>
            <a:endParaRPr lang="zh-TW" altLang="en-US" dirty="0"/>
          </a:p>
        </p:txBody>
      </p:sp>
    </p:spTree>
    <p:extLst>
      <p:ext uri="{BB962C8B-B14F-4D97-AF65-F5344CB8AC3E}">
        <p14:creationId xmlns:p14="http://schemas.microsoft.com/office/powerpoint/2010/main" val="215491201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722</TotalTime>
  <Words>3779</Words>
  <Application>Microsoft Office PowerPoint</Application>
  <PresentationFormat>如螢幕大小 (4:3)</PresentationFormat>
  <Paragraphs>298</Paragraphs>
  <Slides>28</Slides>
  <Notes>6</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28</vt:i4>
      </vt:variant>
    </vt:vector>
  </HeadingPairs>
  <TitlesOfParts>
    <vt:vector size="33" baseType="lpstr">
      <vt:lpstr>新細明體</vt:lpstr>
      <vt:lpstr>Arial</vt:lpstr>
      <vt:lpstr>Calibri</vt:lpstr>
      <vt:lpstr>Cambria Math</vt:lpstr>
      <vt:lpstr>Office 佈景主題</vt:lpstr>
      <vt:lpstr>Skin/Benign/Palliation  2010~2018 </vt:lpstr>
      <vt:lpstr>PowerPoint 簡報</vt:lpstr>
      <vt:lpstr>PowerPoint 簡報</vt:lpstr>
      <vt:lpstr>Benign     2015,2018/吳錦榕</vt:lpstr>
      <vt:lpstr>Palliation    2015,2018/吳錦榕</vt:lpstr>
      <vt:lpstr>PowerPoint 簡報</vt:lpstr>
      <vt:lpstr>PowerPoint 簡報</vt:lpstr>
      <vt:lpstr>Skin</vt:lpstr>
      <vt:lpstr>PowerPoint 簡報</vt:lpstr>
      <vt:lpstr>2011/蔡若婷</vt:lpstr>
      <vt:lpstr>2010/馬偕_吳孟浩主任</vt:lpstr>
      <vt:lpstr>Benign</vt:lpstr>
      <vt:lpstr>2015,2018/吳錦榕</vt:lpstr>
      <vt:lpstr>2014/劉岱瑋</vt:lpstr>
      <vt:lpstr>2013/吳孟浩</vt:lpstr>
      <vt:lpstr>2011/蔡若婷</vt:lpstr>
      <vt:lpstr>PowerPoint 簡報</vt:lpstr>
      <vt:lpstr>Palliation</vt:lpstr>
      <vt:lpstr>2015,2018/吳錦榕</vt:lpstr>
      <vt:lpstr>PowerPoint 簡報</vt:lpstr>
      <vt:lpstr>PowerPoint 簡報</vt:lpstr>
      <vt:lpstr>2016/梁雲</vt:lpstr>
      <vt:lpstr>2014/劉岱瑋</vt:lpstr>
      <vt:lpstr>2013/吳孟浩</vt:lpstr>
      <vt:lpstr>2012/吳孟浩</vt:lpstr>
      <vt:lpstr>PowerPoint 簡報</vt:lpstr>
      <vt:lpstr>PowerPoint 簡報</vt:lpstr>
      <vt:lpstr>2011/吳孟浩</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Skin/Benign/Palliation  2010~2018</dc:title>
  <dc:creator>陳韻之</dc:creator>
  <cp:lastModifiedBy>USER</cp:lastModifiedBy>
  <cp:revision>24</cp:revision>
  <dcterms:created xsi:type="dcterms:W3CDTF">2019-09-16T16:32:57Z</dcterms:created>
  <dcterms:modified xsi:type="dcterms:W3CDTF">2019-09-17T04:47:34Z</dcterms:modified>
</cp:coreProperties>
</file>