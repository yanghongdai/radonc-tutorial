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4"/>
  </p:notesMasterIdLst>
  <p:sldIdLst>
    <p:sldId id="256" r:id="rId3"/>
    <p:sldId id="278" r:id="rId4"/>
    <p:sldId id="279" r:id="rId5"/>
    <p:sldId id="280" r:id="rId6"/>
    <p:sldId id="258" r:id="rId7"/>
    <p:sldId id="281" r:id="rId8"/>
    <p:sldId id="259" r:id="rId9"/>
    <p:sldId id="260" r:id="rId10"/>
    <p:sldId id="286" r:id="rId11"/>
    <p:sldId id="261" r:id="rId12"/>
    <p:sldId id="282" r:id="rId13"/>
    <p:sldId id="283" r:id="rId14"/>
    <p:sldId id="257" r:id="rId15"/>
    <p:sldId id="284" r:id="rId16"/>
    <p:sldId id="287" r:id="rId17"/>
    <p:sldId id="262" r:id="rId18"/>
    <p:sldId id="288" r:id="rId19"/>
    <p:sldId id="263" r:id="rId20"/>
    <p:sldId id="289" r:id="rId21"/>
    <p:sldId id="285" r:id="rId22"/>
    <p:sldId id="264" r:id="rId23"/>
    <p:sldId id="265" r:id="rId24"/>
    <p:sldId id="266" r:id="rId25"/>
    <p:sldId id="267" r:id="rId26"/>
    <p:sldId id="268" r:id="rId27"/>
    <p:sldId id="269" r:id="rId28"/>
    <p:sldId id="270" r:id="rId29"/>
    <p:sldId id="271" r:id="rId30"/>
    <p:sldId id="272" r:id="rId31"/>
    <p:sldId id="273" r:id="rId32"/>
    <p:sldId id="274" r:id="rId3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p:scale>
          <a:sx n="80" d="100"/>
          <a:sy n="80" d="100"/>
        </p:scale>
        <p:origin x="396" y="8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E0EC3C-CDAB-48DE-8994-F6C1A8AAF71E}" type="datetimeFigureOut">
              <a:rPr lang="zh-TW" altLang="en-US" smtClean="0"/>
              <a:t>2019/9/21</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6B9739-BE20-4544-87D2-9DC9FF0B6407}" type="slidenum">
              <a:rPr lang="zh-TW" altLang="en-US" smtClean="0"/>
              <a:t>‹#›</a:t>
            </a:fld>
            <a:endParaRPr lang="zh-TW" altLang="en-US"/>
          </a:p>
        </p:txBody>
      </p:sp>
    </p:spTree>
    <p:extLst>
      <p:ext uri="{BB962C8B-B14F-4D97-AF65-F5344CB8AC3E}">
        <p14:creationId xmlns:p14="http://schemas.microsoft.com/office/powerpoint/2010/main" val="868474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34FF4B6-DC42-4EC3-8EF7-D5CF0B1876DC}" type="slidenum">
              <a:rPr lang="zh-TW" altLang="en-US" smtClean="0">
                <a:solidFill>
                  <a:prstClr val="black"/>
                </a:solidFill>
              </a:rPr>
              <a:pPr/>
              <a:t>1</a:t>
            </a:fld>
            <a:endParaRPr lang="zh-TW" altLang="en-US">
              <a:solidFill>
                <a:prstClr val="black"/>
              </a:solidFill>
            </a:endParaRPr>
          </a:p>
        </p:txBody>
      </p:sp>
    </p:spTree>
    <p:extLst>
      <p:ext uri="{BB962C8B-B14F-4D97-AF65-F5344CB8AC3E}">
        <p14:creationId xmlns:p14="http://schemas.microsoft.com/office/powerpoint/2010/main" val="3575348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417e2808e3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417e2808e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417e2808e3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417e2808e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417e2808e3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417e2808e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430490ee54_45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430490ee54_45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430490ee54_45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430490ee54_45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417e2808e3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417e2808e3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417e2808e3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417e2808e3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417e2808e3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417e2808e3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483D8755-603F-41DD-9E82-CF11CCFE87FE}" type="datetimeFigureOut">
              <a:rPr lang="zh-TW" altLang="en-US" smtClean="0"/>
              <a:t>2019/9/21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420028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83D8755-603F-41DD-9E82-CF11CCFE87FE}" type="datetimeFigureOut">
              <a:rPr lang="zh-TW" altLang="en-US" smtClean="0"/>
              <a:t>2019/9/21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218030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483D8755-603F-41DD-9E82-CF11CCFE87FE}" type="datetimeFigureOut">
              <a:rPr lang="zh-TW" altLang="en-US" smtClean="0"/>
              <a:t>2019/9/21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2746831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483D8755-603F-41DD-9E82-CF11CCFE87FE}" type="datetimeFigureOut">
              <a:rPr lang="zh-TW" altLang="en-US" smtClean="0"/>
              <a:t>2019/9/21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1415658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483D8755-603F-41DD-9E82-CF11CCFE87FE}" type="datetimeFigureOut">
              <a:rPr lang="zh-TW" altLang="en-US" smtClean="0"/>
              <a:t>2019/9/21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865447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483D8755-603F-41DD-9E82-CF11CCFE87FE}" type="datetimeFigureOut">
              <a:rPr lang="zh-TW" altLang="en-US" smtClean="0"/>
              <a:t>2019/9/21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2222261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483D8755-603F-41DD-9E82-CF11CCFE87FE}" type="datetimeFigureOut">
              <a:rPr lang="zh-TW" altLang="en-US" smtClean="0"/>
              <a:t>2019/9/21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2110467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483D8755-603F-41DD-9E82-CF11CCFE87FE}" type="datetimeFigureOut">
              <a:rPr lang="zh-TW" altLang="en-US" smtClean="0"/>
              <a:t>2019/9/21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3044698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483D8755-603F-41DD-9E82-CF11CCFE87FE}" type="datetimeFigureOut">
              <a:rPr lang="zh-TW" altLang="en-US" smtClean="0"/>
              <a:t>2019/9/21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178061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83D8755-603F-41DD-9E82-CF11CCFE87FE}" type="datetimeFigureOut">
              <a:rPr lang="zh-TW" altLang="en-US" smtClean="0"/>
              <a:t>2019/9/21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388792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83D8755-603F-41DD-9E82-CF11CCFE87FE}" type="datetimeFigureOut">
              <a:rPr lang="zh-TW" altLang="en-US" smtClean="0"/>
              <a:t>2019/9/21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681150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26"/>
            <a:ext cx="103632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2019/9/21</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1339270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2019/9/21</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1778252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1"/>
            <a:ext cx="103632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2019/9/21</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41850885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2019/9/21</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41770309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2019/9/21</a:t>
            </a:fld>
            <a:endParaRPr lang="zh-TW" altLang="en-US">
              <a:solidFill>
                <a:prstClr val="black">
                  <a:tint val="75000"/>
                </a:prstClr>
              </a:solidFill>
            </a:endParaRPr>
          </a:p>
        </p:txBody>
      </p:sp>
      <p:sp>
        <p:nvSpPr>
          <p:cNvPr id="8" name="頁尾版面配置區 7"/>
          <p:cNvSpPr>
            <a:spLocks noGrp="1"/>
          </p:cNvSpPr>
          <p:nvPr>
            <p:ph type="ftr" sz="quarter" idx="11"/>
          </p:nvPr>
        </p:nvSpPr>
        <p:spPr/>
        <p:txBody>
          <a:bodyPr/>
          <a:lstStyle/>
          <a:p>
            <a:endParaRPr lang="zh-TW" altLang="en-US">
              <a:solidFill>
                <a:prstClr val="black">
                  <a:tint val="75000"/>
                </a:prstClr>
              </a:solidFill>
            </a:endParaRPr>
          </a:p>
        </p:txBody>
      </p:sp>
      <p:sp>
        <p:nvSpPr>
          <p:cNvPr id="9" name="投影片編號版面配置區 8"/>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39949537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2019/9/21</a:t>
            </a:fld>
            <a:endParaRPr lang="zh-TW" altLang="en-US">
              <a:solidFill>
                <a:prstClr val="black">
                  <a:tint val="75000"/>
                </a:prstClr>
              </a:solidFill>
            </a:endParaRPr>
          </a:p>
        </p:txBody>
      </p:sp>
      <p:sp>
        <p:nvSpPr>
          <p:cNvPr id="4" name="頁尾版面配置區 3"/>
          <p:cNvSpPr>
            <a:spLocks noGrp="1"/>
          </p:cNvSpPr>
          <p:nvPr>
            <p:ph type="ftr" sz="quarter" idx="11"/>
          </p:nvPr>
        </p:nvSpPr>
        <p:spPr/>
        <p:txBody>
          <a:bodyPr/>
          <a:lstStyle/>
          <a:p>
            <a:endParaRPr lang="zh-TW" altLang="en-US">
              <a:solidFill>
                <a:prstClr val="black">
                  <a:tint val="75000"/>
                </a:prstClr>
              </a:solidFill>
            </a:endParaRPr>
          </a:p>
        </p:txBody>
      </p:sp>
      <p:sp>
        <p:nvSpPr>
          <p:cNvPr id="5" name="投影片編號版面配置區 4"/>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1914855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2019/9/21</a:t>
            </a:fld>
            <a:endParaRPr lang="zh-TW" altLang="en-US">
              <a:solidFill>
                <a:prstClr val="black">
                  <a:tint val="75000"/>
                </a:prstClr>
              </a:solidFill>
            </a:endParaRPr>
          </a:p>
        </p:txBody>
      </p:sp>
      <p:sp>
        <p:nvSpPr>
          <p:cNvPr id="3" name="頁尾版面配置區 2"/>
          <p:cNvSpPr>
            <a:spLocks noGrp="1"/>
          </p:cNvSpPr>
          <p:nvPr>
            <p:ph type="ftr" sz="quarter" idx="11"/>
          </p:nvPr>
        </p:nvSpPr>
        <p:spPr/>
        <p:txBody>
          <a:bodyPr/>
          <a:lstStyle/>
          <a:p>
            <a:endParaRPr lang="zh-TW" altLang="en-US">
              <a:solidFill>
                <a:prstClr val="black">
                  <a:tint val="75000"/>
                </a:prstClr>
              </a:solidFill>
            </a:endParaRPr>
          </a:p>
        </p:txBody>
      </p:sp>
      <p:sp>
        <p:nvSpPr>
          <p:cNvPr id="4" name="投影片編號版面配置區 3"/>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4226913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1" y="273050"/>
            <a:ext cx="4011084"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2019/9/21</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6659085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2019/9/21</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9051440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2019/9/21</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881963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839200" y="274639"/>
            <a:ext cx="27432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09600" y="274639"/>
            <a:ext cx="80264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2019/9/21</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272187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121897" tIns="121897" rIns="121897" bIns="121897" anchor="t" anchorCtr="0"/>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121897" tIns="121897" rIns="121897" bIns="121897"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249255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3D8755-603F-41DD-9E82-CF11CCFE87FE}" type="datetimeFigureOut">
              <a:rPr lang="zh-TW" altLang="en-US" smtClean="0"/>
              <a:t>2019/9/21</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1311589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B96D06-473C-4AC0-A51C-DC89895D343D}" type="datetimeFigureOut">
              <a:rPr lang="zh-TW" altLang="en-US" smtClean="0">
                <a:solidFill>
                  <a:prstClr val="black">
                    <a:tint val="75000"/>
                  </a:prstClr>
                </a:solidFill>
              </a:rPr>
              <a:pPr/>
              <a:t>2019/9/21</a:t>
            </a:fld>
            <a:endParaRPr lang="zh-TW" altLang="en-US">
              <a:solidFill>
                <a:prstClr val="black">
                  <a:tint val="75000"/>
                </a:prstClr>
              </a:solidFill>
            </a:endParaRPr>
          </a:p>
        </p:txBody>
      </p:sp>
      <p:sp>
        <p:nvSpPr>
          <p:cNvPr id="5" name="頁尾版面配置區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solidFill>
                <a:prstClr val="black">
                  <a:tint val="75000"/>
                </a:prstClr>
              </a:solidFill>
            </a:endParaRPr>
          </a:p>
        </p:txBody>
      </p:sp>
      <p:sp>
        <p:nvSpPr>
          <p:cNvPr id="6" name="投影片編號版面配置區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8859128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3.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GI</a:t>
            </a:r>
            <a:endParaRPr lang="zh-TW" altLang="en-US" dirty="0"/>
          </a:p>
        </p:txBody>
      </p:sp>
      <p:sp>
        <p:nvSpPr>
          <p:cNvPr id="3" name="副標題 2"/>
          <p:cNvSpPr>
            <a:spLocks noGrp="1"/>
          </p:cNvSpPr>
          <p:nvPr>
            <p:ph type="subTitle" idx="1"/>
          </p:nvPr>
        </p:nvSpPr>
        <p:spPr/>
        <p:txBody>
          <a:bodyPr/>
          <a:lstStyle/>
          <a:p>
            <a:endParaRPr lang="en-US" altLang="zh-TW" dirty="0" smtClean="0"/>
          </a:p>
          <a:p>
            <a:r>
              <a:rPr lang="en-US" altLang="zh-TW" dirty="0" smtClean="0"/>
              <a:t>2019/9</a:t>
            </a:r>
            <a:endParaRPr lang="zh-TW" altLang="en-US" dirty="0" smtClean="0"/>
          </a:p>
          <a:p>
            <a:endParaRPr lang="zh-TW" altLang="en-US" dirty="0"/>
          </a:p>
        </p:txBody>
      </p:sp>
    </p:spTree>
    <p:extLst>
      <p:ext uri="{BB962C8B-B14F-4D97-AF65-F5344CB8AC3E}">
        <p14:creationId xmlns:p14="http://schemas.microsoft.com/office/powerpoint/2010/main" val="36606733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2010-2018 GI </a:t>
            </a:r>
            <a:r>
              <a:rPr lang="zh-TW" altLang="en-US" dirty="0" smtClean="0"/>
              <a:t>歷年</a:t>
            </a:r>
            <a:endParaRPr lang="zh-TW" altLang="en-US" dirty="0"/>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1106829842"/>
              </p:ext>
            </p:extLst>
          </p:nvPr>
        </p:nvGraphicFramePr>
        <p:xfrm>
          <a:off x="609600" y="1600200"/>
          <a:ext cx="10972800" cy="37084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70840">
                <a:tc>
                  <a:txBody>
                    <a:bodyPr/>
                    <a:lstStyle/>
                    <a:p>
                      <a:endParaRPr lang="zh-TW" altLang="en-US" dirty="0"/>
                    </a:p>
                  </a:txBody>
                  <a:tcPr/>
                </a:tc>
                <a:tc>
                  <a:txBody>
                    <a:bodyPr/>
                    <a:lstStyle/>
                    <a:p>
                      <a:r>
                        <a:rPr lang="zh-TW" altLang="en-US" dirty="0" smtClean="0"/>
                        <a:t>考官</a:t>
                      </a:r>
                      <a:endParaRPr lang="zh-TW" altLang="en-US" dirty="0"/>
                    </a:p>
                  </a:txBody>
                  <a:tcPr/>
                </a:tc>
                <a:tc>
                  <a:txBody>
                    <a:bodyPr/>
                    <a:lstStyle/>
                    <a:p>
                      <a:r>
                        <a:rPr lang="zh-TW" altLang="en-US" dirty="0" smtClean="0"/>
                        <a:t>考官</a:t>
                      </a:r>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2018</a:t>
                      </a:r>
                      <a:endParaRPr lang="zh-TW" altLang="en-US" dirty="0"/>
                    </a:p>
                  </a:txBody>
                  <a:tcPr/>
                </a:tc>
                <a:tc>
                  <a:txBody>
                    <a:bodyPr/>
                    <a:lstStyle/>
                    <a:p>
                      <a:r>
                        <a:rPr lang="zh-TW" altLang="en-US" dirty="0" smtClean="0"/>
                        <a:t>馬偕 吳孟浩</a:t>
                      </a:r>
                      <a:r>
                        <a:rPr lang="zh-TW" altLang="en-US" baseline="0" dirty="0" smtClean="0"/>
                        <a:t> </a:t>
                      </a:r>
                      <a:r>
                        <a:rPr lang="en-US" altLang="zh-TW" dirty="0" smtClean="0"/>
                        <a:t>Pancreas</a:t>
                      </a:r>
                      <a:endParaRPr lang="zh-TW" altLang="en-US" dirty="0"/>
                    </a:p>
                  </a:txBody>
                  <a:tcPr/>
                </a:tc>
                <a:tc>
                  <a:txBody>
                    <a:bodyPr/>
                    <a:lstStyle/>
                    <a:p>
                      <a:r>
                        <a:rPr lang="zh-TW" altLang="en-US" dirty="0" smtClean="0">
                          <a:solidFill>
                            <a:srgbClr val="FF0000"/>
                          </a:solidFill>
                        </a:rPr>
                        <a:t>亞東 熊佩韋 </a:t>
                      </a:r>
                      <a:r>
                        <a:rPr lang="en-US" altLang="zh-TW" dirty="0" smtClean="0">
                          <a:solidFill>
                            <a:srgbClr val="FF0000"/>
                          </a:solidFill>
                        </a:rPr>
                        <a:t>HCC</a:t>
                      </a:r>
                      <a:endParaRPr lang="zh-TW" altLang="en-US" dirty="0">
                        <a:solidFill>
                          <a:srgbClr val="FF0000"/>
                        </a:solidFill>
                      </a:endParaRPr>
                    </a:p>
                  </a:txBody>
                  <a:tcPr/>
                </a:tc>
                <a:extLst>
                  <a:ext uri="{0D108BD9-81ED-4DB2-BD59-A6C34878D82A}">
                    <a16:rowId xmlns:a16="http://schemas.microsoft.com/office/drawing/2014/main" val="10001"/>
                  </a:ext>
                </a:extLst>
              </a:tr>
              <a:tr h="370840">
                <a:tc>
                  <a:txBody>
                    <a:bodyPr/>
                    <a:lstStyle/>
                    <a:p>
                      <a:r>
                        <a:rPr lang="en-US" altLang="zh-TW" dirty="0" smtClean="0"/>
                        <a:t>2017</a:t>
                      </a:r>
                      <a:endParaRPr lang="zh-TW" altLang="en-US" dirty="0"/>
                    </a:p>
                  </a:txBody>
                  <a:tcPr/>
                </a:tc>
                <a:tc>
                  <a:txBody>
                    <a:bodyPr/>
                    <a:lstStyle/>
                    <a:p>
                      <a:r>
                        <a:rPr lang="zh-TW" altLang="en-US" dirty="0" smtClean="0"/>
                        <a:t>花慈 劉岱瑋</a:t>
                      </a:r>
                      <a:endParaRPr lang="zh-TW" altLang="en-US" dirty="0"/>
                    </a:p>
                  </a:txBody>
                  <a:tcPr/>
                </a:tc>
                <a:tc>
                  <a:txBody>
                    <a:bodyPr/>
                    <a:lstStyle/>
                    <a:p>
                      <a:r>
                        <a:rPr lang="zh-TW" altLang="en-US" dirty="0" smtClean="0"/>
                        <a:t>義大 葉世安</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smtClean="0"/>
                        <a:t>2016</a:t>
                      </a:r>
                      <a:endParaRPr lang="zh-TW" altLang="en-US" dirty="0"/>
                    </a:p>
                  </a:txBody>
                  <a:tcPr/>
                </a:tc>
                <a:tc>
                  <a:txBody>
                    <a:bodyPr/>
                    <a:lstStyle/>
                    <a:p>
                      <a:r>
                        <a:rPr lang="zh-TW" altLang="en-US" dirty="0" smtClean="0"/>
                        <a:t>北醫 郭嘉駿</a:t>
                      </a:r>
                      <a:endParaRPr lang="zh-TW" altLang="en-US" dirty="0"/>
                    </a:p>
                  </a:txBody>
                  <a:tcPr/>
                </a:tc>
                <a:tc>
                  <a:txBody>
                    <a:bodyPr/>
                    <a:lstStyle/>
                    <a:p>
                      <a:r>
                        <a:rPr lang="zh-TW" altLang="en-US" dirty="0" smtClean="0"/>
                        <a:t>北慈 黃經民</a:t>
                      </a:r>
                      <a:endParaRPr lang="zh-TW" altLang="en-US" dirty="0"/>
                    </a:p>
                  </a:txBody>
                  <a:tcPr/>
                </a:tc>
                <a:extLst>
                  <a:ext uri="{0D108BD9-81ED-4DB2-BD59-A6C34878D82A}">
                    <a16:rowId xmlns:a16="http://schemas.microsoft.com/office/drawing/2014/main" val="10003"/>
                  </a:ext>
                </a:extLst>
              </a:tr>
              <a:tr h="370840">
                <a:tc>
                  <a:txBody>
                    <a:bodyPr/>
                    <a:lstStyle/>
                    <a:p>
                      <a:r>
                        <a:rPr lang="en-US" altLang="zh-TW" dirty="0" smtClean="0"/>
                        <a:t>2015</a:t>
                      </a:r>
                      <a:endParaRPr lang="zh-TW" altLang="en-US" dirty="0"/>
                    </a:p>
                  </a:txBody>
                  <a:tcPr/>
                </a:tc>
                <a:tc>
                  <a:txBody>
                    <a:bodyPr/>
                    <a:lstStyle/>
                    <a:p>
                      <a:r>
                        <a:rPr lang="zh-TW" altLang="en-US" dirty="0" smtClean="0"/>
                        <a:t>北榮 王令瑋</a:t>
                      </a:r>
                      <a:endParaRPr lang="zh-TW" altLang="en-US" dirty="0"/>
                    </a:p>
                  </a:txBody>
                  <a:tcPr/>
                </a:tc>
                <a:tc>
                  <a:txBody>
                    <a:bodyPr/>
                    <a:lstStyle/>
                    <a:p>
                      <a:r>
                        <a:rPr lang="zh-TW" altLang="en-US" dirty="0" smtClean="0"/>
                        <a:t>彰基 張東浩</a:t>
                      </a:r>
                      <a:endParaRPr lang="zh-TW" altLang="en-US" dirty="0"/>
                    </a:p>
                  </a:txBody>
                  <a:tcPr/>
                </a:tc>
                <a:extLst>
                  <a:ext uri="{0D108BD9-81ED-4DB2-BD59-A6C34878D82A}">
                    <a16:rowId xmlns:a16="http://schemas.microsoft.com/office/drawing/2014/main" val="10004"/>
                  </a:ext>
                </a:extLst>
              </a:tr>
              <a:tr h="370840">
                <a:tc>
                  <a:txBody>
                    <a:bodyPr/>
                    <a:lstStyle/>
                    <a:p>
                      <a:r>
                        <a:rPr lang="en-US" altLang="zh-TW" dirty="0" smtClean="0"/>
                        <a:t>2014</a:t>
                      </a:r>
                      <a:endParaRPr lang="zh-TW" altLang="en-US" dirty="0"/>
                    </a:p>
                  </a:txBody>
                  <a:tcPr/>
                </a:tc>
                <a:tc>
                  <a:txBody>
                    <a:bodyPr/>
                    <a:lstStyle/>
                    <a:p>
                      <a:r>
                        <a:rPr lang="zh-TW" altLang="en-US" dirty="0" smtClean="0"/>
                        <a:t>高榮 劉文山</a:t>
                      </a:r>
                      <a:endParaRPr lang="zh-TW" altLang="en-US" dirty="0"/>
                    </a:p>
                  </a:txBody>
                  <a:tcPr/>
                </a:tc>
                <a:tc>
                  <a:txBody>
                    <a:bodyPr/>
                    <a:lstStyle/>
                    <a:p>
                      <a:r>
                        <a:rPr lang="zh-TW" altLang="en-US" dirty="0" smtClean="0"/>
                        <a:t>北醫 丁禮莉</a:t>
                      </a:r>
                      <a:endParaRPr lang="zh-TW" altLang="en-US" dirty="0"/>
                    </a:p>
                  </a:txBody>
                  <a:tcPr/>
                </a:tc>
                <a:extLst>
                  <a:ext uri="{0D108BD9-81ED-4DB2-BD59-A6C34878D82A}">
                    <a16:rowId xmlns:a16="http://schemas.microsoft.com/office/drawing/2014/main" val="10005"/>
                  </a:ext>
                </a:extLst>
              </a:tr>
              <a:tr h="370840">
                <a:tc>
                  <a:txBody>
                    <a:bodyPr/>
                    <a:lstStyle/>
                    <a:p>
                      <a:r>
                        <a:rPr lang="en-US" altLang="zh-TW" dirty="0" smtClean="0"/>
                        <a:t>2013</a:t>
                      </a:r>
                      <a:endParaRPr lang="zh-TW" altLang="en-US" dirty="0"/>
                    </a:p>
                  </a:txBody>
                  <a:tcPr/>
                </a:tc>
                <a:tc>
                  <a:txBody>
                    <a:bodyPr/>
                    <a:lstStyle/>
                    <a:p>
                      <a:r>
                        <a:rPr lang="zh-TW" altLang="en-US" dirty="0" smtClean="0"/>
                        <a:t>高長 方富民</a:t>
                      </a:r>
                      <a:endParaRPr lang="zh-TW" altLang="en-US" dirty="0"/>
                    </a:p>
                  </a:txBody>
                  <a:tcPr/>
                </a:tc>
                <a:tc>
                  <a:txBody>
                    <a:bodyPr/>
                    <a:lstStyle/>
                    <a:p>
                      <a:r>
                        <a:rPr lang="zh-TW" altLang="en-US" dirty="0" smtClean="0"/>
                        <a:t>和信 鄭鴻鈞</a:t>
                      </a:r>
                      <a:endParaRPr lang="zh-TW" altLang="en-US" dirty="0"/>
                    </a:p>
                  </a:txBody>
                  <a:tcPr/>
                </a:tc>
                <a:extLst>
                  <a:ext uri="{0D108BD9-81ED-4DB2-BD59-A6C34878D82A}">
                    <a16:rowId xmlns:a16="http://schemas.microsoft.com/office/drawing/2014/main" val="10006"/>
                  </a:ext>
                </a:extLst>
              </a:tr>
              <a:tr h="370840">
                <a:tc>
                  <a:txBody>
                    <a:bodyPr/>
                    <a:lstStyle/>
                    <a:p>
                      <a:r>
                        <a:rPr lang="en-US" altLang="zh-TW" dirty="0" smtClean="0"/>
                        <a:t>2012</a:t>
                      </a:r>
                      <a:endParaRPr lang="zh-TW" altLang="en-US" dirty="0"/>
                    </a:p>
                  </a:txBody>
                  <a:tcPr/>
                </a:tc>
                <a:tc>
                  <a:txBody>
                    <a:bodyPr/>
                    <a:lstStyle/>
                    <a:p>
                      <a:r>
                        <a:rPr lang="zh-TW" altLang="en-US" dirty="0" smtClean="0"/>
                        <a:t>和信 蔡玉真</a:t>
                      </a:r>
                      <a:endParaRPr lang="zh-TW" altLang="en-US" dirty="0"/>
                    </a:p>
                  </a:txBody>
                  <a:tcPr/>
                </a:tc>
                <a:tc>
                  <a:txBody>
                    <a:bodyPr/>
                    <a:lstStyle/>
                    <a:p>
                      <a:endParaRPr lang="zh-TW" altLang="en-US" dirty="0"/>
                    </a:p>
                  </a:txBody>
                  <a:tcPr/>
                </a:tc>
                <a:extLst>
                  <a:ext uri="{0D108BD9-81ED-4DB2-BD59-A6C34878D82A}">
                    <a16:rowId xmlns:a16="http://schemas.microsoft.com/office/drawing/2014/main" val="10007"/>
                  </a:ext>
                </a:extLst>
              </a:tr>
              <a:tr h="370840">
                <a:tc>
                  <a:txBody>
                    <a:bodyPr/>
                    <a:lstStyle/>
                    <a:p>
                      <a:r>
                        <a:rPr lang="en-US" altLang="zh-TW" dirty="0" smtClean="0"/>
                        <a:t>2011</a:t>
                      </a:r>
                      <a:endParaRPr lang="zh-TW" altLang="en-US" dirty="0"/>
                    </a:p>
                  </a:txBody>
                  <a:tcPr/>
                </a:tc>
                <a:tc>
                  <a:txBody>
                    <a:bodyPr/>
                    <a:lstStyle/>
                    <a:p>
                      <a:r>
                        <a:rPr lang="zh-TW" altLang="en-US" dirty="0" smtClean="0"/>
                        <a:t>馬偕 吳孟浩</a:t>
                      </a:r>
                      <a:endParaRPr lang="zh-TW" altLang="en-US" dirty="0"/>
                    </a:p>
                  </a:txBody>
                  <a:tcPr/>
                </a:tc>
                <a:tc>
                  <a:txBody>
                    <a:bodyPr/>
                    <a:lstStyle/>
                    <a:p>
                      <a:r>
                        <a:rPr lang="zh-TW" altLang="en-US" dirty="0" smtClean="0"/>
                        <a:t>台大 成佳憲</a:t>
                      </a:r>
                      <a:endParaRPr lang="zh-TW" altLang="en-US" dirty="0"/>
                    </a:p>
                  </a:txBody>
                  <a:tcPr/>
                </a:tc>
                <a:extLst>
                  <a:ext uri="{0D108BD9-81ED-4DB2-BD59-A6C34878D82A}">
                    <a16:rowId xmlns:a16="http://schemas.microsoft.com/office/drawing/2014/main" val="10008"/>
                  </a:ext>
                </a:extLst>
              </a:tr>
              <a:tr h="370840">
                <a:tc>
                  <a:txBody>
                    <a:bodyPr/>
                    <a:lstStyle/>
                    <a:p>
                      <a:r>
                        <a:rPr lang="en-US" altLang="zh-TW" dirty="0" smtClean="0"/>
                        <a:t>2010</a:t>
                      </a:r>
                      <a:endParaRPr lang="zh-TW" altLang="en-US" dirty="0"/>
                    </a:p>
                  </a:txBody>
                  <a:tcPr/>
                </a:tc>
                <a:tc>
                  <a:txBody>
                    <a:bodyPr/>
                    <a:lstStyle/>
                    <a:p>
                      <a:r>
                        <a:rPr lang="zh-TW" altLang="en-US" dirty="0" smtClean="0"/>
                        <a:t>北醫 丁禮莉</a:t>
                      </a:r>
                      <a:endParaRPr lang="zh-TW" altLang="en-US" dirty="0"/>
                    </a:p>
                  </a:txBody>
                  <a:tcPr/>
                </a:tc>
                <a:tc>
                  <a:txBody>
                    <a:bodyPr/>
                    <a:lstStyle/>
                    <a:p>
                      <a:r>
                        <a:rPr lang="zh-TW" altLang="en-US" dirty="0" smtClean="0">
                          <a:solidFill>
                            <a:srgbClr val="FF0000"/>
                          </a:solidFill>
                        </a:rPr>
                        <a:t>國泰 吳錦榕</a:t>
                      </a:r>
                      <a:endParaRPr lang="zh-TW" altLang="en-US" dirty="0">
                        <a:solidFill>
                          <a:srgbClr val="FF0000"/>
                        </a:solidFill>
                      </a:endParaRP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565265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415600" y="375633"/>
            <a:ext cx="11360800" cy="763600"/>
          </a:xfrm>
          <a:prstGeom prst="rect">
            <a:avLst/>
          </a:prstGeom>
        </p:spPr>
        <p:txBody>
          <a:bodyPr spcFirstLastPara="1" wrap="square" lIns="121897" tIns="121897" rIns="121897" bIns="121897" anchor="t" anchorCtr="0">
            <a:noAutofit/>
          </a:bodyPr>
          <a:lstStyle/>
          <a:p>
            <a:pPr algn="l"/>
            <a:r>
              <a:rPr lang="en-GB" dirty="0" smtClean="0"/>
              <a:t>2018 </a:t>
            </a:r>
            <a:r>
              <a:rPr lang="en-GB" dirty="0" err="1" smtClean="0"/>
              <a:t>吳孟浩</a:t>
            </a:r>
            <a:r>
              <a:rPr lang="en-GB" dirty="0" smtClean="0"/>
              <a:t>  Pancreas</a:t>
            </a:r>
            <a:endParaRPr dirty="0"/>
          </a:p>
        </p:txBody>
      </p:sp>
      <p:sp>
        <p:nvSpPr>
          <p:cNvPr id="67" name="Google Shape;67;p15"/>
          <p:cNvSpPr txBox="1"/>
          <p:nvPr/>
        </p:nvSpPr>
        <p:spPr>
          <a:xfrm>
            <a:off x="748199" y="1237200"/>
            <a:ext cx="10695600" cy="5372000"/>
          </a:xfrm>
          <a:prstGeom prst="rect">
            <a:avLst/>
          </a:prstGeom>
          <a:noFill/>
          <a:ln>
            <a:noFill/>
          </a:ln>
        </p:spPr>
        <p:txBody>
          <a:bodyPr spcFirstLastPara="1" wrap="square" lIns="121897" tIns="121897" rIns="121897" bIns="121897" anchor="t" anchorCtr="0">
            <a:noAutofit/>
          </a:bodyPr>
          <a:lstStyle/>
          <a:p>
            <a:pPr marL="609585" indent="-440256">
              <a:lnSpc>
                <a:spcPct val="150000"/>
              </a:lnSpc>
              <a:buClr>
                <a:schemeClr val="dk1"/>
              </a:buClr>
              <a:buSzPts val="1600"/>
              <a:buFont typeface="Alegreya"/>
              <a:buChar char="●"/>
            </a:pPr>
            <a:r>
              <a:rPr lang="en-GB" sz="2100" dirty="0" smtClean="0">
                <a:solidFill>
                  <a:schemeClr val="dk1"/>
                </a:solidFill>
                <a:latin typeface="Alegreya"/>
                <a:ea typeface="Alegreya"/>
                <a:cs typeface="Alegreya"/>
                <a:sym typeface="Alegreya"/>
              </a:rPr>
              <a:t>AJCC </a:t>
            </a:r>
            <a:r>
              <a:rPr lang="en-GB" sz="2100" dirty="0">
                <a:solidFill>
                  <a:schemeClr val="dk1"/>
                </a:solidFill>
                <a:latin typeface="Alegreya"/>
                <a:ea typeface="Alegreya"/>
                <a:cs typeface="Alegreya"/>
                <a:sym typeface="Alegreya"/>
              </a:rPr>
              <a:t>8</a:t>
            </a:r>
            <a:r>
              <a:rPr lang="en-GB" sz="2100" baseline="30000" dirty="0">
                <a:solidFill>
                  <a:schemeClr val="dk1"/>
                </a:solidFill>
                <a:latin typeface="Alegreya"/>
                <a:ea typeface="Alegreya"/>
                <a:cs typeface="Alegreya"/>
                <a:sym typeface="Alegreya"/>
              </a:rPr>
              <a:t>th</a:t>
            </a:r>
            <a:r>
              <a:rPr lang="en-GB" sz="2100" dirty="0">
                <a:solidFill>
                  <a:schemeClr val="dk1"/>
                </a:solidFill>
                <a:latin typeface="Alegreya"/>
                <a:ea typeface="Alegreya"/>
                <a:cs typeface="Alegreya"/>
                <a:sym typeface="Alegreya"/>
              </a:rPr>
              <a:t> Staging</a:t>
            </a:r>
            <a:r>
              <a:rPr lang="en-GB" sz="2100" dirty="0" smtClean="0">
                <a:solidFill>
                  <a:schemeClr val="dk1"/>
                </a:solidFill>
                <a:latin typeface="Alegreya"/>
                <a:ea typeface="Alegreya"/>
                <a:cs typeface="Alegreya"/>
                <a:sym typeface="Alegreya"/>
              </a:rPr>
              <a:t>? </a:t>
            </a:r>
            <a:r>
              <a:rPr lang="zh-TW" altLang="en-US" sz="2100" dirty="0">
                <a:solidFill>
                  <a:schemeClr val="dk1"/>
                </a:solidFill>
                <a:latin typeface="Alegreya"/>
                <a:ea typeface="Alegreya"/>
                <a:cs typeface="Alegreya"/>
                <a:sym typeface="Alegreya"/>
              </a:rPr>
              <a:t>與第七版的差異</a:t>
            </a:r>
            <a:endParaRPr lang="en-GB" sz="2100" dirty="0" smtClean="0">
              <a:solidFill>
                <a:schemeClr val="dk1"/>
              </a:solidFill>
              <a:latin typeface="Alegreya"/>
              <a:ea typeface="Alegreya"/>
              <a:cs typeface="Alegreya"/>
              <a:sym typeface="Alegreya"/>
            </a:endParaRPr>
          </a:p>
          <a:p>
            <a:pPr marL="609585" indent="-440256">
              <a:lnSpc>
                <a:spcPct val="150000"/>
              </a:lnSpc>
              <a:buClr>
                <a:schemeClr val="dk1"/>
              </a:buClr>
              <a:buSzPts val="1600"/>
              <a:buFont typeface="Alegreya"/>
              <a:buChar char="●"/>
            </a:pPr>
            <a:endParaRPr lang="en-GB" sz="2100" dirty="0">
              <a:solidFill>
                <a:schemeClr val="dk1"/>
              </a:solidFill>
              <a:latin typeface="Alegreya"/>
              <a:ea typeface="Alegreya"/>
              <a:cs typeface="Alegreya"/>
              <a:sym typeface="Alegreya"/>
            </a:endParaRPr>
          </a:p>
          <a:p>
            <a:pPr marL="609585" indent="-440256">
              <a:lnSpc>
                <a:spcPct val="150000"/>
              </a:lnSpc>
              <a:buClr>
                <a:schemeClr val="dk1"/>
              </a:buClr>
              <a:buSzPts val="1600"/>
              <a:buFont typeface="Alegreya"/>
              <a:buChar char="●"/>
            </a:pPr>
            <a:endParaRPr lang="en-GB" sz="2100" dirty="0" smtClean="0">
              <a:solidFill>
                <a:schemeClr val="dk1"/>
              </a:solidFill>
              <a:latin typeface="Alegreya"/>
              <a:ea typeface="Alegreya"/>
              <a:cs typeface="Alegreya"/>
              <a:sym typeface="Alegreya"/>
            </a:endParaRPr>
          </a:p>
          <a:p>
            <a:pPr marL="609585" indent="-440256">
              <a:lnSpc>
                <a:spcPct val="150000"/>
              </a:lnSpc>
              <a:buClr>
                <a:schemeClr val="dk1"/>
              </a:buClr>
              <a:buSzPts val="1600"/>
              <a:buFont typeface="Alegreya"/>
              <a:buChar char="●"/>
            </a:pPr>
            <a:r>
              <a:rPr lang="en-GB" sz="2100" dirty="0" smtClean="0">
                <a:solidFill>
                  <a:schemeClr val="dk1"/>
                </a:solidFill>
                <a:latin typeface="Alegreya"/>
                <a:ea typeface="Alegreya"/>
                <a:cs typeface="Alegreya"/>
                <a:sym typeface="Alegreya"/>
              </a:rPr>
              <a:t> </a:t>
            </a:r>
          </a:p>
          <a:p>
            <a:pPr marL="609585" indent="-440256">
              <a:lnSpc>
                <a:spcPct val="150000"/>
              </a:lnSpc>
              <a:buClr>
                <a:schemeClr val="dk1"/>
              </a:buClr>
              <a:buSzPts val="1600"/>
              <a:buFont typeface="Alegreya"/>
              <a:buChar char="●"/>
            </a:pPr>
            <a:endParaRPr sz="2100" dirty="0">
              <a:solidFill>
                <a:schemeClr val="dk1"/>
              </a:solidFill>
              <a:latin typeface="Alegreya"/>
              <a:ea typeface="Alegreya"/>
              <a:cs typeface="Alegreya"/>
              <a:sym typeface="Alegreya"/>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199" y="1941921"/>
            <a:ext cx="7189169" cy="4829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字方塊 1"/>
          <p:cNvSpPr txBox="1"/>
          <p:nvPr/>
        </p:nvSpPr>
        <p:spPr>
          <a:xfrm>
            <a:off x="8250865" y="2743200"/>
            <a:ext cx="2530549" cy="646331"/>
          </a:xfrm>
          <a:prstGeom prst="rect">
            <a:avLst/>
          </a:prstGeom>
          <a:noFill/>
        </p:spPr>
        <p:txBody>
          <a:bodyPr wrap="square" rtlCol="0">
            <a:spAutoFit/>
          </a:bodyPr>
          <a:lstStyle/>
          <a:p>
            <a:pPr marL="285750" indent="-285750">
              <a:buFont typeface="Arial" panose="020B0604020202020204" pitchFamily="34" charset="0"/>
              <a:buChar char="•"/>
            </a:pPr>
            <a:r>
              <a:rPr lang="en-US" altLang="zh-TW" dirty="0" smtClean="0"/>
              <a:t>T3</a:t>
            </a:r>
            <a:r>
              <a:rPr lang="zh-TW" altLang="en-US" dirty="0" smtClean="0"/>
              <a:t>從原本侵犯的範圍變成由大小來分界</a:t>
            </a:r>
            <a:endParaRPr lang="zh-TW" altLang="en-US" dirty="0"/>
          </a:p>
        </p:txBody>
      </p:sp>
    </p:spTree>
    <p:extLst>
      <p:ext uri="{BB962C8B-B14F-4D97-AF65-F5344CB8AC3E}">
        <p14:creationId xmlns:p14="http://schemas.microsoft.com/office/powerpoint/2010/main" val="3493338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pPr algn="l"/>
            <a:r>
              <a:rPr lang="en-GB" altLang="zh-TW" dirty="0"/>
              <a:t>2018 </a:t>
            </a:r>
            <a:r>
              <a:rPr lang="en-GB" altLang="zh-TW" dirty="0" err="1"/>
              <a:t>吳孟浩</a:t>
            </a:r>
            <a:r>
              <a:rPr lang="en-GB" altLang="zh-TW" dirty="0"/>
              <a:t>  Pancreas</a:t>
            </a:r>
            <a:endParaRPr lang="zh-TW" altLang="en-US" dirty="0"/>
          </a:p>
        </p:txBody>
      </p:sp>
      <p:sp>
        <p:nvSpPr>
          <p:cNvPr id="3" name="文字版面配置區 2"/>
          <p:cNvSpPr>
            <a:spLocks noGrp="1"/>
          </p:cNvSpPr>
          <p:nvPr>
            <p:ph type="body" idx="1"/>
          </p:nvPr>
        </p:nvSpPr>
        <p:spPr>
          <a:xfrm>
            <a:off x="415601" y="1536633"/>
            <a:ext cx="4172416" cy="4555200"/>
          </a:xfrm>
        </p:spPr>
        <p:txBody>
          <a:bodyPr>
            <a:normAutofit fontScale="85000" lnSpcReduction="20000"/>
          </a:bodyPr>
          <a:lstStyle/>
          <a:p>
            <a:r>
              <a:rPr lang="zh-TW" altLang="en-US" dirty="0">
                <a:solidFill>
                  <a:schemeClr val="dk1"/>
                </a:solidFill>
                <a:latin typeface="Alegreya"/>
                <a:ea typeface="Alegreya"/>
                <a:cs typeface="Alegreya"/>
                <a:sym typeface="Alegreya"/>
              </a:rPr>
              <a:t>怎麼定義</a:t>
            </a:r>
            <a:r>
              <a:rPr lang="en-GB" altLang="zh-TW" dirty="0" err="1">
                <a:solidFill>
                  <a:schemeClr val="dk1"/>
                </a:solidFill>
                <a:latin typeface="Alegreya"/>
                <a:ea typeface="Alegreya"/>
                <a:cs typeface="Alegreya"/>
                <a:sym typeface="Alegreya"/>
              </a:rPr>
              <a:t>resectable</a:t>
            </a:r>
            <a:r>
              <a:rPr lang="en-GB" altLang="zh-TW" dirty="0">
                <a:solidFill>
                  <a:schemeClr val="dk1"/>
                </a:solidFill>
                <a:latin typeface="Alegreya"/>
                <a:ea typeface="Alegreya"/>
                <a:cs typeface="Alegreya"/>
                <a:sym typeface="Alegreya"/>
              </a:rPr>
              <a:t>, borderline </a:t>
            </a:r>
            <a:r>
              <a:rPr lang="en-GB" altLang="zh-TW" dirty="0" err="1">
                <a:solidFill>
                  <a:schemeClr val="dk1"/>
                </a:solidFill>
                <a:latin typeface="Alegreya"/>
                <a:ea typeface="Alegreya"/>
                <a:cs typeface="Alegreya"/>
                <a:sym typeface="Alegreya"/>
              </a:rPr>
              <a:t>resectable</a:t>
            </a:r>
            <a:r>
              <a:rPr lang="en-GB" altLang="zh-TW" dirty="0">
                <a:solidFill>
                  <a:schemeClr val="dk1"/>
                </a:solidFill>
                <a:latin typeface="Alegreya"/>
                <a:ea typeface="Alegreya"/>
                <a:cs typeface="Alegreya"/>
                <a:sym typeface="Alegreya"/>
              </a:rPr>
              <a:t>, </a:t>
            </a:r>
            <a:r>
              <a:rPr lang="en-GB" altLang="zh-TW" dirty="0" err="1">
                <a:solidFill>
                  <a:schemeClr val="dk1"/>
                </a:solidFill>
                <a:latin typeface="Alegreya"/>
                <a:ea typeface="Alegreya"/>
                <a:cs typeface="Alegreya"/>
                <a:sym typeface="Alegreya"/>
              </a:rPr>
              <a:t>unresectable</a:t>
            </a:r>
            <a:r>
              <a:rPr lang="en-GB" altLang="zh-TW" dirty="0" smtClean="0">
                <a:solidFill>
                  <a:schemeClr val="dk1"/>
                </a:solidFill>
                <a:latin typeface="Alegreya"/>
                <a:ea typeface="Alegreya"/>
                <a:cs typeface="Alegreya"/>
                <a:sym typeface="Alegreya"/>
              </a:rPr>
              <a:t>?</a:t>
            </a:r>
          </a:p>
          <a:p>
            <a:r>
              <a:rPr lang="en-GB" altLang="zh-TW" dirty="0" err="1">
                <a:solidFill>
                  <a:schemeClr val="dk1"/>
                </a:solidFill>
                <a:latin typeface="Alegreya"/>
                <a:ea typeface="Alegreya"/>
                <a:cs typeface="Alegreya"/>
                <a:sym typeface="Alegreya"/>
              </a:rPr>
              <a:t>如果</a:t>
            </a:r>
            <a:r>
              <a:rPr lang="en-GB" altLang="zh-TW" dirty="0">
                <a:solidFill>
                  <a:schemeClr val="dk1"/>
                </a:solidFill>
                <a:latin typeface="Alegreya"/>
                <a:ea typeface="Alegreya"/>
                <a:cs typeface="Alegreya"/>
                <a:sym typeface="Alegreya"/>
              </a:rPr>
              <a:t> SMV </a:t>
            </a:r>
            <a:r>
              <a:rPr lang="en-GB" altLang="zh-TW" dirty="0" err="1">
                <a:solidFill>
                  <a:schemeClr val="dk1"/>
                </a:solidFill>
                <a:latin typeface="Alegreya"/>
                <a:ea typeface="Alegreya"/>
                <a:cs typeface="Alegreya"/>
                <a:sym typeface="Alegreya"/>
              </a:rPr>
              <a:t>裡有</a:t>
            </a:r>
            <a:r>
              <a:rPr lang="en-GB" altLang="zh-TW" dirty="0">
                <a:solidFill>
                  <a:schemeClr val="dk1"/>
                </a:solidFill>
                <a:latin typeface="Alegreya"/>
                <a:ea typeface="Alegreya"/>
                <a:cs typeface="Alegreya"/>
                <a:sym typeface="Alegreya"/>
              </a:rPr>
              <a:t> thrombosis </a:t>
            </a:r>
            <a:r>
              <a:rPr lang="en-GB" altLang="zh-TW" dirty="0" err="1">
                <a:solidFill>
                  <a:schemeClr val="dk1"/>
                </a:solidFill>
                <a:latin typeface="Alegreya"/>
                <a:ea typeface="Alegreya"/>
                <a:cs typeface="Alegreya"/>
                <a:sym typeface="Alegreya"/>
              </a:rPr>
              <a:t>屬於</a:t>
            </a:r>
            <a:r>
              <a:rPr lang="en-GB" altLang="zh-TW" dirty="0">
                <a:solidFill>
                  <a:schemeClr val="dk1"/>
                </a:solidFill>
                <a:latin typeface="Alegreya"/>
                <a:ea typeface="Alegreya"/>
                <a:cs typeface="Alegreya"/>
                <a:sym typeface="Alegreya"/>
              </a:rPr>
              <a:t>? </a:t>
            </a:r>
            <a:r>
              <a:rPr lang="en-GB" altLang="zh-TW" dirty="0" err="1">
                <a:solidFill>
                  <a:schemeClr val="dk1"/>
                </a:solidFill>
                <a:latin typeface="Alegreya"/>
                <a:ea typeface="Alegreya"/>
                <a:cs typeface="Alegreya"/>
                <a:sym typeface="Alegreya"/>
              </a:rPr>
              <a:t>長度多少才屬於unresectable</a:t>
            </a:r>
            <a:r>
              <a:rPr lang="en-GB" altLang="zh-TW" dirty="0" smtClean="0">
                <a:solidFill>
                  <a:schemeClr val="dk1"/>
                </a:solidFill>
                <a:latin typeface="Alegreya"/>
                <a:ea typeface="Alegreya"/>
                <a:cs typeface="Alegreya"/>
                <a:sym typeface="Alegreya"/>
              </a:rPr>
              <a:t>?</a:t>
            </a:r>
          </a:p>
          <a:p>
            <a:pPr lvl="1"/>
            <a:r>
              <a:rPr lang="en-US" altLang="zh-TW" dirty="0" smtClean="0">
                <a:solidFill>
                  <a:schemeClr val="dk1"/>
                </a:solidFill>
                <a:latin typeface="Alegreya"/>
                <a:ea typeface="Alegreya"/>
                <a:cs typeface="Alegreya"/>
                <a:sym typeface="Alegreya"/>
              </a:rPr>
              <a:t>Borderline</a:t>
            </a:r>
          </a:p>
          <a:p>
            <a:pPr lvl="1"/>
            <a:r>
              <a:rPr lang="zh-TW" altLang="en-US" dirty="0" smtClean="0">
                <a:solidFill>
                  <a:schemeClr val="dk1"/>
                </a:solidFill>
                <a:latin typeface="Alegreya"/>
                <a:ea typeface="Alegreya"/>
                <a:cs typeface="Alegreya"/>
                <a:sym typeface="Alegreya"/>
              </a:rPr>
              <a:t>只有</a:t>
            </a:r>
            <a:r>
              <a:rPr lang="en-US" altLang="zh-TW" dirty="0" err="1" smtClean="0">
                <a:solidFill>
                  <a:schemeClr val="dk1"/>
                </a:solidFill>
                <a:latin typeface="Alegreya"/>
                <a:ea typeface="Alegreya"/>
                <a:cs typeface="Alegreya"/>
                <a:sym typeface="Alegreya"/>
              </a:rPr>
              <a:t>Unreconstructable</a:t>
            </a:r>
            <a:r>
              <a:rPr lang="en-US" altLang="zh-TW" dirty="0" smtClean="0">
                <a:solidFill>
                  <a:schemeClr val="dk1"/>
                </a:solidFill>
                <a:latin typeface="Alegreya"/>
                <a:ea typeface="Alegreya"/>
                <a:cs typeface="Alegreya"/>
                <a:sym typeface="Alegreya"/>
              </a:rPr>
              <a:t> SMV occlusion </a:t>
            </a:r>
            <a:r>
              <a:rPr lang="zh-TW" altLang="en-US" dirty="0" smtClean="0">
                <a:solidFill>
                  <a:schemeClr val="dk1"/>
                </a:solidFill>
                <a:latin typeface="Alegreya"/>
                <a:ea typeface="Alegreya"/>
                <a:cs typeface="Alegreya"/>
                <a:sym typeface="Alegreya"/>
              </a:rPr>
              <a:t>才算</a:t>
            </a:r>
            <a:r>
              <a:rPr lang="en-US" altLang="zh-TW" dirty="0" err="1" smtClean="0">
                <a:solidFill>
                  <a:schemeClr val="dk1"/>
                </a:solidFill>
                <a:latin typeface="Alegreya"/>
                <a:ea typeface="Alegreya"/>
                <a:cs typeface="Alegreya"/>
                <a:sym typeface="Alegreya"/>
              </a:rPr>
              <a:t>unresectable</a:t>
            </a:r>
            <a:endParaRPr lang="en-GB" altLang="zh-TW" dirty="0" smtClean="0">
              <a:solidFill>
                <a:schemeClr val="dk1"/>
              </a:solidFill>
              <a:latin typeface="Alegreya"/>
              <a:ea typeface="Alegreya"/>
              <a:cs typeface="Alegreya"/>
              <a:sym typeface="Alegreya"/>
            </a:endParaRPr>
          </a:p>
          <a:p>
            <a:endParaRPr lang="en-GB" altLang="zh-TW" dirty="0">
              <a:solidFill>
                <a:schemeClr val="dk1"/>
              </a:solidFill>
              <a:latin typeface="Alegreya"/>
              <a:ea typeface="Alegreya"/>
              <a:cs typeface="Alegreya"/>
              <a:sym typeface="Alegreya"/>
            </a:endParaRPr>
          </a:p>
          <a:p>
            <a:endParaRPr lang="zh-TW" altLang="en-US" dirty="0"/>
          </a:p>
        </p:txBody>
      </p:sp>
      <p:pic>
        <p:nvPicPr>
          <p:cNvPr id="7" name="圖片 6">
            <a:extLst>
              <a:ext uri="{FF2B5EF4-FFF2-40B4-BE49-F238E27FC236}">
                <a16:creationId xmlns:a16="http://schemas.microsoft.com/office/drawing/2014/main" id="{8DB79504-1F8E-43CB-A9DB-479C2E150DD7}"/>
              </a:ext>
            </a:extLst>
          </p:cNvPr>
          <p:cNvPicPr>
            <a:picLocks noChangeAspect="1"/>
          </p:cNvPicPr>
          <p:nvPr/>
        </p:nvPicPr>
        <p:blipFill rotWithShape="1">
          <a:blip r:embed="rId2"/>
          <a:srcRect l="2399" t="12952" r="1931" b="22095"/>
          <a:stretch/>
        </p:blipFill>
        <p:spPr>
          <a:xfrm>
            <a:off x="4588017" y="1557938"/>
            <a:ext cx="7603983" cy="3989167"/>
          </a:xfrm>
          <a:prstGeom prst="rect">
            <a:avLst/>
          </a:prstGeom>
        </p:spPr>
      </p:pic>
    </p:spTree>
    <p:extLst>
      <p:ext uri="{BB962C8B-B14F-4D97-AF65-F5344CB8AC3E}">
        <p14:creationId xmlns:p14="http://schemas.microsoft.com/office/powerpoint/2010/main" val="2594765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415600" y="375633"/>
            <a:ext cx="11360800" cy="763600"/>
          </a:xfrm>
          <a:prstGeom prst="rect">
            <a:avLst/>
          </a:prstGeom>
        </p:spPr>
        <p:txBody>
          <a:bodyPr spcFirstLastPara="1" wrap="square" lIns="121897" tIns="121897" rIns="121897" bIns="121897" anchor="t" anchorCtr="0">
            <a:noAutofit/>
          </a:bodyPr>
          <a:lstStyle/>
          <a:p>
            <a:pPr algn="l"/>
            <a:r>
              <a:rPr lang="en-GB" dirty="0" smtClean="0"/>
              <a:t>2018 </a:t>
            </a:r>
            <a:r>
              <a:rPr lang="en-GB" dirty="0" err="1" smtClean="0"/>
              <a:t>吳孟浩</a:t>
            </a:r>
            <a:r>
              <a:rPr lang="en-GB" dirty="0" smtClean="0"/>
              <a:t>  Pancreas</a:t>
            </a:r>
            <a:endParaRPr dirty="0"/>
          </a:p>
        </p:txBody>
      </p:sp>
      <p:sp>
        <p:nvSpPr>
          <p:cNvPr id="67" name="Google Shape;67;p15"/>
          <p:cNvSpPr txBox="1"/>
          <p:nvPr/>
        </p:nvSpPr>
        <p:spPr>
          <a:xfrm>
            <a:off x="748200" y="1237200"/>
            <a:ext cx="10695600" cy="5372000"/>
          </a:xfrm>
          <a:prstGeom prst="rect">
            <a:avLst/>
          </a:prstGeom>
          <a:noFill/>
          <a:ln>
            <a:noFill/>
          </a:ln>
        </p:spPr>
        <p:txBody>
          <a:bodyPr spcFirstLastPara="1" wrap="square" lIns="121897" tIns="121897" rIns="121897" bIns="121897" anchor="t" anchorCtr="0">
            <a:noAutofit/>
          </a:bodyPr>
          <a:lstStyle/>
          <a:p>
            <a:pPr marL="609585" indent="-440256">
              <a:lnSpc>
                <a:spcPct val="150000"/>
              </a:lnSpc>
              <a:buClr>
                <a:schemeClr val="dk1"/>
              </a:buClr>
              <a:buSzPts val="1600"/>
              <a:buFont typeface="Alegreya"/>
              <a:buChar char="●"/>
            </a:pPr>
            <a:r>
              <a:rPr lang="en-GB" sz="2100" dirty="0" smtClean="0">
                <a:solidFill>
                  <a:schemeClr val="dk1"/>
                </a:solidFill>
                <a:latin typeface="Alegreya"/>
                <a:ea typeface="Alegreya"/>
                <a:cs typeface="Alegreya"/>
                <a:sym typeface="Alegreya"/>
              </a:rPr>
              <a:t>Pancreatic </a:t>
            </a:r>
            <a:r>
              <a:rPr lang="en-GB" sz="2100" dirty="0">
                <a:solidFill>
                  <a:schemeClr val="dk1"/>
                </a:solidFill>
                <a:latin typeface="Alegreya"/>
                <a:ea typeface="Alegreya"/>
                <a:cs typeface="Alegreya"/>
                <a:sym typeface="Alegreya"/>
              </a:rPr>
              <a:t>tail </a:t>
            </a:r>
            <a:r>
              <a:rPr lang="en-GB" sz="2100" dirty="0" err="1">
                <a:solidFill>
                  <a:schemeClr val="dk1"/>
                </a:solidFill>
                <a:latin typeface="Alegreya"/>
                <a:ea typeface="Alegreya"/>
                <a:cs typeface="Alegreya"/>
                <a:sym typeface="Alegreya"/>
              </a:rPr>
              <a:t>的淋巴引流有哪些</a:t>
            </a:r>
            <a:r>
              <a:rPr lang="en-GB" sz="2100" dirty="0" smtClean="0">
                <a:solidFill>
                  <a:schemeClr val="dk1"/>
                </a:solidFill>
                <a:latin typeface="Alegreya"/>
                <a:ea typeface="Alegreya"/>
                <a:cs typeface="Alegreya"/>
                <a:sym typeface="Alegreya"/>
              </a:rPr>
              <a:t>?</a:t>
            </a:r>
          </a:p>
          <a:p>
            <a:pPr marL="914400" lvl="1" indent="-457200">
              <a:buFont typeface="+mj-lt"/>
              <a:buAutoNum type="arabicPeriod"/>
            </a:pPr>
            <a:r>
              <a:rPr lang="en-US" altLang="zh-TW" sz="2000" dirty="0"/>
              <a:t>Pancreatic head: pancreaticoduodenal, porta </a:t>
            </a:r>
            <a:r>
              <a:rPr lang="en-US" altLang="zh-TW" sz="2000" dirty="0" err="1"/>
              <a:t>hepatis</a:t>
            </a:r>
            <a:r>
              <a:rPr lang="en-US" altLang="zh-TW" sz="2000" dirty="0"/>
              <a:t>, celiac, and superior mesenteric</a:t>
            </a:r>
            <a:r>
              <a:rPr lang="zh-TW" altLang="en-US" sz="2000" dirty="0"/>
              <a:t> </a:t>
            </a:r>
            <a:r>
              <a:rPr lang="en-US" altLang="zh-TW" sz="2000" dirty="0"/>
              <a:t>LNs</a:t>
            </a:r>
          </a:p>
          <a:p>
            <a:pPr marL="914400" lvl="1" indent="-457200">
              <a:buFont typeface="+mj-lt"/>
              <a:buAutoNum type="arabicPeriod"/>
            </a:pPr>
            <a:r>
              <a:rPr lang="en-US" altLang="zh-TW" sz="2000" dirty="0"/>
              <a:t>Pancreatic body and tail: splenic artery, inferior pancreatic, celiac, superior mesenteric, and </a:t>
            </a:r>
            <a:r>
              <a:rPr lang="en-US" altLang="zh-TW" sz="2000" dirty="0">
                <a:solidFill>
                  <a:srgbClr val="0000FF"/>
                </a:solidFill>
              </a:rPr>
              <a:t>para-aortic </a:t>
            </a:r>
            <a:r>
              <a:rPr lang="en-US" altLang="zh-TW" sz="2000" dirty="0" smtClean="0">
                <a:solidFill>
                  <a:srgbClr val="0000FF"/>
                </a:solidFill>
              </a:rPr>
              <a:t>LNs</a:t>
            </a:r>
            <a:endParaRPr sz="2100" dirty="0">
              <a:solidFill>
                <a:schemeClr val="dk1"/>
              </a:solidFill>
              <a:latin typeface="Alegreya"/>
              <a:ea typeface="Alegreya"/>
              <a:cs typeface="Alegreya"/>
              <a:sym typeface="Alegreya"/>
            </a:endParaRPr>
          </a:p>
          <a:p>
            <a:pPr marL="609585" indent="-440256">
              <a:lnSpc>
                <a:spcPct val="150000"/>
              </a:lnSpc>
              <a:buClr>
                <a:schemeClr val="dk1"/>
              </a:buClr>
              <a:buSzPts val="1600"/>
              <a:buFont typeface="Alegreya"/>
              <a:buChar char="●"/>
            </a:pPr>
            <a:r>
              <a:rPr lang="en-GB" altLang="zh-TW" sz="2100" dirty="0" err="1">
                <a:solidFill>
                  <a:schemeClr val="dk1"/>
                </a:solidFill>
                <a:latin typeface="Alegreya"/>
                <a:ea typeface="Alegreya"/>
                <a:cs typeface="Alegreya"/>
                <a:sym typeface="Alegreya"/>
              </a:rPr>
              <a:t>一個</a:t>
            </a:r>
            <a:r>
              <a:rPr lang="en-GB" altLang="zh-TW" sz="2100" dirty="0">
                <a:solidFill>
                  <a:schemeClr val="dk1"/>
                </a:solidFill>
                <a:latin typeface="Alegreya"/>
                <a:ea typeface="Alegreya"/>
                <a:cs typeface="Alegreya"/>
                <a:sym typeface="Alegreya"/>
              </a:rPr>
              <a:t> case </a:t>
            </a:r>
            <a:r>
              <a:rPr lang="en-GB" altLang="zh-TW" sz="2100" dirty="0" err="1">
                <a:solidFill>
                  <a:schemeClr val="dk1"/>
                </a:solidFill>
                <a:latin typeface="Alegreya"/>
                <a:ea typeface="Alegreya"/>
                <a:cs typeface="Alegreya"/>
                <a:sym typeface="Alegreya"/>
              </a:rPr>
              <a:t>診斷發現</a:t>
            </a:r>
            <a:r>
              <a:rPr lang="en-GB" altLang="zh-TW" sz="2100" dirty="0">
                <a:solidFill>
                  <a:schemeClr val="dk1"/>
                </a:solidFill>
                <a:latin typeface="Alegreya"/>
                <a:ea typeface="Alegreya"/>
                <a:cs typeface="Alegreya"/>
                <a:sym typeface="Alegreya"/>
              </a:rPr>
              <a:t> pancreatic tail 有一顆2cm 的 </a:t>
            </a:r>
            <a:r>
              <a:rPr lang="en-GB" altLang="zh-TW" sz="2100" dirty="0" err="1">
                <a:solidFill>
                  <a:schemeClr val="dk1"/>
                </a:solidFill>
                <a:latin typeface="Alegreya"/>
                <a:ea typeface="Alegreya"/>
                <a:cs typeface="Alegreya"/>
                <a:sym typeface="Alegreya"/>
              </a:rPr>
              <a:t>tumor</a:t>
            </a:r>
            <a:r>
              <a:rPr lang="en-GB" altLang="zh-TW" sz="2100" dirty="0">
                <a:solidFill>
                  <a:schemeClr val="dk1"/>
                </a:solidFill>
                <a:latin typeface="Alegreya"/>
                <a:ea typeface="Alegreya"/>
                <a:cs typeface="Alegreya"/>
                <a:sym typeface="Alegreya"/>
              </a:rPr>
              <a:t> , LNs有3顆?? </a:t>
            </a:r>
            <a:r>
              <a:rPr lang="en-GB" altLang="zh-TW" sz="2100" dirty="0" err="1">
                <a:solidFill>
                  <a:schemeClr val="dk1"/>
                </a:solidFill>
                <a:latin typeface="Alegreya"/>
                <a:ea typeface="Alegreya"/>
                <a:cs typeface="Alegreya"/>
                <a:sym typeface="Alegreya"/>
              </a:rPr>
              <a:t>認定屬於borderline</a:t>
            </a:r>
            <a:r>
              <a:rPr lang="en-GB" altLang="zh-TW" sz="2100" dirty="0">
                <a:solidFill>
                  <a:schemeClr val="dk1"/>
                </a:solidFill>
                <a:latin typeface="Alegreya"/>
                <a:ea typeface="Alegreya"/>
                <a:cs typeface="Alegreya"/>
                <a:sym typeface="Alegreya"/>
              </a:rPr>
              <a:t> </a:t>
            </a:r>
            <a:r>
              <a:rPr lang="en-GB" altLang="zh-TW" sz="2100" dirty="0" err="1">
                <a:solidFill>
                  <a:schemeClr val="dk1"/>
                </a:solidFill>
                <a:latin typeface="Alegreya"/>
                <a:ea typeface="Alegreya"/>
                <a:cs typeface="Alegreya"/>
                <a:sym typeface="Alegreya"/>
              </a:rPr>
              <a:t>resectable</a:t>
            </a:r>
            <a:r>
              <a:rPr lang="en-GB" altLang="zh-TW" sz="2100" dirty="0">
                <a:solidFill>
                  <a:schemeClr val="dk1"/>
                </a:solidFill>
                <a:latin typeface="Alegreya"/>
                <a:ea typeface="Alegreya"/>
                <a:cs typeface="Alegreya"/>
                <a:sym typeface="Alegreya"/>
              </a:rPr>
              <a:t>, </a:t>
            </a:r>
            <a:r>
              <a:rPr lang="en-GB" altLang="zh-TW" sz="2100" dirty="0" err="1">
                <a:solidFill>
                  <a:schemeClr val="dk1"/>
                </a:solidFill>
                <a:latin typeface="Alegreya"/>
                <a:ea typeface="Alegreya"/>
                <a:cs typeface="Alegreya"/>
                <a:sym typeface="Alegreya"/>
              </a:rPr>
              <a:t>開完刀後有詳細pathology</a:t>
            </a:r>
            <a:r>
              <a:rPr lang="en-GB" altLang="zh-TW" sz="2100" dirty="0">
                <a:solidFill>
                  <a:schemeClr val="dk1"/>
                </a:solidFill>
                <a:latin typeface="Alegreya"/>
                <a:ea typeface="Alegreya"/>
                <a:cs typeface="Alegreya"/>
                <a:sym typeface="Alegreya"/>
              </a:rPr>
              <a:t> report (</a:t>
            </a:r>
            <a:r>
              <a:rPr lang="en-GB" altLang="zh-TW" sz="2100" dirty="0" err="1">
                <a:solidFill>
                  <a:schemeClr val="dk1"/>
                </a:solidFill>
                <a:latin typeface="Alegreya"/>
                <a:ea typeface="Alegreya"/>
                <a:cs typeface="Alegreya"/>
                <a:sym typeface="Alegreya"/>
              </a:rPr>
              <a:t>寫在紙上</a:t>
            </a:r>
            <a:r>
              <a:rPr lang="en-GB" altLang="zh-TW" sz="2100" dirty="0">
                <a:solidFill>
                  <a:schemeClr val="dk1"/>
                </a:solidFill>
                <a:latin typeface="Alegreya"/>
                <a:ea typeface="Alegreya"/>
                <a:cs typeface="Alegreya"/>
                <a:sym typeface="Alegreya"/>
              </a:rPr>
              <a:t>)</a:t>
            </a:r>
            <a:endParaRPr lang="en-GB" sz="2100" dirty="0" smtClean="0">
              <a:solidFill>
                <a:schemeClr val="dk1"/>
              </a:solidFill>
              <a:latin typeface="Alegreya"/>
              <a:ea typeface="Alegreya"/>
              <a:cs typeface="Alegreya"/>
              <a:sym typeface="Alegreya"/>
            </a:endParaRPr>
          </a:p>
          <a:p>
            <a:pPr marL="609585" indent="-440256">
              <a:lnSpc>
                <a:spcPct val="150000"/>
              </a:lnSpc>
              <a:buClr>
                <a:schemeClr val="dk1"/>
              </a:buClr>
              <a:buSzPts val="1600"/>
              <a:buFont typeface="Alegreya"/>
              <a:buChar char="●"/>
            </a:pPr>
            <a:r>
              <a:rPr lang="en-GB" sz="2100" dirty="0" err="1" smtClean="0">
                <a:solidFill>
                  <a:schemeClr val="dk1"/>
                </a:solidFill>
                <a:latin typeface="Alegreya"/>
                <a:ea typeface="Alegreya"/>
                <a:cs typeface="Alegreya"/>
                <a:sym typeface="Alegreya"/>
              </a:rPr>
              <a:t>治療</a:t>
            </a:r>
            <a:r>
              <a:rPr lang="en-GB" sz="2100" dirty="0" smtClean="0">
                <a:solidFill>
                  <a:schemeClr val="dk1"/>
                </a:solidFill>
                <a:latin typeface="Alegreya"/>
                <a:ea typeface="Alegreya"/>
                <a:cs typeface="Alegreya"/>
                <a:sym typeface="Alegreya"/>
              </a:rPr>
              <a:t>?</a:t>
            </a:r>
          </a:p>
          <a:p>
            <a:pPr marL="1066785" lvl="1" indent="-440256">
              <a:lnSpc>
                <a:spcPct val="150000"/>
              </a:lnSpc>
              <a:buClr>
                <a:schemeClr val="dk1"/>
              </a:buClr>
              <a:buSzPts val="1600"/>
              <a:buFont typeface="Alegreya"/>
              <a:buChar char="●"/>
            </a:pPr>
            <a:r>
              <a:rPr lang="en-US" altLang="zh-TW" sz="2000" dirty="0" smtClean="0"/>
              <a:t>cT2N1M0, stage </a:t>
            </a:r>
            <a:r>
              <a:rPr lang="en-US" altLang="zh-TW" sz="2000" dirty="0" err="1" smtClean="0"/>
              <a:t>IIb</a:t>
            </a:r>
            <a:endParaRPr lang="en-US" altLang="zh-TW" sz="2000" dirty="0" smtClean="0"/>
          </a:p>
          <a:p>
            <a:pPr marL="1066785" lvl="1" indent="-440256">
              <a:lnSpc>
                <a:spcPct val="150000"/>
              </a:lnSpc>
              <a:buClr>
                <a:schemeClr val="dk1"/>
              </a:buClr>
              <a:buSzPts val="1600"/>
              <a:buFont typeface="Alegreya"/>
              <a:buChar char="●"/>
            </a:pPr>
            <a:r>
              <a:rPr lang="en-US" altLang="zh-TW" sz="2000" dirty="0" smtClean="0"/>
              <a:t>Borderline </a:t>
            </a:r>
            <a:r>
              <a:rPr lang="en-US" altLang="zh-TW" sz="2000" dirty="0" err="1" smtClean="0"/>
              <a:t>resectable</a:t>
            </a:r>
            <a:r>
              <a:rPr lang="zh-TW" altLang="en-US" sz="2000" dirty="0"/>
              <a:t> </a:t>
            </a:r>
            <a:r>
              <a:rPr lang="en-US" altLang="zh-TW" sz="2000" dirty="0" smtClean="0"/>
              <a:t>-&gt;</a:t>
            </a:r>
            <a:r>
              <a:rPr lang="zh-TW" altLang="en-US" sz="2000" dirty="0" smtClean="0"/>
              <a:t> </a:t>
            </a:r>
            <a:r>
              <a:rPr lang="en-US" altLang="zh-TW" sz="2000" dirty="0" err="1" smtClean="0"/>
              <a:t>neoadjuvant</a:t>
            </a:r>
            <a:r>
              <a:rPr lang="en-US" altLang="zh-TW" sz="2000" dirty="0" smtClean="0"/>
              <a:t> therapy</a:t>
            </a:r>
            <a:r>
              <a:rPr lang="zh-TW" altLang="en-US" sz="2000" dirty="0" smtClean="0"/>
              <a:t> </a:t>
            </a:r>
            <a:r>
              <a:rPr lang="en-US" altLang="zh-TW" sz="2000" dirty="0" smtClean="0"/>
              <a:t>-&gt; OP -&gt; Adjuvant Chemo</a:t>
            </a:r>
          </a:p>
          <a:p>
            <a:pPr marL="1523985" lvl="2" indent="-440256">
              <a:lnSpc>
                <a:spcPct val="150000"/>
              </a:lnSpc>
              <a:buClr>
                <a:schemeClr val="dk1"/>
              </a:buClr>
              <a:buSzPts val="1600"/>
              <a:buFont typeface="Alegreya"/>
              <a:buChar char="●"/>
            </a:pPr>
            <a:r>
              <a:rPr lang="en-US" sz="2000" dirty="0" smtClean="0">
                <a:solidFill>
                  <a:schemeClr val="dk1"/>
                </a:solidFill>
                <a:latin typeface="Alegreya"/>
                <a:ea typeface="Alegreya"/>
                <a:cs typeface="Alegreya"/>
                <a:sym typeface="Alegreya"/>
              </a:rPr>
              <a:t>Preferred </a:t>
            </a:r>
            <a:r>
              <a:rPr lang="en-GB" sz="2000" dirty="0" smtClean="0">
                <a:solidFill>
                  <a:schemeClr val="dk1"/>
                </a:solidFill>
                <a:latin typeface="Alegreya"/>
                <a:ea typeface="Alegreya"/>
                <a:cs typeface="Alegreya"/>
                <a:sym typeface="Alegreya"/>
              </a:rPr>
              <a:t>FOLFIRINOX*4-6 or Gemcitabine/albumin bound paclitaxel*4-6 then CCRT (36Gy in 2.4Gy per fraction or 45-54Gy in 1.8-2.0Gy per fraction concurrent with </a:t>
            </a:r>
            <a:r>
              <a:rPr lang="en-GB" sz="2000" dirty="0" err="1" smtClean="0">
                <a:solidFill>
                  <a:schemeClr val="dk1"/>
                </a:solidFill>
                <a:latin typeface="Alegreya"/>
                <a:ea typeface="Alegreya"/>
                <a:cs typeface="Alegreya"/>
                <a:sym typeface="Alegreya"/>
              </a:rPr>
              <a:t>Capecitabine</a:t>
            </a:r>
            <a:r>
              <a:rPr lang="en-GB" sz="2000" dirty="0" smtClean="0">
                <a:solidFill>
                  <a:schemeClr val="dk1"/>
                </a:solidFill>
                <a:latin typeface="Alegreya"/>
                <a:ea typeface="Alegreya"/>
                <a:cs typeface="Alegreya"/>
                <a:sym typeface="Alegreya"/>
              </a:rPr>
              <a:t> or 5-FU )</a:t>
            </a:r>
          </a:p>
        </p:txBody>
      </p:sp>
    </p:spTree>
    <p:extLst>
      <p:ext uri="{BB962C8B-B14F-4D97-AF65-F5344CB8AC3E}">
        <p14:creationId xmlns:p14="http://schemas.microsoft.com/office/powerpoint/2010/main" val="4176562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415600" y="375633"/>
            <a:ext cx="11360800" cy="763600"/>
          </a:xfrm>
          <a:prstGeom prst="rect">
            <a:avLst/>
          </a:prstGeom>
        </p:spPr>
        <p:txBody>
          <a:bodyPr spcFirstLastPara="1" wrap="square" lIns="121897" tIns="121897" rIns="121897" bIns="121897" anchor="t" anchorCtr="0">
            <a:noAutofit/>
          </a:bodyPr>
          <a:lstStyle/>
          <a:p>
            <a:pPr algn="l"/>
            <a:r>
              <a:rPr lang="en-GB" dirty="0" smtClean="0"/>
              <a:t>2018 </a:t>
            </a:r>
            <a:r>
              <a:rPr lang="en-GB" dirty="0" err="1" smtClean="0"/>
              <a:t>吳孟浩</a:t>
            </a:r>
            <a:r>
              <a:rPr lang="en-GB" dirty="0" smtClean="0"/>
              <a:t>  Pancreas</a:t>
            </a:r>
            <a:endParaRPr dirty="0"/>
          </a:p>
        </p:txBody>
      </p:sp>
      <p:sp>
        <p:nvSpPr>
          <p:cNvPr id="67" name="Google Shape;67;p15"/>
          <p:cNvSpPr txBox="1"/>
          <p:nvPr/>
        </p:nvSpPr>
        <p:spPr>
          <a:xfrm>
            <a:off x="748200" y="1237200"/>
            <a:ext cx="10695600" cy="5372000"/>
          </a:xfrm>
          <a:prstGeom prst="rect">
            <a:avLst/>
          </a:prstGeom>
          <a:noFill/>
          <a:ln>
            <a:noFill/>
          </a:ln>
        </p:spPr>
        <p:txBody>
          <a:bodyPr spcFirstLastPara="1" wrap="square" lIns="121897" tIns="121897" rIns="121897" bIns="121897" anchor="t" anchorCtr="0">
            <a:noAutofit/>
          </a:bodyPr>
          <a:lstStyle/>
          <a:p>
            <a:pPr marL="609585" indent="-440256">
              <a:lnSpc>
                <a:spcPct val="150000"/>
              </a:lnSpc>
              <a:buClr>
                <a:schemeClr val="dk1"/>
              </a:buClr>
              <a:buSzPts val="1600"/>
              <a:buFont typeface="Alegreya"/>
              <a:buChar char="●"/>
            </a:pPr>
            <a:r>
              <a:rPr lang="en-GB" sz="2100" dirty="0" smtClean="0">
                <a:solidFill>
                  <a:schemeClr val="dk1"/>
                </a:solidFill>
                <a:latin typeface="Alegreya"/>
                <a:ea typeface="Alegreya"/>
                <a:cs typeface="Alegreya"/>
                <a:sym typeface="Alegreya"/>
              </a:rPr>
              <a:t>Pre-OP </a:t>
            </a:r>
            <a:r>
              <a:rPr lang="en-GB" sz="2100" dirty="0" err="1">
                <a:solidFill>
                  <a:schemeClr val="dk1"/>
                </a:solidFill>
                <a:latin typeface="Alegreya"/>
                <a:ea typeface="Alegreya"/>
                <a:cs typeface="Alegreya"/>
                <a:sym typeface="Alegreya"/>
              </a:rPr>
              <a:t>CCRT目前角色</a:t>
            </a:r>
            <a:r>
              <a:rPr lang="en-GB" sz="2100" dirty="0">
                <a:solidFill>
                  <a:schemeClr val="dk1"/>
                </a:solidFill>
                <a:latin typeface="Alegreya"/>
                <a:ea typeface="Alegreya"/>
                <a:cs typeface="Alegreya"/>
                <a:sym typeface="Alegreya"/>
              </a:rPr>
              <a:t>? </a:t>
            </a:r>
            <a:r>
              <a:rPr lang="en-GB" sz="2100" dirty="0" err="1">
                <a:solidFill>
                  <a:schemeClr val="dk1"/>
                </a:solidFill>
                <a:latin typeface="Alegreya"/>
                <a:ea typeface="Alegreya"/>
                <a:cs typeface="Alegreya"/>
                <a:sym typeface="Alegreya"/>
              </a:rPr>
              <a:t>用的C</a:t>
            </a:r>
            <a:r>
              <a:rPr lang="en-GB" sz="2100" dirty="0">
                <a:solidFill>
                  <a:schemeClr val="dk1"/>
                </a:solidFill>
                <a:latin typeface="Alegreya"/>
                <a:ea typeface="Alegreya"/>
                <a:cs typeface="Alegreya"/>
                <a:sym typeface="Alegreya"/>
              </a:rPr>
              <a:t>/T regimen</a:t>
            </a:r>
            <a:r>
              <a:rPr lang="en-GB" sz="2100" dirty="0" smtClean="0">
                <a:solidFill>
                  <a:schemeClr val="dk1"/>
                </a:solidFill>
                <a:latin typeface="Alegreya"/>
                <a:ea typeface="Alegreya"/>
                <a:cs typeface="Alegreya"/>
                <a:sym typeface="Alegreya"/>
              </a:rPr>
              <a:t>?</a:t>
            </a:r>
          </a:p>
          <a:p>
            <a:pPr marL="1066785" lvl="1" indent="-440256">
              <a:lnSpc>
                <a:spcPct val="150000"/>
              </a:lnSpc>
              <a:buClr>
                <a:schemeClr val="dk1"/>
              </a:buClr>
              <a:buSzPts val="1600"/>
              <a:buFont typeface="Alegreya"/>
              <a:buChar char="●"/>
            </a:pPr>
            <a:r>
              <a:rPr lang="en-GB" sz="2100" dirty="0" smtClean="0">
                <a:solidFill>
                  <a:schemeClr val="dk1"/>
                </a:solidFill>
                <a:latin typeface="Alegreya"/>
                <a:ea typeface="Alegreya"/>
                <a:cs typeface="Alegreya"/>
                <a:sym typeface="Alegreya"/>
              </a:rPr>
              <a:t>NCCN: for </a:t>
            </a:r>
            <a:r>
              <a:rPr lang="en-GB" sz="2100" dirty="0" err="1" smtClean="0">
                <a:solidFill>
                  <a:schemeClr val="dk1"/>
                </a:solidFill>
                <a:latin typeface="Alegreya"/>
                <a:ea typeface="Alegreya"/>
                <a:cs typeface="Alegreya"/>
                <a:sym typeface="Alegreya"/>
              </a:rPr>
              <a:t>resectable</a:t>
            </a:r>
            <a:r>
              <a:rPr lang="en-GB" sz="2100" dirty="0" smtClean="0">
                <a:solidFill>
                  <a:schemeClr val="dk1"/>
                </a:solidFill>
                <a:latin typeface="Alegreya"/>
                <a:ea typeface="Alegreya"/>
                <a:cs typeface="Alegreya"/>
                <a:sym typeface="Alegreya"/>
              </a:rPr>
              <a:t>/borderline/</a:t>
            </a:r>
            <a:r>
              <a:rPr lang="en-GB" sz="2100" dirty="0" err="1" smtClean="0">
                <a:solidFill>
                  <a:schemeClr val="dk1"/>
                </a:solidFill>
                <a:latin typeface="Alegreya"/>
                <a:ea typeface="Alegreya"/>
                <a:cs typeface="Alegreya"/>
                <a:sym typeface="Alegreya"/>
              </a:rPr>
              <a:t>resectalbe</a:t>
            </a:r>
            <a:r>
              <a:rPr lang="en-GB" sz="2100" dirty="0" smtClean="0">
                <a:solidFill>
                  <a:schemeClr val="dk1"/>
                </a:solidFill>
                <a:latin typeface="Alegreya"/>
                <a:ea typeface="Alegreya"/>
                <a:cs typeface="Alegreya"/>
                <a:sym typeface="Alegreya"/>
              </a:rPr>
              <a:t>, Neoadjuvant therapy controversial, preferred FOLFIRINOX or Gemcitabine/</a:t>
            </a:r>
            <a:r>
              <a:rPr lang="en-GB" sz="2100" dirty="0" err="1" smtClean="0">
                <a:solidFill>
                  <a:schemeClr val="dk1"/>
                </a:solidFill>
                <a:latin typeface="Alegreya"/>
                <a:ea typeface="Alegreya"/>
                <a:cs typeface="Alegreya"/>
                <a:sym typeface="Alegreya"/>
              </a:rPr>
              <a:t>Abraxane</a:t>
            </a:r>
            <a:r>
              <a:rPr lang="en-GB" sz="2100" dirty="0">
                <a:solidFill>
                  <a:schemeClr val="dk1"/>
                </a:solidFill>
                <a:latin typeface="Alegreya"/>
                <a:ea typeface="Alegreya"/>
                <a:cs typeface="Alegreya"/>
                <a:sym typeface="Alegreya"/>
              </a:rPr>
              <a:t> </a:t>
            </a:r>
            <a:r>
              <a:rPr lang="en-GB" sz="2100" dirty="0" smtClean="0">
                <a:solidFill>
                  <a:schemeClr val="dk1"/>
                </a:solidFill>
                <a:latin typeface="Alegreya"/>
                <a:ea typeface="Alegreya"/>
                <a:cs typeface="Alegreya"/>
                <a:sym typeface="Alegreya"/>
              </a:rPr>
              <a:t>or Gemcitabine/</a:t>
            </a:r>
            <a:r>
              <a:rPr lang="en-GB" sz="2100" dirty="0" err="1" smtClean="0">
                <a:solidFill>
                  <a:schemeClr val="dk1"/>
                </a:solidFill>
                <a:latin typeface="Alegreya"/>
                <a:ea typeface="Alegreya"/>
                <a:cs typeface="Alegreya"/>
                <a:sym typeface="Alegreya"/>
              </a:rPr>
              <a:t>Taxotere</a:t>
            </a:r>
            <a:r>
              <a:rPr lang="en-GB" sz="2100" dirty="0" smtClean="0">
                <a:solidFill>
                  <a:schemeClr val="dk1"/>
                </a:solidFill>
                <a:latin typeface="Alegreya"/>
                <a:ea typeface="Alegreya"/>
                <a:cs typeface="Alegreya"/>
                <a:sym typeface="Alegreya"/>
              </a:rPr>
              <a:t>/</a:t>
            </a:r>
            <a:r>
              <a:rPr lang="en-GB" sz="2100" dirty="0" err="1" smtClean="0">
                <a:solidFill>
                  <a:schemeClr val="dk1"/>
                </a:solidFill>
                <a:latin typeface="Alegreya"/>
                <a:ea typeface="Alegreya"/>
                <a:cs typeface="Alegreya"/>
                <a:sym typeface="Alegreya"/>
              </a:rPr>
              <a:t>Xeloda</a:t>
            </a:r>
            <a:r>
              <a:rPr lang="en-GB" sz="2100" dirty="0" smtClean="0">
                <a:solidFill>
                  <a:schemeClr val="dk1"/>
                </a:solidFill>
                <a:latin typeface="Alegreya"/>
                <a:ea typeface="Alegreya"/>
                <a:cs typeface="Alegreya"/>
                <a:sym typeface="Alegreya"/>
              </a:rPr>
              <a:t> or Gemcitabine/</a:t>
            </a:r>
            <a:r>
              <a:rPr lang="en-GB" sz="2100" dirty="0" err="1" smtClean="0">
                <a:solidFill>
                  <a:schemeClr val="dk1"/>
                </a:solidFill>
                <a:latin typeface="Alegreya"/>
                <a:ea typeface="Alegreya"/>
                <a:cs typeface="Alegreya"/>
                <a:sym typeface="Alegreya"/>
              </a:rPr>
              <a:t>Cisplatin</a:t>
            </a:r>
            <a:r>
              <a:rPr lang="en-GB" sz="2100" dirty="0" smtClean="0">
                <a:solidFill>
                  <a:schemeClr val="dk1"/>
                </a:solidFill>
                <a:latin typeface="Alegreya"/>
                <a:ea typeface="Alegreya"/>
                <a:cs typeface="Alegreya"/>
                <a:sym typeface="Alegreya"/>
              </a:rPr>
              <a:t> then subsequent </a:t>
            </a:r>
            <a:r>
              <a:rPr lang="en-GB" sz="2100" dirty="0" err="1" smtClean="0">
                <a:solidFill>
                  <a:schemeClr val="dk1"/>
                </a:solidFill>
                <a:latin typeface="Alegreya"/>
                <a:ea typeface="Alegreya"/>
                <a:cs typeface="Alegreya"/>
                <a:sym typeface="Alegreya"/>
              </a:rPr>
              <a:t>chemoradiation</a:t>
            </a:r>
            <a:r>
              <a:rPr lang="en-GB" sz="2100" dirty="0">
                <a:solidFill>
                  <a:schemeClr val="dk1"/>
                </a:solidFill>
                <a:latin typeface="Alegreya"/>
                <a:ea typeface="Alegreya"/>
                <a:cs typeface="Alegreya"/>
                <a:sym typeface="Alegreya"/>
              </a:rPr>
              <a:t> </a:t>
            </a:r>
            <a:r>
              <a:rPr lang="en-GB" sz="2100" dirty="0" smtClean="0">
                <a:solidFill>
                  <a:schemeClr val="dk1"/>
                </a:solidFill>
                <a:latin typeface="Alegreya"/>
                <a:ea typeface="Alegreya"/>
                <a:cs typeface="Alegreya"/>
                <a:sym typeface="Alegreya"/>
              </a:rPr>
              <a:t>with 5</a:t>
            </a:r>
            <a:r>
              <a:rPr lang="en-US" altLang="zh-TW" sz="2100" dirty="0" smtClean="0">
                <a:solidFill>
                  <a:schemeClr val="dk1"/>
                </a:solidFill>
                <a:latin typeface="Alegreya"/>
                <a:ea typeface="Alegreya"/>
                <a:cs typeface="Alegreya"/>
                <a:sym typeface="Alegreya"/>
              </a:rPr>
              <a:t>FU</a:t>
            </a:r>
            <a:r>
              <a:rPr lang="en-GB" sz="2100" dirty="0" smtClean="0">
                <a:solidFill>
                  <a:schemeClr val="dk1"/>
                </a:solidFill>
                <a:latin typeface="Alegreya"/>
                <a:ea typeface="Alegreya"/>
                <a:cs typeface="Alegreya"/>
                <a:sym typeface="Alegreya"/>
              </a:rPr>
              <a:t> </a:t>
            </a:r>
          </a:p>
          <a:p>
            <a:pPr marL="609585" indent="-440256">
              <a:lnSpc>
                <a:spcPct val="150000"/>
              </a:lnSpc>
              <a:buClr>
                <a:schemeClr val="dk1"/>
              </a:buClr>
              <a:buSzPts val="1600"/>
              <a:buFont typeface="Alegreya"/>
              <a:buChar char="●"/>
            </a:pPr>
            <a:r>
              <a:rPr lang="en-GB" sz="2100" dirty="0" smtClean="0">
                <a:solidFill>
                  <a:schemeClr val="dk1"/>
                </a:solidFill>
                <a:latin typeface="Alegreya"/>
                <a:ea typeface="Alegreya"/>
                <a:cs typeface="Alegreya"/>
                <a:sym typeface="Alegreya"/>
              </a:rPr>
              <a:t>Pre-OP </a:t>
            </a:r>
            <a:r>
              <a:rPr lang="en-GB" sz="2100" dirty="0">
                <a:solidFill>
                  <a:schemeClr val="dk1"/>
                </a:solidFill>
                <a:latin typeface="Alegreya"/>
                <a:ea typeface="Alegreya"/>
                <a:cs typeface="Alegreya"/>
                <a:sym typeface="Alegreya"/>
              </a:rPr>
              <a:t>CCRT 和 Post-OP </a:t>
            </a:r>
            <a:r>
              <a:rPr lang="en-GB" sz="2100" dirty="0" err="1">
                <a:solidFill>
                  <a:schemeClr val="dk1"/>
                </a:solidFill>
                <a:latin typeface="Alegreya"/>
                <a:ea typeface="Alegreya"/>
                <a:cs typeface="Alegreya"/>
                <a:sym typeface="Alegreya"/>
              </a:rPr>
              <a:t>CCRT的</a:t>
            </a:r>
            <a:r>
              <a:rPr lang="en-GB" sz="2100" dirty="0">
                <a:solidFill>
                  <a:schemeClr val="dk1"/>
                </a:solidFill>
                <a:latin typeface="Alegreya"/>
                <a:ea typeface="Alegreya"/>
                <a:cs typeface="Alegreya"/>
                <a:sym typeface="Alegreya"/>
              </a:rPr>
              <a:t> field design </a:t>
            </a:r>
            <a:r>
              <a:rPr lang="en-GB" sz="2100" dirty="0" err="1">
                <a:solidFill>
                  <a:schemeClr val="dk1"/>
                </a:solidFill>
                <a:latin typeface="Alegreya"/>
                <a:ea typeface="Alegreya"/>
                <a:cs typeface="Alegreya"/>
                <a:sym typeface="Alegreya"/>
              </a:rPr>
              <a:t>有無不同</a:t>
            </a:r>
            <a:r>
              <a:rPr lang="en-GB" sz="2100" dirty="0" smtClean="0">
                <a:solidFill>
                  <a:schemeClr val="dk1"/>
                </a:solidFill>
                <a:latin typeface="Alegreya"/>
                <a:ea typeface="Alegreya"/>
                <a:cs typeface="Alegreya"/>
                <a:sym typeface="Alegreya"/>
              </a:rPr>
              <a:t>?</a:t>
            </a:r>
          </a:p>
          <a:p>
            <a:pPr marL="1066785" lvl="1" indent="-440256">
              <a:lnSpc>
                <a:spcPct val="150000"/>
              </a:lnSpc>
              <a:buClr>
                <a:schemeClr val="dk1"/>
              </a:buClr>
              <a:buSzPts val="1600"/>
              <a:buFont typeface="Alegreya"/>
              <a:buChar char="●"/>
            </a:pPr>
            <a:r>
              <a:rPr lang="en-US" altLang="zh-TW" sz="2000" dirty="0"/>
              <a:t>Adjuvant RT: tumor bed, anastomosis, adjacent LN basin; 45 </a:t>
            </a:r>
            <a:r>
              <a:rPr lang="en-US" altLang="zh-TW" sz="2000" dirty="0" err="1"/>
              <a:t>Gy</a:t>
            </a:r>
            <a:r>
              <a:rPr lang="en-US" altLang="zh-TW" sz="2000" dirty="0"/>
              <a:t>, boost tumor bed and anastomosis to 50-54 </a:t>
            </a:r>
            <a:r>
              <a:rPr lang="en-US" altLang="zh-TW" sz="2000" dirty="0" err="1"/>
              <a:t>Gy</a:t>
            </a:r>
            <a:endParaRPr lang="en-US" altLang="zh-TW" sz="2000" dirty="0"/>
          </a:p>
          <a:p>
            <a:pPr marL="1066785" lvl="1" indent="-440256">
              <a:lnSpc>
                <a:spcPct val="150000"/>
              </a:lnSpc>
              <a:buClr>
                <a:schemeClr val="dk1"/>
              </a:buClr>
              <a:buSzPts val="1600"/>
              <a:buFont typeface="Alegreya"/>
              <a:buChar char="●"/>
            </a:pPr>
            <a:r>
              <a:rPr lang="en-US" altLang="zh-TW" sz="2000" dirty="0" err="1" smtClean="0"/>
              <a:t>Neoadjuvant</a:t>
            </a:r>
            <a:r>
              <a:rPr lang="en-US" altLang="zh-TW" sz="2000" dirty="0" smtClean="0"/>
              <a:t>: ENI controversial, if ENI(+), should concurrent with 5-FU or </a:t>
            </a:r>
            <a:r>
              <a:rPr lang="en-US" altLang="zh-TW" sz="2000" dirty="0" err="1" smtClean="0"/>
              <a:t>Gemzar</a:t>
            </a:r>
            <a:r>
              <a:rPr lang="en-US" altLang="zh-TW" sz="2000" dirty="0" smtClean="0"/>
              <a:t> based chemo-regimen</a:t>
            </a:r>
          </a:p>
          <a:p>
            <a:pPr marL="1066785" lvl="1" indent="-440256">
              <a:lnSpc>
                <a:spcPct val="150000"/>
              </a:lnSpc>
              <a:buClr>
                <a:schemeClr val="dk1"/>
              </a:buClr>
              <a:buSzPts val="1600"/>
              <a:buFont typeface="Alegreya"/>
              <a:buChar char="●"/>
            </a:pPr>
            <a:endParaRPr sz="2100" dirty="0">
              <a:solidFill>
                <a:schemeClr val="dk1"/>
              </a:solidFill>
              <a:latin typeface="Alegreya"/>
              <a:ea typeface="Alegreya"/>
              <a:cs typeface="Alegreya"/>
              <a:sym typeface="Alegreya"/>
            </a:endParaRPr>
          </a:p>
        </p:txBody>
      </p:sp>
    </p:spTree>
    <p:extLst>
      <p:ext uri="{BB962C8B-B14F-4D97-AF65-F5344CB8AC3E}">
        <p14:creationId xmlns:p14="http://schemas.microsoft.com/office/powerpoint/2010/main" val="3277996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Autofit/>
          </a:bodyPr>
          <a:lstStyle/>
          <a:p>
            <a:pPr algn="l"/>
            <a:r>
              <a:rPr lang="en-GB" altLang="zh-TW" dirty="0"/>
              <a:t>2018 </a:t>
            </a:r>
            <a:r>
              <a:rPr lang="en-GB" altLang="zh-TW" dirty="0" err="1"/>
              <a:t>吳孟浩</a:t>
            </a:r>
            <a:r>
              <a:rPr lang="en-GB" altLang="zh-TW" dirty="0"/>
              <a:t>  Pancreas</a:t>
            </a:r>
            <a:endParaRPr dirty="0"/>
          </a:p>
        </p:txBody>
      </p:sp>
      <p:sp>
        <p:nvSpPr>
          <p:cNvPr id="73" name="Google Shape;73;p16"/>
          <p:cNvSpPr txBox="1"/>
          <p:nvPr/>
        </p:nvSpPr>
        <p:spPr>
          <a:xfrm>
            <a:off x="586667" y="1338606"/>
            <a:ext cx="11404228" cy="5165827"/>
          </a:xfrm>
          <a:prstGeom prst="rect">
            <a:avLst/>
          </a:prstGeom>
          <a:noFill/>
          <a:ln>
            <a:noFill/>
          </a:ln>
        </p:spPr>
        <p:txBody>
          <a:bodyPr spcFirstLastPara="1" wrap="square" lIns="121897" tIns="121897" rIns="121897" bIns="121897" anchor="t" anchorCtr="0">
            <a:noAutofit/>
          </a:bodyPr>
          <a:lstStyle/>
          <a:p>
            <a:pPr marL="609585" indent="-440256">
              <a:lnSpc>
                <a:spcPct val="150000"/>
              </a:lnSpc>
              <a:buClr>
                <a:schemeClr val="dk1"/>
              </a:buClr>
              <a:buSzPts val="1600"/>
              <a:buFont typeface="Alegreya"/>
              <a:buChar char="●"/>
            </a:pPr>
            <a:r>
              <a:rPr lang="en-GB" altLang="zh-TW" sz="2000" dirty="0" err="1" smtClean="0">
                <a:solidFill>
                  <a:schemeClr val="dk1"/>
                </a:solidFill>
                <a:latin typeface="Alegreya"/>
                <a:ea typeface="Alegreya"/>
                <a:cs typeface="Alegreya"/>
                <a:sym typeface="Alegreya"/>
              </a:rPr>
              <a:t>兩個臨床情況</a:t>
            </a:r>
            <a:r>
              <a:rPr lang="en-GB" altLang="zh-TW" sz="2000" dirty="0" err="1">
                <a:solidFill>
                  <a:schemeClr val="dk1"/>
                </a:solidFill>
                <a:latin typeface="Alegreya"/>
                <a:ea typeface="Alegreya"/>
                <a:cs typeface="Alegreya"/>
                <a:sym typeface="Alegreya"/>
              </a:rPr>
              <a:t>，第一個沒有淋巴轉移，第二個有淋巴轉移跟</a:t>
            </a:r>
            <a:r>
              <a:rPr lang="en-GB" altLang="zh-TW" sz="2000" dirty="0">
                <a:solidFill>
                  <a:schemeClr val="dk1"/>
                </a:solidFill>
                <a:latin typeface="Alegreya"/>
                <a:ea typeface="Alegreya"/>
                <a:cs typeface="Alegreya"/>
                <a:sym typeface="Alegreya"/>
              </a:rPr>
              <a:t> distant metastasis </a:t>
            </a:r>
            <a:r>
              <a:rPr lang="en-GB" altLang="zh-TW" sz="2000" dirty="0" err="1">
                <a:solidFill>
                  <a:schemeClr val="dk1"/>
                </a:solidFill>
                <a:latin typeface="Alegreya"/>
                <a:ea typeface="Alegreya"/>
                <a:cs typeface="Alegreya"/>
                <a:sym typeface="Alegreya"/>
              </a:rPr>
              <a:t>來到你的門診，你的</a:t>
            </a:r>
            <a:r>
              <a:rPr lang="en-GB" altLang="zh-TW" sz="2000" dirty="0">
                <a:solidFill>
                  <a:schemeClr val="dk1"/>
                </a:solidFill>
                <a:latin typeface="Alegreya"/>
                <a:ea typeface="Alegreya"/>
                <a:cs typeface="Alegreya"/>
                <a:sym typeface="Alegreya"/>
              </a:rPr>
              <a:t> RT </a:t>
            </a:r>
            <a:r>
              <a:rPr lang="en-GB" altLang="zh-TW" sz="2000" dirty="0" err="1">
                <a:solidFill>
                  <a:schemeClr val="dk1"/>
                </a:solidFill>
                <a:latin typeface="Alegreya"/>
                <a:ea typeface="Alegreya"/>
                <a:cs typeface="Alegreya"/>
                <a:sym typeface="Alegreya"/>
              </a:rPr>
              <a:t>要怎麼規劃</a:t>
            </a:r>
            <a:r>
              <a:rPr lang="en-GB" altLang="zh-TW" sz="2000" dirty="0">
                <a:solidFill>
                  <a:schemeClr val="dk1"/>
                </a:solidFill>
                <a:latin typeface="Alegreya"/>
                <a:ea typeface="Alegreya"/>
                <a:cs typeface="Alegreya"/>
                <a:sym typeface="Alegreya"/>
              </a:rPr>
              <a:t>?  </a:t>
            </a:r>
            <a:r>
              <a:rPr lang="en-GB" altLang="zh-TW" sz="2000" dirty="0" err="1">
                <a:solidFill>
                  <a:schemeClr val="dk1"/>
                </a:solidFill>
                <a:latin typeface="Alegreya"/>
                <a:ea typeface="Alegreya"/>
                <a:cs typeface="Alegreya"/>
                <a:sym typeface="Alegreya"/>
              </a:rPr>
              <a:t>有什麼客觀指標評估要積極治療還是</a:t>
            </a:r>
            <a:r>
              <a:rPr lang="en-GB" altLang="zh-TW" sz="2000" dirty="0">
                <a:solidFill>
                  <a:schemeClr val="dk1"/>
                </a:solidFill>
                <a:latin typeface="Alegreya"/>
                <a:ea typeface="Alegreya"/>
                <a:cs typeface="Alegreya"/>
                <a:sym typeface="Alegreya"/>
              </a:rPr>
              <a:t> palliation</a:t>
            </a:r>
            <a:r>
              <a:rPr lang="en-GB" altLang="zh-TW" sz="2000" dirty="0" smtClean="0">
                <a:solidFill>
                  <a:schemeClr val="dk1"/>
                </a:solidFill>
                <a:latin typeface="Alegreya"/>
                <a:ea typeface="Alegreya"/>
                <a:cs typeface="Alegreya"/>
                <a:sym typeface="Alegreya"/>
              </a:rPr>
              <a:t>?</a:t>
            </a:r>
          </a:p>
          <a:p>
            <a:pPr marL="1066785" lvl="1" indent="-440256">
              <a:lnSpc>
                <a:spcPct val="150000"/>
              </a:lnSpc>
              <a:buClr>
                <a:schemeClr val="dk1"/>
              </a:buClr>
              <a:buSzPts val="1600"/>
              <a:buFont typeface="Alegreya"/>
              <a:buChar char="●"/>
            </a:pPr>
            <a:r>
              <a:rPr lang="zh-TW" altLang="en-US" sz="2000" dirty="0">
                <a:solidFill>
                  <a:schemeClr val="dk1"/>
                </a:solidFill>
                <a:latin typeface="Alegreya"/>
                <a:ea typeface="Alegreya"/>
                <a:cs typeface="Alegreya"/>
                <a:sym typeface="Alegreya"/>
              </a:rPr>
              <a:t>大</a:t>
            </a:r>
            <a:r>
              <a:rPr lang="zh-TW" altLang="en-US" sz="2000" dirty="0" smtClean="0">
                <a:solidFill>
                  <a:schemeClr val="dk1"/>
                </a:solidFill>
                <a:latin typeface="Alegreya"/>
                <a:ea typeface="Alegreya"/>
                <a:cs typeface="Alegreya"/>
                <a:sym typeface="Alegreya"/>
              </a:rPr>
              <a:t>原則</a:t>
            </a:r>
            <a:r>
              <a:rPr lang="en-US" altLang="zh-TW" sz="2000" dirty="0" smtClean="0">
                <a:solidFill>
                  <a:schemeClr val="dk1"/>
                </a:solidFill>
                <a:latin typeface="Alegreya"/>
                <a:ea typeface="Alegreya"/>
                <a:cs typeface="Alegreya"/>
                <a:sym typeface="Alegreya"/>
              </a:rPr>
              <a:t>:</a:t>
            </a:r>
          </a:p>
          <a:p>
            <a:pPr marL="1523985" lvl="2" indent="-440256">
              <a:lnSpc>
                <a:spcPct val="150000"/>
              </a:lnSpc>
              <a:buClr>
                <a:schemeClr val="dk1"/>
              </a:buClr>
              <a:buSzPts val="1600"/>
              <a:buFont typeface="Alegreya"/>
              <a:buChar char="●"/>
            </a:pPr>
            <a:r>
              <a:rPr lang="zh-TW" altLang="zh-TW" sz="1200" dirty="0" smtClean="0"/>
              <a:t>可以</a:t>
            </a:r>
            <a:r>
              <a:rPr lang="zh-TW" altLang="zh-TW" sz="1200" dirty="0"/>
              <a:t>開刀的就開，開完做</a:t>
            </a:r>
            <a:r>
              <a:rPr lang="en-US" altLang="zh-TW" sz="1200" dirty="0"/>
              <a:t>chemo, margin (+) or LN (+)</a:t>
            </a:r>
            <a:r>
              <a:rPr lang="zh-TW" altLang="zh-TW" sz="1200" dirty="0"/>
              <a:t>做</a:t>
            </a:r>
            <a:r>
              <a:rPr lang="en-US" altLang="zh-TW" sz="1200" dirty="0"/>
              <a:t>CCRT (5-FU, </a:t>
            </a:r>
            <a:r>
              <a:rPr lang="en-US" altLang="zh-TW" sz="1200" dirty="0" err="1"/>
              <a:t>Xeloda</a:t>
            </a:r>
            <a:r>
              <a:rPr lang="en-US" altLang="zh-TW" sz="1200" dirty="0"/>
              <a:t>, </a:t>
            </a:r>
            <a:r>
              <a:rPr lang="en-US" altLang="zh-TW" sz="1200" dirty="0" err="1"/>
              <a:t>Gemzar</a:t>
            </a:r>
            <a:r>
              <a:rPr lang="en-US" altLang="zh-TW" sz="1200" dirty="0" smtClean="0"/>
              <a:t>)</a:t>
            </a:r>
          </a:p>
          <a:p>
            <a:pPr marL="1523985" lvl="2" indent="-440256">
              <a:lnSpc>
                <a:spcPct val="150000"/>
              </a:lnSpc>
              <a:buClr>
                <a:schemeClr val="dk1"/>
              </a:buClr>
              <a:buSzPts val="1600"/>
              <a:buFont typeface="Alegreya"/>
              <a:buChar char="●"/>
            </a:pPr>
            <a:r>
              <a:rPr lang="en-US" altLang="zh-TW" sz="1200" dirty="0"/>
              <a:t>Borderline </a:t>
            </a:r>
            <a:r>
              <a:rPr lang="en-US" altLang="zh-TW" sz="1200" dirty="0" err="1"/>
              <a:t>resectable</a:t>
            </a:r>
            <a:r>
              <a:rPr lang="zh-TW" altLang="zh-TW" sz="1200" dirty="0"/>
              <a:t>就先做</a:t>
            </a:r>
            <a:r>
              <a:rPr lang="en-US" altLang="zh-TW" sz="1200" dirty="0" err="1"/>
              <a:t>neoadjuvant</a:t>
            </a:r>
            <a:r>
              <a:rPr lang="en-US" altLang="zh-TW" sz="1200" dirty="0"/>
              <a:t> therapy</a:t>
            </a:r>
            <a:r>
              <a:rPr lang="zh-TW" altLang="zh-TW" sz="1200" dirty="0"/>
              <a:t>，開完繼續做</a:t>
            </a:r>
            <a:r>
              <a:rPr lang="en-US" altLang="zh-TW" sz="1200" dirty="0" smtClean="0"/>
              <a:t>chemo</a:t>
            </a:r>
          </a:p>
          <a:p>
            <a:pPr marL="1523985" lvl="2" indent="-440256">
              <a:lnSpc>
                <a:spcPct val="150000"/>
              </a:lnSpc>
              <a:buClr>
                <a:schemeClr val="dk1"/>
              </a:buClr>
              <a:buSzPts val="1600"/>
              <a:buFont typeface="Alegreya"/>
              <a:buChar char="●"/>
            </a:pPr>
            <a:r>
              <a:rPr lang="en-US" altLang="zh-TW" sz="1200" dirty="0"/>
              <a:t>Locally advanced</a:t>
            </a:r>
            <a:r>
              <a:rPr lang="zh-TW" altLang="zh-TW" sz="1200" dirty="0"/>
              <a:t>可做</a:t>
            </a:r>
            <a:r>
              <a:rPr lang="en-US" altLang="zh-TW" sz="1200" dirty="0"/>
              <a:t>chemo</a:t>
            </a:r>
            <a:r>
              <a:rPr lang="zh-TW" altLang="zh-TW" sz="1200" dirty="0"/>
              <a:t>或</a:t>
            </a:r>
            <a:r>
              <a:rPr lang="en-US" altLang="zh-TW" sz="1200" dirty="0" smtClean="0"/>
              <a:t>CCRT</a:t>
            </a:r>
          </a:p>
          <a:p>
            <a:pPr marL="1523985" lvl="2" indent="-440256">
              <a:lnSpc>
                <a:spcPct val="150000"/>
              </a:lnSpc>
              <a:buClr>
                <a:schemeClr val="dk1"/>
              </a:buClr>
              <a:buSzPts val="1600"/>
              <a:buFont typeface="Alegreya"/>
              <a:buChar char="●"/>
            </a:pPr>
            <a:r>
              <a:rPr lang="en-US" altLang="zh-TW" sz="1200" dirty="0"/>
              <a:t>Metastasis</a:t>
            </a:r>
            <a:r>
              <a:rPr lang="zh-TW" altLang="zh-TW" sz="1200" dirty="0"/>
              <a:t>做</a:t>
            </a:r>
            <a:r>
              <a:rPr lang="en-US" altLang="zh-TW" sz="1200" dirty="0"/>
              <a:t>chemo, palliative RT, supportive care</a:t>
            </a:r>
            <a:endParaRPr lang="en-GB" sz="1200" dirty="0" smtClean="0">
              <a:solidFill>
                <a:schemeClr val="dk1"/>
              </a:solidFill>
              <a:latin typeface="Alegreya"/>
              <a:ea typeface="Alegreya"/>
              <a:cs typeface="Alegreya"/>
              <a:sym typeface="Alegreya"/>
            </a:endParaRPr>
          </a:p>
          <a:p>
            <a:pPr marL="1066785" lvl="1" indent="-440256">
              <a:lnSpc>
                <a:spcPct val="150000"/>
              </a:lnSpc>
              <a:buClr>
                <a:schemeClr val="dk1"/>
              </a:buClr>
              <a:buSzPts val="1600"/>
              <a:buFont typeface="Alegreya"/>
              <a:buChar char="●"/>
            </a:pPr>
            <a:r>
              <a:rPr lang="en-GB" sz="2000" dirty="0" smtClean="0">
                <a:solidFill>
                  <a:schemeClr val="dk1"/>
                </a:solidFill>
                <a:latin typeface="Alegreya"/>
                <a:ea typeface="Alegreya"/>
                <a:cs typeface="Alegreya"/>
                <a:sym typeface="Alegreya"/>
              </a:rPr>
              <a:t>N0M0 -&gt; </a:t>
            </a:r>
            <a:r>
              <a:rPr lang="en-GB" sz="2000" dirty="0" err="1" smtClean="0">
                <a:solidFill>
                  <a:schemeClr val="dk1"/>
                </a:solidFill>
                <a:latin typeface="Alegreya"/>
                <a:ea typeface="Alegreya"/>
                <a:cs typeface="Alegreya"/>
                <a:sym typeface="Alegreya"/>
              </a:rPr>
              <a:t>resectability</a:t>
            </a:r>
            <a:r>
              <a:rPr lang="en-GB" sz="2000" dirty="0" smtClean="0">
                <a:solidFill>
                  <a:schemeClr val="dk1"/>
                </a:solidFill>
                <a:latin typeface="Alegreya"/>
                <a:ea typeface="Alegreya"/>
                <a:cs typeface="Alegreya"/>
                <a:sym typeface="Alegreya"/>
              </a:rPr>
              <a:t> -&gt; ...</a:t>
            </a:r>
          </a:p>
          <a:p>
            <a:pPr marL="1066785" lvl="1" indent="-440256">
              <a:lnSpc>
                <a:spcPct val="150000"/>
              </a:lnSpc>
              <a:buClr>
                <a:schemeClr val="dk1"/>
              </a:buClr>
              <a:buSzPts val="1600"/>
              <a:buFont typeface="Alegreya"/>
              <a:buChar char="●"/>
            </a:pPr>
            <a:r>
              <a:rPr lang="en-GB" sz="2000" dirty="0" smtClean="0">
                <a:solidFill>
                  <a:schemeClr val="dk1"/>
                </a:solidFill>
                <a:latin typeface="Alegreya"/>
                <a:ea typeface="Alegreya"/>
                <a:cs typeface="Alegreya"/>
                <a:sym typeface="Alegreya"/>
              </a:rPr>
              <a:t>N+M+ -&gt; </a:t>
            </a:r>
            <a:r>
              <a:rPr lang="en-GB" sz="2000" dirty="0" err="1" smtClean="0">
                <a:solidFill>
                  <a:schemeClr val="dk1"/>
                </a:solidFill>
                <a:latin typeface="Alegreya"/>
                <a:ea typeface="Alegreya"/>
                <a:cs typeface="Alegreya"/>
                <a:sym typeface="Alegreya"/>
              </a:rPr>
              <a:t>Perfomance</a:t>
            </a:r>
            <a:r>
              <a:rPr lang="en-GB" sz="2000" dirty="0" smtClean="0">
                <a:solidFill>
                  <a:schemeClr val="dk1"/>
                </a:solidFill>
                <a:latin typeface="Alegreya"/>
                <a:ea typeface="Alegreya"/>
                <a:cs typeface="Alegreya"/>
                <a:sym typeface="Alegreya"/>
              </a:rPr>
              <a:t> -&gt; If good, consider clinical trial or chemotherapy; if not good, palliative RT, supportive care or single agent chemotherapy </a:t>
            </a:r>
          </a:p>
          <a:p>
            <a:pPr marL="609585" indent="-440256">
              <a:lnSpc>
                <a:spcPct val="150000"/>
              </a:lnSpc>
              <a:buClr>
                <a:schemeClr val="dk1"/>
              </a:buClr>
              <a:buSzPts val="1600"/>
              <a:buFont typeface="Alegreya"/>
              <a:buChar char="●"/>
            </a:pPr>
            <a:r>
              <a:rPr lang="en-GB" sz="2000" dirty="0" err="1" smtClean="0">
                <a:solidFill>
                  <a:schemeClr val="dk1"/>
                </a:solidFill>
                <a:latin typeface="Alegreya"/>
                <a:ea typeface="Alegreya"/>
                <a:cs typeface="Alegreya"/>
                <a:sym typeface="Alegreya"/>
              </a:rPr>
              <a:t>有哪些因素會影響預後</a:t>
            </a:r>
            <a:r>
              <a:rPr lang="en-GB" sz="2000" dirty="0">
                <a:solidFill>
                  <a:schemeClr val="dk1"/>
                </a:solidFill>
                <a:latin typeface="Alegreya"/>
                <a:ea typeface="Alegreya"/>
                <a:cs typeface="Alegreya"/>
                <a:sym typeface="Alegreya"/>
              </a:rPr>
              <a:t>? </a:t>
            </a:r>
            <a:r>
              <a:rPr lang="en-GB" sz="2000" dirty="0" err="1">
                <a:solidFill>
                  <a:schemeClr val="dk1"/>
                </a:solidFill>
                <a:latin typeface="Alegreya"/>
                <a:ea typeface="Alegreya"/>
                <a:cs typeface="Alegreya"/>
                <a:sym typeface="Alegreya"/>
              </a:rPr>
              <a:t>包含抽血指數等，除了CA</a:t>
            </a:r>
            <a:r>
              <a:rPr lang="en-GB" sz="2000" dirty="0">
                <a:solidFill>
                  <a:schemeClr val="dk1"/>
                </a:solidFill>
                <a:latin typeface="Alegreya"/>
                <a:ea typeface="Alegreya"/>
                <a:cs typeface="Alegreya"/>
                <a:sym typeface="Alegreya"/>
              </a:rPr>
              <a:t> 199外還有哪些? </a:t>
            </a:r>
            <a:r>
              <a:rPr lang="en-GB" sz="2000" dirty="0" err="1">
                <a:solidFill>
                  <a:schemeClr val="dk1"/>
                </a:solidFill>
                <a:latin typeface="Alegreya"/>
                <a:ea typeface="Alegreya"/>
                <a:cs typeface="Alegreya"/>
                <a:sym typeface="Alegreya"/>
              </a:rPr>
              <a:t>Jundice</a:t>
            </a:r>
            <a:r>
              <a:rPr lang="en-GB" sz="2000" dirty="0">
                <a:solidFill>
                  <a:schemeClr val="dk1"/>
                </a:solidFill>
                <a:latin typeface="Alegreya"/>
                <a:ea typeface="Alegreya"/>
                <a:cs typeface="Alegreya"/>
                <a:sym typeface="Alegreya"/>
              </a:rPr>
              <a:t>? Performance? Weight loss</a:t>
            </a:r>
            <a:r>
              <a:rPr lang="en-GB" sz="2000" dirty="0" smtClean="0">
                <a:solidFill>
                  <a:schemeClr val="dk1"/>
                </a:solidFill>
                <a:latin typeface="Alegreya"/>
                <a:ea typeface="Alegreya"/>
                <a:cs typeface="Alegreya"/>
                <a:sym typeface="Alegreya"/>
              </a:rPr>
              <a:t>?</a:t>
            </a:r>
          </a:p>
          <a:p>
            <a:pPr marL="1066785" lvl="1" indent="-440256">
              <a:lnSpc>
                <a:spcPct val="150000"/>
              </a:lnSpc>
              <a:buClr>
                <a:schemeClr val="dk1"/>
              </a:buClr>
              <a:buSzPts val="1600"/>
              <a:buFont typeface="Alegreya"/>
              <a:buChar char="●"/>
            </a:pPr>
            <a:r>
              <a:rPr lang="en-GB" sz="2000" dirty="0" smtClean="0">
                <a:solidFill>
                  <a:schemeClr val="dk1"/>
                </a:solidFill>
                <a:latin typeface="Alegreya"/>
                <a:ea typeface="Alegreya"/>
                <a:cs typeface="Alegreya"/>
                <a:sym typeface="Alegreya"/>
              </a:rPr>
              <a:t>Stage, </a:t>
            </a:r>
            <a:r>
              <a:rPr lang="en-GB" altLang="zh-TW" sz="2000" dirty="0" err="1">
                <a:solidFill>
                  <a:schemeClr val="dk1"/>
                </a:solidFill>
                <a:latin typeface="Alegreya"/>
                <a:ea typeface="Alegreya"/>
                <a:cs typeface="Alegreya"/>
                <a:sym typeface="Alegreya"/>
              </a:rPr>
              <a:t>Tumor</a:t>
            </a:r>
            <a:r>
              <a:rPr lang="en-GB" altLang="zh-TW" sz="2000" dirty="0">
                <a:solidFill>
                  <a:schemeClr val="dk1"/>
                </a:solidFill>
                <a:latin typeface="Alegreya"/>
                <a:ea typeface="Alegreya"/>
                <a:cs typeface="Alegreya"/>
                <a:sym typeface="Alegreya"/>
              </a:rPr>
              <a:t> size, LN, </a:t>
            </a:r>
            <a:r>
              <a:rPr lang="en-GB" sz="2000" dirty="0" smtClean="0">
                <a:solidFill>
                  <a:schemeClr val="dk1"/>
                </a:solidFill>
                <a:latin typeface="Alegreya"/>
                <a:ea typeface="Alegreya"/>
                <a:cs typeface="Alegreya"/>
                <a:sym typeface="Alegreya"/>
              </a:rPr>
              <a:t>Grading, Margin status, LVI, elevated pre- and post-OP CA19-9 </a:t>
            </a:r>
          </a:p>
        </p:txBody>
      </p:sp>
    </p:spTree>
    <p:extLst>
      <p:ext uri="{BB962C8B-B14F-4D97-AF65-F5344CB8AC3E}">
        <p14:creationId xmlns:p14="http://schemas.microsoft.com/office/powerpoint/2010/main" val="2072124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Autofit/>
          </a:bodyPr>
          <a:lstStyle/>
          <a:p>
            <a:pPr algn="l"/>
            <a:r>
              <a:rPr lang="en-GB" altLang="zh-TW" dirty="0"/>
              <a:t>2018 </a:t>
            </a:r>
            <a:r>
              <a:rPr lang="en-GB" altLang="zh-TW" dirty="0" err="1"/>
              <a:t>吳孟浩</a:t>
            </a:r>
            <a:r>
              <a:rPr lang="en-GB" altLang="zh-TW" dirty="0"/>
              <a:t>  Pancreas</a:t>
            </a:r>
            <a:endParaRPr dirty="0"/>
          </a:p>
        </p:txBody>
      </p:sp>
      <p:sp>
        <p:nvSpPr>
          <p:cNvPr id="79" name="Google Shape;79;p17"/>
          <p:cNvSpPr txBox="1"/>
          <p:nvPr/>
        </p:nvSpPr>
        <p:spPr>
          <a:xfrm>
            <a:off x="586667" y="1338606"/>
            <a:ext cx="10695600" cy="5196927"/>
          </a:xfrm>
          <a:prstGeom prst="rect">
            <a:avLst/>
          </a:prstGeom>
          <a:noFill/>
          <a:ln>
            <a:noFill/>
          </a:ln>
        </p:spPr>
        <p:txBody>
          <a:bodyPr spcFirstLastPara="1" wrap="square" lIns="121897" tIns="121897" rIns="121897" bIns="121897" anchor="t" anchorCtr="0">
            <a:noAutofit/>
          </a:bodyPr>
          <a:lstStyle/>
          <a:p>
            <a:pPr marL="609585" indent="-440256">
              <a:lnSpc>
                <a:spcPct val="150000"/>
              </a:lnSpc>
              <a:buClr>
                <a:schemeClr val="dk1"/>
              </a:buClr>
              <a:buSzPts val="1600"/>
              <a:buFont typeface="Alegreya"/>
              <a:buChar char="●"/>
            </a:pPr>
            <a:r>
              <a:rPr lang="en-GB" altLang="zh-TW" sz="2400" dirty="0">
                <a:solidFill>
                  <a:schemeClr val="dk1"/>
                </a:solidFill>
                <a:latin typeface="Alegreya"/>
                <a:ea typeface="Alegreya"/>
                <a:cs typeface="Alegreya"/>
                <a:sym typeface="Alegreya"/>
              </a:rPr>
              <a:t>SBRT </a:t>
            </a:r>
            <a:r>
              <a:rPr lang="zh-TW" altLang="en-US" sz="2400" dirty="0">
                <a:solidFill>
                  <a:schemeClr val="dk1"/>
                </a:solidFill>
                <a:latin typeface="Alegreya"/>
                <a:ea typeface="Alegreya"/>
                <a:cs typeface="Alegreya"/>
                <a:sym typeface="Alegreya"/>
              </a:rPr>
              <a:t>目前在 </a:t>
            </a:r>
            <a:r>
              <a:rPr lang="en-GB" altLang="zh-TW" sz="2400" dirty="0">
                <a:solidFill>
                  <a:schemeClr val="dk1"/>
                </a:solidFill>
                <a:latin typeface="Alegreya"/>
                <a:ea typeface="Alegreya"/>
                <a:cs typeface="Alegreya"/>
                <a:sym typeface="Alegreya"/>
              </a:rPr>
              <a:t>pancreatic cancer </a:t>
            </a:r>
            <a:r>
              <a:rPr lang="zh-TW" altLang="en-US" sz="2400" dirty="0">
                <a:solidFill>
                  <a:schemeClr val="dk1"/>
                </a:solidFill>
                <a:latin typeface="Alegreya"/>
                <a:ea typeface="Alegreya"/>
                <a:cs typeface="Alegreya"/>
                <a:sym typeface="Alegreya"/>
              </a:rPr>
              <a:t>的角色</a:t>
            </a:r>
            <a:r>
              <a:rPr lang="en-US" altLang="zh-TW" sz="2400" dirty="0">
                <a:solidFill>
                  <a:schemeClr val="dk1"/>
                </a:solidFill>
                <a:latin typeface="Alegreya"/>
                <a:ea typeface="Alegreya"/>
                <a:cs typeface="Alegreya"/>
                <a:sym typeface="Alegreya"/>
              </a:rPr>
              <a:t>? </a:t>
            </a:r>
            <a:r>
              <a:rPr lang="zh-TW" altLang="en-US" sz="2400" dirty="0">
                <a:solidFill>
                  <a:schemeClr val="dk1"/>
                </a:solidFill>
                <a:latin typeface="Alegreya"/>
                <a:ea typeface="Alegreya"/>
                <a:cs typeface="Alegreya"/>
                <a:sym typeface="Alegreya"/>
              </a:rPr>
              <a:t>常用在什麼階段</a:t>
            </a:r>
            <a:r>
              <a:rPr lang="en-US" altLang="zh-TW" sz="2400" dirty="0">
                <a:solidFill>
                  <a:schemeClr val="dk1"/>
                </a:solidFill>
                <a:latin typeface="Alegreya"/>
                <a:ea typeface="Alegreya"/>
                <a:cs typeface="Alegreya"/>
                <a:sym typeface="Alegreya"/>
              </a:rPr>
              <a:t>? </a:t>
            </a:r>
            <a:r>
              <a:rPr lang="zh-TW" altLang="en-US" sz="2400" dirty="0" smtClean="0">
                <a:solidFill>
                  <a:schemeClr val="dk1"/>
                </a:solidFill>
                <a:latin typeface="Alegreya"/>
                <a:ea typeface="Alegreya"/>
                <a:cs typeface="Alegreya"/>
                <a:sym typeface="Alegreya"/>
              </a:rPr>
              <a:t>接下來</a:t>
            </a:r>
            <a:r>
              <a:rPr lang="zh-TW" altLang="en-US" sz="2400" dirty="0">
                <a:solidFill>
                  <a:schemeClr val="dk1"/>
                </a:solidFill>
                <a:latin typeface="Alegreya"/>
                <a:ea typeface="Alegreya"/>
                <a:cs typeface="Alegreya"/>
                <a:sym typeface="Alegreya"/>
              </a:rPr>
              <a:t>問常用的 </a:t>
            </a:r>
            <a:r>
              <a:rPr lang="en-GB" altLang="zh-TW" sz="2400" dirty="0">
                <a:solidFill>
                  <a:schemeClr val="dk1"/>
                </a:solidFill>
                <a:latin typeface="Alegreya"/>
                <a:ea typeface="Alegreya"/>
                <a:cs typeface="Alegreya"/>
                <a:sym typeface="Alegreya"/>
              </a:rPr>
              <a:t>SBRT dose</a:t>
            </a:r>
            <a:r>
              <a:rPr lang="zh-TW" altLang="en-US" sz="2400" dirty="0">
                <a:solidFill>
                  <a:schemeClr val="dk1"/>
                </a:solidFill>
                <a:latin typeface="Alegreya"/>
                <a:ea typeface="Alegreya"/>
                <a:cs typeface="Alegreya"/>
                <a:sym typeface="Alegreya"/>
              </a:rPr>
              <a:t>有哪些</a:t>
            </a:r>
            <a:r>
              <a:rPr lang="en-US" altLang="zh-TW" sz="2400" dirty="0">
                <a:solidFill>
                  <a:schemeClr val="dk1"/>
                </a:solidFill>
                <a:latin typeface="Alegreya"/>
                <a:ea typeface="Alegreya"/>
                <a:cs typeface="Alegreya"/>
                <a:sym typeface="Alegreya"/>
              </a:rPr>
              <a:t>? </a:t>
            </a:r>
            <a:r>
              <a:rPr lang="en-GB" altLang="zh-TW" sz="2400" dirty="0">
                <a:solidFill>
                  <a:schemeClr val="dk1"/>
                </a:solidFill>
                <a:latin typeface="Alegreya"/>
                <a:ea typeface="Alegreya"/>
                <a:cs typeface="Alegreya"/>
                <a:sym typeface="Alegreya"/>
              </a:rPr>
              <a:t>Duodenal </a:t>
            </a:r>
            <a:r>
              <a:rPr lang="zh-TW" altLang="en-US" sz="2400" dirty="0">
                <a:solidFill>
                  <a:schemeClr val="dk1"/>
                </a:solidFill>
                <a:latin typeface="Alegreya"/>
                <a:ea typeface="Alegreya"/>
                <a:cs typeface="Alegreya"/>
                <a:sym typeface="Alegreya"/>
              </a:rPr>
              <a:t>的 </a:t>
            </a:r>
            <a:r>
              <a:rPr lang="en-GB" altLang="zh-TW" sz="2400" dirty="0">
                <a:solidFill>
                  <a:schemeClr val="dk1"/>
                </a:solidFill>
                <a:latin typeface="Alegreya"/>
                <a:ea typeface="Alegreya"/>
                <a:cs typeface="Alegreya"/>
                <a:sym typeface="Alegreya"/>
              </a:rPr>
              <a:t>constraint? </a:t>
            </a:r>
            <a:endParaRPr lang="en-GB" altLang="zh-TW" sz="2400" dirty="0" smtClean="0">
              <a:solidFill>
                <a:schemeClr val="dk1"/>
              </a:solidFill>
              <a:latin typeface="Alegreya"/>
              <a:ea typeface="Alegreya"/>
              <a:cs typeface="Alegreya"/>
              <a:sym typeface="Alegreya"/>
            </a:endParaRPr>
          </a:p>
          <a:p>
            <a:pPr marL="609585" indent="-440256">
              <a:lnSpc>
                <a:spcPct val="150000"/>
              </a:lnSpc>
              <a:buClr>
                <a:schemeClr val="dk1"/>
              </a:buClr>
              <a:buSzPts val="1600"/>
              <a:buFont typeface="Alegreya"/>
              <a:buChar char="●"/>
            </a:pPr>
            <a:r>
              <a:rPr lang="en-GB" altLang="zh-TW" sz="2400" dirty="0" smtClean="0">
                <a:solidFill>
                  <a:schemeClr val="dk1"/>
                </a:solidFill>
                <a:latin typeface="Alegreya"/>
                <a:ea typeface="Alegreya"/>
                <a:cs typeface="Alegreya"/>
                <a:sym typeface="Alegreya"/>
              </a:rPr>
              <a:t>SBRT controversial, an emerging treatment option for </a:t>
            </a:r>
            <a:r>
              <a:rPr lang="en-GB" altLang="zh-TW" sz="2400" dirty="0" err="1">
                <a:solidFill>
                  <a:schemeClr val="dk1"/>
                </a:solidFill>
                <a:latin typeface="Alegreya"/>
                <a:ea typeface="Alegreya"/>
                <a:cs typeface="Alegreya"/>
                <a:sym typeface="Alegreya"/>
              </a:rPr>
              <a:t>u</a:t>
            </a:r>
            <a:r>
              <a:rPr lang="en-GB" altLang="zh-TW" sz="2400" dirty="0" err="1" smtClean="0">
                <a:solidFill>
                  <a:schemeClr val="dk1"/>
                </a:solidFill>
                <a:latin typeface="Alegreya"/>
                <a:ea typeface="Alegreya"/>
                <a:cs typeface="Alegreya"/>
                <a:sym typeface="Alegreya"/>
              </a:rPr>
              <a:t>nresectable</a:t>
            </a:r>
            <a:r>
              <a:rPr lang="en-GB" altLang="zh-TW" sz="2400" dirty="0" smtClean="0">
                <a:solidFill>
                  <a:schemeClr val="dk1"/>
                </a:solidFill>
                <a:latin typeface="Alegreya"/>
                <a:ea typeface="Alegreya"/>
                <a:cs typeface="Alegreya"/>
                <a:sym typeface="Alegreya"/>
              </a:rPr>
              <a:t> or borderline </a:t>
            </a:r>
            <a:r>
              <a:rPr lang="en-GB" altLang="zh-TW" sz="2400" dirty="0" err="1" smtClean="0">
                <a:solidFill>
                  <a:schemeClr val="dk1"/>
                </a:solidFill>
                <a:latin typeface="Alegreya"/>
                <a:ea typeface="Alegreya"/>
                <a:cs typeface="Alegreya"/>
                <a:sym typeface="Alegreya"/>
              </a:rPr>
              <a:t>resectable</a:t>
            </a:r>
            <a:r>
              <a:rPr lang="en-GB" altLang="zh-TW" sz="2400" dirty="0" smtClean="0">
                <a:solidFill>
                  <a:schemeClr val="dk1"/>
                </a:solidFill>
                <a:latin typeface="Alegreya"/>
                <a:ea typeface="Alegreya"/>
                <a:cs typeface="Alegreya"/>
                <a:sym typeface="Alegreya"/>
              </a:rPr>
              <a:t> but no </a:t>
            </a:r>
            <a:r>
              <a:rPr lang="en-GB" altLang="zh-TW" sz="2400" dirty="0" err="1" smtClean="0">
                <a:solidFill>
                  <a:schemeClr val="dk1"/>
                </a:solidFill>
                <a:latin typeface="Alegreya"/>
                <a:ea typeface="Alegreya"/>
                <a:cs typeface="Alegreya"/>
                <a:sym typeface="Alegreya"/>
              </a:rPr>
              <a:t>ramdomized</a:t>
            </a:r>
            <a:r>
              <a:rPr lang="en-GB" altLang="zh-TW" sz="2400" dirty="0" smtClean="0">
                <a:solidFill>
                  <a:schemeClr val="dk1"/>
                </a:solidFill>
                <a:latin typeface="Alegreya"/>
                <a:ea typeface="Alegreya"/>
                <a:cs typeface="Alegreya"/>
                <a:sym typeface="Alegreya"/>
              </a:rPr>
              <a:t> trial</a:t>
            </a:r>
          </a:p>
          <a:p>
            <a:pPr marL="609585" indent="-440256">
              <a:lnSpc>
                <a:spcPct val="150000"/>
              </a:lnSpc>
              <a:buClr>
                <a:schemeClr val="dk1"/>
              </a:buClr>
              <a:buSzPts val="1600"/>
              <a:buFont typeface="Alegreya"/>
              <a:buChar char="●"/>
            </a:pPr>
            <a:r>
              <a:rPr lang="en-GB" altLang="zh-TW" sz="2400" dirty="0" smtClean="0">
                <a:solidFill>
                  <a:schemeClr val="dk1"/>
                </a:solidFill>
                <a:latin typeface="Alegreya"/>
                <a:ea typeface="Alegreya"/>
                <a:cs typeface="Alegreya"/>
                <a:sym typeface="Alegreya"/>
              </a:rPr>
              <a:t>From NCCN, </a:t>
            </a:r>
          </a:p>
          <a:p>
            <a:pPr marL="1066785" lvl="1" indent="-440256">
              <a:lnSpc>
                <a:spcPct val="150000"/>
              </a:lnSpc>
              <a:buClr>
                <a:schemeClr val="dk1"/>
              </a:buClr>
              <a:buSzPts val="1600"/>
              <a:buFont typeface="Alegreya"/>
              <a:buChar char="●"/>
            </a:pPr>
            <a:r>
              <a:rPr lang="en-GB" altLang="zh-TW" dirty="0" smtClean="0">
                <a:solidFill>
                  <a:schemeClr val="dk1"/>
                </a:solidFill>
                <a:latin typeface="Alegreya"/>
                <a:ea typeface="Alegreya"/>
                <a:cs typeface="Alegreya"/>
                <a:sym typeface="Alegreya"/>
              </a:rPr>
              <a:t>For locally advanced (definitive): induction chemotherapy followed by </a:t>
            </a:r>
            <a:r>
              <a:rPr lang="en-GB" altLang="zh-TW" dirty="0" err="1" smtClean="0">
                <a:solidFill>
                  <a:schemeClr val="dk1"/>
                </a:solidFill>
                <a:latin typeface="Alegreya"/>
                <a:ea typeface="Alegreya"/>
                <a:cs typeface="Alegreya"/>
                <a:sym typeface="Alegreya"/>
              </a:rPr>
              <a:t>chemoradiation</a:t>
            </a:r>
            <a:r>
              <a:rPr lang="en-GB" altLang="zh-TW" dirty="0" smtClean="0">
                <a:solidFill>
                  <a:schemeClr val="dk1"/>
                </a:solidFill>
                <a:latin typeface="Alegreya"/>
                <a:ea typeface="Alegreya"/>
                <a:cs typeface="Alegreya"/>
                <a:sym typeface="Alegreya"/>
              </a:rPr>
              <a:t> or SBRT in M0, dose 30-45Gy/3Fx or 25-45Gy/5Fx</a:t>
            </a:r>
          </a:p>
          <a:p>
            <a:pPr marL="1066785" lvl="1" indent="-440256">
              <a:lnSpc>
                <a:spcPct val="150000"/>
              </a:lnSpc>
              <a:buClr>
                <a:schemeClr val="dk1"/>
              </a:buClr>
              <a:buSzPts val="1600"/>
              <a:buFont typeface="Alegreya"/>
              <a:buChar char="●"/>
            </a:pPr>
            <a:r>
              <a:rPr lang="en-GB" altLang="zh-TW" dirty="0" smtClean="0">
                <a:solidFill>
                  <a:schemeClr val="dk1"/>
                </a:solidFill>
                <a:latin typeface="Alegreya"/>
                <a:ea typeface="Alegreya"/>
                <a:cs typeface="Alegreya"/>
                <a:sym typeface="Alegreya"/>
              </a:rPr>
              <a:t>For recurrent, </a:t>
            </a:r>
            <a:r>
              <a:rPr lang="en-GB" altLang="zh-TW" dirty="0">
                <a:solidFill>
                  <a:schemeClr val="dk1"/>
                </a:solidFill>
                <a:latin typeface="Alegreya"/>
                <a:ea typeface="Alegreya"/>
                <a:cs typeface="Alegreya"/>
                <a:sym typeface="Alegreya"/>
              </a:rPr>
              <a:t>induction chemotherapy followed by </a:t>
            </a:r>
            <a:r>
              <a:rPr lang="en-GB" altLang="zh-TW" dirty="0" err="1">
                <a:solidFill>
                  <a:schemeClr val="dk1"/>
                </a:solidFill>
                <a:latin typeface="Alegreya"/>
                <a:ea typeface="Alegreya"/>
                <a:cs typeface="Alegreya"/>
                <a:sym typeface="Alegreya"/>
              </a:rPr>
              <a:t>chemoradiation</a:t>
            </a:r>
            <a:r>
              <a:rPr lang="en-GB" altLang="zh-TW" dirty="0">
                <a:solidFill>
                  <a:schemeClr val="dk1"/>
                </a:solidFill>
                <a:latin typeface="Alegreya"/>
                <a:ea typeface="Alegreya"/>
                <a:cs typeface="Alegreya"/>
                <a:sym typeface="Alegreya"/>
              </a:rPr>
              <a:t> or </a:t>
            </a:r>
            <a:r>
              <a:rPr lang="en-GB" altLang="zh-TW" dirty="0" smtClean="0">
                <a:solidFill>
                  <a:schemeClr val="dk1"/>
                </a:solidFill>
                <a:latin typeface="Alegreya"/>
                <a:ea typeface="Alegreya"/>
                <a:cs typeface="Alegreya"/>
                <a:sym typeface="Alegreya"/>
              </a:rPr>
              <a:t>SBRT if not previous done</a:t>
            </a:r>
            <a:r>
              <a:rPr lang="en-GB" altLang="zh-TW" sz="2400" dirty="0" smtClean="0">
                <a:solidFill>
                  <a:schemeClr val="dk1"/>
                </a:solidFill>
                <a:latin typeface="Alegreya"/>
                <a:ea typeface="Alegreya"/>
                <a:cs typeface="Alegreya"/>
                <a:sym typeface="Alegreya"/>
              </a:rPr>
              <a:t>	</a:t>
            </a:r>
          </a:p>
          <a:p>
            <a:pPr marL="609585" indent="-440256">
              <a:lnSpc>
                <a:spcPct val="150000"/>
              </a:lnSpc>
              <a:buClr>
                <a:schemeClr val="dk1"/>
              </a:buClr>
              <a:buSzPts val="1600"/>
              <a:buFont typeface="Alegreya"/>
              <a:buChar char="●"/>
            </a:pPr>
            <a:r>
              <a:rPr lang="en-GB" altLang="zh-TW" sz="2400" dirty="0" smtClean="0">
                <a:solidFill>
                  <a:schemeClr val="dk1"/>
                </a:solidFill>
                <a:latin typeface="Alegreya"/>
                <a:ea typeface="Alegreya"/>
                <a:cs typeface="Alegreya"/>
                <a:sym typeface="Alegreya"/>
              </a:rPr>
              <a:t>Duodenum constraint, from ARRO (5Fx)</a:t>
            </a:r>
          </a:p>
          <a:p>
            <a:pPr marL="1066785" lvl="1" indent="-440256">
              <a:lnSpc>
                <a:spcPct val="150000"/>
              </a:lnSpc>
              <a:buClr>
                <a:schemeClr val="dk1"/>
              </a:buClr>
              <a:buSzPts val="1600"/>
              <a:buFont typeface="Alegreya"/>
              <a:buChar char="●"/>
            </a:pPr>
            <a:r>
              <a:rPr lang="en-GB" altLang="zh-TW" dirty="0" smtClean="0">
                <a:solidFill>
                  <a:schemeClr val="dk1"/>
                </a:solidFill>
                <a:latin typeface="Alegreya"/>
                <a:ea typeface="Alegreya"/>
                <a:cs typeface="Alegreya"/>
                <a:sym typeface="Alegreya"/>
              </a:rPr>
              <a:t>V30 &lt; 0.5cc, V18 &lt;5cc, V12.5&lt;10cc  </a:t>
            </a:r>
            <a:r>
              <a:rPr lang="en-GB" altLang="zh-TW" sz="2400" dirty="0" smtClean="0">
                <a:solidFill>
                  <a:schemeClr val="dk1"/>
                </a:solidFill>
                <a:latin typeface="Alegreya"/>
                <a:ea typeface="Alegreya"/>
                <a:cs typeface="Alegreya"/>
                <a:sym typeface="Alegreya"/>
              </a:rPr>
              <a:t>	</a:t>
            </a:r>
            <a:endParaRPr lang="en-GB" altLang="zh-TW" sz="2400" dirty="0">
              <a:solidFill>
                <a:schemeClr val="dk1"/>
              </a:solidFill>
              <a:latin typeface="Alegreya"/>
              <a:ea typeface="Alegreya"/>
              <a:cs typeface="Alegreya"/>
              <a:sym typeface="Alegreya"/>
            </a:endParaRPr>
          </a:p>
        </p:txBody>
      </p:sp>
    </p:spTree>
    <p:extLst>
      <p:ext uri="{BB962C8B-B14F-4D97-AF65-F5344CB8AC3E}">
        <p14:creationId xmlns:p14="http://schemas.microsoft.com/office/powerpoint/2010/main" val="2171350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2322442" y="163773"/>
            <a:ext cx="6343886" cy="6577460"/>
          </a:xfrm>
          <a:prstGeom prst="rect">
            <a:avLst/>
          </a:prstGeom>
        </p:spPr>
      </p:pic>
    </p:spTree>
    <p:extLst>
      <p:ext uri="{BB962C8B-B14F-4D97-AF65-F5344CB8AC3E}">
        <p14:creationId xmlns:p14="http://schemas.microsoft.com/office/powerpoint/2010/main" val="3103179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415600" y="282333"/>
            <a:ext cx="11360800" cy="763600"/>
          </a:xfrm>
          <a:prstGeom prst="rect">
            <a:avLst/>
          </a:prstGeom>
        </p:spPr>
        <p:txBody>
          <a:bodyPr spcFirstLastPara="1" wrap="square" lIns="121897" tIns="121897" rIns="121897" bIns="121897" anchor="t" anchorCtr="0">
            <a:noAutofit/>
          </a:bodyPr>
          <a:lstStyle/>
          <a:p>
            <a:pPr algn="l"/>
            <a:r>
              <a:rPr lang="en-GB" dirty="0" smtClean="0"/>
              <a:t>2018 </a:t>
            </a:r>
            <a:r>
              <a:rPr lang="en-GB" dirty="0" err="1" smtClean="0"/>
              <a:t>熊佩韋</a:t>
            </a:r>
            <a:r>
              <a:rPr lang="en-GB" dirty="0" smtClean="0"/>
              <a:t> HCC</a:t>
            </a:r>
            <a:endParaRPr dirty="0"/>
          </a:p>
        </p:txBody>
      </p:sp>
      <p:sp>
        <p:nvSpPr>
          <p:cNvPr id="85" name="Google Shape;85;p18"/>
          <p:cNvSpPr txBox="1">
            <a:spLocks noGrp="1"/>
          </p:cNvSpPr>
          <p:nvPr>
            <p:ph type="body" idx="1"/>
          </p:nvPr>
        </p:nvSpPr>
        <p:spPr>
          <a:xfrm>
            <a:off x="415600" y="1256733"/>
            <a:ext cx="11360800" cy="3552000"/>
          </a:xfrm>
          <a:prstGeom prst="rect">
            <a:avLst/>
          </a:prstGeom>
        </p:spPr>
        <p:txBody>
          <a:bodyPr spcFirstLastPara="1" wrap="square" lIns="121897" tIns="121897" rIns="121897" bIns="121897" anchor="t" anchorCtr="0">
            <a:noAutofit/>
          </a:bodyPr>
          <a:lstStyle/>
          <a:p>
            <a:pPr indent="-440256">
              <a:buSzPts val="1600"/>
              <a:buFont typeface="Alegreya"/>
              <a:buAutoNum type="arabicPeriod"/>
            </a:pPr>
            <a:r>
              <a:rPr lang="en-GB" sz="2100" dirty="0" err="1">
                <a:latin typeface="Alegreya"/>
                <a:ea typeface="Alegreya"/>
                <a:cs typeface="Alegreya"/>
                <a:sym typeface="Alegreya"/>
              </a:rPr>
              <a:t>拿一張肝臟分segments</a:t>
            </a:r>
            <a:r>
              <a:rPr lang="en-GB" sz="2100" dirty="0">
                <a:latin typeface="Alegreya"/>
                <a:ea typeface="Alegreya"/>
                <a:cs typeface="Alegreya"/>
                <a:sym typeface="Alegreya"/>
              </a:rPr>
              <a:t> </a:t>
            </a:r>
            <a:r>
              <a:rPr lang="en-GB" sz="2100" dirty="0" err="1">
                <a:latin typeface="Alegreya"/>
                <a:ea typeface="Alegreya"/>
                <a:cs typeface="Alegreya"/>
                <a:sym typeface="Alegreya"/>
              </a:rPr>
              <a:t>的圖請你指出來</a:t>
            </a:r>
            <a:r>
              <a:rPr lang="en-GB" sz="2100" dirty="0">
                <a:latin typeface="Alegreya"/>
                <a:ea typeface="Alegreya"/>
                <a:cs typeface="Alegreya"/>
                <a:sym typeface="Alegreya"/>
              </a:rPr>
              <a:t> </a:t>
            </a:r>
            <a:r>
              <a:rPr lang="en-GB" sz="2100" dirty="0" err="1">
                <a:latin typeface="Alegreya"/>
                <a:ea typeface="Alegreya"/>
                <a:cs typeface="Alegreya"/>
                <a:sym typeface="Alegreya"/>
              </a:rPr>
              <a:t>seg</a:t>
            </a:r>
            <a:r>
              <a:rPr lang="en-GB" sz="2100" dirty="0">
                <a:latin typeface="Alegreya"/>
                <a:ea typeface="Alegreya"/>
                <a:cs typeface="Alegreya"/>
                <a:sym typeface="Alegreya"/>
              </a:rPr>
              <a:t> #5 </a:t>
            </a:r>
            <a:r>
              <a:rPr lang="en-GB" sz="2100" dirty="0" err="1">
                <a:latin typeface="Alegreya"/>
                <a:ea typeface="Alegreya"/>
                <a:cs typeface="Alegreya"/>
                <a:sym typeface="Alegreya"/>
              </a:rPr>
              <a:t>在哪裡</a:t>
            </a:r>
            <a:r>
              <a:rPr lang="en-GB" sz="2100" dirty="0">
                <a:latin typeface="Alegreya"/>
                <a:ea typeface="Alegreya"/>
                <a:cs typeface="Alegreya"/>
                <a:sym typeface="Alegreya"/>
              </a:rPr>
              <a:t>；</a:t>
            </a:r>
            <a:br>
              <a:rPr lang="en-GB" sz="2100" dirty="0">
                <a:latin typeface="Alegreya"/>
                <a:ea typeface="Alegreya"/>
                <a:cs typeface="Alegreya"/>
                <a:sym typeface="Alegreya"/>
              </a:rPr>
            </a:br>
            <a:r>
              <a:rPr lang="en-GB" sz="2100" dirty="0" err="1">
                <a:latin typeface="Alegreya"/>
                <a:ea typeface="Alegreya"/>
                <a:cs typeface="Alegreya"/>
                <a:sym typeface="Alegreya"/>
              </a:rPr>
              <a:t>敘述各分葉及左右lobe</a:t>
            </a:r>
            <a:r>
              <a:rPr lang="en-GB" sz="2100" dirty="0" err="1" smtClean="0">
                <a:latin typeface="Alegreya"/>
                <a:ea typeface="Alegreya"/>
                <a:cs typeface="Alegreya"/>
                <a:sym typeface="Alegreya"/>
              </a:rPr>
              <a:t>的界線</a:t>
            </a:r>
            <a:endParaRPr lang="en-GB" sz="2100" dirty="0" smtClean="0">
              <a:latin typeface="Alegreya"/>
              <a:ea typeface="Alegreya"/>
              <a:cs typeface="Alegreya"/>
              <a:sym typeface="Alegreya"/>
            </a:endParaRPr>
          </a:p>
          <a:p>
            <a:pPr marL="778914" lvl="1" indent="0">
              <a:buSzPts val="1600"/>
              <a:buNone/>
            </a:pPr>
            <a:endParaRPr sz="1700" dirty="0">
              <a:latin typeface="Alegreya"/>
              <a:ea typeface="Alegreya"/>
              <a:cs typeface="Alegreya"/>
              <a:sym typeface="Alegreya"/>
            </a:endParaRPr>
          </a:p>
        </p:txBody>
      </p:sp>
      <p:pic>
        <p:nvPicPr>
          <p:cNvPr id="5" name="內容版面配置區 3"/>
          <p:cNvPicPr>
            <a:picLocks noChangeAspect="1"/>
          </p:cNvPicPr>
          <p:nvPr/>
        </p:nvPicPr>
        <p:blipFill>
          <a:blip r:embed="rId3"/>
          <a:stretch>
            <a:fillRect/>
          </a:stretch>
        </p:blipFill>
        <p:spPr>
          <a:xfrm>
            <a:off x="815417" y="2657907"/>
            <a:ext cx="4285881" cy="2392479"/>
          </a:xfrm>
          <a:prstGeom prst="rect">
            <a:avLst/>
          </a:prstGeom>
        </p:spPr>
      </p:pic>
      <p:pic>
        <p:nvPicPr>
          <p:cNvPr id="6" name="圖片 5"/>
          <p:cNvPicPr>
            <a:picLocks noChangeAspect="1"/>
          </p:cNvPicPr>
          <p:nvPr/>
        </p:nvPicPr>
        <p:blipFill>
          <a:blip r:embed="rId4"/>
          <a:stretch>
            <a:fillRect/>
          </a:stretch>
        </p:blipFill>
        <p:spPr>
          <a:xfrm>
            <a:off x="5559602" y="2468029"/>
            <a:ext cx="3756860" cy="3170287"/>
          </a:xfrm>
          <a:prstGeom prst="rect">
            <a:avLst/>
          </a:prstGeom>
        </p:spPr>
      </p:pic>
    </p:spTree>
    <p:extLst>
      <p:ext uri="{BB962C8B-B14F-4D97-AF65-F5344CB8AC3E}">
        <p14:creationId xmlns:p14="http://schemas.microsoft.com/office/powerpoint/2010/main" val="2314641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415600" y="282333"/>
            <a:ext cx="11360800" cy="763600"/>
          </a:xfrm>
          <a:prstGeom prst="rect">
            <a:avLst/>
          </a:prstGeom>
        </p:spPr>
        <p:txBody>
          <a:bodyPr spcFirstLastPara="1" wrap="square" lIns="121897" tIns="121897" rIns="121897" bIns="121897" anchor="t" anchorCtr="0">
            <a:noAutofit/>
          </a:bodyPr>
          <a:lstStyle/>
          <a:p>
            <a:pPr algn="l"/>
            <a:r>
              <a:rPr lang="en-GB" dirty="0" smtClean="0"/>
              <a:t>2018 </a:t>
            </a:r>
            <a:r>
              <a:rPr lang="en-GB" dirty="0" err="1" smtClean="0"/>
              <a:t>熊佩韋</a:t>
            </a:r>
            <a:r>
              <a:rPr lang="en-GB" dirty="0" smtClean="0"/>
              <a:t> HCC</a:t>
            </a:r>
            <a:endParaRPr dirty="0"/>
          </a:p>
        </p:txBody>
      </p:sp>
      <p:sp>
        <p:nvSpPr>
          <p:cNvPr id="85" name="Google Shape;85;p18"/>
          <p:cNvSpPr txBox="1">
            <a:spLocks noGrp="1"/>
          </p:cNvSpPr>
          <p:nvPr>
            <p:ph type="body" idx="1"/>
          </p:nvPr>
        </p:nvSpPr>
        <p:spPr>
          <a:xfrm>
            <a:off x="150829" y="1209597"/>
            <a:ext cx="8042675" cy="5379737"/>
          </a:xfrm>
          <a:prstGeom prst="rect">
            <a:avLst/>
          </a:prstGeom>
        </p:spPr>
        <p:txBody>
          <a:bodyPr spcFirstLastPara="1" wrap="square" lIns="121897" tIns="121897" rIns="121897" bIns="121897" anchor="t" anchorCtr="0">
            <a:noAutofit/>
          </a:bodyPr>
          <a:lstStyle/>
          <a:p>
            <a:pPr indent="-440256">
              <a:buSzPts val="1600"/>
              <a:buFont typeface="Alegreya"/>
              <a:buAutoNum type="arabicPeriod"/>
            </a:pPr>
            <a:r>
              <a:rPr lang="en-GB" sz="2100" dirty="0" err="1" smtClean="0">
                <a:latin typeface="Alegreya"/>
                <a:ea typeface="Alegreya"/>
                <a:cs typeface="Alegreya"/>
                <a:sym typeface="Alegreya"/>
              </a:rPr>
              <a:t>一個病人</a:t>
            </a:r>
            <a:r>
              <a:rPr lang="en-GB" sz="2100" dirty="0" smtClean="0">
                <a:latin typeface="Alegreya"/>
                <a:ea typeface="Alegreya"/>
                <a:cs typeface="Alegreya"/>
                <a:sym typeface="Alegreya"/>
              </a:rPr>
              <a:t> </a:t>
            </a:r>
            <a:r>
              <a:rPr lang="en-GB" sz="2100" dirty="0">
                <a:latin typeface="Alegreya"/>
                <a:ea typeface="Alegreya"/>
                <a:cs typeface="Alegreya"/>
                <a:sym typeface="Alegreya"/>
              </a:rPr>
              <a:t>HBV+ with 2cm HCC, </a:t>
            </a:r>
            <a:r>
              <a:rPr lang="en-GB" sz="2100" dirty="0" err="1">
                <a:latin typeface="Alegreya"/>
                <a:ea typeface="Alegreya"/>
                <a:cs typeface="Alegreya"/>
                <a:sym typeface="Alegreya"/>
              </a:rPr>
              <a:t>沒有吃到血管也沒有其他轉移</a:t>
            </a:r>
            <a:r>
              <a:rPr lang="en-GB" sz="2100" dirty="0" smtClean="0">
                <a:latin typeface="Alegreya"/>
                <a:ea typeface="Alegreya"/>
                <a:cs typeface="Alegreya"/>
                <a:sym typeface="Alegreya"/>
              </a:rPr>
              <a:t>，</a:t>
            </a:r>
          </a:p>
          <a:p>
            <a:pPr marL="778914" lvl="1" indent="0">
              <a:buSzPts val="1600"/>
              <a:buNone/>
            </a:pPr>
            <a:r>
              <a:rPr lang="en-US" sz="1700" dirty="0" smtClean="0">
                <a:latin typeface="Alegreya"/>
                <a:ea typeface="Alegreya"/>
                <a:cs typeface="Alegreya"/>
                <a:sym typeface="Alegreya"/>
              </a:rPr>
              <a:t>T1aN0M0, BCLC stage 0</a:t>
            </a:r>
            <a:endParaRPr sz="1700" dirty="0">
              <a:latin typeface="Alegreya"/>
              <a:ea typeface="Alegreya"/>
              <a:cs typeface="Alegreya"/>
              <a:sym typeface="Alegreya"/>
            </a:endParaRPr>
          </a:p>
          <a:p>
            <a:pPr lvl="1" indent="-440256">
              <a:spcBef>
                <a:spcPts val="0"/>
              </a:spcBef>
              <a:buSzPts val="1600"/>
              <a:buFont typeface="Alegreya"/>
              <a:buAutoNum type="alphaLcPeriod"/>
            </a:pPr>
            <a:r>
              <a:rPr lang="en-GB" sz="2000" dirty="0" err="1">
                <a:latin typeface="Alegreya"/>
                <a:ea typeface="Alegreya"/>
                <a:cs typeface="Alegreya"/>
                <a:sym typeface="Alegreya"/>
              </a:rPr>
              <a:t>問治療方式</a:t>
            </a:r>
            <a:r>
              <a:rPr lang="en-GB" sz="2000" dirty="0" smtClean="0">
                <a:latin typeface="Alegreya"/>
                <a:ea typeface="Alegreya"/>
                <a:cs typeface="Alegreya"/>
                <a:sym typeface="Alegreya"/>
              </a:rPr>
              <a:t>？</a:t>
            </a:r>
          </a:p>
          <a:p>
            <a:pPr lvl="2" indent="-440256">
              <a:spcBef>
                <a:spcPts val="0"/>
              </a:spcBef>
              <a:buSzPts val="1600"/>
              <a:buFont typeface="Alegreya"/>
              <a:buAutoNum type="alphaLcPeriod"/>
            </a:pPr>
            <a:r>
              <a:rPr lang="en-GB" altLang="zh-TW" sz="1600" dirty="0" smtClean="0">
                <a:latin typeface="Alegreya"/>
                <a:ea typeface="Alegreya"/>
                <a:cs typeface="Alegreya"/>
                <a:sym typeface="Alegreya"/>
              </a:rPr>
              <a:t>NCCN/</a:t>
            </a:r>
            <a:r>
              <a:rPr lang="en-US" altLang="zh-TW" sz="1600" dirty="0" smtClean="0">
                <a:latin typeface="Alegreya"/>
                <a:ea typeface="Alegreya"/>
                <a:cs typeface="Alegreya"/>
                <a:sym typeface="Alegreya"/>
              </a:rPr>
              <a:t>TLCA</a:t>
            </a:r>
            <a:r>
              <a:rPr lang="zh-TW" altLang="en-US" sz="1600" dirty="0" smtClean="0">
                <a:latin typeface="Alegreya"/>
                <a:ea typeface="Alegreya"/>
                <a:cs typeface="Alegreya"/>
                <a:sym typeface="Alegreya"/>
              </a:rPr>
              <a:t> </a:t>
            </a:r>
            <a:r>
              <a:rPr lang="en-US" altLang="zh-TW" sz="1600" dirty="0" smtClean="0">
                <a:latin typeface="Alegreya"/>
                <a:ea typeface="Alegreya"/>
                <a:cs typeface="Alegreya"/>
                <a:sym typeface="Alegreya"/>
              </a:rPr>
              <a:t>guideline: Resection, Local (RFA, TACE…), RT  </a:t>
            </a:r>
            <a:endParaRPr sz="1600" dirty="0">
              <a:latin typeface="Alegreya"/>
              <a:ea typeface="Alegreya"/>
              <a:cs typeface="Alegreya"/>
              <a:sym typeface="Alegreya"/>
            </a:endParaRPr>
          </a:p>
          <a:p>
            <a:pPr lvl="1" indent="-440256">
              <a:spcBef>
                <a:spcPts val="0"/>
              </a:spcBef>
              <a:buSzPts val="1600"/>
              <a:buFont typeface="Alegreya"/>
              <a:buAutoNum type="alphaLcPeriod"/>
            </a:pPr>
            <a:r>
              <a:rPr lang="en-GB" sz="2000" dirty="0" err="1">
                <a:latin typeface="Alegreya"/>
                <a:ea typeface="Alegreya"/>
                <a:cs typeface="Alegreya"/>
                <a:sym typeface="Alegreya"/>
              </a:rPr>
              <a:t>如果不能開刀那怎麼辦？可不可以RFA</a:t>
            </a:r>
            <a:r>
              <a:rPr lang="en-GB" sz="2000" dirty="0">
                <a:latin typeface="Alegreya"/>
                <a:ea typeface="Alegreya"/>
                <a:cs typeface="Alegreya"/>
                <a:sym typeface="Alegreya"/>
              </a:rPr>
              <a:t>? </a:t>
            </a:r>
            <a:r>
              <a:rPr lang="en-GB" sz="2000" dirty="0" err="1">
                <a:latin typeface="Alegreya"/>
                <a:ea typeface="Alegreya"/>
                <a:cs typeface="Alegreya"/>
                <a:sym typeface="Alegreya"/>
              </a:rPr>
              <a:t>可不可以TAE</a:t>
            </a:r>
            <a:r>
              <a:rPr lang="en-GB" sz="2000" dirty="0">
                <a:latin typeface="Alegreya"/>
                <a:ea typeface="Alegreya"/>
                <a:cs typeface="Alegreya"/>
                <a:sym typeface="Alegreya"/>
              </a:rPr>
              <a:t>? </a:t>
            </a:r>
            <a:r>
              <a:rPr lang="en-GB" sz="2000" dirty="0" err="1">
                <a:latin typeface="Alegreya"/>
                <a:ea typeface="Alegreya"/>
                <a:cs typeface="Alegreya"/>
                <a:sym typeface="Alegreya"/>
              </a:rPr>
              <a:t>效果?換肝的indication</a:t>
            </a:r>
            <a:r>
              <a:rPr lang="en-GB" sz="2000" dirty="0" smtClean="0">
                <a:latin typeface="Alegreya"/>
                <a:ea typeface="Alegreya"/>
                <a:cs typeface="Alegreya"/>
                <a:sym typeface="Alegreya"/>
              </a:rPr>
              <a:t>?</a:t>
            </a:r>
          </a:p>
          <a:p>
            <a:pPr lvl="2" indent="-440256">
              <a:spcBef>
                <a:spcPts val="0"/>
              </a:spcBef>
              <a:buSzPts val="1600"/>
              <a:buFont typeface="Alegreya"/>
              <a:buAutoNum type="alphaLcPeriod"/>
            </a:pPr>
            <a:r>
              <a:rPr lang="en-GB" sz="1600" dirty="0" smtClean="0">
                <a:latin typeface="Alegreya"/>
                <a:ea typeface="Alegreya"/>
                <a:cs typeface="Alegreya"/>
                <a:sym typeface="Alegreya"/>
              </a:rPr>
              <a:t>PEI 90-100% necrosis rate in </a:t>
            </a:r>
            <a:r>
              <a:rPr lang="en-GB" sz="1600" dirty="0" err="1" smtClean="0">
                <a:latin typeface="Alegreya"/>
                <a:ea typeface="Alegreya"/>
                <a:cs typeface="Alegreya"/>
                <a:sym typeface="Alegreya"/>
              </a:rPr>
              <a:t>tumor</a:t>
            </a:r>
            <a:r>
              <a:rPr lang="en-GB" sz="1600" dirty="0" smtClean="0">
                <a:latin typeface="Alegreya"/>
                <a:ea typeface="Alegreya"/>
                <a:cs typeface="Alegreya"/>
                <a:sym typeface="Alegreya"/>
              </a:rPr>
              <a:t> &lt; 2cm; RFA best in &lt;4cm</a:t>
            </a:r>
          </a:p>
          <a:p>
            <a:pPr lvl="2" indent="-440256">
              <a:spcBef>
                <a:spcPts val="0"/>
              </a:spcBef>
              <a:buSzPts val="1600"/>
              <a:buFont typeface="Alegreya"/>
              <a:buAutoNum type="alphaLcPeriod"/>
            </a:pPr>
            <a:r>
              <a:rPr lang="en-GB" sz="1600" b="1" dirty="0" err="1" smtClean="0">
                <a:latin typeface="Alegreya"/>
                <a:ea typeface="Alegreya"/>
                <a:cs typeface="Alegreya"/>
                <a:sym typeface="Alegreya"/>
              </a:rPr>
              <a:t>Transplaint</a:t>
            </a:r>
            <a:r>
              <a:rPr lang="en-GB" sz="1600" b="1" dirty="0" smtClean="0">
                <a:latin typeface="Alegreya"/>
                <a:ea typeface="Alegreya"/>
                <a:cs typeface="Alegreya"/>
                <a:sym typeface="Alegreya"/>
              </a:rPr>
              <a:t>: UNOS criteria</a:t>
            </a:r>
            <a:r>
              <a:rPr lang="en-GB" sz="1600" dirty="0" smtClean="0">
                <a:latin typeface="Alegreya"/>
                <a:ea typeface="Alegreya"/>
                <a:cs typeface="Alegreya"/>
                <a:sym typeface="Alegreya"/>
              </a:rPr>
              <a:t>: single </a:t>
            </a:r>
            <a:r>
              <a:rPr lang="en-GB" sz="1600" dirty="0" err="1" smtClean="0">
                <a:latin typeface="Alegreya"/>
                <a:ea typeface="Alegreya"/>
                <a:cs typeface="Alegreya"/>
                <a:sym typeface="Alegreya"/>
              </a:rPr>
              <a:t>tumor</a:t>
            </a:r>
            <a:r>
              <a:rPr lang="en-GB" sz="1600" dirty="0" smtClean="0">
                <a:latin typeface="Alegreya"/>
                <a:ea typeface="Alegreya"/>
                <a:cs typeface="Alegreya"/>
                <a:sym typeface="Alegreya"/>
              </a:rPr>
              <a:t> 2-5cm or 2-3Tumors &lt;3cm each, without </a:t>
            </a:r>
            <a:r>
              <a:rPr lang="en-GB" sz="1600" dirty="0" err="1" smtClean="0">
                <a:latin typeface="Alegreya"/>
                <a:ea typeface="Alegreya"/>
                <a:cs typeface="Alegreya"/>
                <a:sym typeface="Alegreya"/>
              </a:rPr>
              <a:t>marcovascular</a:t>
            </a:r>
            <a:r>
              <a:rPr lang="en-GB" sz="1600" dirty="0" smtClean="0">
                <a:latin typeface="Alegreya"/>
                <a:ea typeface="Alegreya"/>
                <a:cs typeface="Alegreya"/>
                <a:sym typeface="Alegreya"/>
              </a:rPr>
              <a:t> </a:t>
            </a:r>
            <a:r>
              <a:rPr lang="en-GB" sz="1600" dirty="0" err="1" smtClean="0">
                <a:latin typeface="Alegreya"/>
                <a:ea typeface="Alegreya"/>
                <a:cs typeface="Alegreya"/>
                <a:sym typeface="Alegreya"/>
              </a:rPr>
              <a:t>invation</a:t>
            </a:r>
            <a:r>
              <a:rPr lang="en-GB" sz="1600" dirty="0" smtClean="0">
                <a:latin typeface="Alegreya"/>
                <a:ea typeface="Alegreya"/>
                <a:cs typeface="Alegreya"/>
                <a:sym typeface="Alegreya"/>
              </a:rPr>
              <a:t>, no </a:t>
            </a:r>
            <a:r>
              <a:rPr lang="en-GB" sz="1600" dirty="0" err="1" smtClean="0">
                <a:latin typeface="Alegreya"/>
                <a:ea typeface="Alegreya"/>
                <a:cs typeface="Alegreya"/>
                <a:sym typeface="Alegreya"/>
              </a:rPr>
              <a:t>extrahepatic</a:t>
            </a:r>
            <a:r>
              <a:rPr lang="en-GB" sz="1600" dirty="0" smtClean="0">
                <a:latin typeface="Alegreya"/>
                <a:ea typeface="Alegreya"/>
                <a:cs typeface="Alegreya"/>
                <a:sym typeface="Alegreya"/>
              </a:rPr>
              <a:t> disease </a:t>
            </a:r>
            <a:endParaRPr sz="1600" dirty="0">
              <a:latin typeface="Alegreya"/>
              <a:ea typeface="Alegreya"/>
              <a:cs typeface="Alegreya"/>
              <a:sym typeface="Alegreya"/>
            </a:endParaRPr>
          </a:p>
          <a:p>
            <a:pPr lvl="1" indent="-440256">
              <a:spcBef>
                <a:spcPts val="0"/>
              </a:spcBef>
              <a:buSzPts val="1600"/>
              <a:buFont typeface="Alegreya"/>
              <a:buAutoNum type="alphaLcPeriod"/>
            </a:pPr>
            <a:r>
              <a:rPr lang="en-GB" sz="2000" dirty="0">
                <a:latin typeface="Alegreya"/>
                <a:ea typeface="Alegreya"/>
                <a:cs typeface="Alegreya"/>
                <a:sym typeface="Alegreya"/>
              </a:rPr>
              <a:t>SBRT </a:t>
            </a:r>
            <a:r>
              <a:rPr lang="en-GB" sz="2000" dirty="0" err="1">
                <a:latin typeface="Alegreya"/>
                <a:ea typeface="Alegreya"/>
                <a:cs typeface="Alegreya"/>
                <a:sym typeface="Alegreya"/>
              </a:rPr>
              <a:t>的話simulation時要怎麼做？怎麼控制</a:t>
            </a:r>
            <a:r>
              <a:rPr lang="en-GB" sz="2000" dirty="0">
                <a:latin typeface="Alegreya"/>
                <a:ea typeface="Alegreya"/>
                <a:cs typeface="Alegreya"/>
                <a:sym typeface="Alegreya"/>
              </a:rPr>
              <a:t> organ motion? Dose </a:t>
            </a:r>
            <a:r>
              <a:rPr lang="en-GB" sz="2000" dirty="0" err="1">
                <a:latin typeface="Alegreya"/>
                <a:ea typeface="Alegreya"/>
                <a:cs typeface="Alegreya"/>
                <a:sym typeface="Alegreya"/>
              </a:rPr>
              <a:t>你們醫院怎麼給？OAR</a:t>
            </a:r>
            <a:r>
              <a:rPr lang="en-GB" sz="2000" dirty="0">
                <a:latin typeface="Alegreya"/>
                <a:ea typeface="Alegreya"/>
                <a:cs typeface="Alegreya"/>
                <a:sym typeface="Alegreya"/>
              </a:rPr>
              <a:t>(liver or duodenum)？Child B </a:t>
            </a:r>
            <a:r>
              <a:rPr lang="en-GB" sz="2000" dirty="0" err="1">
                <a:latin typeface="Alegreya"/>
                <a:ea typeface="Alegreya"/>
                <a:cs typeface="Alegreya"/>
                <a:sym typeface="Alegreya"/>
              </a:rPr>
              <a:t>的劑量有沒有modified</a:t>
            </a:r>
            <a:r>
              <a:rPr lang="en-GB" sz="2000" dirty="0">
                <a:latin typeface="Alegreya"/>
                <a:ea typeface="Alegreya"/>
                <a:cs typeface="Alegreya"/>
                <a:sym typeface="Alegreya"/>
              </a:rPr>
              <a:t>? </a:t>
            </a:r>
            <a:r>
              <a:rPr lang="en-GB" sz="2000" dirty="0" err="1">
                <a:latin typeface="Alegreya"/>
                <a:ea typeface="Alegreya"/>
                <a:cs typeface="Alegreya"/>
                <a:sym typeface="Alegreya"/>
              </a:rPr>
              <a:t>你們醫院用什麼機器做</a:t>
            </a:r>
            <a:r>
              <a:rPr lang="en-GB" sz="2000" dirty="0" smtClean="0">
                <a:latin typeface="Alegreya"/>
                <a:ea typeface="Alegreya"/>
                <a:cs typeface="Alegreya"/>
                <a:sym typeface="Alegreya"/>
              </a:rPr>
              <a:t>？</a:t>
            </a:r>
          </a:p>
          <a:p>
            <a:pPr lvl="2" indent="-440256">
              <a:spcBef>
                <a:spcPts val="0"/>
              </a:spcBef>
              <a:buSzPts val="1600"/>
              <a:buFont typeface="Alegreya"/>
              <a:buAutoNum type="alphaLcPeriod"/>
            </a:pPr>
            <a:r>
              <a:rPr lang="en-US" altLang="zh-TW" sz="1600" dirty="0"/>
              <a:t>Respiratory organ motion probably is the largest </a:t>
            </a:r>
            <a:r>
              <a:rPr lang="en-US" altLang="zh-TW" sz="1600" dirty="0" err="1"/>
              <a:t>intrafractional</a:t>
            </a:r>
            <a:r>
              <a:rPr lang="en-US" altLang="zh-TW" sz="1600" dirty="0"/>
              <a:t> organ </a:t>
            </a:r>
            <a:r>
              <a:rPr lang="en-US" altLang="zh-TW" sz="1600" dirty="0" smtClean="0"/>
              <a:t>motion -&gt; ABC or gating or 4D…</a:t>
            </a:r>
          </a:p>
          <a:p>
            <a:pPr lvl="2" indent="-440256">
              <a:spcBef>
                <a:spcPts val="0"/>
              </a:spcBef>
              <a:buSzPts val="1600"/>
              <a:buFont typeface="Alegreya"/>
              <a:buAutoNum type="alphaLcPeriod"/>
            </a:pPr>
            <a:r>
              <a:rPr lang="en-US" altLang="zh-TW" sz="1600" dirty="0" smtClean="0"/>
              <a:t>SBRT use for 30-50Gy in 3-5Fx, often with 1-3 tumors, </a:t>
            </a:r>
          </a:p>
          <a:p>
            <a:pPr lvl="2" indent="-440256">
              <a:spcBef>
                <a:spcPts val="0"/>
              </a:spcBef>
              <a:buSzPts val="1600"/>
              <a:buFont typeface="Alegreya"/>
              <a:buAutoNum type="alphaLcPeriod"/>
            </a:pPr>
            <a:r>
              <a:rPr lang="en-US" altLang="zh-TW" sz="1600" dirty="0" err="1" smtClean="0"/>
              <a:t>Quantec</a:t>
            </a:r>
            <a:r>
              <a:rPr lang="en-US" altLang="zh-TW" sz="1600" dirty="0" smtClean="0"/>
              <a:t>: Normal liver &gt; 700ml, receive &lt; </a:t>
            </a:r>
            <a:r>
              <a:rPr lang="en-US" altLang="zh-TW" sz="1600" dirty="0" smtClean="0"/>
              <a:t>15Gy, mean &lt; 15 </a:t>
            </a:r>
            <a:r>
              <a:rPr lang="en-US" altLang="zh-TW" sz="1600" dirty="0" err="1" smtClean="0"/>
              <a:t>Gy</a:t>
            </a:r>
            <a:r>
              <a:rPr lang="en-US" altLang="zh-TW" sz="1600" dirty="0" smtClean="0"/>
              <a:t>, duodenum V30 &lt; 0.5 cc </a:t>
            </a:r>
            <a:endParaRPr lang="en-US" altLang="zh-TW" sz="1600" dirty="0" smtClean="0"/>
          </a:p>
          <a:p>
            <a:pPr lvl="2" indent="-440256">
              <a:spcBef>
                <a:spcPts val="0"/>
              </a:spcBef>
              <a:buSzPts val="1600"/>
              <a:buFont typeface="Alegreya"/>
              <a:buAutoNum type="alphaLcPeriod"/>
            </a:pPr>
            <a:r>
              <a:rPr lang="en-US" altLang="zh-TW" sz="1600" dirty="0" err="1"/>
              <a:t>Andolino</a:t>
            </a:r>
            <a:r>
              <a:rPr lang="en-US" altLang="zh-TW" sz="1600" dirty="0"/>
              <a:t> et al. (RED 2011</a:t>
            </a:r>
            <a:r>
              <a:rPr lang="en-US" altLang="zh-TW" sz="1600" dirty="0" smtClean="0"/>
              <a:t>): child A 44Gy/3Fx and B 40Gy/5Fx; 2Yr LC 90%, PFS 48%, OS 67%</a:t>
            </a:r>
            <a:endParaRPr lang="en-US" altLang="zh-TW" sz="1600" dirty="0"/>
          </a:p>
          <a:p>
            <a:pPr lvl="2" indent="-440256">
              <a:spcBef>
                <a:spcPts val="0"/>
              </a:spcBef>
              <a:buSzPts val="1600"/>
              <a:buFont typeface="Alegreya"/>
              <a:buAutoNum type="alphaLcPeriod"/>
            </a:pPr>
            <a:endParaRPr lang="en-US" altLang="zh-TW" sz="1800" dirty="0"/>
          </a:p>
          <a:p>
            <a:pPr lvl="2" indent="-440256">
              <a:spcBef>
                <a:spcPts val="0"/>
              </a:spcBef>
              <a:buSzPts val="1600"/>
              <a:buFont typeface="Alegreya"/>
              <a:buAutoNum type="alphaLcPeriod"/>
            </a:pPr>
            <a:endParaRPr sz="1700" dirty="0">
              <a:latin typeface="Alegreya"/>
              <a:ea typeface="Alegreya"/>
              <a:cs typeface="Alegreya"/>
              <a:sym typeface="Alegreya"/>
            </a:endParaRPr>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93275" y="282332"/>
            <a:ext cx="4061353" cy="2979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6258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415600" y="282333"/>
            <a:ext cx="11360800" cy="763600"/>
          </a:xfrm>
          <a:prstGeom prst="rect">
            <a:avLst/>
          </a:prstGeom>
        </p:spPr>
        <p:txBody>
          <a:bodyPr spcFirstLastPara="1" wrap="square" lIns="121897" tIns="121897" rIns="121897" bIns="121897" anchor="t" anchorCtr="0">
            <a:noAutofit/>
          </a:bodyPr>
          <a:lstStyle/>
          <a:p>
            <a:pPr algn="l"/>
            <a:r>
              <a:rPr lang="en-GB" dirty="0" smtClean="0"/>
              <a:t>2018 </a:t>
            </a:r>
            <a:r>
              <a:rPr lang="en-GB" dirty="0" err="1" smtClean="0"/>
              <a:t>熊佩韋</a:t>
            </a:r>
            <a:r>
              <a:rPr lang="en-GB" dirty="0" smtClean="0"/>
              <a:t> HCC</a:t>
            </a:r>
            <a:endParaRPr dirty="0"/>
          </a:p>
        </p:txBody>
      </p:sp>
      <p:sp>
        <p:nvSpPr>
          <p:cNvPr id="85" name="Google Shape;85;p18"/>
          <p:cNvSpPr txBox="1">
            <a:spLocks noGrp="1"/>
          </p:cNvSpPr>
          <p:nvPr>
            <p:ph type="body" idx="1"/>
          </p:nvPr>
        </p:nvSpPr>
        <p:spPr>
          <a:xfrm>
            <a:off x="150829" y="1256732"/>
            <a:ext cx="11255603" cy="5379737"/>
          </a:xfrm>
          <a:prstGeom prst="rect">
            <a:avLst/>
          </a:prstGeom>
        </p:spPr>
        <p:txBody>
          <a:bodyPr spcFirstLastPara="1" wrap="square" lIns="121897" tIns="121897" rIns="121897" bIns="121897" anchor="t" anchorCtr="0">
            <a:noAutofit/>
          </a:bodyPr>
          <a:lstStyle/>
          <a:p>
            <a:pPr indent="-440256">
              <a:buSzPts val="1600"/>
              <a:buFont typeface="Alegreya"/>
              <a:buAutoNum type="arabicPeriod"/>
            </a:pPr>
            <a:r>
              <a:rPr lang="en-GB" sz="2100" dirty="0" err="1" smtClean="0">
                <a:latin typeface="+mj-ea"/>
                <a:ea typeface="+mj-ea"/>
                <a:cs typeface="Alegreya"/>
                <a:sym typeface="Alegreya"/>
              </a:rPr>
              <a:t>一個</a:t>
            </a:r>
            <a:r>
              <a:rPr lang="en-GB" sz="2100" dirty="0" err="1">
                <a:latin typeface="+mj-ea"/>
                <a:ea typeface="+mj-ea"/>
                <a:cs typeface="Alegreya"/>
                <a:sym typeface="Alegreya"/>
              </a:rPr>
              <a:t>HCC病人</a:t>
            </a:r>
            <a:r>
              <a:rPr lang="en-GB" sz="2100" dirty="0">
                <a:latin typeface="+mj-ea"/>
                <a:ea typeface="+mj-ea"/>
                <a:cs typeface="Alegreya"/>
                <a:sym typeface="Alegreya"/>
              </a:rPr>
              <a:t> with </a:t>
            </a:r>
            <a:r>
              <a:rPr lang="en-GB" sz="2100" dirty="0" err="1">
                <a:latin typeface="+mj-ea"/>
                <a:ea typeface="+mj-ea"/>
                <a:cs typeface="Alegreya"/>
                <a:sym typeface="Alegreya"/>
              </a:rPr>
              <a:t>macrovascular</a:t>
            </a:r>
            <a:r>
              <a:rPr lang="en-GB" sz="2100" dirty="0">
                <a:latin typeface="+mj-ea"/>
                <a:ea typeface="+mj-ea"/>
                <a:cs typeface="Alegreya"/>
                <a:sym typeface="Alegreya"/>
              </a:rPr>
              <a:t> invasion, child A</a:t>
            </a:r>
            <a:endParaRPr sz="2100" dirty="0">
              <a:latin typeface="+mj-ea"/>
              <a:ea typeface="+mj-ea"/>
              <a:cs typeface="Alegreya"/>
              <a:sym typeface="Alegreya"/>
            </a:endParaRPr>
          </a:p>
          <a:p>
            <a:pPr lvl="1" indent="-440256">
              <a:spcBef>
                <a:spcPts val="0"/>
              </a:spcBef>
              <a:buSzPts val="1600"/>
              <a:buFont typeface="Alegreya"/>
              <a:buAutoNum type="alphaLcPeriod"/>
            </a:pPr>
            <a:r>
              <a:rPr lang="en-GB" sz="2100" dirty="0">
                <a:latin typeface="+mj-ea"/>
                <a:ea typeface="+mj-ea"/>
                <a:cs typeface="Alegreya"/>
                <a:sym typeface="Alegreya"/>
              </a:rPr>
              <a:t>Child score </a:t>
            </a:r>
            <a:r>
              <a:rPr lang="en-GB" sz="2100" dirty="0" err="1" smtClean="0">
                <a:latin typeface="+mj-ea"/>
                <a:ea typeface="+mj-ea"/>
                <a:cs typeface="Alegreya"/>
                <a:sym typeface="Alegreya"/>
              </a:rPr>
              <a:t>分期</a:t>
            </a:r>
            <a:endParaRPr sz="1700" dirty="0">
              <a:latin typeface="+mj-ea"/>
              <a:ea typeface="+mj-ea"/>
              <a:cs typeface="Alegreya"/>
              <a:sym typeface="Alegreya"/>
            </a:endParaRPr>
          </a:p>
          <a:p>
            <a:pPr lvl="1" indent="-440256">
              <a:spcBef>
                <a:spcPts val="0"/>
              </a:spcBef>
              <a:buSzPts val="1600"/>
              <a:buFont typeface="Alegreya"/>
              <a:buAutoNum type="alphaLcPeriod"/>
            </a:pPr>
            <a:r>
              <a:rPr lang="en-GB" sz="2100" dirty="0" err="1">
                <a:latin typeface="+mj-ea"/>
                <a:ea typeface="+mj-ea"/>
                <a:cs typeface="Alegreya"/>
                <a:sym typeface="Alegreya"/>
              </a:rPr>
              <a:t>治療方式</a:t>
            </a:r>
            <a:r>
              <a:rPr lang="en-GB" sz="2100" dirty="0">
                <a:latin typeface="+mj-ea"/>
                <a:ea typeface="+mj-ea"/>
                <a:cs typeface="Alegreya"/>
                <a:sym typeface="Alegreya"/>
              </a:rPr>
              <a:t>？</a:t>
            </a:r>
            <a:endParaRPr sz="2100" dirty="0">
              <a:latin typeface="+mj-ea"/>
              <a:ea typeface="+mj-ea"/>
              <a:cs typeface="Alegreya"/>
              <a:sym typeface="Alegreya"/>
            </a:endParaRPr>
          </a:p>
          <a:p>
            <a:pPr lvl="1" indent="-440256">
              <a:spcBef>
                <a:spcPts val="0"/>
              </a:spcBef>
              <a:buSzPts val="1600"/>
              <a:buFont typeface="Alegreya"/>
              <a:buAutoNum type="alphaLcPeriod"/>
            </a:pPr>
            <a:r>
              <a:rPr lang="en-GB" sz="2100" dirty="0">
                <a:latin typeface="+mj-ea"/>
                <a:ea typeface="+mj-ea"/>
                <a:cs typeface="Alegreya"/>
                <a:sym typeface="Alegreya"/>
              </a:rPr>
              <a:t>Systemic </a:t>
            </a:r>
            <a:r>
              <a:rPr lang="en-GB" sz="2100" dirty="0" err="1">
                <a:latin typeface="+mj-ea"/>
                <a:ea typeface="+mj-ea"/>
                <a:cs typeface="Alegreya"/>
                <a:sym typeface="Alegreya"/>
              </a:rPr>
              <a:t>的選擇</a:t>
            </a:r>
            <a:r>
              <a:rPr lang="en-GB" sz="2100" dirty="0">
                <a:latin typeface="+mj-ea"/>
                <a:ea typeface="+mj-ea"/>
                <a:cs typeface="Alegreya"/>
                <a:sym typeface="Alegreya"/>
              </a:rPr>
              <a:t>？(</a:t>
            </a:r>
            <a:r>
              <a:rPr lang="en-GB" sz="2100" dirty="0" err="1">
                <a:latin typeface="+mj-ea"/>
                <a:ea typeface="+mj-ea"/>
                <a:cs typeface="Alegreya"/>
                <a:sym typeface="Alegreya"/>
              </a:rPr>
              <a:t>sorafenib</a:t>
            </a:r>
            <a:r>
              <a:rPr lang="en-GB" sz="2100" dirty="0" smtClean="0">
                <a:latin typeface="+mj-ea"/>
                <a:ea typeface="+mj-ea"/>
                <a:cs typeface="Alegreya"/>
                <a:sym typeface="Alegreya"/>
              </a:rPr>
              <a:t>)</a:t>
            </a:r>
          </a:p>
          <a:p>
            <a:pPr lvl="2" indent="-440256">
              <a:spcBef>
                <a:spcPts val="0"/>
              </a:spcBef>
              <a:buSzPts val="1600"/>
              <a:buFont typeface="Alegreya"/>
              <a:buAutoNum type="alphaLcPeriod"/>
            </a:pPr>
            <a:r>
              <a:rPr lang="zh-TW" altLang="en-US" sz="1800" dirty="0">
                <a:latin typeface="+mj-ea"/>
                <a:ea typeface="+mj-ea"/>
              </a:rPr>
              <a:t>健保</a:t>
            </a:r>
            <a:r>
              <a:rPr lang="zh-TW" altLang="zh-TW" sz="1800" dirty="0" smtClean="0">
                <a:latin typeface="+mj-ea"/>
                <a:ea typeface="+mj-ea"/>
              </a:rPr>
              <a:t>轉移</a:t>
            </a:r>
            <a:r>
              <a:rPr lang="zh-TW" altLang="zh-TW" sz="1800" dirty="0">
                <a:latin typeface="+mj-ea"/>
                <a:ea typeface="+mj-ea"/>
              </a:rPr>
              <a:t>性或無法手術切除且不適合局部治療或局部治療失敗之晚期肝細胞癌，並符合下列條件之一：肝外轉移（遠端轉移或肝外淋巴結侵犯）的</a:t>
            </a:r>
            <a:r>
              <a:rPr lang="en-US" altLang="zh-TW" sz="1800" dirty="0">
                <a:latin typeface="+mj-ea"/>
                <a:ea typeface="+mj-ea"/>
              </a:rPr>
              <a:t> Child-Pugh A class </a:t>
            </a:r>
            <a:r>
              <a:rPr lang="zh-TW" altLang="zh-TW" sz="1800" dirty="0">
                <a:latin typeface="+mj-ea"/>
                <a:ea typeface="+mj-ea"/>
              </a:rPr>
              <a:t>患者；大血管侵犯（腫瘤侵犯主門靜脈或侵犯左</a:t>
            </a:r>
            <a:r>
              <a:rPr lang="en-US" altLang="zh-TW" sz="1800" dirty="0">
                <a:latin typeface="+mj-ea"/>
                <a:ea typeface="+mj-ea"/>
              </a:rPr>
              <a:t>/</a:t>
            </a:r>
            <a:r>
              <a:rPr lang="zh-TW" altLang="zh-TW" sz="1800" dirty="0">
                <a:latin typeface="+mj-ea"/>
                <a:ea typeface="+mj-ea"/>
              </a:rPr>
              <a:t>右靜脈第一分支）的</a:t>
            </a:r>
            <a:r>
              <a:rPr lang="en-US" altLang="zh-TW" sz="1800" dirty="0">
                <a:latin typeface="+mj-ea"/>
                <a:ea typeface="+mj-ea"/>
              </a:rPr>
              <a:t> Child-Pugh A class </a:t>
            </a:r>
            <a:r>
              <a:rPr lang="zh-TW" altLang="zh-TW" sz="1800" dirty="0" smtClean="0">
                <a:latin typeface="+mj-ea"/>
                <a:ea typeface="+mj-ea"/>
              </a:rPr>
              <a:t>患者</a:t>
            </a:r>
            <a:r>
              <a:rPr lang="zh-TW" altLang="en-US" sz="1800" dirty="0" smtClean="0">
                <a:latin typeface="+mj-ea"/>
              </a:rPr>
              <a:t>或</a:t>
            </a:r>
            <a:r>
              <a:rPr lang="zh-TW" altLang="zh-TW" sz="1800" dirty="0"/>
              <a:t>經導管動脈化學治療藥物栓塞治療 </a:t>
            </a:r>
            <a:r>
              <a:rPr lang="en-US" altLang="zh-TW" sz="1800" dirty="0"/>
              <a:t>(</a:t>
            </a:r>
            <a:r>
              <a:rPr lang="en-US" altLang="zh-TW" sz="1800" dirty="0" err="1"/>
              <a:t>Transcatheter</a:t>
            </a:r>
            <a:r>
              <a:rPr lang="en-US" altLang="zh-TW" sz="1800" dirty="0"/>
              <a:t> arterial chemoembolization, T.A.C.E) </a:t>
            </a:r>
            <a:r>
              <a:rPr lang="zh-TW" altLang="zh-TW" sz="1800" dirty="0"/>
              <a:t>失敗者，須提供患者 於</a:t>
            </a:r>
            <a:r>
              <a:rPr lang="en-US" altLang="zh-TW" sz="1800" dirty="0"/>
              <a:t> 12 </a:t>
            </a:r>
            <a:r>
              <a:rPr lang="zh-TW" altLang="zh-TW" sz="1800" dirty="0"/>
              <a:t>個月內 </a:t>
            </a:r>
            <a:r>
              <a:rPr lang="en-US" altLang="zh-TW" sz="1800" dirty="0"/>
              <a:t>&gt;=3 </a:t>
            </a:r>
            <a:r>
              <a:rPr lang="zh-TW" altLang="zh-TW" sz="1800" dirty="0"/>
              <a:t>次局部治療之</a:t>
            </a:r>
            <a:r>
              <a:rPr lang="zh-TW" altLang="zh-TW" sz="1800" dirty="0" smtClean="0"/>
              <a:t>紀錄</a:t>
            </a:r>
            <a:endParaRPr lang="en-GB" sz="1700" dirty="0" smtClean="0">
              <a:latin typeface="+mj-ea"/>
              <a:ea typeface="+mj-ea"/>
              <a:cs typeface="Alegreya"/>
              <a:sym typeface="Alegreya"/>
            </a:endParaRPr>
          </a:p>
          <a:p>
            <a:pPr lvl="1" indent="-440256">
              <a:spcBef>
                <a:spcPts val="0"/>
              </a:spcBef>
              <a:buSzPts val="1600"/>
              <a:buFont typeface="Alegreya"/>
              <a:buAutoNum type="alphaLcPeriod"/>
            </a:pPr>
            <a:r>
              <a:rPr lang="en-GB" sz="2100" dirty="0" err="1" smtClean="0">
                <a:latin typeface="+mj-ea"/>
                <a:ea typeface="+mj-ea"/>
                <a:cs typeface="Alegreya"/>
                <a:sym typeface="Alegreya"/>
              </a:rPr>
              <a:t>一線現在有替代的藥物嗎</a:t>
            </a:r>
            <a:r>
              <a:rPr lang="en-GB" sz="2100" dirty="0">
                <a:latin typeface="+mj-ea"/>
                <a:ea typeface="+mj-ea"/>
                <a:cs typeface="Alegreya"/>
                <a:sym typeface="Alegreya"/>
              </a:rPr>
              <a:t>？ </a:t>
            </a:r>
            <a:endParaRPr lang="en-GB" sz="2100" dirty="0" smtClean="0">
              <a:latin typeface="+mj-ea"/>
              <a:ea typeface="+mj-ea"/>
              <a:cs typeface="Alegreya"/>
              <a:sym typeface="Alegreya"/>
            </a:endParaRPr>
          </a:p>
          <a:p>
            <a:pPr lvl="2" indent="-440256">
              <a:spcBef>
                <a:spcPts val="0"/>
              </a:spcBef>
              <a:buSzPts val="1600"/>
              <a:buFont typeface="Alegreya"/>
              <a:buAutoNum type="alphaLcPeriod"/>
            </a:pPr>
            <a:r>
              <a:rPr lang="en-GB" sz="1800" dirty="0" err="1" smtClean="0">
                <a:solidFill>
                  <a:srgbClr val="FF0000"/>
                </a:solidFill>
                <a:latin typeface="+mj-ea"/>
                <a:ea typeface="+mj-ea"/>
                <a:cs typeface="Alegreya"/>
                <a:sym typeface="Alegreya"/>
              </a:rPr>
              <a:t>Lenvatinib</a:t>
            </a:r>
            <a:endParaRPr sz="1800" dirty="0">
              <a:solidFill>
                <a:srgbClr val="FF0000"/>
              </a:solidFill>
              <a:latin typeface="+mj-ea"/>
              <a:ea typeface="+mj-ea"/>
              <a:cs typeface="Alegreya"/>
              <a:sym typeface="Alegreya"/>
            </a:endParaRPr>
          </a:p>
          <a:p>
            <a:pPr lvl="1" indent="-440256">
              <a:spcBef>
                <a:spcPts val="0"/>
              </a:spcBef>
              <a:buSzPts val="1600"/>
              <a:buFont typeface="Alegreya"/>
              <a:buAutoNum type="alphaLcPeriod"/>
            </a:pPr>
            <a:r>
              <a:rPr lang="en-GB" sz="2100" dirty="0">
                <a:latin typeface="+mj-ea"/>
                <a:ea typeface="+mj-ea"/>
                <a:cs typeface="Alegreya"/>
                <a:sym typeface="Alegreya"/>
              </a:rPr>
              <a:t>Immunotherapy </a:t>
            </a:r>
            <a:r>
              <a:rPr lang="en-GB" sz="2100" dirty="0" err="1">
                <a:latin typeface="+mj-ea"/>
                <a:ea typeface="+mj-ea"/>
                <a:cs typeface="Alegreya"/>
                <a:sym typeface="Alegreya"/>
              </a:rPr>
              <a:t>有角色嗎</a:t>
            </a:r>
            <a:r>
              <a:rPr lang="en-GB" sz="2100" dirty="0">
                <a:latin typeface="+mj-ea"/>
                <a:ea typeface="+mj-ea"/>
                <a:cs typeface="Alegreya"/>
                <a:sym typeface="Alegreya"/>
              </a:rPr>
              <a:t>？(</a:t>
            </a:r>
            <a:r>
              <a:rPr lang="en-GB" sz="2100" dirty="0" err="1">
                <a:latin typeface="+mj-ea"/>
                <a:ea typeface="+mj-ea"/>
                <a:cs typeface="Alegreya"/>
                <a:sym typeface="Alegreya"/>
              </a:rPr>
              <a:t>Nivolumab</a:t>
            </a:r>
            <a:r>
              <a:rPr lang="en-GB" sz="2100" dirty="0">
                <a:latin typeface="+mj-ea"/>
                <a:ea typeface="+mj-ea"/>
                <a:cs typeface="Alegreya"/>
                <a:sym typeface="Alegreya"/>
              </a:rPr>
              <a:t> </a:t>
            </a:r>
            <a:r>
              <a:rPr lang="en-GB" sz="2100" dirty="0" smtClean="0">
                <a:latin typeface="+mj-ea"/>
                <a:ea typeface="+mj-ea"/>
                <a:cs typeface="Alegreya"/>
                <a:sym typeface="Alegreya"/>
              </a:rPr>
              <a:t>&amp; </a:t>
            </a:r>
            <a:r>
              <a:rPr lang="en-GB" sz="2100" dirty="0" err="1" smtClean="0">
                <a:latin typeface="+mj-ea"/>
                <a:ea typeface="+mj-ea"/>
                <a:cs typeface="Alegreya"/>
                <a:sym typeface="Alegreya"/>
              </a:rPr>
              <a:t>Pembrolizumab有</a:t>
            </a:r>
            <a:r>
              <a:rPr lang="en-GB" sz="2100" dirty="0" smtClean="0">
                <a:latin typeface="+mj-ea"/>
                <a:ea typeface="+mj-ea"/>
                <a:cs typeface="Alegreya"/>
                <a:sym typeface="Alegreya"/>
              </a:rPr>
              <a:t> </a:t>
            </a:r>
            <a:r>
              <a:rPr lang="en-GB" sz="2100" dirty="0">
                <a:latin typeface="+mj-ea"/>
                <a:ea typeface="+mj-ea"/>
                <a:cs typeface="Alegreya"/>
                <a:sym typeface="Alegreya"/>
              </a:rPr>
              <a:t>phase I/II result</a:t>
            </a:r>
            <a:r>
              <a:rPr lang="en-GB" sz="2100" dirty="0" smtClean="0">
                <a:latin typeface="+mj-ea"/>
                <a:ea typeface="+mj-ea"/>
                <a:cs typeface="Alegreya"/>
                <a:sym typeface="Alegreya"/>
              </a:rPr>
              <a:t>)</a:t>
            </a:r>
            <a:r>
              <a:rPr lang="en-GB" sz="2100" dirty="0" smtClean="0">
                <a:solidFill>
                  <a:srgbClr val="FF0000"/>
                </a:solidFill>
                <a:latin typeface="+mj-ea"/>
                <a:ea typeface="+mj-ea"/>
                <a:cs typeface="Alegreya"/>
                <a:sym typeface="Alegreya"/>
              </a:rPr>
              <a:t>(response rate 20%, G3 </a:t>
            </a:r>
            <a:r>
              <a:rPr lang="zh-TW" altLang="en-US" sz="2100" dirty="0" smtClean="0">
                <a:solidFill>
                  <a:srgbClr val="FF0000"/>
                </a:solidFill>
                <a:latin typeface="+mj-ea"/>
                <a:ea typeface="+mj-ea"/>
                <a:cs typeface="Alegreya"/>
                <a:sym typeface="Alegreya"/>
              </a:rPr>
              <a:t>以上</a:t>
            </a:r>
            <a:r>
              <a:rPr lang="en-US" altLang="zh-TW" sz="2100" dirty="0" smtClean="0">
                <a:solidFill>
                  <a:srgbClr val="FF0000"/>
                </a:solidFill>
                <a:latin typeface="+mj-ea"/>
                <a:ea typeface="+mj-ea"/>
                <a:cs typeface="Alegreya"/>
                <a:sym typeface="Alegreya"/>
              </a:rPr>
              <a:t>toxicity</a:t>
            </a:r>
            <a:r>
              <a:rPr lang="zh-TW" altLang="en-US" sz="2100" dirty="0" smtClean="0">
                <a:solidFill>
                  <a:srgbClr val="FF0000"/>
                </a:solidFill>
                <a:latin typeface="+mj-ea"/>
                <a:ea typeface="+mj-ea"/>
                <a:cs typeface="Alegreya"/>
                <a:sym typeface="Alegreya"/>
              </a:rPr>
              <a:t> </a:t>
            </a:r>
            <a:r>
              <a:rPr lang="en-US" altLang="zh-TW" sz="2100" dirty="0" smtClean="0">
                <a:solidFill>
                  <a:srgbClr val="FF0000"/>
                </a:solidFill>
                <a:latin typeface="+mj-ea"/>
                <a:ea typeface="+mj-ea"/>
                <a:cs typeface="Alegreya"/>
                <a:sym typeface="Alegreya"/>
              </a:rPr>
              <a:t>20-30%)</a:t>
            </a:r>
            <a:endParaRPr lang="en-GB" sz="2100" dirty="0" smtClean="0">
              <a:solidFill>
                <a:srgbClr val="FF0000"/>
              </a:solidFill>
              <a:latin typeface="+mj-ea"/>
              <a:ea typeface="+mj-ea"/>
              <a:cs typeface="Alegreya"/>
              <a:sym typeface="Alegreya"/>
            </a:endParaRPr>
          </a:p>
          <a:p>
            <a:pPr lvl="2" indent="-440256">
              <a:spcBef>
                <a:spcPts val="0"/>
              </a:spcBef>
              <a:buSzPts val="1600"/>
              <a:buFont typeface="Alegreya"/>
              <a:buAutoNum type="alphaLcPeriod"/>
            </a:pPr>
            <a:r>
              <a:rPr lang="zh-TW" altLang="en-US" sz="1800" dirty="0">
                <a:latin typeface="+mj-ea"/>
                <a:ea typeface="+mj-ea"/>
                <a:cs typeface="Alegreya"/>
                <a:sym typeface="Alegreya"/>
              </a:rPr>
              <a:t>目前健保</a:t>
            </a:r>
            <a:r>
              <a:rPr lang="zh-TW" altLang="en-US" sz="1800" dirty="0" smtClean="0">
                <a:latin typeface="+mj-ea"/>
                <a:ea typeface="+mj-ea"/>
                <a:cs typeface="Alegreya"/>
                <a:sym typeface="Alegreya"/>
              </a:rPr>
              <a:t>給付</a:t>
            </a:r>
            <a:endParaRPr lang="en-US" altLang="zh-TW" sz="1800" dirty="0">
              <a:latin typeface="+mj-ea"/>
              <a:ea typeface="+mj-ea"/>
              <a:cs typeface="Alegreya"/>
              <a:sym typeface="Alegreya"/>
            </a:endParaRPr>
          </a:p>
          <a:p>
            <a:pPr lvl="2" indent="-440256">
              <a:spcBef>
                <a:spcPts val="0"/>
              </a:spcBef>
              <a:buSzPts val="1600"/>
              <a:buFont typeface="Alegreya"/>
              <a:buAutoNum type="alphaLcPeriod"/>
            </a:pPr>
            <a:r>
              <a:rPr lang="zh-TW" altLang="en-US" sz="1800" dirty="0" smtClean="0">
                <a:latin typeface="+mj-ea"/>
                <a:ea typeface="+mj-ea"/>
              </a:rPr>
              <a:t>晚期</a:t>
            </a:r>
            <a:r>
              <a:rPr lang="zh-TW" altLang="en-US" sz="1800" dirty="0">
                <a:latin typeface="+mj-ea"/>
                <a:ea typeface="+mj-ea"/>
              </a:rPr>
              <a:t>肝細胞癌：需同時符合下列所有條件： </a:t>
            </a:r>
            <a:endParaRPr lang="en-US" altLang="zh-TW" sz="1800" dirty="0" smtClean="0">
              <a:latin typeface="+mj-ea"/>
              <a:ea typeface="+mj-ea"/>
            </a:endParaRPr>
          </a:p>
          <a:p>
            <a:pPr lvl="2" indent="-440256">
              <a:spcBef>
                <a:spcPts val="0"/>
              </a:spcBef>
              <a:buSzPts val="1600"/>
              <a:buFont typeface="Alegreya"/>
              <a:buAutoNum type="alphaLcPeriod"/>
            </a:pPr>
            <a:r>
              <a:rPr lang="en-US" altLang="zh-TW" sz="1800" dirty="0" smtClean="0">
                <a:latin typeface="+mj-ea"/>
                <a:ea typeface="+mj-ea"/>
              </a:rPr>
              <a:t>I</a:t>
            </a:r>
            <a:r>
              <a:rPr lang="en-US" altLang="zh-TW" sz="1800" dirty="0">
                <a:latin typeface="+mj-ea"/>
                <a:ea typeface="+mj-ea"/>
              </a:rPr>
              <a:t>.  Child-Pugh </a:t>
            </a:r>
            <a:r>
              <a:rPr lang="en-US" altLang="zh-TW" sz="1800" dirty="0">
                <a:solidFill>
                  <a:srgbClr val="FF0000"/>
                </a:solidFill>
                <a:latin typeface="+mj-ea"/>
                <a:ea typeface="+mj-ea"/>
              </a:rPr>
              <a:t>A</a:t>
            </a:r>
            <a:r>
              <a:rPr lang="en-US" altLang="zh-TW" sz="1800" dirty="0">
                <a:latin typeface="+mj-ea"/>
                <a:ea typeface="+mj-ea"/>
              </a:rPr>
              <a:t> class </a:t>
            </a:r>
            <a:r>
              <a:rPr lang="zh-TW" altLang="en-US" sz="1800" dirty="0">
                <a:latin typeface="+mj-ea"/>
                <a:ea typeface="+mj-ea"/>
              </a:rPr>
              <a:t>肝細胞癌成人患者。 </a:t>
            </a:r>
            <a:endParaRPr lang="en-US" altLang="zh-TW" sz="1800" dirty="0" smtClean="0">
              <a:latin typeface="+mj-ea"/>
              <a:ea typeface="+mj-ea"/>
            </a:endParaRPr>
          </a:p>
          <a:p>
            <a:pPr lvl="2" indent="-440256">
              <a:spcBef>
                <a:spcPts val="0"/>
              </a:spcBef>
              <a:buSzPts val="1600"/>
              <a:buFont typeface="Alegreya"/>
              <a:buAutoNum type="alphaLcPeriod"/>
            </a:pPr>
            <a:r>
              <a:rPr lang="en-US" altLang="zh-TW" sz="1800" dirty="0" smtClean="0">
                <a:latin typeface="+mj-ea"/>
                <a:ea typeface="+mj-ea"/>
              </a:rPr>
              <a:t>II</a:t>
            </a:r>
            <a:r>
              <a:rPr lang="en-US" altLang="zh-TW" sz="1800" dirty="0">
                <a:latin typeface="+mj-ea"/>
                <a:ea typeface="+mj-ea"/>
              </a:rPr>
              <a:t>.  </a:t>
            </a:r>
            <a:r>
              <a:rPr lang="zh-TW" altLang="en-US" sz="1800" dirty="0">
                <a:latin typeface="+mj-ea"/>
                <a:ea typeface="+mj-ea"/>
              </a:rPr>
              <a:t>先前經 </a:t>
            </a:r>
            <a:r>
              <a:rPr lang="en-US" altLang="zh-TW" sz="1800" dirty="0">
                <a:latin typeface="+mj-ea"/>
                <a:ea typeface="+mj-ea"/>
              </a:rPr>
              <a:t>T.A.C.E.</a:t>
            </a:r>
            <a:r>
              <a:rPr lang="zh-TW" altLang="en-US" sz="1800" dirty="0">
                <a:latin typeface="+mj-ea"/>
                <a:ea typeface="+mj-ea"/>
              </a:rPr>
              <a:t>於 </a:t>
            </a:r>
            <a:r>
              <a:rPr lang="en-US" altLang="zh-TW" sz="1800" dirty="0">
                <a:latin typeface="+mj-ea"/>
                <a:ea typeface="+mj-ea"/>
              </a:rPr>
              <a:t>12 </a:t>
            </a:r>
            <a:r>
              <a:rPr lang="zh-TW" altLang="en-US" sz="1800" dirty="0">
                <a:latin typeface="+mj-ea"/>
                <a:ea typeface="+mj-ea"/>
              </a:rPr>
              <a:t>個月內</a:t>
            </a:r>
            <a:r>
              <a:rPr lang="en-US" altLang="zh-TW" sz="1800" dirty="0">
                <a:solidFill>
                  <a:srgbClr val="FF0000"/>
                </a:solidFill>
                <a:latin typeface="+mj-ea"/>
                <a:ea typeface="+mj-ea"/>
              </a:rPr>
              <a:t>&gt;=3</a:t>
            </a:r>
            <a:r>
              <a:rPr lang="en-US" altLang="zh-TW" sz="1800" dirty="0">
                <a:latin typeface="+mj-ea"/>
                <a:ea typeface="+mj-ea"/>
              </a:rPr>
              <a:t> </a:t>
            </a:r>
            <a:r>
              <a:rPr lang="zh-TW" altLang="en-US" sz="1800" dirty="0">
                <a:latin typeface="+mj-ea"/>
                <a:ea typeface="+mj-ea"/>
              </a:rPr>
              <a:t>次局部治療失敗者。 </a:t>
            </a:r>
            <a:endParaRPr lang="en-US" altLang="zh-TW" sz="1800" dirty="0" smtClean="0">
              <a:latin typeface="+mj-ea"/>
              <a:ea typeface="+mj-ea"/>
            </a:endParaRPr>
          </a:p>
          <a:p>
            <a:pPr lvl="2" indent="-440256">
              <a:spcBef>
                <a:spcPts val="0"/>
              </a:spcBef>
              <a:buSzPts val="1600"/>
              <a:buFont typeface="Alegreya"/>
              <a:buAutoNum type="alphaLcPeriod"/>
            </a:pPr>
            <a:r>
              <a:rPr lang="en-US" altLang="zh-TW" sz="1800" dirty="0" smtClean="0">
                <a:latin typeface="+mj-ea"/>
                <a:ea typeface="+mj-ea"/>
              </a:rPr>
              <a:t>III</a:t>
            </a:r>
            <a:r>
              <a:rPr lang="en-US" altLang="zh-TW" sz="1800" dirty="0">
                <a:latin typeface="+mj-ea"/>
                <a:ea typeface="+mj-ea"/>
              </a:rPr>
              <a:t>. </a:t>
            </a:r>
            <a:r>
              <a:rPr lang="zh-TW" altLang="en-US" sz="1800" dirty="0">
                <a:latin typeface="+mj-ea"/>
                <a:ea typeface="+mj-ea"/>
              </a:rPr>
              <a:t>已使用過</a:t>
            </a:r>
            <a:r>
              <a:rPr lang="zh-TW" altLang="en-US" sz="1800" dirty="0">
                <a:solidFill>
                  <a:srgbClr val="FF0000"/>
                </a:solidFill>
                <a:latin typeface="+mj-ea"/>
                <a:ea typeface="+mj-ea"/>
              </a:rPr>
              <a:t>至少一線標靶藥物</a:t>
            </a:r>
            <a:r>
              <a:rPr lang="zh-TW" altLang="en-US" sz="1800" dirty="0">
                <a:latin typeface="+mj-ea"/>
                <a:ea typeface="+mj-ea"/>
              </a:rPr>
              <a:t>治療失敗，又有疾病惡化者。</a:t>
            </a:r>
            <a:r>
              <a:rPr lang="en-US" altLang="zh-TW" sz="1800" dirty="0">
                <a:latin typeface="+mj-ea"/>
                <a:ea typeface="+mj-ea"/>
              </a:rPr>
              <a:t>(</a:t>
            </a:r>
            <a:r>
              <a:rPr lang="zh-TW" altLang="en-US" sz="1800" dirty="0">
                <a:latin typeface="+mj-ea"/>
                <a:ea typeface="+mj-ea"/>
              </a:rPr>
              <a:t>倘有二線標靶藥物擴增給付用於此適應症時，本款即同步限縮於與第二線標靶藥物擇一使用，且治療失敗時不可互換。</a:t>
            </a:r>
            <a:r>
              <a:rPr lang="en-US" altLang="zh-TW" sz="1800" dirty="0">
                <a:latin typeface="+mj-ea"/>
                <a:ea typeface="+mj-ea"/>
              </a:rPr>
              <a:t>) </a:t>
            </a:r>
            <a:endParaRPr lang="en-US" altLang="zh-TW" sz="1800" dirty="0" smtClean="0">
              <a:latin typeface="+mj-ea"/>
              <a:ea typeface="+mj-ea"/>
            </a:endParaRPr>
          </a:p>
          <a:p>
            <a:pPr lvl="2" indent="-440256">
              <a:spcBef>
                <a:spcPts val="0"/>
              </a:spcBef>
              <a:buSzPts val="1600"/>
              <a:buFont typeface="Alegreya"/>
              <a:buAutoNum type="alphaLcPeriod"/>
            </a:pPr>
            <a:r>
              <a:rPr lang="en-US" altLang="zh-TW" sz="1800" dirty="0" smtClean="0">
                <a:latin typeface="+mj-ea"/>
                <a:ea typeface="+mj-ea"/>
              </a:rPr>
              <a:t>IV</a:t>
            </a:r>
            <a:r>
              <a:rPr lang="en-US" altLang="zh-TW" sz="1800" dirty="0">
                <a:latin typeface="+mj-ea"/>
                <a:ea typeface="+mj-ea"/>
              </a:rPr>
              <a:t>. </a:t>
            </a:r>
            <a:r>
              <a:rPr lang="zh-TW" altLang="en-US" sz="1800" dirty="0">
                <a:latin typeface="+mj-ea"/>
                <a:ea typeface="+mj-ea"/>
              </a:rPr>
              <a:t>未曾進行肝臟移植。</a:t>
            </a:r>
            <a:endParaRPr sz="1800" dirty="0">
              <a:latin typeface="+mj-ea"/>
              <a:ea typeface="+mj-ea"/>
              <a:cs typeface="Alegreya"/>
              <a:sym typeface="Alegreya"/>
            </a:endParaRPr>
          </a:p>
        </p:txBody>
      </p:sp>
      <p:pic>
        <p:nvPicPr>
          <p:cNvPr id="5" name="圖片 4">
            <a:extLst>
              <a:ext uri="{FF2B5EF4-FFF2-40B4-BE49-F238E27FC236}">
                <a16:creationId xmlns:a16="http://schemas.microsoft.com/office/drawing/2014/main" id="{BB657F96-3B43-41E2-BA2D-79A5876B3C75}"/>
              </a:ext>
            </a:extLst>
          </p:cNvPr>
          <p:cNvPicPr/>
          <p:nvPr/>
        </p:nvPicPr>
        <p:blipFill rotWithShape="1">
          <a:blip r:embed="rId3" cstate="print">
            <a:extLst>
              <a:ext uri="{28A0092B-C50C-407E-A947-70E740481C1C}">
                <a14:useLocalDpi xmlns:a14="http://schemas.microsoft.com/office/drawing/2010/main" val="0"/>
              </a:ext>
            </a:extLst>
          </a:blip>
          <a:srcRect l="21214" t="13586" r="21096" b="39075"/>
          <a:stretch/>
        </p:blipFill>
        <p:spPr bwMode="auto">
          <a:xfrm>
            <a:off x="8126347" y="177914"/>
            <a:ext cx="3741999" cy="233904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98498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2017 </a:t>
            </a:r>
            <a:r>
              <a:rPr lang="zh-TW" altLang="en-US" dirty="0" smtClean="0"/>
              <a:t>劉岱瑋 </a:t>
            </a:r>
            <a:r>
              <a:rPr lang="en-US" altLang="zh-TW" dirty="0" smtClean="0"/>
              <a:t>Esophagus</a:t>
            </a:r>
            <a:endParaRPr lang="zh-TW" altLang="en-US" dirty="0"/>
          </a:p>
        </p:txBody>
      </p:sp>
      <p:sp>
        <p:nvSpPr>
          <p:cNvPr id="3" name="內容版面配置區 2"/>
          <p:cNvSpPr>
            <a:spLocks noGrp="1"/>
          </p:cNvSpPr>
          <p:nvPr>
            <p:ph idx="1"/>
          </p:nvPr>
        </p:nvSpPr>
        <p:spPr>
          <a:xfrm>
            <a:off x="141402" y="1600201"/>
            <a:ext cx="8474696" cy="5168244"/>
          </a:xfrm>
        </p:spPr>
        <p:txBody>
          <a:bodyPr>
            <a:normAutofit fontScale="40000" lnSpcReduction="20000"/>
          </a:bodyPr>
          <a:lstStyle/>
          <a:p>
            <a:r>
              <a:rPr lang="zh-TW" altLang="en-US" dirty="0" smtClean="0"/>
              <a:t>情境</a:t>
            </a:r>
            <a:r>
              <a:rPr lang="zh-TW" altLang="en-US" dirty="0"/>
              <a:t>題</a:t>
            </a:r>
            <a:r>
              <a:rPr lang="en-US" altLang="zh-TW" dirty="0"/>
              <a:t>, </a:t>
            </a:r>
            <a:r>
              <a:rPr lang="zh-TW" altLang="en-US" dirty="0"/>
              <a:t>外院轉來一位</a:t>
            </a:r>
            <a:r>
              <a:rPr lang="en-US" altLang="zh-TW" dirty="0"/>
              <a:t>progressive dysphagia</a:t>
            </a:r>
            <a:r>
              <a:rPr lang="zh-TW" altLang="en-US" dirty="0"/>
              <a:t>病人</a:t>
            </a:r>
            <a:r>
              <a:rPr lang="en-US" altLang="zh-TW" dirty="0"/>
              <a:t>, </a:t>
            </a:r>
            <a:r>
              <a:rPr lang="zh-TW" altLang="en-US" dirty="0"/>
              <a:t>距</a:t>
            </a:r>
            <a:r>
              <a:rPr lang="en-US" altLang="zh-TW" dirty="0"/>
              <a:t>incisor 28cm</a:t>
            </a:r>
            <a:r>
              <a:rPr lang="zh-TW" altLang="en-US" dirty="0"/>
              <a:t>處有個</a:t>
            </a:r>
            <a:r>
              <a:rPr lang="en-US" altLang="zh-TW" dirty="0"/>
              <a:t>3</a:t>
            </a:r>
            <a:r>
              <a:rPr lang="zh-TW" altLang="en-US" dirty="0"/>
              <a:t>公分的病灶，</a:t>
            </a:r>
            <a:r>
              <a:rPr lang="en-US" altLang="zh-TW" dirty="0"/>
              <a:t>EGD biopsy </a:t>
            </a:r>
            <a:r>
              <a:rPr lang="zh-TW" altLang="en-US" dirty="0"/>
              <a:t>結果是</a:t>
            </a:r>
            <a:r>
              <a:rPr lang="en-US" altLang="zh-TW" dirty="0" err="1"/>
              <a:t>SqCC</a:t>
            </a:r>
            <a:r>
              <a:rPr lang="en-US" altLang="zh-TW" dirty="0"/>
              <a:t>, </a:t>
            </a:r>
            <a:r>
              <a:rPr lang="zh-TW" altLang="en-US" dirty="0"/>
              <a:t>接下來處理</a:t>
            </a:r>
            <a:r>
              <a:rPr lang="en-US" altLang="zh-TW" dirty="0"/>
              <a:t>? </a:t>
            </a:r>
            <a:r>
              <a:rPr lang="zh-TW" altLang="en-US" dirty="0"/>
              <a:t>包括</a:t>
            </a:r>
            <a:r>
              <a:rPr lang="en-US" altLang="zh-TW" dirty="0"/>
              <a:t>general survey</a:t>
            </a:r>
            <a:r>
              <a:rPr lang="zh-TW" altLang="en-US" dirty="0"/>
              <a:t>方式</a:t>
            </a:r>
            <a:r>
              <a:rPr lang="en-US" altLang="zh-TW" dirty="0"/>
              <a:t>, </a:t>
            </a:r>
            <a:r>
              <a:rPr lang="zh-TW" altLang="en-US" dirty="0"/>
              <a:t>如果吃不下，</a:t>
            </a:r>
            <a:r>
              <a:rPr lang="en-US" altLang="zh-TW" dirty="0"/>
              <a:t>nutrition supplement</a:t>
            </a:r>
            <a:r>
              <a:rPr lang="zh-TW" altLang="en-US" dirty="0"/>
              <a:t>方式 </a:t>
            </a:r>
            <a:r>
              <a:rPr lang="en-US" altLang="zh-TW" dirty="0"/>
              <a:t>(gastrostomy or </a:t>
            </a:r>
            <a:r>
              <a:rPr lang="en-US" altLang="zh-TW" dirty="0" err="1"/>
              <a:t>jejunostomy</a:t>
            </a:r>
            <a:r>
              <a:rPr lang="en-US" altLang="zh-TW" dirty="0"/>
              <a:t>?), EUS/CT/PET</a:t>
            </a:r>
            <a:r>
              <a:rPr lang="zh-TW" altLang="en-US" dirty="0"/>
              <a:t>做不做</a:t>
            </a:r>
            <a:r>
              <a:rPr lang="en-US" altLang="zh-TW" dirty="0"/>
              <a:t>? </a:t>
            </a:r>
            <a:r>
              <a:rPr lang="zh-TW" altLang="en-US" dirty="0"/>
              <a:t>要做什麼樣的衛教</a:t>
            </a:r>
            <a:r>
              <a:rPr lang="en-US" altLang="zh-TW" dirty="0"/>
              <a:t>? </a:t>
            </a:r>
            <a:endParaRPr lang="en-US" altLang="zh-TW" dirty="0" smtClean="0"/>
          </a:p>
          <a:p>
            <a:pPr lvl="1"/>
            <a:r>
              <a:rPr lang="en-US" altLang="zh-TW" sz="2900" dirty="0" err="1"/>
              <a:t>Hx</a:t>
            </a:r>
            <a:r>
              <a:rPr lang="en-US" altLang="zh-TW" sz="2900" dirty="0"/>
              <a:t>, PE, or </a:t>
            </a:r>
            <a:r>
              <a:rPr lang="en-US" altLang="zh-TW" sz="2900" dirty="0" smtClean="0"/>
              <a:t>Lab:</a:t>
            </a:r>
            <a:r>
              <a:rPr lang="zh-TW" altLang="zh-TW" sz="2900" dirty="0"/>
              <a:t>吞嚥困難多久，有沒有體重減輕，吞東西的狀況</a:t>
            </a:r>
            <a:r>
              <a:rPr lang="en-US" altLang="zh-TW" sz="2900" dirty="0"/>
              <a:t> (</a:t>
            </a:r>
            <a:r>
              <a:rPr lang="zh-TW" altLang="zh-TW" sz="2900" dirty="0"/>
              <a:t>固體或流質</a:t>
            </a:r>
            <a:r>
              <a:rPr lang="en-US" altLang="zh-TW" sz="2900" dirty="0"/>
              <a:t>); past history (other cancer or disease), family history, personal history (smoking or alcohol), exam SCF; CBC and chemistry </a:t>
            </a:r>
            <a:r>
              <a:rPr lang="en-US" altLang="zh-TW" sz="2900" dirty="0" smtClean="0"/>
              <a:t>profile</a:t>
            </a:r>
          </a:p>
          <a:p>
            <a:pPr lvl="1"/>
            <a:r>
              <a:rPr lang="en-US" altLang="zh-TW" sz="2900" dirty="0" smtClean="0"/>
              <a:t>Work up:</a:t>
            </a:r>
            <a:r>
              <a:rPr lang="zh-TW" altLang="zh-TW" sz="2900" dirty="0"/>
              <a:t>胃鏡 </a:t>
            </a:r>
            <a:r>
              <a:rPr lang="en-US" altLang="zh-TW" sz="2900" dirty="0"/>
              <a:t>with EUS</a:t>
            </a:r>
            <a:r>
              <a:rPr lang="zh-TW" altLang="zh-TW" sz="2900" dirty="0"/>
              <a:t>、</a:t>
            </a:r>
            <a:r>
              <a:rPr lang="en-US" altLang="zh-TW" sz="2900" dirty="0"/>
              <a:t>CT</a:t>
            </a:r>
            <a:r>
              <a:rPr lang="zh-TW" altLang="zh-TW" sz="2900" dirty="0"/>
              <a:t>、</a:t>
            </a:r>
            <a:r>
              <a:rPr lang="en-US" altLang="zh-TW" sz="2900" dirty="0"/>
              <a:t>PET</a:t>
            </a:r>
            <a:r>
              <a:rPr lang="zh-TW" altLang="zh-TW" sz="2900" dirty="0"/>
              <a:t>；營養評估 </a:t>
            </a:r>
            <a:r>
              <a:rPr lang="en-US" altLang="zh-TW" sz="2900" dirty="0"/>
              <a:t>(</a:t>
            </a:r>
            <a:r>
              <a:rPr lang="zh-TW" altLang="zh-TW" sz="2900" dirty="0"/>
              <a:t>吃不下做</a:t>
            </a:r>
            <a:r>
              <a:rPr lang="en-US" altLang="zh-TW" sz="2900" dirty="0" err="1"/>
              <a:t>jejunostomy</a:t>
            </a:r>
            <a:r>
              <a:rPr lang="en-US" altLang="zh-TW" sz="2900" dirty="0" smtClean="0"/>
              <a:t>)</a:t>
            </a:r>
            <a:endParaRPr lang="en-US" altLang="zh-TW" sz="2900" dirty="0"/>
          </a:p>
          <a:p>
            <a:pPr lvl="1"/>
            <a:r>
              <a:rPr lang="zh-TW" altLang="zh-TW" sz="2900" dirty="0" smtClean="0"/>
              <a:t>抽菸</a:t>
            </a:r>
            <a:r>
              <a:rPr lang="zh-TW" altLang="zh-TW" sz="2900" dirty="0"/>
              <a:t>喝酒要戒掉</a:t>
            </a:r>
            <a:endParaRPr lang="en-US" altLang="zh-TW" sz="2900" dirty="0"/>
          </a:p>
          <a:p>
            <a:r>
              <a:rPr lang="en-US" altLang="zh-TW" dirty="0" smtClean="0"/>
              <a:t>Staging</a:t>
            </a:r>
            <a:r>
              <a:rPr lang="zh-TW" altLang="en-US" dirty="0" smtClean="0"/>
              <a:t>完確認</a:t>
            </a:r>
            <a:r>
              <a:rPr lang="en-US" altLang="zh-TW" dirty="0" smtClean="0"/>
              <a:t>cT3N1M0, </a:t>
            </a:r>
            <a:r>
              <a:rPr lang="zh-TW" altLang="en-US" dirty="0" smtClean="0"/>
              <a:t>接下來治療計畫</a:t>
            </a:r>
            <a:r>
              <a:rPr lang="en-US" altLang="zh-TW" dirty="0" smtClean="0"/>
              <a:t>RT dose, field, </a:t>
            </a:r>
            <a:r>
              <a:rPr lang="zh-TW" altLang="en-US" dirty="0" smtClean="0"/>
              <a:t>放化療方式</a:t>
            </a:r>
            <a:r>
              <a:rPr lang="en-US" altLang="zh-TW" dirty="0" smtClean="0"/>
              <a:t>? Evidence</a:t>
            </a:r>
            <a:r>
              <a:rPr lang="en-US" altLang="zh-TW" dirty="0"/>
              <a:t>? </a:t>
            </a:r>
            <a:r>
              <a:rPr lang="en-US" altLang="zh-TW" dirty="0" smtClean="0"/>
              <a:t/>
            </a:r>
            <a:br>
              <a:rPr lang="en-US" altLang="zh-TW" dirty="0" smtClean="0"/>
            </a:br>
            <a:r>
              <a:rPr lang="en-US" altLang="zh-TW" dirty="0" smtClean="0"/>
              <a:t>Pre-OP </a:t>
            </a:r>
            <a:r>
              <a:rPr lang="en-US" altLang="zh-TW" dirty="0"/>
              <a:t>CRT </a:t>
            </a:r>
            <a:r>
              <a:rPr lang="zh-TW" altLang="en-US" dirty="0"/>
              <a:t>的</a:t>
            </a:r>
            <a:r>
              <a:rPr lang="en-US" altLang="zh-TW" dirty="0" err="1"/>
              <a:t>pCR</a:t>
            </a:r>
            <a:r>
              <a:rPr lang="en-US" altLang="zh-TW" dirty="0"/>
              <a:t> rate ? </a:t>
            </a:r>
            <a:endParaRPr lang="en-US" altLang="zh-TW" dirty="0" smtClean="0"/>
          </a:p>
          <a:p>
            <a:pPr lvl="1"/>
            <a:r>
              <a:rPr lang="en-US" altLang="zh-TW" sz="3400" dirty="0" smtClean="0"/>
              <a:t>AJCC 8</a:t>
            </a:r>
            <a:r>
              <a:rPr lang="en-US" altLang="zh-TW" sz="3400" baseline="30000" dirty="0" smtClean="0"/>
              <a:t>th</a:t>
            </a:r>
            <a:r>
              <a:rPr lang="en-US" altLang="zh-TW" sz="3400" dirty="0" smtClean="0"/>
              <a:t> SCC</a:t>
            </a:r>
            <a:r>
              <a:rPr lang="zh-TW" altLang="zh-TW" sz="3400" dirty="0" smtClean="0"/>
              <a:t>的</a:t>
            </a:r>
            <a:r>
              <a:rPr lang="en-US" altLang="zh-TW" sz="3400" dirty="0" smtClean="0"/>
              <a:t>stage group</a:t>
            </a:r>
            <a:r>
              <a:rPr lang="zh-TW" altLang="zh-TW" sz="3400" dirty="0" smtClean="0"/>
              <a:t>除了</a:t>
            </a:r>
            <a:r>
              <a:rPr lang="en-US" altLang="zh-TW" sz="3400" dirty="0" smtClean="0"/>
              <a:t>TNM</a:t>
            </a:r>
            <a:r>
              <a:rPr lang="zh-TW" altLang="zh-TW" sz="3400" dirty="0" smtClean="0"/>
              <a:t>還要看</a:t>
            </a:r>
            <a:r>
              <a:rPr lang="en-US" altLang="zh-TW" sz="3400" dirty="0" smtClean="0"/>
              <a:t>location</a:t>
            </a:r>
            <a:r>
              <a:rPr lang="zh-TW" altLang="zh-TW" sz="3400" dirty="0" smtClean="0"/>
              <a:t>和</a:t>
            </a:r>
            <a:r>
              <a:rPr lang="en-US" altLang="zh-TW" sz="3400" dirty="0" smtClean="0"/>
              <a:t>grade; </a:t>
            </a:r>
            <a:r>
              <a:rPr lang="en-US" altLang="zh-TW" sz="3400" dirty="0" err="1" smtClean="0"/>
              <a:t>adeno</a:t>
            </a:r>
            <a:r>
              <a:rPr lang="zh-TW" altLang="zh-TW" sz="3400" dirty="0" smtClean="0"/>
              <a:t>除了</a:t>
            </a:r>
            <a:r>
              <a:rPr lang="en-US" altLang="zh-TW" sz="3400" dirty="0" smtClean="0"/>
              <a:t>TNM</a:t>
            </a:r>
            <a:r>
              <a:rPr lang="zh-TW" altLang="zh-TW" sz="3400" dirty="0" smtClean="0"/>
              <a:t>要看</a:t>
            </a:r>
            <a:r>
              <a:rPr lang="en-US" altLang="zh-TW" sz="3400" dirty="0" smtClean="0"/>
              <a:t>grade</a:t>
            </a:r>
            <a:r>
              <a:rPr lang="zh-TW" altLang="zh-TW" sz="3400" dirty="0" smtClean="0"/>
              <a:t>但不看</a:t>
            </a:r>
            <a:r>
              <a:rPr lang="en-US" altLang="zh-TW" sz="3400" dirty="0" smtClean="0"/>
              <a:t>location QQ</a:t>
            </a:r>
          </a:p>
          <a:p>
            <a:pPr lvl="1"/>
            <a:r>
              <a:rPr lang="en-US" altLang="zh-TW" sz="3400" dirty="0" smtClean="0"/>
              <a:t>T3 </a:t>
            </a:r>
            <a:r>
              <a:rPr lang="en-US" altLang="zh-TW" sz="3400" dirty="0" smtClean="0"/>
              <a:t>or N1</a:t>
            </a:r>
            <a:r>
              <a:rPr lang="zh-TW" altLang="zh-TW" sz="3400" dirty="0" smtClean="0"/>
              <a:t>以上</a:t>
            </a:r>
            <a:r>
              <a:rPr lang="en-US" altLang="zh-TW" sz="3400" dirty="0" smtClean="0"/>
              <a:t>: </a:t>
            </a:r>
            <a:r>
              <a:rPr lang="en-US" altLang="zh-TW" sz="3400" dirty="0" err="1" smtClean="0"/>
              <a:t>neoadjuvant</a:t>
            </a:r>
            <a:r>
              <a:rPr lang="en-US" altLang="zh-TW" sz="3400" dirty="0" smtClean="0"/>
              <a:t> CCRT (41.4-50.4)+ OP; cervical portion</a:t>
            </a:r>
            <a:r>
              <a:rPr lang="zh-TW" altLang="zh-TW" sz="3400" dirty="0" smtClean="0"/>
              <a:t>是</a:t>
            </a:r>
            <a:r>
              <a:rPr lang="en-US" altLang="zh-TW" sz="3400" dirty="0" smtClean="0"/>
              <a:t>definitive CCRT (50-50.4), 28cm </a:t>
            </a:r>
            <a:r>
              <a:rPr lang="zh-TW" altLang="en-US" sz="3400" dirty="0" smtClean="0"/>
              <a:t>在</a:t>
            </a:r>
            <a:r>
              <a:rPr lang="en-US" altLang="zh-TW" sz="3400" dirty="0" smtClean="0"/>
              <a:t>middle third </a:t>
            </a:r>
            <a:r>
              <a:rPr lang="en-US" altLang="zh-TW" sz="3400" dirty="0" smtClean="0">
                <a:sym typeface="Wingdings" pitchFamily="2" charset="2"/>
              </a:rPr>
              <a:t> </a:t>
            </a:r>
            <a:r>
              <a:rPr lang="en-US" altLang="zh-TW" sz="3400" dirty="0" err="1" smtClean="0">
                <a:sym typeface="Wingdings" pitchFamily="2" charset="2"/>
              </a:rPr>
              <a:t>neoadjuvant</a:t>
            </a:r>
            <a:r>
              <a:rPr lang="en-US" altLang="zh-TW" sz="3400" dirty="0" smtClean="0">
                <a:sym typeface="Wingdings" pitchFamily="2" charset="2"/>
              </a:rPr>
              <a:t> CCRT + OP</a:t>
            </a:r>
          </a:p>
          <a:p>
            <a:pPr lvl="1"/>
            <a:r>
              <a:rPr lang="en-US" altLang="zh-TW" sz="3400" dirty="0" smtClean="0"/>
              <a:t>RT field and dose: gross tumor</a:t>
            </a:r>
            <a:r>
              <a:rPr lang="zh-TW" altLang="zh-TW" sz="3400" dirty="0" smtClean="0"/>
              <a:t>上下加</a:t>
            </a:r>
            <a:r>
              <a:rPr lang="en-US" altLang="zh-TW" sz="3400" dirty="0" smtClean="0"/>
              <a:t>4 cm</a:t>
            </a:r>
            <a:r>
              <a:rPr lang="zh-TW" altLang="zh-TW" sz="3400" dirty="0" smtClean="0"/>
              <a:t>，旁邊加</a:t>
            </a:r>
            <a:r>
              <a:rPr lang="en-US" altLang="zh-TW" sz="3400" dirty="0" smtClean="0"/>
              <a:t>1 cm; LN +1cm; elective nodal area</a:t>
            </a:r>
            <a:r>
              <a:rPr lang="zh-TW" altLang="zh-TW" sz="3400" dirty="0" smtClean="0"/>
              <a:t>當</a:t>
            </a:r>
            <a:r>
              <a:rPr lang="en-US" altLang="zh-TW" sz="3400" dirty="0" smtClean="0"/>
              <a:t>CTV</a:t>
            </a:r>
            <a:r>
              <a:rPr lang="zh-TW" altLang="zh-TW" sz="3400" dirty="0" smtClean="0"/>
              <a:t>，</a:t>
            </a:r>
            <a:r>
              <a:rPr lang="en-US" altLang="zh-TW" sz="3400" dirty="0" smtClean="0"/>
              <a:t>CTV+0.5-1cm=PTV</a:t>
            </a:r>
          </a:p>
          <a:p>
            <a:pPr lvl="2"/>
            <a:r>
              <a:rPr lang="en-US" altLang="zh-TW" sz="3500" dirty="0" smtClean="0"/>
              <a:t>Elective nodal: </a:t>
            </a:r>
            <a:r>
              <a:rPr lang="en-US" altLang="zh-TW" sz="3500" dirty="0" smtClean="0">
                <a:solidFill>
                  <a:srgbClr val="FF0000"/>
                </a:solidFill>
              </a:rPr>
              <a:t>Cervical</a:t>
            </a:r>
            <a:r>
              <a:rPr lang="en-US" altLang="zh-TW" sz="3500" dirty="0" smtClean="0"/>
              <a:t>: consider supraclavicular LN + higher echelon; </a:t>
            </a:r>
            <a:r>
              <a:rPr lang="en-US" altLang="zh-TW" sz="3500" dirty="0" smtClean="0">
                <a:solidFill>
                  <a:srgbClr val="FF0000"/>
                </a:solidFill>
              </a:rPr>
              <a:t>Proximal third</a:t>
            </a:r>
            <a:r>
              <a:rPr lang="en-US" altLang="zh-TW" sz="3500" dirty="0" smtClean="0"/>
              <a:t>: </a:t>
            </a:r>
            <a:r>
              <a:rPr lang="en-US" altLang="zh-TW" sz="3500" dirty="0" err="1" smtClean="0"/>
              <a:t>para</a:t>
            </a:r>
            <a:r>
              <a:rPr lang="en-US" altLang="zh-TW" sz="3500" dirty="0" smtClean="0"/>
              <a:t>-esophageal LN+SC LN; </a:t>
            </a:r>
            <a:r>
              <a:rPr lang="en-US" altLang="zh-TW" sz="3500" dirty="0" smtClean="0">
                <a:solidFill>
                  <a:srgbClr val="FF0000"/>
                </a:solidFill>
              </a:rPr>
              <a:t>Middle third</a:t>
            </a:r>
            <a:r>
              <a:rPr lang="en-US" altLang="zh-TW" sz="3500" dirty="0" smtClean="0"/>
              <a:t>: </a:t>
            </a:r>
            <a:r>
              <a:rPr lang="en-US" altLang="zh-TW" sz="3500" dirty="0" err="1" smtClean="0"/>
              <a:t>para</a:t>
            </a:r>
            <a:r>
              <a:rPr lang="en-US" altLang="zh-TW" sz="3500" dirty="0" smtClean="0"/>
              <a:t>-esophageal LN; </a:t>
            </a:r>
            <a:r>
              <a:rPr lang="en-US" altLang="zh-TW" sz="3500" dirty="0" smtClean="0">
                <a:solidFill>
                  <a:srgbClr val="FF0000"/>
                </a:solidFill>
              </a:rPr>
              <a:t>Distal </a:t>
            </a:r>
            <a:r>
              <a:rPr lang="en-US" altLang="zh-TW" sz="3500" dirty="0" err="1" smtClean="0">
                <a:solidFill>
                  <a:srgbClr val="FF0000"/>
                </a:solidFill>
              </a:rPr>
              <a:t>third+EGJ</a:t>
            </a:r>
            <a:r>
              <a:rPr lang="en-US" altLang="zh-TW" sz="3500" dirty="0" smtClean="0"/>
              <a:t>: </a:t>
            </a:r>
            <a:r>
              <a:rPr lang="en-US" altLang="zh-TW" sz="3500" dirty="0" err="1" smtClean="0"/>
              <a:t>para</a:t>
            </a:r>
            <a:r>
              <a:rPr lang="en-US" altLang="zh-TW" sz="3500" dirty="0" smtClean="0"/>
              <a:t>-esophageal +lesser curvature +splenic +celiac axis</a:t>
            </a:r>
          </a:p>
          <a:p>
            <a:pPr lvl="1"/>
            <a:r>
              <a:rPr lang="en-US" altLang="zh-TW" sz="3400" dirty="0" smtClean="0"/>
              <a:t>Chemo regimen: Carboplatin &amp; Paclitaxel (CROSS), </a:t>
            </a:r>
            <a:r>
              <a:rPr lang="en-US" altLang="zh-TW" sz="3400" dirty="0" err="1" smtClean="0"/>
              <a:t>Cisplatin</a:t>
            </a:r>
            <a:r>
              <a:rPr lang="en-US" altLang="zh-TW" sz="3400" dirty="0" smtClean="0"/>
              <a:t> &amp; 5-FU (CALGB 9781)</a:t>
            </a:r>
          </a:p>
          <a:p>
            <a:pPr lvl="2"/>
            <a:r>
              <a:rPr lang="en-US" altLang="zh-TW" sz="3500" dirty="0"/>
              <a:t>CROSS trial (</a:t>
            </a:r>
            <a:r>
              <a:rPr lang="en-US" altLang="zh-TW" sz="3500" dirty="0" err="1"/>
              <a:t>neoadjuvant</a:t>
            </a:r>
            <a:r>
              <a:rPr lang="en-US" altLang="zh-TW" sz="3500" dirty="0"/>
              <a:t> CCRT + OP vs. OP): T2 or N1</a:t>
            </a:r>
            <a:r>
              <a:rPr lang="zh-TW" altLang="zh-TW" sz="3500" dirty="0"/>
              <a:t>以上</a:t>
            </a:r>
            <a:r>
              <a:rPr lang="en-US" altLang="zh-TW" sz="3500" dirty="0"/>
              <a:t> (75% </a:t>
            </a:r>
            <a:r>
              <a:rPr lang="en-US" altLang="zh-TW" sz="3500" dirty="0" err="1"/>
              <a:t>adeno</a:t>
            </a:r>
            <a:r>
              <a:rPr lang="en-US" altLang="zh-TW" sz="3500" dirty="0"/>
              <a:t>, 75% esophagus) s/p </a:t>
            </a:r>
            <a:r>
              <a:rPr lang="en-US" altLang="zh-TW" sz="3500" dirty="0" err="1"/>
              <a:t>neoadjuvant</a:t>
            </a:r>
            <a:r>
              <a:rPr lang="en-US" altLang="zh-TW" sz="3500" dirty="0"/>
              <a:t> CCRT (41.4 </a:t>
            </a:r>
            <a:r>
              <a:rPr lang="en-US" altLang="zh-TW" sz="3500" dirty="0" err="1"/>
              <a:t>Gy</a:t>
            </a:r>
            <a:r>
              <a:rPr lang="en-US" altLang="zh-TW" sz="3500" dirty="0"/>
              <a:t> + weekly carboplatin &amp; Paclitaxel), </a:t>
            </a:r>
            <a:r>
              <a:rPr lang="en-US" altLang="zh-TW" sz="3500" dirty="0" err="1"/>
              <a:t>pCR</a:t>
            </a:r>
            <a:r>
              <a:rPr lang="en-US" altLang="zh-TW" sz="3500" dirty="0"/>
              <a:t> rate (30%), </a:t>
            </a:r>
            <a:r>
              <a:rPr lang="zh-TW" altLang="zh-TW" sz="3500" dirty="0"/>
              <a:t>增加</a:t>
            </a:r>
            <a:r>
              <a:rPr lang="en-US" altLang="zh-TW" sz="3500" dirty="0"/>
              <a:t>R0 resection rate (90 vs. 70%), </a:t>
            </a:r>
            <a:r>
              <a:rPr lang="zh-TW" altLang="zh-TW" sz="3500" dirty="0"/>
              <a:t>減少</a:t>
            </a:r>
            <a:r>
              <a:rPr lang="en-US" altLang="zh-TW" sz="3500" dirty="0"/>
              <a:t>LRR (15 vs. 35%) </a:t>
            </a:r>
            <a:r>
              <a:rPr lang="zh-TW" altLang="zh-TW" sz="3500" dirty="0"/>
              <a:t>和</a:t>
            </a:r>
            <a:r>
              <a:rPr lang="en-US" altLang="zh-TW" sz="3500" dirty="0"/>
              <a:t>DM (30 vs. 35%), </a:t>
            </a:r>
            <a:r>
              <a:rPr lang="zh-TW" altLang="zh-TW" sz="3500" dirty="0"/>
              <a:t>增加</a:t>
            </a:r>
            <a:r>
              <a:rPr lang="en-US" altLang="zh-TW" sz="3500" dirty="0"/>
              <a:t>OS (47 vs. 34%; 49 vs. 24 months</a:t>
            </a:r>
            <a:r>
              <a:rPr lang="en-US" altLang="zh-TW" sz="3500" dirty="0" smtClean="0"/>
              <a:t>)</a:t>
            </a:r>
          </a:p>
          <a:p>
            <a:pPr lvl="2"/>
            <a:r>
              <a:rPr lang="en-US" altLang="zh-TW" sz="3500" dirty="0"/>
              <a:t>CALGB 9781 (</a:t>
            </a:r>
            <a:r>
              <a:rPr lang="en-US" altLang="zh-TW" sz="3500" dirty="0" err="1"/>
              <a:t>neoadjuvant</a:t>
            </a:r>
            <a:r>
              <a:rPr lang="en-US" altLang="zh-TW" sz="3500" dirty="0"/>
              <a:t> CCRT + OP vs. OP): stage I-III (75% </a:t>
            </a:r>
            <a:r>
              <a:rPr lang="en-US" altLang="zh-TW" sz="3500" dirty="0" err="1"/>
              <a:t>adeno</a:t>
            </a:r>
            <a:r>
              <a:rPr lang="en-US" altLang="zh-TW" sz="3500" dirty="0"/>
              <a:t>) s/p </a:t>
            </a:r>
            <a:r>
              <a:rPr lang="en-US" altLang="zh-TW" sz="3500" dirty="0" err="1"/>
              <a:t>neoadjuvant</a:t>
            </a:r>
            <a:r>
              <a:rPr lang="en-US" altLang="zh-TW" sz="3500" dirty="0"/>
              <a:t> CCRT (50.4 </a:t>
            </a:r>
            <a:r>
              <a:rPr lang="en-US" altLang="zh-TW" sz="3500" dirty="0" err="1"/>
              <a:t>Gy</a:t>
            </a:r>
            <a:r>
              <a:rPr lang="en-US" altLang="zh-TW" sz="3500" dirty="0"/>
              <a:t> + PF x 2), </a:t>
            </a:r>
            <a:r>
              <a:rPr lang="en-US" altLang="zh-TW" sz="3500" dirty="0" err="1"/>
              <a:t>pCR</a:t>
            </a:r>
            <a:r>
              <a:rPr lang="en-US" altLang="zh-TW" sz="3500" dirty="0"/>
              <a:t> rate (40%), </a:t>
            </a:r>
            <a:r>
              <a:rPr lang="zh-TW" altLang="zh-TW" sz="3500" dirty="0"/>
              <a:t>增加</a:t>
            </a:r>
            <a:r>
              <a:rPr lang="en-US" altLang="zh-TW" sz="3500" dirty="0"/>
              <a:t>5-year OS (40 vs. 15</a:t>
            </a:r>
            <a:r>
              <a:rPr lang="en-US" altLang="zh-TW" sz="3500" dirty="0" smtClean="0"/>
              <a:t>%)</a:t>
            </a:r>
          </a:p>
          <a:p>
            <a:pPr lvl="2"/>
            <a:r>
              <a:rPr lang="en-US" altLang="zh-TW" sz="3500" dirty="0"/>
              <a:t>FFCD 9901 (</a:t>
            </a:r>
            <a:r>
              <a:rPr lang="en-US" altLang="zh-TW" sz="3500" dirty="0" err="1"/>
              <a:t>neoadjuvant</a:t>
            </a:r>
            <a:r>
              <a:rPr lang="en-US" altLang="zh-TW" sz="3500" dirty="0"/>
              <a:t> CCRT + OP vs. OP): stage I-II (70% SCC) s/p </a:t>
            </a:r>
            <a:r>
              <a:rPr lang="en-US" altLang="zh-TW" sz="3500" dirty="0" err="1"/>
              <a:t>neoadjuvant</a:t>
            </a:r>
            <a:r>
              <a:rPr lang="en-US" altLang="zh-TW" sz="3500" dirty="0"/>
              <a:t> CCRT (45 </a:t>
            </a:r>
            <a:r>
              <a:rPr lang="en-US" altLang="zh-TW" sz="3500" dirty="0" err="1"/>
              <a:t>Gy</a:t>
            </a:r>
            <a:r>
              <a:rPr lang="en-US" altLang="zh-TW" sz="3500" dirty="0"/>
              <a:t> + PF x 2), R0 resection rate</a:t>
            </a:r>
            <a:r>
              <a:rPr lang="zh-TW" altLang="zh-TW" sz="3500" dirty="0"/>
              <a:t>都一樣</a:t>
            </a:r>
            <a:r>
              <a:rPr lang="en-US" altLang="zh-TW" sz="3500" dirty="0"/>
              <a:t> (90%), 3-year OS</a:t>
            </a:r>
            <a:r>
              <a:rPr lang="zh-TW" altLang="zh-TW" sz="3500" dirty="0"/>
              <a:t>也一樣</a:t>
            </a:r>
            <a:r>
              <a:rPr lang="en-US" altLang="zh-TW" sz="3500" dirty="0"/>
              <a:t> (50%), </a:t>
            </a:r>
            <a:r>
              <a:rPr lang="zh-TW" altLang="zh-TW" sz="3500" dirty="0"/>
              <a:t>但是卻增加</a:t>
            </a:r>
            <a:r>
              <a:rPr lang="en-US" altLang="zh-TW" sz="3500" dirty="0"/>
              <a:t>post-OP mortality (11 vs. 3.4%)</a:t>
            </a:r>
            <a:endParaRPr lang="en-US" altLang="zh-TW" sz="3500" dirty="0" smtClean="0"/>
          </a:p>
          <a:p>
            <a:pPr lvl="2"/>
            <a:endParaRPr lang="en-US" altLang="zh-TW" dirty="0" smtClean="0"/>
          </a:p>
          <a:p>
            <a:pPr lvl="1"/>
            <a:endParaRPr lang="en-US" altLang="zh-TW" dirty="0" smtClean="0"/>
          </a:p>
          <a:p>
            <a:pPr lvl="1"/>
            <a:endParaRPr lang="en-US" altLang="zh-TW" dirty="0"/>
          </a:p>
        </p:txBody>
      </p:sp>
      <p:pic>
        <p:nvPicPr>
          <p:cNvPr id="4" name="圖片 3">
            <a:extLst>
              <a:ext uri="{FF2B5EF4-FFF2-40B4-BE49-F238E27FC236}">
                <a16:creationId xmlns:a16="http://schemas.microsoft.com/office/drawing/2014/main" id="{2B836277-6639-4309-B03F-9B679B6E9FF6}"/>
              </a:ext>
            </a:extLst>
          </p:cNvPr>
          <p:cNvPicPr/>
          <p:nvPr/>
        </p:nvPicPr>
        <p:blipFill rotWithShape="1">
          <a:blip r:embed="rId2" cstate="print">
            <a:extLst>
              <a:ext uri="{28A0092B-C50C-407E-A947-70E740481C1C}">
                <a14:useLocalDpi xmlns:a14="http://schemas.microsoft.com/office/drawing/2010/main" val="0"/>
              </a:ext>
            </a:extLst>
          </a:blip>
          <a:srcRect l="2861" t="13520" r="4104" b="13894"/>
          <a:stretch/>
        </p:blipFill>
        <p:spPr bwMode="auto">
          <a:xfrm>
            <a:off x="8390448" y="156691"/>
            <a:ext cx="3725545" cy="2245995"/>
          </a:xfrm>
          <a:prstGeom prst="rect">
            <a:avLst/>
          </a:prstGeom>
          <a:ln>
            <a:noFill/>
          </a:ln>
          <a:extLst>
            <a:ext uri="{53640926-AAD7-44D8-BBD7-CCE9431645EC}">
              <a14:shadowObscured xmlns:a14="http://schemas.microsoft.com/office/drawing/2010/main"/>
            </a:ext>
          </a:extLst>
        </p:spPr>
      </p:pic>
      <p:pic>
        <p:nvPicPr>
          <p:cNvPr id="5" name="圖片 4">
            <a:extLst>
              <a:ext uri="{FF2B5EF4-FFF2-40B4-BE49-F238E27FC236}">
                <a16:creationId xmlns:a16="http://schemas.microsoft.com/office/drawing/2014/main" id="{1F9C366A-6E32-4B49-95C5-A166DDC364A9}"/>
              </a:ext>
            </a:extLst>
          </p:cNvPr>
          <p:cNvPicPr/>
          <p:nvPr/>
        </p:nvPicPr>
        <p:blipFill rotWithShape="1">
          <a:blip r:embed="rId3" cstate="print">
            <a:extLst>
              <a:ext uri="{28A0092B-C50C-407E-A947-70E740481C1C}">
                <a14:useLocalDpi xmlns:a14="http://schemas.microsoft.com/office/drawing/2010/main" val="0"/>
              </a:ext>
            </a:extLst>
          </a:blip>
          <a:srcRect l="2859" t="13197" r="4047" b="21580"/>
          <a:stretch/>
        </p:blipFill>
        <p:spPr bwMode="auto">
          <a:xfrm>
            <a:off x="8390447" y="2675143"/>
            <a:ext cx="3725545" cy="201676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8761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2017 </a:t>
            </a:r>
            <a:r>
              <a:rPr lang="zh-TW" altLang="en-US" dirty="0" smtClean="0"/>
              <a:t>劉岱瑋 </a:t>
            </a:r>
            <a:r>
              <a:rPr lang="en-US" altLang="zh-TW" dirty="0" smtClean="0"/>
              <a:t>Esophagus</a:t>
            </a:r>
            <a:endParaRPr lang="zh-TW" altLang="en-US" dirty="0"/>
          </a:p>
        </p:txBody>
      </p:sp>
      <p:sp>
        <p:nvSpPr>
          <p:cNvPr id="3" name="內容版面配置區 2"/>
          <p:cNvSpPr>
            <a:spLocks noGrp="1"/>
          </p:cNvSpPr>
          <p:nvPr>
            <p:ph idx="1"/>
          </p:nvPr>
        </p:nvSpPr>
        <p:spPr/>
        <p:txBody>
          <a:bodyPr>
            <a:normAutofit fontScale="70000" lnSpcReduction="20000"/>
          </a:bodyPr>
          <a:lstStyle/>
          <a:p>
            <a:r>
              <a:rPr lang="zh-TW" altLang="en-US" dirty="0" smtClean="0"/>
              <a:t>那</a:t>
            </a:r>
            <a:r>
              <a:rPr lang="zh-TW" altLang="en-US" dirty="0"/>
              <a:t>如果是做</a:t>
            </a:r>
            <a:r>
              <a:rPr lang="en-US" altLang="zh-TW" dirty="0"/>
              <a:t>Definitive CCRT </a:t>
            </a:r>
            <a:r>
              <a:rPr lang="zh-TW" altLang="en-US" dirty="0"/>
              <a:t>劑量</a:t>
            </a:r>
            <a:r>
              <a:rPr lang="en-US" altLang="zh-TW" dirty="0"/>
              <a:t>? Evidence? </a:t>
            </a:r>
            <a:r>
              <a:rPr lang="zh-TW" altLang="en-US" dirty="0"/>
              <a:t>高劑量一定不好嗎</a:t>
            </a:r>
            <a:r>
              <a:rPr lang="en-US" altLang="zh-TW" dirty="0"/>
              <a:t>? </a:t>
            </a:r>
            <a:r>
              <a:rPr lang="zh-TW" altLang="en-US" dirty="0"/>
              <a:t>東西方有沒有差異</a:t>
            </a:r>
            <a:r>
              <a:rPr lang="en-US" altLang="zh-TW" dirty="0"/>
              <a:t>? </a:t>
            </a:r>
            <a:r>
              <a:rPr lang="zh-TW" altLang="en-US" dirty="0"/>
              <a:t>為什麼東西方會有差異</a:t>
            </a:r>
            <a:r>
              <a:rPr lang="en-US" altLang="zh-TW" dirty="0"/>
              <a:t>?NCCN</a:t>
            </a:r>
            <a:r>
              <a:rPr lang="zh-TW" altLang="en-US" dirty="0"/>
              <a:t>建議</a:t>
            </a:r>
            <a:r>
              <a:rPr lang="en-US" altLang="zh-TW" dirty="0"/>
              <a:t>definitive</a:t>
            </a:r>
            <a:r>
              <a:rPr lang="zh-TW" altLang="en-US" dirty="0"/>
              <a:t>給多少</a:t>
            </a:r>
            <a:r>
              <a:rPr lang="en-US" altLang="zh-TW" dirty="0"/>
              <a:t>? </a:t>
            </a:r>
            <a:r>
              <a:rPr lang="zh-TW" altLang="en-US" dirty="0"/>
              <a:t>你們醫院實際上真的只給到</a:t>
            </a:r>
            <a:r>
              <a:rPr lang="en-US" altLang="zh-TW" dirty="0"/>
              <a:t>50.4 </a:t>
            </a:r>
            <a:r>
              <a:rPr lang="en-US" altLang="zh-TW" dirty="0" err="1"/>
              <a:t>Gy</a:t>
            </a:r>
            <a:r>
              <a:rPr lang="en-US" altLang="zh-TW" dirty="0"/>
              <a:t> </a:t>
            </a:r>
            <a:r>
              <a:rPr lang="zh-TW" altLang="en-US" dirty="0"/>
              <a:t>嗎</a:t>
            </a:r>
            <a:r>
              <a:rPr lang="en-US" altLang="zh-TW" dirty="0"/>
              <a:t>? </a:t>
            </a:r>
            <a:endParaRPr lang="en-US" altLang="zh-TW" dirty="0" smtClean="0"/>
          </a:p>
          <a:p>
            <a:pPr lvl="1"/>
            <a:r>
              <a:rPr lang="en-US" altLang="zh-TW" dirty="0" smtClean="0"/>
              <a:t>Definitive </a:t>
            </a:r>
            <a:r>
              <a:rPr lang="en-US" altLang="zh-TW" dirty="0"/>
              <a:t>CCRT (50-50.4</a:t>
            </a:r>
            <a:r>
              <a:rPr lang="en-US" altLang="zh-TW" dirty="0" smtClean="0"/>
              <a:t>)</a:t>
            </a:r>
          </a:p>
          <a:p>
            <a:pPr lvl="2"/>
            <a:r>
              <a:rPr lang="en-US" altLang="zh-TW" dirty="0"/>
              <a:t>Stahl</a:t>
            </a:r>
            <a:r>
              <a:rPr lang="zh-TW" altLang="en-US" dirty="0"/>
              <a:t> </a:t>
            </a:r>
            <a:r>
              <a:rPr lang="en-US" altLang="zh-TW" dirty="0"/>
              <a:t>et al., Germany </a:t>
            </a:r>
            <a:r>
              <a:rPr lang="en-US" altLang="zh-TW" dirty="0" smtClean="0"/>
              <a:t>trial (Induction 5FU/LV/</a:t>
            </a:r>
            <a:r>
              <a:rPr lang="en-US" altLang="zh-TW" dirty="0" err="1" smtClean="0"/>
              <a:t>Etoposide</a:t>
            </a:r>
            <a:r>
              <a:rPr lang="en-US" altLang="zh-TW" dirty="0" smtClean="0"/>
              <a:t>/</a:t>
            </a:r>
            <a:r>
              <a:rPr lang="en-US" altLang="zh-TW" dirty="0" err="1" smtClean="0"/>
              <a:t>Cisplatin</a:t>
            </a:r>
            <a:r>
              <a:rPr lang="en-US" altLang="zh-TW" dirty="0" smtClean="0"/>
              <a:t>+ CCRT EP/40Gy+ Op </a:t>
            </a:r>
            <a:r>
              <a:rPr lang="en-US" altLang="zh-TW" dirty="0" err="1" smtClean="0"/>
              <a:t>vs</a:t>
            </a:r>
            <a:r>
              <a:rPr lang="en-US" altLang="zh-TW" dirty="0" smtClean="0"/>
              <a:t> same but CCRT 65Gy no OP), SCC, upper/middle, 2YR PFS 64 </a:t>
            </a:r>
            <a:r>
              <a:rPr lang="en-US" altLang="zh-TW" dirty="0" err="1" smtClean="0"/>
              <a:t>vs</a:t>
            </a:r>
            <a:r>
              <a:rPr lang="en-US" altLang="zh-TW" dirty="0" smtClean="0"/>
              <a:t> 41%, OS ns, but treatment related </a:t>
            </a:r>
            <a:r>
              <a:rPr lang="en-US" altLang="zh-TW" dirty="0" err="1" smtClean="0"/>
              <a:t>motality</a:t>
            </a:r>
            <a:r>
              <a:rPr lang="en-US" altLang="zh-TW" dirty="0" smtClean="0"/>
              <a:t> 13 </a:t>
            </a:r>
            <a:r>
              <a:rPr lang="en-US" altLang="zh-TW" dirty="0" err="1" smtClean="0"/>
              <a:t>vs</a:t>
            </a:r>
            <a:r>
              <a:rPr lang="en-US" altLang="zh-TW" dirty="0" smtClean="0"/>
              <a:t> 3.5%</a:t>
            </a:r>
          </a:p>
          <a:p>
            <a:pPr lvl="2"/>
            <a:r>
              <a:rPr lang="en-US" altLang="zh-TW" dirty="0"/>
              <a:t>FFCD 9102 (</a:t>
            </a:r>
            <a:r>
              <a:rPr lang="en-US" altLang="zh-TW" dirty="0" smtClean="0"/>
              <a:t>CCRT PF+46Gy/split response -&gt; OP </a:t>
            </a:r>
            <a:r>
              <a:rPr lang="en-US" altLang="zh-TW" dirty="0" err="1"/>
              <a:t>vs</a:t>
            </a:r>
            <a:r>
              <a:rPr lang="en-US" altLang="zh-TW" dirty="0"/>
              <a:t> </a:t>
            </a:r>
            <a:r>
              <a:rPr lang="en-US" altLang="zh-TW" dirty="0" smtClean="0"/>
              <a:t>CCRT PF+20Gy/split), SCC 90%, 2YR LC 66vs57%, OS ns, but </a:t>
            </a:r>
            <a:r>
              <a:rPr lang="en-US" altLang="zh-TW" dirty="0"/>
              <a:t>treatment related </a:t>
            </a:r>
            <a:r>
              <a:rPr lang="en-US" altLang="zh-TW" dirty="0" err="1" smtClean="0"/>
              <a:t>motality</a:t>
            </a:r>
            <a:r>
              <a:rPr lang="en-US" altLang="zh-TW" dirty="0" smtClean="0"/>
              <a:t> 9 vs1%</a:t>
            </a:r>
          </a:p>
          <a:p>
            <a:pPr lvl="1"/>
            <a:r>
              <a:rPr lang="en-US" altLang="zh-TW" dirty="0" smtClean="0"/>
              <a:t>Dose </a:t>
            </a:r>
          </a:p>
          <a:p>
            <a:pPr lvl="2"/>
            <a:r>
              <a:rPr lang="en-US" altLang="zh-TW" dirty="0"/>
              <a:t>INT 0123 (RTOG 9405</a:t>
            </a:r>
            <a:r>
              <a:rPr lang="en-US" altLang="zh-TW" dirty="0" smtClean="0"/>
              <a:t>), T1-4N0-1, 85%SCC, </a:t>
            </a:r>
            <a:r>
              <a:rPr lang="en-US" altLang="zh-TW" dirty="0"/>
              <a:t>CCRT (</a:t>
            </a:r>
            <a:r>
              <a:rPr lang="en-US" altLang="zh-TW" dirty="0" smtClean="0"/>
              <a:t>PF*4 </a:t>
            </a:r>
            <a:r>
              <a:rPr lang="en-US" altLang="zh-TW" dirty="0"/>
              <a:t>+ 64.8 </a:t>
            </a:r>
            <a:r>
              <a:rPr lang="en-US" altLang="zh-TW" dirty="0" err="1" smtClean="0"/>
              <a:t>Gy</a:t>
            </a:r>
            <a:r>
              <a:rPr lang="en-US" altLang="zh-TW" dirty="0" smtClean="0"/>
              <a:t> </a:t>
            </a:r>
            <a:r>
              <a:rPr lang="en-US" altLang="zh-TW" dirty="0"/>
              <a:t>vs. </a:t>
            </a:r>
            <a:r>
              <a:rPr lang="en-US" altLang="zh-TW" dirty="0" smtClean="0"/>
              <a:t>PF* 4 </a:t>
            </a:r>
            <a:r>
              <a:rPr lang="en-US" altLang="zh-TW" dirty="0"/>
              <a:t>+ 50.4 </a:t>
            </a:r>
            <a:r>
              <a:rPr lang="en-US" altLang="zh-TW" dirty="0" err="1"/>
              <a:t>Gy</a:t>
            </a:r>
            <a:r>
              <a:rPr lang="en-US" altLang="zh-TW" dirty="0" smtClean="0"/>
              <a:t>), LR/OS ns, but higher treatment related mortality in high </a:t>
            </a:r>
            <a:r>
              <a:rPr lang="en-US" altLang="zh-TW" dirty="0" smtClean="0"/>
              <a:t>dose</a:t>
            </a:r>
            <a:r>
              <a:rPr lang="zh-TW" altLang="en-US" dirty="0" smtClean="0"/>
              <a:t> </a:t>
            </a:r>
            <a:r>
              <a:rPr lang="en-US" altLang="zh-TW" dirty="0" smtClean="0"/>
              <a:t>(</a:t>
            </a:r>
            <a:r>
              <a:rPr lang="zh-TW" altLang="en-US" dirty="0" smtClean="0"/>
              <a:t>很久以前的</a:t>
            </a:r>
            <a:r>
              <a:rPr lang="en-US" altLang="zh-TW" dirty="0" smtClean="0"/>
              <a:t>trial, </a:t>
            </a:r>
            <a:r>
              <a:rPr lang="zh-TW" altLang="en-US" dirty="0" smtClean="0"/>
              <a:t>有可能用的是古老的技術</a:t>
            </a:r>
            <a:r>
              <a:rPr lang="en-US" altLang="zh-TW" dirty="0" smtClean="0"/>
              <a:t>)</a:t>
            </a:r>
            <a:endParaRPr lang="en-US" altLang="zh-TW" dirty="0"/>
          </a:p>
          <a:p>
            <a:r>
              <a:rPr lang="zh-TW" altLang="en-US" dirty="0" smtClean="0"/>
              <a:t>有</a:t>
            </a:r>
            <a:r>
              <a:rPr lang="zh-TW" altLang="en-US" dirty="0"/>
              <a:t>碰過</a:t>
            </a:r>
            <a:r>
              <a:rPr lang="en-US" altLang="zh-TW" dirty="0"/>
              <a:t>TE Fistula</a:t>
            </a:r>
            <a:r>
              <a:rPr lang="zh-TW" altLang="en-US" dirty="0"/>
              <a:t>嗎</a:t>
            </a:r>
            <a:r>
              <a:rPr lang="en-US" altLang="zh-TW" dirty="0"/>
              <a:t>?</a:t>
            </a:r>
            <a:r>
              <a:rPr lang="zh-TW" altLang="en-US" dirty="0"/>
              <a:t>會不會暫停治療</a:t>
            </a:r>
            <a:r>
              <a:rPr lang="en-US" altLang="zh-TW" dirty="0"/>
              <a:t>?(</a:t>
            </a:r>
            <a:r>
              <a:rPr lang="zh-TW" altLang="en-US" dirty="0"/>
              <a:t>他說有</a:t>
            </a:r>
            <a:r>
              <a:rPr lang="en-US" altLang="zh-TW" dirty="0"/>
              <a:t>paper</a:t>
            </a:r>
            <a:r>
              <a:rPr lang="zh-TW" altLang="en-US" dirty="0"/>
              <a:t>證實可繼續治療</a:t>
            </a:r>
            <a:r>
              <a:rPr lang="en-US" altLang="zh-TW" dirty="0"/>
              <a:t>) </a:t>
            </a:r>
            <a:endParaRPr lang="en-US" altLang="zh-TW" dirty="0" smtClean="0"/>
          </a:p>
          <a:p>
            <a:pPr lvl="1"/>
            <a:r>
              <a:rPr lang="en-US" altLang="zh-TW" dirty="0" smtClean="0"/>
              <a:t>Relative </a:t>
            </a:r>
            <a:r>
              <a:rPr lang="en-US" altLang="zh-TW" dirty="0"/>
              <a:t>contraindication to </a:t>
            </a:r>
            <a:r>
              <a:rPr lang="en-US" altLang="zh-TW" dirty="0" smtClean="0"/>
              <a:t>RT</a:t>
            </a:r>
          </a:p>
          <a:p>
            <a:pPr lvl="1"/>
            <a:r>
              <a:rPr lang="en-US" altLang="zh-TW" dirty="0" smtClean="0"/>
              <a:t>From </a:t>
            </a:r>
            <a:r>
              <a:rPr lang="en-US" altLang="zh-TW" dirty="0" err="1" smtClean="0"/>
              <a:t>perez</a:t>
            </a:r>
            <a:r>
              <a:rPr lang="en-US" altLang="zh-TW" dirty="0" smtClean="0"/>
              <a:t>: </a:t>
            </a:r>
            <a:r>
              <a:rPr lang="en-US" altLang="zh-TW" dirty="0"/>
              <a:t>Limited data from a Mayo Clinic series suggests that RT may not increase fistula severity and can be administered safely in this setting</a:t>
            </a:r>
          </a:p>
          <a:p>
            <a:endParaRPr lang="zh-TW" altLang="en-US" dirty="0"/>
          </a:p>
        </p:txBody>
      </p:sp>
    </p:spTree>
    <p:extLst>
      <p:ext uri="{BB962C8B-B14F-4D97-AF65-F5344CB8AC3E}">
        <p14:creationId xmlns:p14="http://schemas.microsoft.com/office/powerpoint/2010/main" val="1877595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92500" lnSpcReduction="20000"/>
          </a:bodyPr>
          <a:lstStyle/>
          <a:p>
            <a:r>
              <a:rPr lang="en-US" altLang="zh-TW" dirty="0"/>
              <a:t> Phase II study by Chen et al evaluated the efficacy of radiation dose escalation using SIB in </a:t>
            </a:r>
            <a:r>
              <a:rPr lang="en-US" altLang="zh-TW" dirty="0">
                <a:solidFill>
                  <a:srgbClr val="FF0000"/>
                </a:solidFill>
              </a:rPr>
              <a:t>60 </a:t>
            </a:r>
            <a:r>
              <a:rPr lang="en-US" altLang="zh-TW" dirty="0"/>
              <a:t>EC </a:t>
            </a:r>
            <a:r>
              <a:rPr lang="en-US" altLang="zh-TW" dirty="0" err="1" smtClean="0">
                <a:solidFill>
                  <a:srgbClr val="FF0000"/>
                </a:solidFill>
              </a:rPr>
              <a:t>patients.RT</a:t>
            </a:r>
            <a:r>
              <a:rPr lang="en-US" altLang="zh-TW" dirty="0" smtClean="0">
                <a:solidFill>
                  <a:srgbClr val="FF0000"/>
                </a:solidFill>
              </a:rPr>
              <a:t> </a:t>
            </a:r>
            <a:r>
              <a:rPr lang="en-US" altLang="zh-TW" dirty="0">
                <a:solidFill>
                  <a:srgbClr val="FF0000"/>
                </a:solidFill>
              </a:rPr>
              <a:t>consisted of 66 </a:t>
            </a:r>
            <a:r>
              <a:rPr lang="en-US" altLang="zh-TW" dirty="0" err="1">
                <a:solidFill>
                  <a:srgbClr val="FF0000"/>
                </a:solidFill>
              </a:rPr>
              <a:t>Gy</a:t>
            </a:r>
            <a:r>
              <a:rPr lang="en-US" altLang="zh-TW" dirty="0">
                <a:solidFill>
                  <a:srgbClr val="FF0000"/>
                </a:solidFill>
              </a:rPr>
              <a:t> at 2.2 </a:t>
            </a:r>
            <a:r>
              <a:rPr lang="en-US" altLang="zh-TW" dirty="0" err="1">
                <a:solidFill>
                  <a:srgbClr val="FF0000"/>
                </a:solidFill>
              </a:rPr>
              <a:t>Gy</a:t>
            </a:r>
            <a:r>
              <a:rPr lang="en-US" altLang="zh-TW" dirty="0">
                <a:solidFill>
                  <a:srgbClr val="FF0000"/>
                </a:solidFill>
              </a:rPr>
              <a:t> per fraction to the gross tumor and 54 </a:t>
            </a:r>
            <a:r>
              <a:rPr lang="en-US" altLang="zh-TW" dirty="0" err="1">
                <a:solidFill>
                  <a:srgbClr val="FF0000"/>
                </a:solidFill>
              </a:rPr>
              <a:t>Gy</a:t>
            </a:r>
            <a:r>
              <a:rPr lang="en-US" altLang="zh-TW" dirty="0">
                <a:solidFill>
                  <a:srgbClr val="FF0000"/>
                </a:solidFill>
              </a:rPr>
              <a:t> at 1.8 </a:t>
            </a:r>
            <a:r>
              <a:rPr lang="en-US" altLang="zh-TW" dirty="0" err="1">
                <a:solidFill>
                  <a:srgbClr val="FF0000"/>
                </a:solidFill>
              </a:rPr>
              <a:t>Gy</a:t>
            </a:r>
            <a:r>
              <a:rPr lang="en-US" altLang="zh-TW" dirty="0">
                <a:solidFill>
                  <a:srgbClr val="FF0000"/>
                </a:solidFill>
              </a:rPr>
              <a:t> per fraction to subclinical diseases simultaneously</a:t>
            </a:r>
            <a:r>
              <a:rPr lang="en-US" altLang="zh-TW" dirty="0"/>
              <a:t>. The result showed that the 1-year LRC, distant metastasis-free survival (DMFS), disease-free survival (DFS), and OS rates were 87.6%, 78.6%, 86.0%, 80.5%, respectively. And the </a:t>
            </a:r>
            <a:r>
              <a:rPr lang="en-US" altLang="zh-TW" dirty="0">
                <a:solidFill>
                  <a:srgbClr val="FF0000"/>
                </a:solidFill>
              </a:rPr>
              <a:t>2-year LRC, DMFS, DFS, and OS rates were 75.6%, 64.4%, 86.7%, 72.7%, respectively</a:t>
            </a:r>
            <a:r>
              <a:rPr lang="en-US" altLang="zh-TW" dirty="0"/>
              <a:t>. This indicates that SIB combined with concurrent chemotherapy is feasible, with tolerable acute toxicities in EC patients, and a trend of significant improvements in LRC and OS was shown.</a:t>
            </a:r>
            <a:endParaRPr lang="zh-TW" altLang="en-US" dirty="0"/>
          </a:p>
        </p:txBody>
      </p:sp>
    </p:spTree>
    <p:extLst>
      <p:ext uri="{BB962C8B-B14F-4D97-AF65-F5344CB8AC3E}">
        <p14:creationId xmlns:p14="http://schemas.microsoft.com/office/powerpoint/2010/main" val="38523790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2017 </a:t>
            </a:r>
            <a:r>
              <a:rPr lang="zh-TW" altLang="en-US" dirty="0" smtClean="0"/>
              <a:t>葉世安 </a:t>
            </a:r>
            <a:r>
              <a:rPr lang="en-US" altLang="zh-TW" dirty="0" smtClean="0"/>
              <a:t>GI</a:t>
            </a:r>
            <a:endParaRPr lang="zh-TW" altLang="en-US" dirty="0"/>
          </a:p>
        </p:txBody>
      </p:sp>
      <p:sp>
        <p:nvSpPr>
          <p:cNvPr id="3" name="內容版面配置區 2"/>
          <p:cNvSpPr>
            <a:spLocks noGrp="1"/>
          </p:cNvSpPr>
          <p:nvPr>
            <p:ph idx="1"/>
          </p:nvPr>
        </p:nvSpPr>
        <p:spPr>
          <a:xfrm>
            <a:off x="609600" y="1600201"/>
            <a:ext cx="10972800" cy="4932946"/>
          </a:xfrm>
        </p:spPr>
        <p:txBody>
          <a:bodyPr>
            <a:normAutofit fontScale="92500" lnSpcReduction="20000"/>
          </a:bodyPr>
          <a:lstStyle/>
          <a:p>
            <a:r>
              <a:rPr lang="zh-TW" altLang="en-US" dirty="0" smtClean="0"/>
              <a:t>開頭</a:t>
            </a:r>
            <a:r>
              <a:rPr lang="zh-TW" altLang="en-US" dirty="0"/>
              <a:t>就說這關是開放式問法</a:t>
            </a:r>
            <a:r>
              <a:rPr lang="en-US" altLang="zh-TW" dirty="0"/>
              <a:t>, </a:t>
            </a:r>
            <a:r>
              <a:rPr lang="zh-TW" altLang="en-US" dirty="0"/>
              <a:t>請你隨意發揮</a:t>
            </a:r>
            <a:r>
              <a:rPr lang="en-US" altLang="zh-TW" dirty="0"/>
              <a:t>liver / </a:t>
            </a:r>
            <a:r>
              <a:rPr lang="en-US" altLang="zh-TW" dirty="0" err="1"/>
              <a:t>cholangio</a:t>
            </a:r>
            <a:r>
              <a:rPr lang="en-US" altLang="zh-TW" dirty="0"/>
              <a:t> / colorectal / anal cancer</a:t>
            </a:r>
            <a:r>
              <a:rPr lang="zh-TW" altLang="en-US" dirty="0"/>
              <a:t>怎麼治療 </a:t>
            </a:r>
          </a:p>
          <a:p>
            <a:r>
              <a:rPr lang="en-US" altLang="zh-TW" dirty="0" smtClean="0"/>
              <a:t>HCC (</a:t>
            </a:r>
            <a:r>
              <a:rPr lang="zh-TW" altLang="en-US" dirty="0" smtClean="0"/>
              <a:t>請參考前頁</a:t>
            </a:r>
            <a:r>
              <a:rPr lang="en-US" altLang="zh-TW" dirty="0" smtClean="0"/>
              <a:t>)</a:t>
            </a:r>
          </a:p>
          <a:p>
            <a:pPr lvl="1"/>
            <a:r>
              <a:rPr lang="zh-TW" altLang="en-US" dirty="0" smtClean="0"/>
              <a:t>如果</a:t>
            </a:r>
            <a:r>
              <a:rPr lang="zh-TW" altLang="en-US" dirty="0"/>
              <a:t>光</a:t>
            </a:r>
            <a:r>
              <a:rPr lang="en-US" altLang="zh-TW" dirty="0"/>
              <a:t>HCC</a:t>
            </a:r>
            <a:r>
              <a:rPr lang="zh-TW" altLang="en-US" dirty="0"/>
              <a:t>就講滿</a:t>
            </a:r>
            <a:r>
              <a:rPr lang="en-US" altLang="zh-TW" dirty="0"/>
              <a:t>15</a:t>
            </a:r>
            <a:r>
              <a:rPr lang="zh-TW" altLang="en-US" dirty="0"/>
              <a:t>分鐘</a:t>
            </a:r>
            <a:r>
              <a:rPr lang="en-US" altLang="zh-TW" dirty="0"/>
              <a:t>, </a:t>
            </a:r>
            <a:r>
              <a:rPr lang="zh-TW" altLang="en-US" dirty="0"/>
              <a:t>沒時間講其他的主題也沒關係 </a:t>
            </a:r>
            <a:endParaRPr lang="en-US" altLang="zh-TW" dirty="0" smtClean="0"/>
          </a:p>
          <a:p>
            <a:pPr lvl="1"/>
            <a:r>
              <a:rPr lang="zh-TW" altLang="en-US" dirty="0" smtClean="0"/>
              <a:t>從</a:t>
            </a:r>
            <a:r>
              <a:rPr lang="en-US" altLang="zh-TW" dirty="0"/>
              <a:t>HCC</a:t>
            </a:r>
            <a:r>
              <a:rPr lang="zh-TW" altLang="en-US" dirty="0"/>
              <a:t>病人照</a:t>
            </a:r>
            <a:r>
              <a:rPr lang="en-US" altLang="zh-TW" dirty="0"/>
              <a:t>RT</a:t>
            </a:r>
            <a:r>
              <a:rPr lang="zh-TW" altLang="en-US" dirty="0"/>
              <a:t>的</a:t>
            </a:r>
            <a:r>
              <a:rPr lang="en-US" altLang="zh-TW" dirty="0"/>
              <a:t>indication</a:t>
            </a:r>
            <a:r>
              <a:rPr lang="zh-TW" altLang="en-US" dirty="0"/>
              <a:t>，治療方式，甚至</a:t>
            </a:r>
            <a:r>
              <a:rPr lang="en-US" altLang="zh-TW" dirty="0"/>
              <a:t>beam arrangement, constraint criteria, follow up…</a:t>
            </a:r>
            <a:r>
              <a:rPr lang="zh-TW" altLang="en-US" dirty="0"/>
              <a:t>盡可能詳細</a:t>
            </a:r>
            <a:r>
              <a:rPr lang="en-US" altLang="zh-TW" dirty="0"/>
              <a:t>, </a:t>
            </a:r>
            <a:r>
              <a:rPr lang="zh-TW" altLang="en-US" dirty="0"/>
              <a:t>就足以用完</a:t>
            </a:r>
            <a:r>
              <a:rPr lang="en-US" altLang="zh-TW" dirty="0"/>
              <a:t>15</a:t>
            </a:r>
            <a:r>
              <a:rPr lang="zh-TW" altLang="en-US" dirty="0"/>
              <a:t>分鐘</a:t>
            </a:r>
            <a:r>
              <a:rPr lang="zh-TW" altLang="en-US" dirty="0" smtClean="0"/>
              <a:t>了</a:t>
            </a:r>
            <a:endParaRPr lang="en-US" altLang="zh-TW" dirty="0"/>
          </a:p>
          <a:p>
            <a:pPr lvl="1"/>
            <a:r>
              <a:rPr lang="en-US" altLang="zh-TW" dirty="0" smtClean="0"/>
              <a:t>HCC</a:t>
            </a:r>
            <a:r>
              <a:rPr lang="zh-TW" altLang="en-US" dirty="0"/>
              <a:t>那些</a:t>
            </a:r>
            <a:r>
              <a:rPr lang="en-US" altLang="zh-TW" dirty="0"/>
              <a:t>case</a:t>
            </a:r>
            <a:r>
              <a:rPr lang="zh-TW" altLang="en-US" dirty="0"/>
              <a:t>會做</a:t>
            </a:r>
            <a:r>
              <a:rPr lang="en-US" altLang="zh-TW" dirty="0"/>
              <a:t>SBRT, </a:t>
            </a:r>
            <a:r>
              <a:rPr lang="zh-TW" altLang="en-US" dirty="0"/>
              <a:t>劑量怎麼給</a:t>
            </a:r>
            <a:r>
              <a:rPr lang="en-US" altLang="zh-TW" dirty="0"/>
              <a:t>, </a:t>
            </a:r>
            <a:r>
              <a:rPr lang="zh-TW" altLang="en-US" dirty="0"/>
              <a:t>什麼方法可以克服</a:t>
            </a:r>
            <a:r>
              <a:rPr lang="en-US" altLang="zh-TW" dirty="0"/>
              <a:t>organ motion? </a:t>
            </a:r>
          </a:p>
          <a:p>
            <a:r>
              <a:rPr lang="en-US" altLang="zh-TW" dirty="0"/>
              <a:t>Pancreas </a:t>
            </a:r>
            <a:r>
              <a:rPr lang="en-US" altLang="zh-TW" dirty="0" err="1"/>
              <a:t>ca</a:t>
            </a:r>
            <a:r>
              <a:rPr lang="en-US" altLang="zh-TW" dirty="0"/>
              <a:t> RT indication? </a:t>
            </a:r>
            <a:r>
              <a:rPr lang="zh-TW" altLang="en-US" dirty="0"/>
              <a:t>劑量</a:t>
            </a:r>
            <a:r>
              <a:rPr lang="en-US" altLang="zh-TW" dirty="0"/>
              <a:t>? </a:t>
            </a:r>
            <a:r>
              <a:rPr lang="en-US" altLang="zh-TW" dirty="0" smtClean="0"/>
              <a:t>(</a:t>
            </a:r>
            <a:r>
              <a:rPr lang="zh-TW" altLang="en-US" dirty="0" smtClean="0"/>
              <a:t>細節請</a:t>
            </a:r>
            <a:r>
              <a:rPr lang="zh-TW" altLang="en-US" dirty="0"/>
              <a:t>參考前頁</a:t>
            </a:r>
            <a:r>
              <a:rPr lang="en-US" altLang="zh-TW" dirty="0" smtClean="0"/>
              <a:t>)</a:t>
            </a:r>
          </a:p>
          <a:p>
            <a:pPr lvl="1"/>
            <a:r>
              <a:rPr lang="en-US" altLang="zh-TW" dirty="0" err="1" smtClean="0"/>
              <a:t>Resectable</a:t>
            </a:r>
            <a:r>
              <a:rPr lang="en-US" altLang="zh-TW" dirty="0" smtClean="0"/>
              <a:t>/borderline </a:t>
            </a:r>
            <a:r>
              <a:rPr lang="en-US" altLang="zh-TW" dirty="0" err="1" smtClean="0"/>
              <a:t>resectable</a:t>
            </a:r>
            <a:r>
              <a:rPr lang="en-US" altLang="zh-TW" dirty="0"/>
              <a:t> </a:t>
            </a:r>
            <a:r>
              <a:rPr lang="en-US" altLang="zh-TW" dirty="0" smtClean="0"/>
              <a:t>(</a:t>
            </a:r>
            <a:r>
              <a:rPr lang="en-US" altLang="zh-TW" dirty="0" err="1" smtClean="0"/>
              <a:t>neoadjuvant</a:t>
            </a:r>
            <a:r>
              <a:rPr lang="en-US" altLang="zh-TW" dirty="0" smtClean="0"/>
              <a:t>), </a:t>
            </a:r>
            <a:r>
              <a:rPr lang="en-US" altLang="zh-TW" dirty="0" err="1" smtClean="0"/>
              <a:t>resectable</a:t>
            </a:r>
            <a:r>
              <a:rPr lang="en-US" altLang="zh-TW" dirty="0" smtClean="0"/>
              <a:t> (adjuvant), locally advanced (definitive), palliative, recurrent</a:t>
            </a:r>
          </a:p>
          <a:p>
            <a:r>
              <a:rPr lang="en-US" altLang="zh-TW" dirty="0" smtClean="0"/>
              <a:t>Portal </a:t>
            </a:r>
            <a:r>
              <a:rPr lang="en-US" altLang="zh-TW" dirty="0"/>
              <a:t>vein thrombosis</a:t>
            </a:r>
            <a:r>
              <a:rPr lang="zh-TW" altLang="en-US" dirty="0"/>
              <a:t>做</a:t>
            </a:r>
            <a:r>
              <a:rPr lang="en-US" altLang="zh-TW" dirty="0"/>
              <a:t>RT</a:t>
            </a:r>
            <a:r>
              <a:rPr lang="zh-TW" altLang="en-US" dirty="0"/>
              <a:t>的效果如何</a:t>
            </a:r>
            <a:r>
              <a:rPr lang="en-US" altLang="zh-TW" dirty="0"/>
              <a:t>? </a:t>
            </a:r>
            <a:endParaRPr lang="en-US" altLang="zh-TW" dirty="0" smtClean="0"/>
          </a:p>
          <a:p>
            <a:pPr lvl="1"/>
            <a:r>
              <a:rPr lang="en-US" altLang="zh-TW" dirty="0" smtClean="0"/>
              <a:t>ROJ 2016, 40Gy/16Fx-45Gy/25Fx, response rate 40</a:t>
            </a:r>
            <a:r>
              <a:rPr lang="en-US" altLang="zh-TW" dirty="0" smtClean="0"/>
              <a:t>%</a:t>
            </a:r>
            <a:endParaRPr lang="en-US" altLang="zh-TW" dirty="0"/>
          </a:p>
        </p:txBody>
      </p:sp>
    </p:spTree>
    <p:extLst>
      <p:ext uri="{BB962C8B-B14F-4D97-AF65-F5344CB8AC3E}">
        <p14:creationId xmlns:p14="http://schemas.microsoft.com/office/powerpoint/2010/main" val="2811089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2017 </a:t>
            </a:r>
            <a:r>
              <a:rPr lang="zh-TW" altLang="en-US" dirty="0" smtClean="0"/>
              <a:t>葉世安 </a:t>
            </a:r>
            <a:r>
              <a:rPr lang="en-US" altLang="zh-TW" dirty="0" smtClean="0"/>
              <a:t>GI</a:t>
            </a:r>
            <a:endParaRPr lang="zh-TW" altLang="en-US" dirty="0"/>
          </a:p>
        </p:txBody>
      </p:sp>
      <p:sp>
        <p:nvSpPr>
          <p:cNvPr id="3" name="內容版面配置區 2"/>
          <p:cNvSpPr>
            <a:spLocks noGrp="1"/>
          </p:cNvSpPr>
          <p:nvPr>
            <p:ph idx="1"/>
          </p:nvPr>
        </p:nvSpPr>
        <p:spPr>
          <a:xfrm>
            <a:off x="609600" y="1600201"/>
            <a:ext cx="10972800" cy="4932946"/>
          </a:xfrm>
        </p:spPr>
        <p:txBody>
          <a:bodyPr>
            <a:normAutofit fontScale="77500" lnSpcReduction="20000"/>
          </a:bodyPr>
          <a:lstStyle/>
          <a:p>
            <a:r>
              <a:rPr lang="en-US" altLang="zh-TW" dirty="0" smtClean="0"/>
              <a:t>Classic/non-classic </a:t>
            </a:r>
            <a:r>
              <a:rPr lang="en-US" altLang="zh-TW" dirty="0"/>
              <a:t>RILD </a:t>
            </a:r>
            <a:r>
              <a:rPr lang="zh-TW" altLang="en-US" dirty="0"/>
              <a:t>的差別</a:t>
            </a:r>
            <a:r>
              <a:rPr lang="en-US" altLang="zh-TW" dirty="0"/>
              <a:t>? </a:t>
            </a:r>
            <a:endParaRPr lang="en-US" altLang="zh-TW" dirty="0" smtClean="0"/>
          </a:p>
          <a:p>
            <a:pPr lvl="1"/>
            <a:r>
              <a:rPr lang="en-US" altLang="zh-TW" dirty="0"/>
              <a:t>Classic RILD: central vein thrombosis at the lobular level → retrograde congestion → secondary hepatocyte </a:t>
            </a:r>
            <a:r>
              <a:rPr lang="en-US" altLang="zh-TW" dirty="0" smtClean="0"/>
              <a:t>necrosis, </a:t>
            </a:r>
            <a:r>
              <a:rPr lang="en-US" altLang="zh-TW" dirty="0"/>
              <a:t>Liver enzyme elevation (</a:t>
            </a:r>
            <a:r>
              <a:rPr lang="en-US" altLang="zh-TW" dirty="0">
                <a:solidFill>
                  <a:srgbClr val="0000FF"/>
                </a:solidFill>
              </a:rPr>
              <a:t>&gt; 2x the upper limit</a:t>
            </a:r>
            <a:r>
              <a:rPr lang="en-US" altLang="zh-TW" dirty="0"/>
              <a:t>)</a:t>
            </a:r>
          </a:p>
          <a:p>
            <a:pPr lvl="1"/>
            <a:r>
              <a:rPr lang="en-US" altLang="zh-TW" dirty="0" err="1"/>
              <a:t>Nonclassic</a:t>
            </a:r>
            <a:r>
              <a:rPr lang="en-US" altLang="zh-TW" dirty="0"/>
              <a:t> RILD: the underlying pathology is </a:t>
            </a:r>
            <a:r>
              <a:rPr lang="en-US" altLang="zh-TW" dirty="0" smtClean="0">
                <a:solidFill>
                  <a:srgbClr val="0000FF"/>
                </a:solidFill>
              </a:rPr>
              <a:t>unclear, </a:t>
            </a:r>
            <a:r>
              <a:rPr lang="en-US" altLang="zh-TW" dirty="0"/>
              <a:t>Liver enzyme elevation (</a:t>
            </a:r>
            <a:r>
              <a:rPr lang="en-US" altLang="zh-TW" dirty="0">
                <a:solidFill>
                  <a:srgbClr val="0000FF"/>
                </a:solidFill>
              </a:rPr>
              <a:t>&gt; 5x the upper limit</a:t>
            </a:r>
            <a:r>
              <a:rPr lang="en-US" altLang="zh-TW" dirty="0"/>
              <a:t>) or decline in liver function in the absence of classic RILD</a:t>
            </a:r>
            <a:endParaRPr lang="en-US" altLang="zh-TW" dirty="0">
              <a:solidFill>
                <a:srgbClr val="0000FF"/>
              </a:solidFill>
            </a:endParaRPr>
          </a:p>
          <a:p>
            <a:r>
              <a:rPr lang="en-US" altLang="zh-TW" dirty="0" err="1" smtClean="0"/>
              <a:t>Cholangiocarcinoma</a:t>
            </a:r>
            <a:r>
              <a:rPr lang="zh-TW" altLang="en-US" dirty="0"/>
              <a:t>哪些狀況會</a:t>
            </a:r>
            <a:r>
              <a:rPr lang="en-US" altLang="zh-TW" dirty="0"/>
              <a:t>RT? </a:t>
            </a:r>
            <a:endParaRPr lang="en-US" altLang="zh-TW" dirty="0" smtClean="0"/>
          </a:p>
          <a:p>
            <a:pPr lvl="1"/>
            <a:r>
              <a:rPr lang="en-US" altLang="zh-TW" dirty="0" smtClean="0"/>
              <a:t>CCRT for </a:t>
            </a:r>
            <a:r>
              <a:rPr lang="en-US" altLang="zh-TW" dirty="0" err="1" smtClean="0"/>
              <a:t>unresectable</a:t>
            </a:r>
            <a:r>
              <a:rPr lang="en-US" altLang="zh-TW" dirty="0" smtClean="0"/>
              <a:t>, post operative R1 R2 resection or LN(+)</a:t>
            </a:r>
            <a:endParaRPr lang="en-US" altLang="zh-TW" dirty="0"/>
          </a:p>
          <a:p>
            <a:pPr lvl="1"/>
            <a:r>
              <a:rPr lang="en-US" altLang="zh-TW" dirty="0" smtClean="0"/>
              <a:t>Palliative: relieve pain or biliary </a:t>
            </a:r>
            <a:r>
              <a:rPr lang="en-US" altLang="zh-TW" dirty="0" smtClean="0"/>
              <a:t>compression</a:t>
            </a:r>
            <a:r>
              <a:rPr lang="zh-TW" altLang="en-US" dirty="0" smtClean="0"/>
              <a:t> </a:t>
            </a:r>
            <a:r>
              <a:rPr lang="en-US" altLang="zh-TW" dirty="0"/>
              <a:t>(At 1 year following conventional radiotherapy, 60% to 75% of patients have </a:t>
            </a:r>
            <a:r>
              <a:rPr lang="en-US" altLang="zh-TW" dirty="0" err="1"/>
              <a:t>locoregional</a:t>
            </a:r>
            <a:r>
              <a:rPr lang="en-US" altLang="zh-TW" dirty="0"/>
              <a:t> failure, and the median survival ranges only 7 to 12 </a:t>
            </a:r>
            <a:r>
              <a:rPr lang="en-US" altLang="zh-TW" dirty="0" smtClean="0"/>
              <a:t>months)</a:t>
            </a:r>
          </a:p>
          <a:p>
            <a:pPr lvl="1"/>
            <a:r>
              <a:rPr lang="zh-TW" altLang="en-US" dirty="0" smtClean="0"/>
              <a:t>比照</a:t>
            </a:r>
            <a:r>
              <a:rPr lang="en-US" altLang="zh-TW" dirty="0" smtClean="0"/>
              <a:t>HCC</a:t>
            </a:r>
            <a:r>
              <a:rPr lang="zh-TW" altLang="en-US" dirty="0"/>
              <a:t> </a:t>
            </a:r>
            <a:r>
              <a:rPr lang="en-US" altLang="zh-TW" dirty="0" smtClean="0"/>
              <a:t>(</a:t>
            </a:r>
            <a:r>
              <a:rPr lang="zh-TW" altLang="en-US" dirty="0"/>
              <a:t> </a:t>
            </a:r>
            <a:r>
              <a:rPr lang="en-US" altLang="zh-TW" dirty="0" smtClean="0"/>
              <a:t>SBRT)</a:t>
            </a:r>
          </a:p>
          <a:p>
            <a:pPr lvl="1"/>
            <a:r>
              <a:rPr lang="en-US" altLang="zh-TW" dirty="0"/>
              <a:t> Clinical target volume (CTV) is defined as 1.5-cm margin beyond the GTV, especially along the bile duct and potential lymphatic drainage areas, which include nodes along the </a:t>
            </a:r>
            <a:r>
              <a:rPr lang="en-US" altLang="zh-TW" dirty="0">
                <a:solidFill>
                  <a:srgbClr val="FF0000"/>
                </a:solidFill>
              </a:rPr>
              <a:t>porta </a:t>
            </a:r>
            <a:r>
              <a:rPr lang="en-US" altLang="zh-TW" dirty="0" err="1">
                <a:solidFill>
                  <a:srgbClr val="FF0000"/>
                </a:solidFill>
              </a:rPr>
              <a:t>hepatis</a:t>
            </a:r>
            <a:r>
              <a:rPr lang="en-US" altLang="zh-TW" dirty="0">
                <a:solidFill>
                  <a:srgbClr val="FF0000"/>
                </a:solidFill>
              </a:rPr>
              <a:t>, pancreaticoduodenal system, and celiac axis</a:t>
            </a:r>
            <a:endParaRPr lang="en-US" altLang="zh-TW" dirty="0" smtClean="0">
              <a:solidFill>
                <a:srgbClr val="FF0000"/>
              </a:solidFill>
            </a:endParaRPr>
          </a:p>
          <a:p>
            <a:pPr lvl="1"/>
            <a:endParaRPr lang="zh-TW" altLang="en-US" dirty="0"/>
          </a:p>
        </p:txBody>
      </p:sp>
    </p:spTree>
    <p:extLst>
      <p:ext uri="{BB962C8B-B14F-4D97-AF65-F5344CB8AC3E}">
        <p14:creationId xmlns:p14="http://schemas.microsoft.com/office/powerpoint/2010/main" val="1759408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2016 </a:t>
            </a:r>
            <a:r>
              <a:rPr lang="zh-TW" altLang="en-US" dirty="0" smtClean="0"/>
              <a:t>郭嘉駿 </a:t>
            </a:r>
            <a:r>
              <a:rPr lang="en-US" altLang="zh-TW" dirty="0" smtClean="0"/>
              <a:t>GI</a:t>
            </a:r>
            <a:endParaRPr lang="zh-TW" altLang="en-US" dirty="0"/>
          </a:p>
        </p:txBody>
      </p:sp>
      <p:sp>
        <p:nvSpPr>
          <p:cNvPr id="3" name="內容版面配置區 2"/>
          <p:cNvSpPr>
            <a:spLocks noGrp="1"/>
          </p:cNvSpPr>
          <p:nvPr>
            <p:ph idx="1"/>
          </p:nvPr>
        </p:nvSpPr>
        <p:spPr/>
        <p:txBody>
          <a:bodyPr>
            <a:normAutofit fontScale="70000" lnSpcReduction="20000"/>
          </a:bodyPr>
          <a:lstStyle/>
          <a:p>
            <a:pPr lvl="0" fontAlgn="base"/>
            <a:r>
              <a:rPr lang="zh-TW" altLang="zh-TW" dirty="0"/>
              <a:t>主要詢問考生自己醫院關於消化道癌症放射治療的病例比重及實際治療情況。 </a:t>
            </a:r>
          </a:p>
          <a:p>
            <a:pPr lvl="0" fontAlgn="base"/>
            <a:r>
              <a:rPr lang="en-US" altLang="zh-TW" dirty="0" smtClean="0"/>
              <a:t>Esophagus</a:t>
            </a:r>
          </a:p>
          <a:p>
            <a:pPr lvl="1" fontAlgn="base"/>
            <a:r>
              <a:rPr lang="zh-TW" altLang="zh-TW" dirty="0" smtClean="0"/>
              <a:t>食道癌</a:t>
            </a:r>
            <a:r>
              <a:rPr lang="zh-TW" altLang="zh-TW" dirty="0"/>
              <a:t>如何根據胃鏡檢查跟影像檢查判斷發生</a:t>
            </a:r>
            <a:r>
              <a:rPr lang="zh-TW" altLang="zh-TW" dirty="0" smtClean="0"/>
              <a:t>部位</a:t>
            </a:r>
            <a:r>
              <a:rPr lang="en-US" altLang="zh-TW" dirty="0" smtClean="0"/>
              <a:t> (</a:t>
            </a:r>
            <a:r>
              <a:rPr lang="zh-TW" altLang="en-US" dirty="0" smtClean="0"/>
              <a:t>請參考前面</a:t>
            </a:r>
            <a:r>
              <a:rPr lang="en-US" altLang="zh-TW" dirty="0" smtClean="0"/>
              <a:t>)</a:t>
            </a:r>
          </a:p>
          <a:p>
            <a:pPr marL="457200" lvl="1" indent="0" fontAlgn="base">
              <a:buNone/>
            </a:pPr>
            <a:r>
              <a:rPr lang="zh-TW" altLang="en-US" dirty="0" smtClean="0"/>
              <a:t>距離</a:t>
            </a:r>
            <a:r>
              <a:rPr lang="en-US" altLang="zh-TW" dirty="0" smtClean="0"/>
              <a:t>incisor</a:t>
            </a:r>
            <a:r>
              <a:rPr lang="zh-TW" altLang="en-US" dirty="0" smtClean="0"/>
              <a:t>的位置</a:t>
            </a:r>
            <a:r>
              <a:rPr lang="en-US" altLang="zh-TW" dirty="0" smtClean="0"/>
              <a:t>, </a:t>
            </a:r>
            <a:r>
              <a:rPr lang="zh-TW" altLang="en-US" dirty="0" smtClean="0"/>
              <a:t>影像的話則是根據</a:t>
            </a:r>
            <a:r>
              <a:rPr lang="en-US" altLang="zh-TW" dirty="0" smtClean="0"/>
              <a:t>landmark,</a:t>
            </a:r>
            <a:r>
              <a:rPr lang="zh-TW" altLang="en-US" dirty="0" smtClean="0"/>
              <a:t> </a:t>
            </a:r>
            <a:endParaRPr lang="zh-TW" altLang="zh-TW" dirty="0"/>
          </a:p>
          <a:p>
            <a:pPr lvl="1" fontAlgn="base"/>
            <a:r>
              <a:rPr lang="zh-TW" altLang="zh-TW" dirty="0"/>
              <a:t>你們醫院食道癌大多是做pre-op </a:t>
            </a:r>
            <a:r>
              <a:rPr lang="en-US" altLang="zh-TW" dirty="0"/>
              <a:t>CCRT</a:t>
            </a:r>
            <a:r>
              <a:rPr lang="zh-TW" altLang="zh-TW" dirty="0"/>
              <a:t>還是大多直接開刀，怎麼做/照射範圍/劑量/配合</a:t>
            </a:r>
            <a:r>
              <a:rPr lang="ja-JP" altLang="zh-TW" dirty="0"/>
              <a:t>化</a:t>
            </a:r>
            <a:r>
              <a:rPr lang="ja-JP" altLang="zh-TW" dirty="0" smtClean="0"/>
              <a:t>療</a:t>
            </a:r>
            <a:r>
              <a:rPr lang="zh-TW" altLang="en-US" dirty="0"/>
              <a:t> </a:t>
            </a:r>
            <a:r>
              <a:rPr lang="en-US" altLang="zh-TW" dirty="0"/>
              <a:t>(</a:t>
            </a:r>
            <a:r>
              <a:rPr lang="zh-TW" altLang="en-US" dirty="0"/>
              <a:t>請參考前面</a:t>
            </a:r>
            <a:r>
              <a:rPr lang="en-US" altLang="zh-TW" dirty="0"/>
              <a:t>)</a:t>
            </a:r>
            <a:endParaRPr lang="en-US" altLang="ja-JP" dirty="0"/>
          </a:p>
          <a:p>
            <a:pPr lvl="1" fontAlgn="base"/>
            <a:r>
              <a:rPr lang="zh-TW" altLang="zh-TW" dirty="0"/>
              <a:t>如果是</a:t>
            </a:r>
            <a:r>
              <a:rPr lang="en-US" altLang="zh-TW" dirty="0"/>
              <a:t>cervical esophageal cancer </a:t>
            </a:r>
            <a:r>
              <a:rPr lang="zh-TW" altLang="zh-TW" dirty="0"/>
              <a:t>會怎麼</a:t>
            </a:r>
            <a:r>
              <a:rPr lang="zh-TW" altLang="zh-TW" dirty="0" smtClean="0"/>
              <a:t>做</a:t>
            </a:r>
            <a:r>
              <a:rPr lang="en-US" altLang="zh-TW" dirty="0" smtClean="0"/>
              <a:t>: definitive CCRT</a:t>
            </a:r>
          </a:p>
          <a:p>
            <a:pPr lvl="1" fontAlgn="base"/>
            <a:r>
              <a:rPr lang="zh-TW" altLang="zh-TW" dirty="0" smtClean="0"/>
              <a:t>如何</a:t>
            </a:r>
            <a:r>
              <a:rPr lang="zh-TW" altLang="zh-TW" dirty="0"/>
              <a:t>評估</a:t>
            </a:r>
            <a:r>
              <a:rPr lang="en-US" altLang="zh-TW" dirty="0" err="1"/>
              <a:t>resectable</a:t>
            </a:r>
            <a:r>
              <a:rPr lang="en-US" altLang="zh-TW" dirty="0"/>
              <a:t> or </a:t>
            </a:r>
            <a:r>
              <a:rPr lang="en-US" altLang="zh-TW" dirty="0" err="1"/>
              <a:t>unresectable</a:t>
            </a:r>
            <a:r>
              <a:rPr lang="zh-TW" altLang="zh-TW" dirty="0"/>
              <a:t>/距離</a:t>
            </a:r>
            <a:r>
              <a:rPr lang="ja-JP" altLang="zh-TW" dirty="0"/>
              <a:t>手術</a:t>
            </a:r>
            <a:r>
              <a:rPr lang="zh-TW" altLang="zh-TW" dirty="0"/>
              <a:t>間隔時間</a:t>
            </a:r>
            <a:r>
              <a:rPr lang="zh-TW" altLang="zh-TW" dirty="0" smtClean="0"/>
              <a:t>。</a:t>
            </a:r>
            <a:endParaRPr lang="en-US" altLang="zh-TW" dirty="0" smtClean="0"/>
          </a:p>
          <a:p>
            <a:pPr lvl="2" fontAlgn="base"/>
            <a:r>
              <a:rPr lang="en-US" altLang="zh-TW" dirty="0" err="1" smtClean="0"/>
              <a:t>Resectable</a:t>
            </a:r>
            <a:endParaRPr lang="en-US" altLang="zh-TW" dirty="0" smtClean="0"/>
          </a:p>
          <a:p>
            <a:pPr lvl="3" fontAlgn="base"/>
            <a:r>
              <a:rPr lang="en-US" altLang="zh-TW" dirty="0"/>
              <a:t>Tis, T1a: </a:t>
            </a:r>
            <a:r>
              <a:rPr lang="en-US" altLang="zh-TW" dirty="0" err="1" smtClean="0"/>
              <a:t>EMR+ablation</a:t>
            </a:r>
            <a:r>
              <a:rPr lang="en-US" altLang="zh-TW" dirty="0" smtClean="0"/>
              <a:t> or </a:t>
            </a:r>
            <a:r>
              <a:rPr lang="en-US" altLang="zh-TW" dirty="0" err="1" smtClean="0"/>
              <a:t>esophagectomy</a:t>
            </a:r>
            <a:r>
              <a:rPr lang="en-US" altLang="zh-TW" dirty="0" smtClean="0"/>
              <a:t>; T1b: </a:t>
            </a:r>
            <a:r>
              <a:rPr lang="en-US" altLang="zh-TW" dirty="0" err="1" smtClean="0"/>
              <a:t>esophagectomy</a:t>
            </a:r>
            <a:r>
              <a:rPr lang="en-US" altLang="zh-TW" dirty="0" smtClean="0"/>
              <a:t>; T1-3, 4a </a:t>
            </a:r>
            <a:r>
              <a:rPr lang="en-US" altLang="zh-TW" dirty="0" err="1" smtClean="0"/>
              <a:t>resectable</a:t>
            </a:r>
            <a:endParaRPr lang="en-US" altLang="zh-TW" dirty="0" smtClean="0"/>
          </a:p>
          <a:p>
            <a:pPr lvl="2" fontAlgn="base"/>
            <a:r>
              <a:rPr lang="en-US" altLang="zh-TW" dirty="0" err="1" smtClean="0"/>
              <a:t>Unresectable</a:t>
            </a:r>
            <a:r>
              <a:rPr lang="en-US" altLang="zh-TW" dirty="0" smtClean="0"/>
              <a:t>: T4b and some multi-station bulky LAP; EGJ/SC LN(+) or distant </a:t>
            </a:r>
            <a:r>
              <a:rPr lang="en-US" altLang="zh-TW" dirty="0" err="1" smtClean="0"/>
              <a:t>mets</a:t>
            </a:r>
            <a:r>
              <a:rPr lang="en-US" altLang="zh-TW" dirty="0" smtClean="0"/>
              <a:t> </a:t>
            </a:r>
          </a:p>
          <a:p>
            <a:pPr lvl="2" fontAlgn="base"/>
            <a:r>
              <a:rPr lang="en-US" altLang="zh-TW" dirty="0" smtClean="0"/>
              <a:t>5-8Wk after completion of pre-operative treatment</a:t>
            </a:r>
          </a:p>
          <a:p>
            <a:r>
              <a:rPr lang="en-US" altLang="zh-TW" dirty="0" smtClean="0"/>
              <a:t>Liver</a:t>
            </a:r>
            <a:r>
              <a:rPr lang="zh-TW" altLang="en-US" dirty="0" smtClean="0"/>
              <a:t> </a:t>
            </a:r>
            <a:r>
              <a:rPr lang="en-US" altLang="zh-TW" dirty="0" smtClean="0"/>
              <a:t>(</a:t>
            </a:r>
            <a:r>
              <a:rPr lang="zh-TW" altLang="en-US" dirty="0" smtClean="0"/>
              <a:t>請參考前面</a:t>
            </a:r>
            <a:r>
              <a:rPr lang="en-US" altLang="zh-TW" dirty="0" smtClean="0"/>
              <a:t>)</a:t>
            </a:r>
          </a:p>
          <a:p>
            <a:pPr lvl="1"/>
            <a:r>
              <a:rPr lang="en-US" altLang="zh-TW" dirty="0" smtClean="0"/>
              <a:t>Liver</a:t>
            </a:r>
            <a:r>
              <a:rPr lang="zh-TW" altLang="en-US" dirty="0" smtClean="0"/>
              <a:t> </a:t>
            </a:r>
            <a:r>
              <a:rPr lang="en-US" altLang="zh-TW" dirty="0" smtClean="0"/>
              <a:t>RT</a:t>
            </a:r>
            <a:r>
              <a:rPr lang="zh-TW" altLang="en-US" dirty="0" smtClean="0"/>
              <a:t>的角色</a:t>
            </a:r>
            <a:r>
              <a:rPr lang="zh-TW" altLang="zh-TW" dirty="0" smtClean="0"/>
              <a:t>。(</a:t>
            </a:r>
            <a:r>
              <a:rPr lang="zh-TW" altLang="zh-TW" dirty="0"/>
              <a:t>我回答主要是</a:t>
            </a:r>
            <a:r>
              <a:rPr lang="en-US" altLang="zh-TW" dirty="0"/>
              <a:t>palliative</a:t>
            </a:r>
            <a:r>
              <a:rPr lang="zh-TW" altLang="zh-TW" dirty="0"/>
              <a:t>跟</a:t>
            </a:r>
            <a:r>
              <a:rPr lang="en-US" altLang="zh-TW" dirty="0"/>
              <a:t>portal vein thrombosis</a:t>
            </a:r>
            <a:r>
              <a:rPr lang="zh-TW" altLang="zh-TW" dirty="0"/>
              <a:t>)。接著問</a:t>
            </a:r>
            <a:r>
              <a:rPr lang="en-US" altLang="zh-TW" dirty="0"/>
              <a:t>portal vein thrombosis RT</a:t>
            </a:r>
            <a:r>
              <a:rPr lang="zh-TW" altLang="zh-TW" dirty="0"/>
              <a:t>的做法及效果</a:t>
            </a:r>
            <a:r>
              <a:rPr lang="zh-TW" altLang="zh-TW" dirty="0" smtClean="0"/>
              <a:t>。</a:t>
            </a:r>
            <a:endParaRPr lang="en-US" altLang="zh-TW" dirty="0" smtClean="0"/>
          </a:p>
          <a:p>
            <a:endParaRPr lang="zh-TW" altLang="en-US" dirty="0"/>
          </a:p>
        </p:txBody>
      </p:sp>
    </p:spTree>
    <p:extLst>
      <p:ext uri="{BB962C8B-B14F-4D97-AF65-F5344CB8AC3E}">
        <p14:creationId xmlns:p14="http://schemas.microsoft.com/office/powerpoint/2010/main" val="1991862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Liver</a:t>
            </a:r>
            <a:r>
              <a:rPr lang="zh-TW" altLang="en-US" dirty="0" smtClean="0"/>
              <a:t>  </a:t>
            </a:r>
            <a:r>
              <a:rPr lang="en-US" altLang="zh-TW" dirty="0" smtClean="0"/>
              <a:t>TACE</a:t>
            </a:r>
            <a:r>
              <a:rPr lang="zh-TW" altLang="en-US" dirty="0" smtClean="0"/>
              <a:t> </a:t>
            </a:r>
            <a:r>
              <a:rPr lang="en-US" altLang="zh-TW" dirty="0" smtClean="0"/>
              <a:t>+RT</a:t>
            </a:r>
            <a:r>
              <a:rPr lang="zh-TW" altLang="en-US" dirty="0" smtClean="0"/>
              <a:t>  </a:t>
            </a:r>
            <a:r>
              <a:rPr lang="en-US" altLang="zh-TW" dirty="0" smtClean="0"/>
              <a:t>3</a:t>
            </a:r>
            <a:r>
              <a:rPr lang="zh-TW" altLang="en-US" dirty="0" smtClean="0"/>
              <a:t> </a:t>
            </a:r>
            <a:r>
              <a:rPr lang="en-US" altLang="zh-TW" dirty="0" smtClean="0"/>
              <a:t>year</a:t>
            </a:r>
            <a:r>
              <a:rPr lang="zh-TW" altLang="en-US" dirty="0" smtClean="0"/>
              <a:t> </a:t>
            </a:r>
            <a:r>
              <a:rPr lang="en-US" altLang="zh-TW" dirty="0" smtClean="0"/>
              <a:t>survival</a:t>
            </a:r>
            <a:r>
              <a:rPr lang="zh-TW" altLang="en-US" dirty="0" smtClean="0"/>
              <a:t> </a:t>
            </a:r>
            <a:r>
              <a:rPr lang="en-US" altLang="zh-TW" dirty="0" smtClean="0"/>
              <a:t>25%</a:t>
            </a:r>
            <a:r>
              <a:rPr lang="zh-TW" altLang="en-US" dirty="0" smtClean="0"/>
              <a:t> </a:t>
            </a:r>
            <a:r>
              <a:rPr lang="en-US" altLang="zh-TW" dirty="0" smtClean="0"/>
              <a:t>,</a:t>
            </a:r>
            <a:r>
              <a:rPr lang="zh-TW" altLang="en-US" dirty="0" smtClean="0"/>
              <a:t> </a:t>
            </a:r>
            <a:r>
              <a:rPr lang="en-US" altLang="zh-TW" dirty="0" smtClean="0"/>
              <a:t>better</a:t>
            </a:r>
            <a:r>
              <a:rPr lang="zh-TW" altLang="en-US" dirty="0" smtClean="0"/>
              <a:t> </a:t>
            </a:r>
            <a:r>
              <a:rPr lang="en-US" altLang="zh-TW" dirty="0" smtClean="0"/>
              <a:t>survival</a:t>
            </a:r>
            <a:r>
              <a:rPr lang="zh-TW" altLang="en-US" dirty="0" smtClean="0"/>
              <a:t> </a:t>
            </a:r>
            <a:r>
              <a:rPr lang="en-US" altLang="zh-TW" dirty="0" smtClean="0"/>
              <a:t>compared</a:t>
            </a:r>
            <a:r>
              <a:rPr lang="zh-TW" altLang="en-US" dirty="0" smtClean="0"/>
              <a:t> </a:t>
            </a:r>
            <a:r>
              <a:rPr lang="en-US" altLang="zh-TW" dirty="0" smtClean="0"/>
              <a:t>to</a:t>
            </a:r>
            <a:r>
              <a:rPr lang="zh-TW" altLang="en-US" dirty="0" smtClean="0"/>
              <a:t> </a:t>
            </a:r>
            <a:r>
              <a:rPr lang="en-US" altLang="zh-TW" dirty="0" smtClean="0"/>
              <a:t>TACE</a:t>
            </a:r>
            <a:r>
              <a:rPr lang="zh-TW" altLang="en-US" dirty="0" smtClean="0"/>
              <a:t> </a:t>
            </a:r>
            <a:r>
              <a:rPr lang="en-US" altLang="zh-TW" dirty="0" smtClean="0"/>
              <a:t>alone</a:t>
            </a:r>
          </a:p>
          <a:p>
            <a:r>
              <a:rPr lang="en-US" altLang="zh-TW" dirty="0" smtClean="0"/>
              <a:t>Liver SBRT (meta-analysis): 3-year </a:t>
            </a:r>
            <a:r>
              <a:rPr lang="en-US" altLang="zh-TW" dirty="0"/>
              <a:t>OS=47.5</a:t>
            </a:r>
            <a:r>
              <a:rPr lang="en-US" altLang="zh-TW" dirty="0" smtClean="0"/>
              <a:t>%, 3 year LC </a:t>
            </a:r>
            <a:r>
              <a:rPr lang="en-US" altLang="zh-TW" dirty="0"/>
              <a:t>80-90%, Grade 3 complication rates: 4-5%</a:t>
            </a:r>
            <a:endParaRPr lang="zh-TW" altLang="en-US" dirty="0"/>
          </a:p>
        </p:txBody>
      </p:sp>
    </p:spTree>
    <p:extLst>
      <p:ext uri="{BB962C8B-B14F-4D97-AF65-F5344CB8AC3E}">
        <p14:creationId xmlns:p14="http://schemas.microsoft.com/office/powerpoint/2010/main" val="1930052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t>2016 </a:t>
            </a:r>
            <a:r>
              <a:rPr lang="zh-TW" altLang="en-US" dirty="0"/>
              <a:t>郭嘉駿 </a:t>
            </a:r>
            <a:r>
              <a:rPr lang="en-US" altLang="zh-TW" dirty="0"/>
              <a:t>GI</a:t>
            </a:r>
            <a:endParaRPr lang="zh-TW" altLang="en-US" dirty="0"/>
          </a:p>
        </p:txBody>
      </p:sp>
      <p:sp>
        <p:nvSpPr>
          <p:cNvPr id="3" name="內容版面配置區 2"/>
          <p:cNvSpPr>
            <a:spLocks noGrp="1"/>
          </p:cNvSpPr>
          <p:nvPr>
            <p:ph idx="1"/>
          </p:nvPr>
        </p:nvSpPr>
        <p:spPr/>
        <p:txBody>
          <a:bodyPr>
            <a:normAutofit fontScale="85000" lnSpcReduction="10000"/>
          </a:bodyPr>
          <a:lstStyle/>
          <a:p>
            <a:pPr lvl="0"/>
            <a:r>
              <a:rPr lang="zh-TW" altLang="zh-TW" dirty="0"/>
              <a:t>Gastric  Ca自己醫院會不會做</a:t>
            </a:r>
            <a:r>
              <a:rPr lang="en-US" altLang="zh-TW" dirty="0"/>
              <a:t>adjuvant chemo-RT</a:t>
            </a:r>
            <a:r>
              <a:rPr lang="zh-TW" altLang="zh-TW" dirty="0"/>
              <a:t>。理由是什麼。(我回答自己醫院是</a:t>
            </a:r>
            <a:r>
              <a:rPr lang="en-US" altLang="zh-TW" dirty="0"/>
              <a:t>adjuvant C/T</a:t>
            </a:r>
            <a:r>
              <a:rPr lang="zh-TW" altLang="zh-TW" dirty="0"/>
              <a:t>為主，但有提到</a:t>
            </a:r>
            <a:r>
              <a:rPr lang="en-US" altLang="zh-TW" dirty="0"/>
              <a:t>adjuvant RT</a:t>
            </a:r>
            <a:r>
              <a:rPr lang="zh-TW" altLang="zh-TW" dirty="0"/>
              <a:t>的</a:t>
            </a:r>
            <a:r>
              <a:rPr lang="en-US" altLang="zh-TW" dirty="0"/>
              <a:t>controversy</a:t>
            </a:r>
            <a:r>
              <a:rPr lang="zh-TW" altLang="zh-TW" dirty="0"/>
              <a:t>，例如</a:t>
            </a:r>
            <a:r>
              <a:rPr lang="en-US" altLang="zh-TW" dirty="0"/>
              <a:t>INT</a:t>
            </a:r>
            <a:r>
              <a:rPr lang="zh-TW" altLang="zh-TW" dirty="0"/>
              <a:t>-0116的做法跟被批評的點以及</a:t>
            </a:r>
            <a:r>
              <a:rPr lang="en-US" altLang="zh-TW" dirty="0"/>
              <a:t>ARTIST trial</a:t>
            </a:r>
            <a:r>
              <a:rPr lang="zh-TW" altLang="zh-TW" dirty="0"/>
              <a:t>。) </a:t>
            </a:r>
            <a:endParaRPr lang="en-US" altLang="zh-TW" dirty="0" smtClean="0"/>
          </a:p>
          <a:p>
            <a:pPr lvl="1"/>
            <a:r>
              <a:rPr lang="en-US" altLang="zh-TW" dirty="0" smtClean="0"/>
              <a:t>RT indication:</a:t>
            </a:r>
          </a:p>
          <a:p>
            <a:pPr lvl="2"/>
            <a:r>
              <a:rPr lang="en-US" altLang="zh-TW" dirty="0" smtClean="0"/>
              <a:t>Inoperable -&gt; CCRT</a:t>
            </a:r>
          </a:p>
          <a:p>
            <a:pPr lvl="2"/>
            <a:r>
              <a:rPr lang="en-US" altLang="zh-TW" dirty="0" smtClean="0"/>
              <a:t>T3 </a:t>
            </a:r>
            <a:r>
              <a:rPr lang="en-US" altLang="zh-TW" dirty="0"/>
              <a:t>or N1</a:t>
            </a:r>
            <a:r>
              <a:rPr lang="zh-TW" altLang="zh-TW" dirty="0"/>
              <a:t>開完刀但是沒有開</a:t>
            </a:r>
            <a:r>
              <a:rPr lang="en-US" altLang="zh-TW" dirty="0"/>
              <a:t>D2</a:t>
            </a:r>
            <a:r>
              <a:rPr lang="zh-TW" altLang="zh-TW" dirty="0"/>
              <a:t>就要做</a:t>
            </a:r>
            <a:r>
              <a:rPr lang="en-US" altLang="zh-TW" dirty="0"/>
              <a:t>adjuvant </a:t>
            </a:r>
            <a:r>
              <a:rPr lang="en-US" altLang="zh-TW" dirty="0" smtClean="0"/>
              <a:t>CCRT</a:t>
            </a:r>
          </a:p>
          <a:p>
            <a:pPr lvl="2"/>
            <a:r>
              <a:rPr lang="en-US" altLang="zh-TW" dirty="0" smtClean="0"/>
              <a:t>R1 </a:t>
            </a:r>
            <a:r>
              <a:rPr lang="en-US" altLang="zh-TW" dirty="0"/>
              <a:t>or R2 resection</a:t>
            </a:r>
            <a:r>
              <a:rPr lang="zh-TW" altLang="zh-TW" dirty="0"/>
              <a:t>也做</a:t>
            </a:r>
            <a:r>
              <a:rPr lang="en-US" altLang="zh-TW" dirty="0"/>
              <a:t>CCRT</a:t>
            </a:r>
            <a:endParaRPr lang="en-US" altLang="zh-TW" dirty="0" smtClean="0"/>
          </a:p>
          <a:p>
            <a:pPr lvl="0"/>
            <a:r>
              <a:rPr lang="en-US" altLang="zh-TW" dirty="0" smtClean="0"/>
              <a:t>D1</a:t>
            </a:r>
            <a:r>
              <a:rPr lang="zh-TW" altLang="zh-TW" dirty="0"/>
              <a:t>跟</a:t>
            </a:r>
            <a:r>
              <a:rPr lang="en-US" altLang="zh-TW" dirty="0"/>
              <a:t>D2 dissection</a:t>
            </a:r>
            <a:r>
              <a:rPr lang="zh-TW" altLang="zh-TW" dirty="0"/>
              <a:t>的差別以及</a:t>
            </a:r>
            <a:r>
              <a:rPr lang="en-US" altLang="zh-TW" dirty="0"/>
              <a:t>LN station</a:t>
            </a:r>
            <a:r>
              <a:rPr lang="zh-TW" altLang="zh-TW" dirty="0" smtClean="0"/>
              <a:t>。</a:t>
            </a:r>
            <a:endParaRPr lang="en-US" altLang="zh-TW" dirty="0" smtClean="0"/>
          </a:p>
          <a:p>
            <a:pPr lvl="1"/>
            <a:r>
              <a:rPr lang="en-US" altLang="zh-TW" dirty="0" smtClean="0"/>
              <a:t>LN station:</a:t>
            </a:r>
            <a:r>
              <a:rPr lang="zh-TW" altLang="zh-TW" dirty="0"/>
              <a:t>至少開</a:t>
            </a:r>
            <a:r>
              <a:rPr lang="en-US" altLang="zh-TW" dirty="0"/>
              <a:t>15</a:t>
            </a:r>
            <a:r>
              <a:rPr lang="zh-TW" altLang="zh-TW" dirty="0" smtClean="0"/>
              <a:t>顆</a:t>
            </a:r>
            <a:endParaRPr lang="en-US" altLang="zh-TW" dirty="0"/>
          </a:p>
          <a:p>
            <a:pPr lvl="1"/>
            <a:r>
              <a:rPr lang="en-US" altLang="zh-TW" dirty="0" smtClean="0"/>
              <a:t>D1</a:t>
            </a:r>
            <a:r>
              <a:rPr lang="zh-TW" altLang="zh-TW" dirty="0"/>
              <a:t>是</a:t>
            </a:r>
            <a:r>
              <a:rPr lang="en-US" altLang="zh-TW" dirty="0"/>
              <a:t>station </a:t>
            </a:r>
            <a:r>
              <a:rPr lang="en-US" altLang="zh-TW" dirty="0" smtClean="0"/>
              <a:t>1-6</a:t>
            </a:r>
          </a:p>
          <a:p>
            <a:pPr lvl="1"/>
            <a:r>
              <a:rPr lang="en-US" altLang="zh-TW" dirty="0" smtClean="0"/>
              <a:t>D2</a:t>
            </a:r>
            <a:r>
              <a:rPr lang="zh-TW" altLang="zh-TW" dirty="0"/>
              <a:t>是</a:t>
            </a:r>
            <a:r>
              <a:rPr lang="en-US" altLang="zh-TW" dirty="0"/>
              <a:t>station 1-11</a:t>
            </a:r>
            <a:endParaRPr lang="en-US" altLang="zh-TW" dirty="0" smtClean="0"/>
          </a:p>
          <a:p>
            <a:pPr lvl="1"/>
            <a:endParaRPr lang="zh-TW" altLang="zh-TW" dirty="0"/>
          </a:p>
          <a:p>
            <a:endParaRPr lang="zh-TW" altLang="en-US" dirty="0"/>
          </a:p>
        </p:txBody>
      </p:sp>
      <p:pic>
        <p:nvPicPr>
          <p:cNvPr id="4" name="圖片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05756" y="3362879"/>
            <a:ext cx="4387175" cy="2849385"/>
          </a:xfrm>
          <a:prstGeom prst="rect">
            <a:avLst/>
          </a:prstGeom>
          <a:noFill/>
        </p:spPr>
      </p:pic>
    </p:spTree>
    <p:extLst>
      <p:ext uri="{BB962C8B-B14F-4D97-AF65-F5344CB8AC3E}">
        <p14:creationId xmlns:p14="http://schemas.microsoft.com/office/powerpoint/2010/main" val="1850868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3E7A522C-2D79-401E-B895-94F5133D3EF3}"/>
              </a:ext>
            </a:extLst>
          </p:cNvPr>
          <p:cNvPicPr>
            <a:picLocks noChangeAspect="1"/>
          </p:cNvPicPr>
          <p:nvPr/>
        </p:nvPicPr>
        <p:blipFill rotWithShape="1">
          <a:blip r:embed="rId2"/>
          <a:srcRect l="2839" t="13608" r="20544" b="20274"/>
          <a:stretch/>
        </p:blipFill>
        <p:spPr>
          <a:xfrm>
            <a:off x="8603528" y="113122"/>
            <a:ext cx="3399935" cy="2267146"/>
          </a:xfrm>
          <a:prstGeom prst="rect">
            <a:avLst/>
          </a:prstGeom>
        </p:spPr>
      </p:pic>
      <p:sp>
        <p:nvSpPr>
          <p:cNvPr id="2" name="標題 1"/>
          <p:cNvSpPr>
            <a:spLocks noGrp="1"/>
          </p:cNvSpPr>
          <p:nvPr>
            <p:ph type="title"/>
          </p:nvPr>
        </p:nvSpPr>
        <p:spPr/>
        <p:txBody>
          <a:bodyPr/>
          <a:lstStyle/>
          <a:p>
            <a:pPr algn="l"/>
            <a:r>
              <a:rPr lang="en-US" altLang="zh-TW" dirty="0" smtClean="0"/>
              <a:t>2016 </a:t>
            </a:r>
            <a:r>
              <a:rPr lang="zh-TW" altLang="en-US" dirty="0" smtClean="0"/>
              <a:t>黃經民 </a:t>
            </a:r>
            <a:r>
              <a:rPr lang="en-US" altLang="zh-TW" dirty="0" smtClean="0"/>
              <a:t>Colon-rectal</a:t>
            </a:r>
            <a:endParaRPr lang="zh-TW" altLang="en-US" dirty="0"/>
          </a:p>
        </p:txBody>
      </p:sp>
      <p:sp>
        <p:nvSpPr>
          <p:cNvPr id="3" name="內容版面配置區 2"/>
          <p:cNvSpPr>
            <a:spLocks noGrp="1"/>
          </p:cNvSpPr>
          <p:nvPr>
            <p:ph idx="1"/>
          </p:nvPr>
        </p:nvSpPr>
        <p:spPr>
          <a:xfrm>
            <a:off x="91115" y="1439941"/>
            <a:ext cx="9656200" cy="5319077"/>
          </a:xfrm>
        </p:spPr>
        <p:txBody>
          <a:bodyPr>
            <a:normAutofit fontScale="55000" lnSpcReduction="20000"/>
          </a:bodyPr>
          <a:lstStyle/>
          <a:p>
            <a:pPr lvl="0" fontAlgn="base"/>
            <a:r>
              <a:rPr lang="en-US" altLang="zh-TW" dirty="0" smtClean="0"/>
              <a:t>Colon</a:t>
            </a:r>
          </a:p>
          <a:p>
            <a:pPr lvl="1" fontAlgn="base"/>
            <a:r>
              <a:rPr lang="en-US" altLang="zh-TW" dirty="0" smtClean="0"/>
              <a:t>Colon </a:t>
            </a:r>
            <a:r>
              <a:rPr lang="en-US" altLang="zh-TW" dirty="0"/>
              <a:t>cancer pT3N0M0</a:t>
            </a:r>
            <a:r>
              <a:rPr lang="zh-TW" altLang="zh-TW" dirty="0"/>
              <a:t>需不需要給</a:t>
            </a:r>
            <a:r>
              <a:rPr lang="en-US" altLang="zh-TW" dirty="0"/>
              <a:t>adjuvant C/T</a:t>
            </a:r>
            <a:r>
              <a:rPr lang="zh-TW" altLang="zh-TW" dirty="0"/>
              <a:t>。要看哪些</a:t>
            </a:r>
            <a:r>
              <a:rPr lang="en-US" altLang="zh-TW" dirty="0"/>
              <a:t>risk features</a:t>
            </a:r>
            <a:r>
              <a:rPr lang="zh-TW" altLang="zh-TW" dirty="0"/>
              <a:t>，病理需要判讀幾顆</a:t>
            </a:r>
            <a:r>
              <a:rPr lang="en-US" altLang="zh-TW" dirty="0"/>
              <a:t>LN</a:t>
            </a:r>
            <a:r>
              <a:rPr lang="zh-TW" altLang="zh-TW" dirty="0"/>
              <a:t>才</a:t>
            </a:r>
            <a:r>
              <a:rPr lang="zh-TW" altLang="zh-TW" dirty="0" smtClean="0"/>
              <a:t>夠</a:t>
            </a:r>
            <a:endParaRPr lang="en-US" altLang="zh-TW" dirty="0" smtClean="0"/>
          </a:p>
          <a:p>
            <a:pPr lvl="2" fontAlgn="base"/>
            <a:r>
              <a:rPr lang="en-US" altLang="zh-TW" dirty="0"/>
              <a:t>Adjuvant chemo indication: T3N0 with high risk (poorly-differentiated, LVI, PNI, obstruction, perforation, close or positive margin, &lt; 12 LN examined), T4N0, and LN (+)</a:t>
            </a:r>
            <a:endParaRPr lang="zh-TW" altLang="zh-TW" dirty="0"/>
          </a:p>
          <a:p>
            <a:pPr lvl="1" fontAlgn="base"/>
            <a:r>
              <a:rPr lang="en-US" altLang="zh-TW" dirty="0"/>
              <a:t>Colon cancer with synchronous liver metastasis</a:t>
            </a:r>
            <a:r>
              <a:rPr lang="zh-TW" altLang="zh-TW" dirty="0"/>
              <a:t>，肝轉移怎麼處理。如果病人不想開刀能不能做</a:t>
            </a:r>
            <a:r>
              <a:rPr lang="en-US" altLang="zh-TW" dirty="0"/>
              <a:t>SABR</a:t>
            </a:r>
            <a:r>
              <a:rPr lang="zh-TW" altLang="zh-TW" dirty="0" smtClean="0"/>
              <a:t>。</a:t>
            </a:r>
            <a:endParaRPr lang="en-US" altLang="zh-TW" dirty="0" smtClean="0"/>
          </a:p>
          <a:p>
            <a:pPr lvl="2" fontAlgn="base"/>
            <a:r>
              <a:rPr lang="en-US" altLang="zh-TW" dirty="0" smtClean="0"/>
              <a:t>Synchronous or staged colectomy with liver resection and/or local therapy</a:t>
            </a:r>
          </a:p>
          <a:p>
            <a:pPr lvl="3" fontAlgn="base"/>
            <a:r>
              <a:rPr lang="en-US" altLang="zh-TW" dirty="0" smtClean="0"/>
              <a:t>Or </a:t>
            </a:r>
            <a:r>
              <a:rPr lang="en-US" altLang="zh-TW" dirty="0" err="1" smtClean="0"/>
              <a:t>Neoadjuvant</a:t>
            </a:r>
            <a:r>
              <a:rPr lang="en-US" altLang="zh-TW" dirty="0" smtClean="0"/>
              <a:t> therapy FOLFOX or CAPEOX or FOLFIRI followed by synchronous or staged colectomy and resection or metastatic disease</a:t>
            </a:r>
          </a:p>
          <a:p>
            <a:pPr lvl="2" fontAlgn="base"/>
            <a:r>
              <a:rPr lang="en-US" altLang="zh-TW" dirty="0" smtClean="0"/>
              <a:t>Liver: resection or local ablative procedure ex image guide ablation or SBRT</a:t>
            </a:r>
          </a:p>
          <a:p>
            <a:pPr lvl="2" fontAlgn="base"/>
            <a:r>
              <a:rPr lang="en-US" altLang="zh-TW" dirty="0" smtClean="0"/>
              <a:t>After resection: FOLFOX or CAPEOX </a:t>
            </a:r>
            <a:endParaRPr lang="zh-TW" altLang="zh-TW" dirty="0"/>
          </a:p>
          <a:p>
            <a:pPr lvl="1" fontAlgn="base"/>
            <a:r>
              <a:rPr lang="en-US" altLang="zh-TW" dirty="0"/>
              <a:t>Colon cancer </a:t>
            </a:r>
            <a:r>
              <a:rPr lang="zh-TW" altLang="zh-TW" dirty="0"/>
              <a:t>有沒有</a:t>
            </a:r>
            <a:r>
              <a:rPr lang="en-US" altLang="zh-TW" dirty="0"/>
              <a:t>RT</a:t>
            </a:r>
            <a:r>
              <a:rPr lang="zh-TW" altLang="zh-TW" dirty="0"/>
              <a:t>的角色。什麼情況下會考慮</a:t>
            </a:r>
            <a:r>
              <a:rPr lang="en-US" altLang="zh-TW" dirty="0"/>
              <a:t>IORT</a:t>
            </a:r>
            <a:r>
              <a:rPr lang="zh-TW" altLang="zh-TW" dirty="0" smtClean="0"/>
              <a:t>。</a:t>
            </a:r>
            <a:endParaRPr lang="en-US" altLang="zh-TW" dirty="0" smtClean="0"/>
          </a:p>
          <a:p>
            <a:pPr lvl="2" fontAlgn="base"/>
            <a:r>
              <a:rPr lang="en-US" altLang="zh-TW" dirty="0"/>
              <a:t>Adjuvant RT indication: T4 with penetration to a fixed structure; INT 0130</a:t>
            </a:r>
            <a:r>
              <a:rPr lang="zh-TW" altLang="zh-TW" dirty="0"/>
              <a:t>後</a:t>
            </a:r>
            <a:r>
              <a:rPr lang="en-US" altLang="zh-TW" dirty="0"/>
              <a:t>RT</a:t>
            </a:r>
            <a:r>
              <a:rPr lang="zh-TW" altLang="zh-TW" dirty="0"/>
              <a:t>沒</a:t>
            </a:r>
            <a:r>
              <a:rPr lang="zh-TW" altLang="zh-TW" dirty="0" smtClean="0"/>
              <a:t>角色</a:t>
            </a:r>
            <a:endParaRPr lang="en-US" altLang="zh-TW" dirty="0" smtClean="0"/>
          </a:p>
          <a:p>
            <a:pPr lvl="2" fontAlgn="base"/>
            <a:r>
              <a:rPr lang="en-US" altLang="zh-TW" dirty="0"/>
              <a:t>IORT (10-20 </a:t>
            </a:r>
            <a:r>
              <a:rPr lang="en-US" altLang="zh-TW" dirty="0" err="1"/>
              <a:t>Gy</a:t>
            </a:r>
            <a:r>
              <a:rPr lang="en-US" altLang="zh-TW" dirty="0"/>
              <a:t> with 9-15 MeV electron)</a:t>
            </a:r>
            <a:r>
              <a:rPr lang="zh-TW" altLang="zh-TW" dirty="0"/>
              <a:t>的</a:t>
            </a:r>
            <a:r>
              <a:rPr lang="en-US" altLang="zh-TW" dirty="0"/>
              <a:t>indication: T4 or recurrent</a:t>
            </a:r>
            <a:endParaRPr lang="zh-TW" altLang="zh-TW" dirty="0"/>
          </a:p>
          <a:p>
            <a:pPr lvl="0" fontAlgn="base"/>
            <a:r>
              <a:rPr lang="en-US" altLang="zh-TW" dirty="0" smtClean="0"/>
              <a:t>Rectal</a:t>
            </a:r>
          </a:p>
          <a:p>
            <a:pPr lvl="1" fontAlgn="base"/>
            <a:r>
              <a:rPr lang="en-US" altLang="zh-TW" dirty="0" smtClean="0"/>
              <a:t>Rectal </a:t>
            </a:r>
            <a:r>
              <a:rPr lang="en-US" altLang="zh-TW" dirty="0"/>
              <a:t>cancer, cT1N0</a:t>
            </a:r>
            <a:r>
              <a:rPr lang="zh-TW" altLang="zh-TW" dirty="0"/>
              <a:t>，接受</a:t>
            </a:r>
            <a:r>
              <a:rPr lang="en-US" altLang="zh-TW" dirty="0" err="1"/>
              <a:t>transanal</a:t>
            </a:r>
            <a:r>
              <a:rPr lang="en-US" altLang="zh-TW" dirty="0"/>
              <a:t> excision</a:t>
            </a:r>
            <a:r>
              <a:rPr lang="zh-TW" altLang="zh-TW" dirty="0"/>
              <a:t>。有哪些</a:t>
            </a:r>
            <a:r>
              <a:rPr lang="en-US" altLang="zh-TW" dirty="0"/>
              <a:t>risk features</a:t>
            </a:r>
            <a:r>
              <a:rPr lang="zh-TW" altLang="zh-TW" dirty="0"/>
              <a:t>會建議病人再做</a:t>
            </a:r>
            <a:r>
              <a:rPr lang="en-US" altLang="zh-TW" dirty="0"/>
              <a:t>trans-abdominal resection</a:t>
            </a:r>
            <a:r>
              <a:rPr lang="zh-TW" altLang="zh-TW" dirty="0"/>
              <a:t>。</a:t>
            </a:r>
          </a:p>
          <a:p>
            <a:pPr lvl="1" fontAlgn="base"/>
            <a:r>
              <a:rPr lang="zh-TW" altLang="zh-TW" dirty="0"/>
              <a:t>病人</a:t>
            </a:r>
            <a:r>
              <a:rPr lang="en-US" altLang="zh-TW" dirty="0"/>
              <a:t>rectal cancer</a:t>
            </a:r>
            <a:r>
              <a:rPr lang="zh-TW" altLang="zh-TW" dirty="0"/>
              <a:t>，腫瘤侵犯兩段腸子，淋巴結</a:t>
            </a:r>
            <a:r>
              <a:rPr lang="en-US" altLang="zh-TW" dirty="0"/>
              <a:t>3</a:t>
            </a:r>
            <a:r>
              <a:rPr lang="zh-TW" altLang="zh-TW" dirty="0"/>
              <a:t>顆，請問</a:t>
            </a:r>
            <a:r>
              <a:rPr lang="en-US" altLang="zh-TW" dirty="0"/>
              <a:t>TNM stage</a:t>
            </a:r>
            <a:r>
              <a:rPr lang="zh-TW" altLang="zh-TW" dirty="0"/>
              <a:t>，怎麼處理。</a:t>
            </a:r>
            <a:r>
              <a:rPr lang="en-US" altLang="zh-TW" dirty="0"/>
              <a:t>Rectal cancer AJCC N</a:t>
            </a:r>
            <a:r>
              <a:rPr lang="zh-TW" altLang="zh-TW" dirty="0"/>
              <a:t>的分法。</a:t>
            </a:r>
          </a:p>
          <a:p>
            <a:pPr lvl="1" fontAlgn="base"/>
            <a:r>
              <a:rPr lang="en-US" altLang="zh-TW" dirty="0"/>
              <a:t>Rectal cancer</a:t>
            </a:r>
            <a:r>
              <a:rPr lang="zh-TW" altLang="zh-TW" dirty="0"/>
              <a:t>哪些病人會先做</a:t>
            </a:r>
            <a:r>
              <a:rPr lang="en-US" altLang="zh-TW" dirty="0"/>
              <a:t>neoadjuvant therapy</a:t>
            </a:r>
            <a:r>
              <a:rPr lang="zh-TW" altLang="zh-TW" dirty="0"/>
              <a:t>，請講一下</a:t>
            </a:r>
            <a:r>
              <a:rPr lang="en-US" altLang="zh-TW" dirty="0"/>
              <a:t>evidence</a:t>
            </a:r>
            <a:r>
              <a:rPr lang="zh-TW" altLang="zh-TW" dirty="0"/>
              <a:t>。</a:t>
            </a:r>
            <a:r>
              <a:rPr lang="en-US" altLang="zh-TW" dirty="0"/>
              <a:t>Rectal cancer</a:t>
            </a:r>
            <a:r>
              <a:rPr lang="zh-TW" altLang="zh-TW" dirty="0"/>
              <a:t>術前術後放射治療怎麼做/照射範圍/劑量。</a:t>
            </a:r>
          </a:p>
          <a:p>
            <a:r>
              <a:rPr lang="en-US" altLang="zh-TW" dirty="0"/>
              <a:t>Anal cancer AJCC TMN </a:t>
            </a:r>
            <a:r>
              <a:rPr lang="zh-TW" altLang="zh-TW" dirty="0"/>
              <a:t>分法。病人放射治療怎麼做/照射範圍/劑量/配合化療</a:t>
            </a:r>
            <a:r>
              <a:rPr lang="zh-TW" altLang="zh-TW" dirty="0" smtClean="0"/>
              <a:t>。</a:t>
            </a:r>
            <a:endParaRPr lang="en-US" altLang="zh-TW" dirty="0" smtClean="0"/>
          </a:p>
          <a:p>
            <a:pPr lvl="1"/>
            <a:r>
              <a:rPr lang="en-US" altLang="zh-TW" dirty="0" smtClean="0"/>
              <a:t>TNM</a:t>
            </a:r>
            <a:r>
              <a:rPr lang="zh-TW" altLang="en-US" dirty="0" smtClean="0"/>
              <a:t>見右上圖</a:t>
            </a:r>
            <a:endParaRPr lang="en-US" altLang="zh-TW" dirty="0" smtClean="0"/>
          </a:p>
          <a:p>
            <a:pPr lvl="1"/>
            <a:r>
              <a:rPr lang="en-US" altLang="zh-TW" dirty="0" smtClean="0"/>
              <a:t>CCRT </a:t>
            </a:r>
            <a:r>
              <a:rPr lang="en-US" altLang="zh-TW" dirty="0"/>
              <a:t>(</a:t>
            </a:r>
            <a:r>
              <a:rPr lang="en-US" altLang="zh-TW" dirty="0" err="1"/>
              <a:t>infusional</a:t>
            </a:r>
            <a:r>
              <a:rPr lang="en-US" altLang="zh-TW" dirty="0"/>
              <a:t> 5-FU 1000 mg/m</a:t>
            </a:r>
            <a:r>
              <a:rPr lang="en-US" altLang="zh-TW" baseline="30000" dirty="0"/>
              <a:t>2</a:t>
            </a:r>
            <a:r>
              <a:rPr lang="en-US" altLang="zh-TW" dirty="0"/>
              <a:t>/d for 4 days + bolus MMC 10 mg/m</a:t>
            </a:r>
            <a:r>
              <a:rPr lang="en-US" altLang="zh-TW" baseline="30000" dirty="0"/>
              <a:t>2</a:t>
            </a:r>
            <a:r>
              <a:rPr lang="en-US" altLang="zh-TW" dirty="0"/>
              <a:t> every 4 weeks x 2 (5-FU</a:t>
            </a:r>
            <a:r>
              <a:rPr lang="zh-TW" altLang="zh-TW" dirty="0"/>
              <a:t>可用</a:t>
            </a:r>
            <a:r>
              <a:rPr lang="en-US" altLang="zh-TW" dirty="0" err="1"/>
              <a:t>Xeloda</a:t>
            </a:r>
            <a:r>
              <a:rPr lang="en-US" altLang="zh-TW" dirty="0"/>
              <a:t> 825 mg BID</a:t>
            </a:r>
            <a:r>
              <a:rPr lang="zh-TW" altLang="zh-TW" dirty="0"/>
              <a:t>取代</a:t>
            </a:r>
            <a:r>
              <a:rPr lang="en-US" altLang="zh-TW" dirty="0" smtClean="0"/>
              <a:t>)</a:t>
            </a:r>
          </a:p>
          <a:p>
            <a:pPr lvl="1"/>
            <a:r>
              <a:rPr lang="en-US" altLang="zh-TW" dirty="0"/>
              <a:t>RT field and dose: </a:t>
            </a:r>
            <a:r>
              <a:rPr lang="en-US" altLang="zh-TW" dirty="0" err="1"/>
              <a:t>presacral</a:t>
            </a:r>
            <a:r>
              <a:rPr lang="en-US" altLang="zh-TW" dirty="0"/>
              <a:t>, external iliac, internal iliac, </a:t>
            </a:r>
            <a:r>
              <a:rPr lang="en-US" altLang="zh-TW" dirty="0" err="1"/>
              <a:t>mesorectum</a:t>
            </a:r>
            <a:r>
              <a:rPr lang="en-US" altLang="zh-TW" dirty="0"/>
              <a:t>, inguinal, primary tumor + 2.5 cm; 45 </a:t>
            </a:r>
            <a:r>
              <a:rPr lang="en-US" altLang="zh-TW" dirty="0" err="1"/>
              <a:t>Gy</a:t>
            </a:r>
            <a:r>
              <a:rPr lang="en-US" altLang="zh-TW" dirty="0"/>
              <a:t>, boost to primary tumor + 2.5 cm to 54-59 </a:t>
            </a:r>
            <a:r>
              <a:rPr lang="en-US" altLang="zh-TW" dirty="0" err="1"/>
              <a:t>Gy</a:t>
            </a:r>
            <a:r>
              <a:rPr lang="en-US" altLang="zh-TW" dirty="0"/>
              <a:t>, boost LN + 1 cm margin to 54 </a:t>
            </a:r>
            <a:r>
              <a:rPr lang="en-US" altLang="zh-TW" dirty="0" err="1"/>
              <a:t>Gy</a:t>
            </a:r>
            <a:endParaRPr lang="zh-TW" altLang="en-US" dirty="0"/>
          </a:p>
        </p:txBody>
      </p:sp>
    </p:spTree>
    <p:extLst>
      <p:ext uri="{BB962C8B-B14F-4D97-AF65-F5344CB8AC3E}">
        <p14:creationId xmlns:p14="http://schemas.microsoft.com/office/powerpoint/2010/main" val="3729402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2015 </a:t>
            </a:r>
            <a:r>
              <a:rPr lang="zh-TW" altLang="en-US" dirty="0" smtClean="0"/>
              <a:t>王令瑋</a:t>
            </a:r>
            <a:endParaRPr lang="zh-TW" altLang="en-US" dirty="0"/>
          </a:p>
        </p:txBody>
      </p:sp>
      <p:sp>
        <p:nvSpPr>
          <p:cNvPr id="3" name="內容版面配置區 2"/>
          <p:cNvSpPr>
            <a:spLocks noGrp="1"/>
          </p:cNvSpPr>
          <p:nvPr>
            <p:ph idx="1"/>
          </p:nvPr>
        </p:nvSpPr>
        <p:spPr>
          <a:xfrm>
            <a:off x="245097" y="1263192"/>
            <a:ext cx="11764651" cy="5486400"/>
          </a:xfrm>
        </p:spPr>
        <p:txBody>
          <a:bodyPr>
            <a:normAutofit fontScale="40000" lnSpcReduction="20000"/>
          </a:bodyPr>
          <a:lstStyle/>
          <a:p>
            <a:r>
              <a:rPr lang="en-US" altLang="zh-TW" dirty="0" smtClean="0"/>
              <a:t>Esophagus  </a:t>
            </a:r>
          </a:p>
          <a:p>
            <a:pPr lvl="1"/>
            <a:r>
              <a:rPr lang="zh-TW" altLang="en-US" dirty="0" smtClean="0"/>
              <a:t>主要</a:t>
            </a:r>
            <a:r>
              <a:rPr lang="zh-TW" altLang="en-US" dirty="0"/>
              <a:t>問考生自己醫院對於消化道癌症的病例及實際有治療過的情況。 </a:t>
            </a:r>
            <a:r>
              <a:rPr lang="en-US" altLang="zh-TW" dirty="0"/>
              <a:t>(</a:t>
            </a:r>
            <a:r>
              <a:rPr lang="zh-TW" altLang="en-US" dirty="0"/>
              <a:t>自由發揮</a:t>
            </a:r>
            <a:r>
              <a:rPr lang="en-US" altLang="zh-TW" dirty="0"/>
              <a:t>)</a:t>
            </a:r>
            <a:endParaRPr lang="zh-TW" altLang="en-US" dirty="0"/>
          </a:p>
          <a:p>
            <a:pPr lvl="1"/>
            <a:r>
              <a:rPr lang="zh-TW" altLang="en-US" dirty="0" smtClean="0"/>
              <a:t>食道癌</a:t>
            </a:r>
            <a:r>
              <a:rPr lang="zh-TW" altLang="en-US" dirty="0"/>
              <a:t>你們醫院一年多少病例、大多是做</a:t>
            </a:r>
            <a:r>
              <a:rPr lang="en-US" altLang="zh-TW" dirty="0"/>
              <a:t>pre-op</a:t>
            </a:r>
            <a:r>
              <a:rPr lang="zh-TW" altLang="en-US" dirty="0"/>
              <a:t>還是</a:t>
            </a:r>
            <a:r>
              <a:rPr lang="en-US" altLang="zh-TW" dirty="0"/>
              <a:t>definitive RT</a:t>
            </a:r>
            <a:r>
              <a:rPr lang="zh-TW" altLang="en-US" dirty="0"/>
              <a:t>、有多少個</a:t>
            </a:r>
            <a:r>
              <a:rPr lang="en-US" altLang="zh-TW" dirty="0"/>
              <a:t>case</a:t>
            </a:r>
            <a:r>
              <a:rPr lang="zh-TW" altLang="en-US" dirty="0"/>
              <a:t>、你們醫院</a:t>
            </a:r>
            <a:r>
              <a:rPr lang="en-US" altLang="zh-TW" dirty="0"/>
              <a:t>RT</a:t>
            </a:r>
            <a:r>
              <a:rPr lang="zh-TW" altLang="en-US" dirty="0"/>
              <a:t>怎麼做</a:t>
            </a:r>
            <a:r>
              <a:rPr lang="en-US" altLang="zh-TW" dirty="0"/>
              <a:t>/</a:t>
            </a:r>
            <a:r>
              <a:rPr lang="zh-TW" altLang="en-US" dirty="0"/>
              <a:t>照射範圍</a:t>
            </a:r>
            <a:r>
              <a:rPr lang="en-US" altLang="zh-TW" dirty="0"/>
              <a:t>/</a:t>
            </a:r>
            <a:r>
              <a:rPr lang="zh-TW" altLang="en-US" dirty="0"/>
              <a:t>劑量</a:t>
            </a:r>
            <a:r>
              <a:rPr lang="en-US" altLang="zh-TW" dirty="0"/>
              <a:t>/</a:t>
            </a:r>
            <a:r>
              <a:rPr lang="zh-TW" altLang="en-US" dirty="0"/>
              <a:t>化療</a:t>
            </a:r>
            <a:r>
              <a:rPr lang="en-US" altLang="zh-TW" dirty="0"/>
              <a:t>/</a:t>
            </a:r>
            <a:r>
              <a:rPr lang="zh-TW" altLang="en-US" dirty="0"/>
              <a:t>手術。 </a:t>
            </a:r>
            <a:r>
              <a:rPr lang="en-US" altLang="zh-TW" dirty="0" smtClean="0"/>
              <a:t>(</a:t>
            </a:r>
            <a:r>
              <a:rPr lang="zh-TW" altLang="en-US" dirty="0" smtClean="0"/>
              <a:t>自由發揮</a:t>
            </a:r>
            <a:r>
              <a:rPr lang="en-US" altLang="zh-TW" dirty="0" smtClean="0"/>
              <a:t>)</a:t>
            </a:r>
            <a:endParaRPr lang="zh-TW" altLang="en-US" dirty="0"/>
          </a:p>
          <a:p>
            <a:pPr lvl="1"/>
            <a:r>
              <a:rPr lang="zh-TW" altLang="en-US" dirty="0" smtClean="0"/>
              <a:t>目前</a:t>
            </a:r>
            <a:r>
              <a:rPr lang="zh-TW" altLang="en-US" dirty="0"/>
              <a:t>國際上對於食道癌會如何處理</a:t>
            </a:r>
            <a:r>
              <a:rPr lang="en-US" altLang="zh-TW" dirty="0"/>
              <a:t>?</a:t>
            </a:r>
            <a:r>
              <a:rPr lang="zh-TW" altLang="en-US" dirty="0"/>
              <a:t>知道最近有什麼新的</a:t>
            </a:r>
            <a:r>
              <a:rPr lang="en-US" altLang="zh-TW" dirty="0"/>
              <a:t>evidence? (CROSS trail)</a:t>
            </a:r>
            <a:r>
              <a:rPr lang="zh-TW" altLang="en-US" dirty="0"/>
              <a:t>做</a:t>
            </a:r>
            <a:r>
              <a:rPr lang="en-US" altLang="zh-TW" dirty="0"/>
              <a:t>Pre-OP CCRT</a:t>
            </a:r>
            <a:r>
              <a:rPr lang="zh-TW" altLang="en-US" dirty="0"/>
              <a:t>後</a:t>
            </a:r>
            <a:r>
              <a:rPr lang="en-US" altLang="zh-TW" dirty="0"/>
              <a:t>CR rate/5-y OS/5-y LRR</a:t>
            </a:r>
            <a:r>
              <a:rPr lang="zh-TW" altLang="en-US" dirty="0"/>
              <a:t>多少</a:t>
            </a:r>
            <a:r>
              <a:rPr lang="en-US" altLang="zh-TW" dirty="0"/>
              <a:t>? </a:t>
            </a:r>
            <a:r>
              <a:rPr lang="en-US" altLang="zh-TW" dirty="0" smtClean="0"/>
              <a:t>(</a:t>
            </a:r>
            <a:r>
              <a:rPr lang="zh-TW" altLang="en-US" dirty="0" smtClean="0"/>
              <a:t>請參考前面</a:t>
            </a:r>
            <a:r>
              <a:rPr lang="en-US" altLang="zh-TW" dirty="0" smtClean="0"/>
              <a:t>)</a:t>
            </a:r>
            <a:endParaRPr lang="en-US" altLang="zh-TW" dirty="0"/>
          </a:p>
          <a:p>
            <a:r>
              <a:rPr lang="en-US" altLang="zh-TW" dirty="0" smtClean="0"/>
              <a:t>Gastric</a:t>
            </a:r>
          </a:p>
          <a:p>
            <a:pPr lvl="1"/>
            <a:r>
              <a:rPr lang="en-US" altLang="zh-TW" dirty="0" smtClean="0"/>
              <a:t>Gastric </a:t>
            </a:r>
            <a:r>
              <a:rPr lang="en-US" altLang="zh-TW" dirty="0"/>
              <a:t>Ca</a:t>
            </a:r>
            <a:r>
              <a:rPr lang="zh-TW" altLang="en-US" dirty="0"/>
              <a:t>有沒有接過</a:t>
            </a:r>
            <a:r>
              <a:rPr lang="en-US" altLang="zh-TW" dirty="0"/>
              <a:t>?(</a:t>
            </a:r>
            <a:r>
              <a:rPr lang="zh-TW" altLang="en-US" dirty="0"/>
              <a:t>我回答</a:t>
            </a:r>
            <a:r>
              <a:rPr lang="en-US" altLang="zh-TW" dirty="0"/>
              <a:t>definitive post-OP RT</a:t>
            </a:r>
            <a:r>
              <a:rPr lang="zh-TW" altLang="en-US" dirty="0"/>
              <a:t>沒有接過，所以就沒有再問了</a:t>
            </a:r>
            <a:r>
              <a:rPr lang="en-US" altLang="zh-TW" dirty="0"/>
              <a:t>) </a:t>
            </a:r>
            <a:endParaRPr lang="en-US" altLang="zh-TW" dirty="0" smtClean="0"/>
          </a:p>
          <a:p>
            <a:pPr lvl="2"/>
            <a:r>
              <a:rPr lang="en-US" altLang="zh-TW" sz="3000" dirty="0"/>
              <a:t>RT indication:</a:t>
            </a:r>
          </a:p>
          <a:p>
            <a:pPr lvl="3"/>
            <a:r>
              <a:rPr lang="en-US" altLang="zh-TW" sz="2500" dirty="0"/>
              <a:t>Inoperable -&gt; CCRT</a:t>
            </a:r>
          </a:p>
          <a:p>
            <a:pPr lvl="3"/>
            <a:r>
              <a:rPr lang="en-US" altLang="zh-TW" sz="2500" dirty="0"/>
              <a:t>T3 or N1</a:t>
            </a:r>
            <a:r>
              <a:rPr lang="zh-TW" altLang="zh-TW" sz="2500" dirty="0"/>
              <a:t>開完刀但是沒有開</a:t>
            </a:r>
            <a:r>
              <a:rPr lang="en-US" altLang="zh-TW" sz="2500" dirty="0"/>
              <a:t>D2</a:t>
            </a:r>
            <a:r>
              <a:rPr lang="zh-TW" altLang="zh-TW" sz="2500" dirty="0"/>
              <a:t>就要做</a:t>
            </a:r>
            <a:r>
              <a:rPr lang="en-US" altLang="zh-TW" sz="2500" dirty="0"/>
              <a:t>adjuvant CCRT</a:t>
            </a:r>
          </a:p>
          <a:p>
            <a:pPr lvl="3"/>
            <a:r>
              <a:rPr lang="en-US" altLang="zh-TW" sz="2500" dirty="0"/>
              <a:t>R1 or R2 resection</a:t>
            </a:r>
            <a:r>
              <a:rPr lang="zh-TW" altLang="zh-TW" sz="2500" dirty="0"/>
              <a:t>也做</a:t>
            </a:r>
            <a:r>
              <a:rPr lang="en-US" altLang="zh-TW" sz="2500" dirty="0" smtClean="0"/>
              <a:t>CCRT</a:t>
            </a:r>
          </a:p>
          <a:p>
            <a:pPr lvl="2"/>
            <a:r>
              <a:rPr lang="en-US" altLang="zh-TW" sz="3000" dirty="0"/>
              <a:t>Adjuvant CCRT </a:t>
            </a:r>
            <a:r>
              <a:rPr lang="en-US" altLang="zh-TW" sz="3000" dirty="0" smtClean="0"/>
              <a:t>trial</a:t>
            </a:r>
          </a:p>
          <a:p>
            <a:pPr lvl="3"/>
            <a:r>
              <a:rPr lang="en-US" altLang="zh-TW" sz="2500" dirty="0"/>
              <a:t>INT 0116 (OP vs. OP + CCRT): LF (30 vs. 20%), DM (20 vs. 30%), 3-year RFS (30 vs. 50%), 3-year OS (40 vs. 50%); D0 54%, D1 36%, D2 10%; high toxicity</a:t>
            </a:r>
            <a:endParaRPr lang="zh-TW" altLang="zh-TW" sz="2500" dirty="0"/>
          </a:p>
          <a:p>
            <a:pPr lvl="3"/>
            <a:r>
              <a:rPr lang="en-US" altLang="zh-TW" sz="2500" dirty="0"/>
              <a:t>CALGB 10801 (LF vs. CEF): DFS</a:t>
            </a:r>
            <a:r>
              <a:rPr lang="zh-TW" altLang="zh-TW" sz="2500" dirty="0"/>
              <a:t>和</a:t>
            </a:r>
            <a:r>
              <a:rPr lang="en-US" altLang="zh-TW" sz="2500" dirty="0"/>
              <a:t>OS</a:t>
            </a:r>
            <a:r>
              <a:rPr lang="zh-TW" altLang="zh-TW" sz="2500" dirty="0"/>
              <a:t>差不多</a:t>
            </a:r>
            <a:r>
              <a:rPr lang="en-US" altLang="zh-TW" sz="2500" dirty="0"/>
              <a:t>, Gr 4 toxicity</a:t>
            </a:r>
            <a:r>
              <a:rPr lang="zh-TW" altLang="zh-TW" sz="2500" dirty="0"/>
              <a:t>在</a:t>
            </a:r>
            <a:r>
              <a:rPr lang="en-US" altLang="zh-TW" sz="2500" dirty="0"/>
              <a:t>CEF</a:t>
            </a:r>
            <a:r>
              <a:rPr lang="zh-TW" altLang="zh-TW" sz="2500" dirty="0"/>
              <a:t>較小</a:t>
            </a:r>
          </a:p>
          <a:p>
            <a:pPr lvl="3"/>
            <a:r>
              <a:rPr lang="en-US" altLang="zh-TW" sz="2500" dirty="0"/>
              <a:t>ARTIST (CT vs. CCRT): </a:t>
            </a:r>
            <a:r>
              <a:rPr lang="zh-TW" altLang="zh-TW" sz="2500" dirty="0"/>
              <a:t>全</a:t>
            </a:r>
            <a:r>
              <a:rPr lang="en-US" altLang="zh-TW" sz="2500" dirty="0"/>
              <a:t>D2; </a:t>
            </a:r>
            <a:r>
              <a:rPr lang="zh-TW" altLang="zh-TW" sz="2500" dirty="0"/>
              <a:t>改善</a:t>
            </a:r>
            <a:r>
              <a:rPr lang="en-US" altLang="zh-TW" sz="2500" dirty="0"/>
              <a:t>LRR (13 vs. 7%), DFS (74 vs. 78%) </a:t>
            </a:r>
            <a:r>
              <a:rPr lang="zh-TW" altLang="zh-TW" sz="2500" dirty="0"/>
              <a:t>和</a:t>
            </a:r>
            <a:r>
              <a:rPr lang="en-US" altLang="zh-TW" sz="2500" dirty="0"/>
              <a:t>OS (73 vs. 75%) </a:t>
            </a:r>
            <a:r>
              <a:rPr lang="zh-TW" altLang="zh-TW" sz="2500" dirty="0"/>
              <a:t>沒差，</a:t>
            </a:r>
            <a:r>
              <a:rPr lang="en-US" altLang="zh-TW" sz="2500" dirty="0"/>
              <a:t>LN (+) </a:t>
            </a:r>
            <a:r>
              <a:rPr lang="zh-TW" altLang="zh-TW" sz="2500" dirty="0"/>
              <a:t>的</a:t>
            </a:r>
            <a:r>
              <a:rPr lang="en-US" altLang="zh-TW" sz="2500" dirty="0"/>
              <a:t>DFS (72 vs. 76%) </a:t>
            </a:r>
            <a:r>
              <a:rPr lang="zh-TW" altLang="zh-TW" sz="2500" dirty="0"/>
              <a:t>有差 </a:t>
            </a:r>
          </a:p>
          <a:p>
            <a:pPr lvl="3"/>
            <a:r>
              <a:rPr lang="en-US" altLang="zh-TW" sz="2500" dirty="0"/>
              <a:t>CRITICS (CT vs. CCRT): D1 or D2; EXP/EXO vs. XP + 45 </a:t>
            </a:r>
            <a:r>
              <a:rPr lang="en-US" altLang="zh-TW" sz="2500" dirty="0" err="1"/>
              <a:t>Gy</a:t>
            </a:r>
            <a:r>
              <a:rPr lang="en-US" altLang="zh-TW" sz="2500" dirty="0"/>
              <a:t>, 5-year OS (40 vs. 40%) </a:t>
            </a:r>
            <a:r>
              <a:rPr lang="zh-TW" altLang="zh-TW" sz="2500" dirty="0"/>
              <a:t>一樣，</a:t>
            </a:r>
            <a:r>
              <a:rPr lang="en-US" altLang="zh-TW" sz="2500" dirty="0"/>
              <a:t>Gr 3 hematological toxicity (44 vs. 34%) </a:t>
            </a:r>
            <a:r>
              <a:rPr lang="zh-TW" altLang="zh-TW" sz="2500" dirty="0"/>
              <a:t>在</a:t>
            </a:r>
            <a:r>
              <a:rPr lang="en-US" altLang="zh-TW" sz="2500" dirty="0"/>
              <a:t>CT</a:t>
            </a:r>
            <a:r>
              <a:rPr lang="zh-TW" altLang="zh-TW" sz="2500" dirty="0"/>
              <a:t>組較</a:t>
            </a:r>
            <a:r>
              <a:rPr lang="zh-TW" altLang="zh-TW" sz="2500" dirty="0" smtClean="0"/>
              <a:t>高</a:t>
            </a:r>
            <a:endParaRPr lang="en-US" altLang="zh-TW" sz="3000" dirty="0"/>
          </a:p>
          <a:p>
            <a:r>
              <a:rPr lang="en-US" altLang="zh-TW" dirty="0" smtClean="0"/>
              <a:t>Rectal</a:t>
            </a:r>
            <a:endParaRPr lang="en-US" altLang="zh-TW" dirty="0"/>
          </a:p>
          <a:p>
            <a:pPr lvl="1"/>
            <a:r>
              <a:rPr lang="en-US" altLang="zh-TW" dirty="0" smtClean="0"/>
              <a:t>Rectal </a:t>
            </a:r>
            <a:r>
              <a:rPr lang="en-US" altLang="zh-TW" dirty="0"/>
              <a:t>Ca</a:t>
            </a:r>
            <a:r>
              <a:rPr lang="zh-TW" altLang="en-US" dirty="0"/>
              <a:t>一開始病人來你門診會怎麼檢查會排什麼檢察</a:t>
            </a:r>
            <a:r>
              <a:rPr lang="en-US" altLang="zh-TW" dirty="0"/>
              <a:t>?</a:t>
            </a:r>
            <a:r>
              <a:rPr lang="zh-TW" altLang="en-US" dirty="0"/>
              <a:t>會不會做</a:t>
            </a:r>
            <a:r>
              <a:rPr lang="en-US" altLang="zh-TW" dirty="0"/>
              <a:t>anal </a:t>
            </a:r>
            <a:r>
              <a:rPr lang="en-US" altLang="zh-TW" dirty="0" err="1"/>
              <a:t>sono</a:t>
            </a:r>
            <a:r>
              <a:rPr lang="zh-TW" altLang="en-US" dirty="0"/>
              <a:t>及</a:t>
            </a:r>
            <a:r>
              <a:rPr lang="en-US" altLang="zh-TW" dirty="0"/>
              <a:t>MRI?MRI</a:t>
            </a:r>
            <a:r>
              <a:rPr lang="zh-TW" altLang="en-US" dirty="0"/>
              <a:t>比</a:t>
            </a:r>
            <a:r>
              <a:rPr lang="en-US" altLang="zh-TW" dirty="0"/>
              <a:t>CT</a:t>
            </a:r>
            <a:r>
              <a:rPr lang="zh-TW" altLang="en-US" dirty="0"/>
              <a:t>的優劣</a:t>
            </a:r>
            <a:r>
              <a:rPr lang="en-US" altLang="zh-TW" dirty="0"/>
              <a:t>? </a:t>
            </a:r>
          </a:p>
          <a:p>
            <a:pPr lvl="2"/>
            <a:r>
              <a:rPr lang="en-US" altLang="zh-TW" dirty="0" smtClean="0"/>
              <a:t>Work up: </a:t>
            </a:r>
            <a:r>
              <a:rPr lang="en-US" altLang="zh-TW" dirty="0"/>
              <a:t> scope, Chest CT, </a:t>
            </a:r>
            <a:r>
              <a:rPr lang="en-US" altLang="zh-TW" dirty="0" err="1"/>
              <a:t>abd</a:t>
            </a:r>
            <a:r>
              <a:rPr lang="en-US" altLang="zh-TW" dirty="0"/>
              <a:t>-pelvic MRI (EUS for</a:t>
            </a:r>
            <a:r>
              <a:rPr lang="zh-TW" altLang="zh-TW" dirty="0"/>
              <a:t>不能做</a:t>
            </a:r>
            <a:r>
              <a:rPr lang="en-US" altLang="zh-TW" dirty="0"/>
              <a:t>MRI, </a:t>
            </a:r>
            <a:r>
              <a:rPr lang="zh-TW" altLang="zh-TW" dirty="0"/>
              <a:t>主要用來區分侵犯深度</a:t>
            </a:r>
            <a:r>
              <a:rPr lang="en-US" altLang="zh-TW" dirty="0"/>
              <a:t>), CEA, not indicate </a:t>
            </a:r>
            <a:r>
              <a:rPr lang="en-US" altLang="zh-TW" dirty="0" smtClean="0"/>
              <a:t>PET/CT</a:t>
            </a:r>
          </a:p>
          <a:p>
            <a:pPr lvl="2"/>
            <a:r>
              <a:rPr lang="en-US" altLang="zh-TW" dirty="0" smtClean="0"/>
              <a:t>MRI for better depth evaluation than CT</a:t>
            </a:r>
          </a:p>
          <a:p>
            <a:pPr lvl="1"/>
            <a:r>
              <a:rPr lang="en-US" altLang="zh-TW" dirty="0" smtClean="0"/>
              <a:t>Rectal </a:t>
            </a:r>
            <a:r>
              <a:rPr lang="en-US" altLang="zh-TW" dirty="0"/>
              <a:t>Ca</a:t>
            </a:r>
            <a:r>
              <a:rPr lang="zh-TW" altLang="en-US" dirty="0"/>
              <a:t>何時會直接開刀</a:t>
            </a:r>
            <a:r>
              <a:rPr lang="en-US" altLang="zh-TW" dirty="0"/>
              <a:t>?</a:t>
            </a:r>
            <a:r>
              <a:rPr lang="zh-TW" altLang="en-US" dirty="0"/>
              <a:t>何時會轉來做</a:t>
            </a:r>
            <a:r>
              <a:rPr lang="en-US" altLang="zh-TW" dirty="0"/>
              <a:t>pre-OP RT?</a:t>
            </a:r>
            <a:r>
              <a:rPr lang="zh-TW" altLang="en-US" dirty="0"/>
              <a:t>有沒有做</a:t>
            </a:r>
            <a:r>
              <a:rPr lang="en-US" altLang="zh-TW" dirty="0"/>
              <a:t>pre-OP R/T</a:t>
            </a:r>
            <a:r>
              <a:rPr lang="zh-TW" altLang="en-US" dirty="0"/>
              <a:t>差別在</a:t>
            </a:r>
            <a:r>
              <a:rPr lang="zh-TW" altLang="en-US" dirty="0" smtClean="0"/>
              <a:t>哪</a:t>
            </a:r>
            <a:r>
              <a:rPr lang="en-US" altLang="zh-TW" dirty="0" smtClean="0"/>
              <a:t> ?Pre-OP </a:t>
            </a:r>
            <a:r>
              <a:rPr lang="en-US" altLang="zh-TW" dirty="0"/>
              <a:t>RT+/-C/T</a:t>
            </a:r>
            <a:r>
              <a:rPr lang="zh-TW" altLang="en-US" dirty="0"/>
              <a:t>差別在哪</a:t>
            </a:r>
            <a:r>
              <a:rPr lang="en-US" altLang="zh-TW" dirty="0" smtClean="0"/>
              <a:t>?Pre-OP</a:t>
            </a:r>
            <a:r>
              <a:rPr lang="zh-TW" altLang="en-US" dirty="0"/>
              <a:t>與</a:t>
            </a:r>
            <a:r>
              <a:rPr lang="en-US" altLang="zh-TW" dirty="0"/>
              <a:t>post-OP</a:t>
            </a:r>
            <a:r>
              <a:rPr lang="zh-TW" altLang="en-US" dirty="0"/>
              <a:t>差別在哪</a:t>
            </a:r>
            <a:r>
              <a:rPr lang="en-US" altLang="zh-TW" dirty="0" smtClean="0"/>
              <a:t>?</a:t>
            </a:r>
            <a:r>
              <a:rPr lang="zh-TW" altLang="en-US" dirty="0" smtClean="0"/>
              <a:t> </a:t>
            </a:r>
            <a:endParaRPr lang="en-US" altLang="zh-TW" dirty="0" smtClean="0"/>
          </a:p>
          <a:p>
            <a:pPr lvl="2"/>
            <a:r>
              <a:rPr lang="en-US" altLang="zh-TW" sz="3000" dirty="0" smtClean="0"/>
              <a:t>Local excision indication: T1</a:t>
            </a:r>
            <a:r>
              <a:rPr lang="en-US" altLang="zh-TW" sz="3000" dirty="0"/>
              <a:t>, &lt; 30% circumferential, tumor &lt; 3 cm, margin &gt; 3 mm, within 8 cm from AV, LVI (-), PNI (-), well to moderately differentiated</a:t>
            </a:r>
            <a:r>
              <a:rPr lang="en-US" altLang="zh-TW" sz="3000" dirty="0" smtClean="0"/>
              <a:t>)</a:t>
            </a:r>
          </a:p>
          <a:p>
            <a:pPr lvl="2"/>
            <a:r>
              <a:rPr lang="en-US" altLang="zh-TW" sz="3000" dirty="0"/>
              <a:t>Pre-OP short course RT vs. </a:t>
            </a:r>
            <a:r>
              <a:rPr lang="en-US" altLang="zh-TW" sz="3000" dirty="0" smtClean="0"/>
              <a:t>OP</a:t>
            </a:r>
          </a:p>
          <a:p>
            <a:pPr lvl="3"/>
            <a:r>
              <a:rPr lang="en-US" altLang="zh-TW" sz="2500" dirty="0"/>
              <a:t>Dutch: </a:t>
            </a:r>
            <a:r>
              <a:rPr lang="zh-TW" altLang="zh-TW" sz="2500" dirty="0"/>
              <a:t>開</a:t>
            </a:r>
            <a:r>
              <a:rPr lang="en-US" altLang="zh-TW" sz="2500" dirty="0"/>
              <a:t>TME, pre-OP short course RT</a:t>
            </a:r>
            <a:r>
              <a:rPr lang="zh-TW" altLang="zh-TW" sz="2500" dirty="0"/>
              <a:t>增加</a:t>
            </a:r>
            <a:r>
              <a:rPr lang="en-US" altLang="zh-TW" sz="2500" dirty="0"/>
              <a:t>LC</a:t>
            </a:r>
            <a:r>
              <a:rPr lang="zh-TW" altLang="zh-TW" sz="2500" dirty="0"/>
              <a:t>但不增加</a:t>
            </a:r>
            <a:r>
              <a:rPr lang="en-US" altLang="zh-TW" sz="2500" dirty="0"/>
              <a:t>OS, sphincter preservation</a:t>
            </a:r>
            <a:r>
              <a:rPr lang="zh-TW" altLang="zh-TW" sz="2500" dirty="0" smtClean="0"/>
              <a:t>一樣</a:t>
            </a:r>
            <a:endParaRPr lang="en-US" altLang="zh-TW" sz="2500" dirty="0" smtClean="0"/>
          </a:p>
          <a:p>
            <a:pPr lvl="3"/>
            <a:r>
              <a:rPr lang="en-US" altLang="zh-TW" sz="2500" dirty="0"/>
              <a:t>Swedish: </a:t>
            </a:r>
            <a:r>
              <a:rPr lang="zh-TW" altLang="zh-TW" sz="2500" dirty="0"/>
              <a:t>沒開</a:t>
            </a:r>
            <a:r>
              <a:rPr lang="en-US" altLang="zh-TW" sz="2500" dirty="0"/>
              <a:t>TME, pre-OP short course RT</a:t>
            </a:r>
            <a:r>
              <a:rPr lang="zh-TW" altLang="zh-TW" sz="2500" dirty="0"/>
              <a:t>增加</a:t>
            </a:r>
            <a:r>
              <a:rPr lang="en-US" altLang="zh-TW" sz="2500" dirty="0"/>
              <a:t>LR</a:t>
            </a:r>
            <a:r>
              <a:rPr lang="zh-TW" altLang="zh-TW" sz="2500" dirty="0"/>
              <a:t>和</a:t>
            </a:r>
            <a:r>
              <a:rPr lang="en-US" altLang="zh-TW" sz="2500" dirty="0" smtClean="0"/>
              <a:t>OS</a:t>
            </a:r>
          </a:p>
          <a:p>
            <a:pPr lvl="2"/>
            <a:r>
              <a:rPr lang="en-US" altLang="zh-TW" sz="3000" dirty="0"/>
              <a:t>Pre-OP long course RT vs. Pre-OP </a:t>
            </a:r>
            <a:r>
              <a:rPr lang="en-US" altLang="zh-TW" sz="3000" dirty="0" smtClean="0"/>
              <a:t>CCRT</a:t>
            </a:r>
          </a:p>
          <a:p>
            <a:pPr lvl="3"/>
            <a:r>
              <a:rPr lang="en-US" altLang="zh-TW" sz="2500" dirty="0"/>
              <a:t>FFCD 9203: </a:t>
            </a:r>
            <a:r>
              <a:rPr lang="zh-TW" altLang="zh-TW" sz="2500" dirty="0"/>
              <a:t>減少</a:t>
            </a:r>
            <a:r>
              <a:rPr lang="en-US" altLang="zh-TW" sz="2500" dirty="0"/>
              <a:t>LR, OS</a:t>
            </a:r>
            <a:r>
              <a:rPr lang="zh-TW" altLang="zh-TW" sz="2500" dirty="0"/>
              <a:t>和</a:t>
            </a:r>
            <a:r>
              <a:rPr lang="en-US" altLang="zh-TW" sz="2500" dirty="0"/>
              <a:t>sphincter preservation</a:t>
            </a:r>
            <a:r>
              <a:rPr lang="zh-TW" altLang="zh-TW" sz="2500" dirty="0"/>
              <a:t>都沒</a:t>
            </a:r>
            <a:r>
              <a:rPr lang="zh-TW" altLang="zh-TW" sz="2500" dirty="0" smtClean="0"/>
              <a:t>差</a:t>
            </a:r>
            <a:endParaRPr lang="en-US" altLang="zh-TW" sz="2500" dirty="0" smtClean="0"/>
          </a:p>
          <a:p>
            <a:pPr lvl="3"/>
            <a:r>
              <a:rPr lang="en-US" altLang="zh-TW" sz="2500" dirty="0"/>
              <a:t>EORTC 22921: </a:t>
            </a:r>
            <a:r>
              <a:rPr lang="zh-TW" altLang="zh-TW" sz="2500" dirty="0"/>
              <a:t>減少</a:t>
            </a:r>
            <a:r>
              <a:rPr lang="en-US" altLang="zh-TW" sz="2500" dirty="0"/>
              <a:t>LR, OS</a:t>
            </a:r>
            <a:r>
              <a:rPr lang="zh-TW" altLang="zh-TW" sz="2500" dirty="0"/>
              <a:t>和</a:t>
            </a:r>
            <a:r>
              <a:rPr lang="en-US" altLang="zh-TW" sz="2500" dirty="0"/>
              <a:t>sphincter preservation</a:t>
            </a:r>
            <a:r>
              <a:rPr lang="zh-TW" altLang="zh-TW" sz="2500" dirty="0"/>
              <a:t>都沒</a:t>
            </a:r>
            <a:r>
              <a:rPr lang="zh-TW" altLang="zh-TW" sz="2500" dirty="0" smtClean="0"/>
              <a:t>差</a:t>
            </a:r>
            <a:endParaRPr lang="en-US" altLang="zh-TW" sz="2500" dirty="0" smtClean="0"/>
          </a:p>
          <a:p>
            <a:pPr lvl="2"/>
            <a:r>
              <a:rPr lang="en-US" altLang="zh-TW" sz="3000" dirty="0"/>
              <a:t>Pre-OP CCRT (50.4 + 5-FU) vs. Post-OP CCRT (55.8 </a:t>
            </a:r>
            <a:r>
              <a:rPr lang="en-US" altLang="zh-TW" sz="3000" dirty="0" err="1"/>
              <a:t>Gy</a:t>
            </a:r>
            <a:r>
              <a:rPr lang="en-US" altLang="zh-TW" sz="3000" dirty="0"/>
              <a:t> + 5-FU</a:t>
            </a:r>
            <a:r>
              <a:rPr lang="en-US" altLang="zh-TW" sz="3000" dirty="0" smtClean="0"/>
              <a:t>) German trial</a:t>
            </a:r>
          </a:p>
          <a:p>
            <a:pPr lvl="3"/>
            <a:r>
              <a:rPr lang="en-US" altLang="zh-TW" sz="2500" dirty="0" err="1"/>
              <a:t>pCR</a:t>
            </a:r>
            <a:r>
              <a:rPr lang="en-US" altLang="zh-TW" sz="2500" dirty="0"/>
              <a:t>: 8%, </a:t>
            </a:r>
            <a:r>
              <a:rPr lang="zh-TW" altLang="zh-TW" sz="2500" dirty="0"/>
              <a:t>減少</a:t>
            </a:r>
            <a:r>
              <a:rPr lang="en-US" altLang="zh-TW" sz="2500" dirty="0"/>
              <a:t>10-year LR (7 vs. 10%), OS</a:t>
            </a:r>
            <a:r>
              <a:rPr lang="zh-TW" altLang="zh-TW" sz="2500" dirty="0"/>
              <a:t>沒差</a:t>
            </a:r>
            <a:r>
              <a:rPr lang="en-US" altLang="zh-TW" sz="2500" dirty="0"/>
              <a:t>, </a:t>
            </a:r>
            <a:r>
              <a:rPr lang="zh-TW" altLang="zh-TW" sz="2500" dirty="0"/>
              <a:t>減少</a:t>
            </a:r>
            <a:r>
              <a:rPr lang="en-US" altLang="zh-TW" sz="2500" dirty="0"/>
              <a:t>acute</a:t>
            </a:r>
            <a:r>
              <a:rPr lang="zh-TW" altLang="zh-TW" sz="2500" dirty="0"/>
              <a:t>和</a:t>
            </a:r>
            <a:r>
              <a:rPr lang="en-US" altLang="zh-TW" sz="2500" dirty="0"/>
              <a:t>late toxicity, </a:t>
            </a:r>
            <a:r>
              <a:rPr lang="zh-TW" altLang="zh-TW" sz="2500" dirty="0"/>
              <a:t>增加</a:t>
            </a:r>
            <a:r>
              <a:rPr lang="en-US" altLang="zh-TW" sz="2500" dirty="0"/>
              <a:t>sphincter preservation (40 vs. 20%)</a:t>
            </a:r>
            <a:endParaRPr lang="en-US" altLang="zh-TW" dirty="0" smtClean="0"/>
          </a:p>
          <a:p>
            <a:pPr lvl="1"/>
            <a:r>
              <a:rPr lang="en-US" altLang="zh-TW" dirty="0" smtClean="0"/>
              <a:t>Rectal </a:t>
            </a:r>
            <a:r>
              <a:rPr lang="en-US" altLang="zh-TW" dirty="0"/>
              <a:t>Ca</a:t>
            </a:r>
            <a:r>
              <a:rPr lang="zh-TW" altLang="en-US" dirty="0"/>
              <a:t>照射</a:t>
            </a:r>
            <a:r>
              <a:rPr lang="zh-TW" altLang="en-US" dirty="0" smtClean="0"/>
              <a:t>範圍</a:t>
            </a:r>
            <a:r>
              <a:rPr lang="en-US" altLang="zh-TW" dirty="0" smtClean="0"/>
              <a:t>? </a:t>
            </a:r>
            <a:r>
              <a:rPr lang="zh-TW" altLang="en-US" dirty="0"/>
              <a:t>上緣跟下緣會開到哪裡</a:t>
            </a:r>
            <a:r>
              <a:rPr lang="en-US" altLang="zh-TW" dirty="0" smtClean="0"/>
              <a:t>? </a:t>
            </a:r>
            <a:r>
              <a:rPr lang="zh-TW" altLang="en-US" dirty="0"/>
              <a:t>開</a:t>
            </a:r>
            <a:r>
              <a:rPr lang="en-US" altLang="zh-TW" dirty="0"/>
              <a:t>LAR</a:t>
            </a:r>
            <a:r>
              <a:rPr lang="zh-TW" altLang="en-US" dirty="0"/>
              <a:t>跟</a:t>
            </a:r>
            <a:r>
              <a:rPr lang="en-US" altLang="zh-TW" dirty="0"/>
              <a:t>APR</a:t>
            </a:r>
            <a:r>
              <a:rPr lang="zh-TW" altLang="en-US" dirty="0"/>
              <a:t>你治療範圍差別</a:t>
            </a:r>
            <a:r>
              <a:rPr lang="en-US" altLang="zh-TW" dirty="0"/>
              <a:t>? </a:t>
            </a:r>
            <a:endParaRPr lang="en-US" altLang="zh-TW" dirty="0" smtClean="0"/>
          </a:p>
          <a:p>
            <a:pPr lvl="2"/>
            <a:r>
              <a:rPr lang="en-US" altLang="zh-TW" sz="2500" dirty="0" err="1"/>
              <a:t>presacral</a:t>
            </a:r>
            <a:r>
              <a:rPr lang="en-US" altLang="zh-TW" sz="2500" dirty="0"/>
              <a:t>, internal iliac (if T4 involving anterior: external iliac), </a:t>
            </a:r>
            <a:r>
              <a:rPr lang="en-US" altLang="zh-TW" sz="2500" dirty="0" err="1"/>
              <a:t>mesorectum</a:t>
            </a:r>
            <a:r>
              <a:rPr lang="en-US" altLang="zh-TW" sz="2500" dirty="0"/>
              <a:t>; 45-50 </a:t>
            </a:r>
            <a:r>
              <a:rPr lang="en-US" altLang="zh-TW" sz="2500" dirty="0" err="1"/>
              <a:t>Gy</a:t>
            </a:r>
            <a:r>
              <a:rPr lang="en-US" altLang="zh-TW" sz="2500" dirty="0"/>
              <a:t> with boost 5.4 </a:t>
            </a:r>
            <a:r>
              <a:rPr lang="en-US" altLang="zh-TW" sz="2500" dirty="0" err="1"/>
              <a:t>Gy</a:t>
            </a:r>
            <a:r>
              <a:rPr lang="en-US" altLang="zh-TW" sz="2500" dirty="0"/>
              <a:t> for pre-OP and 5.4-9 </a:t>
            </a:r>
            <a:r>
              <a:rPr lang="en-US" altLang="zh-TW" sz="2500" dirty="0" err="1"/>
              <a:t>Gy</a:t>
            </a:r>
            <a:r>
              <a:rPr lang="en-US" altLang="zh-TW" sz="2500" dirty="0"/>
              <a:t> for post- OP (pre-OP 5 </a:t>
            </a:r>
            <a:r>
              <a:rPr lang="en-US" altLang="zh-TW" sz="2500" dirty="0" err="1"/>
              <a:t>Gy</a:t>
            </a:r>
            <a:r>
              <a:rPr lang="en-US" altLang="zh-TW" sz="2500" dirty="0"/>
              <a:t> x 5 </a:t>
            </a:r>
            <a:r>
              <a:rPr lang="en-US" altLang="zh-TW" sz="2500" dirty="0" err="1"/>
              <a:t>fxs</a:t>
            </a:r>
            <a:r>
              <a:rPr lang="en-US" altLang="zh-TW" sz="2500" dirty="0"/>
              <a:t> can be considered for T3N0)</a:t>
            </a:r>
          </a:p>
          <a:p>
            <a:endParaRPr lang="zh-TW" altLang="en-US" dirty="0"/>
          </a:p>
        </p:txBody>
      </p:sp>
    </p:spTree>
    <p:extLst>
      <p:ext uri="{BB962C8B-B14F-4D97-AF65-F5344CB8AC3E}">
        <p14:creationId xmlns:p14="http://schemas.microsoft.com/office/powerpoint/2010/main" val="1432197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2015 </a:t>
            </a:r>
            <a:r>
              <a:rPr lang="zh-TW" altLang="en-US" dirty="0" smtClean="0"/>
              <a:t>張東浩 </a:t>
            </a:r>
            <a:r>
              <a:rPr lang="en-US" altLang="zh-TW" dirty="0" smtClean="0"/>
              <a:t>HCC</a:t>
            </a:r>
            <a:endParaRPr lang="zh-TW" altLang="en-US" dirty="0"/>
          </a:p>
        </p:txBody>
      </p:sp>
      <p:sp>
        <p:nvSpPr>
          <p:cNvPr id="3" name="內容版面配置區 2"/>
          <p:cNvSpPr>
            <a:spLocks noGrp="1"/>
          </p:cNvSpPr>
          <p:nvPr>
            <p:ph idx="1"/>
          </p:nvPr>
        </p:nvSpPr>
        <p:spPr>
          <a:xfrm>
            <a:off x="609600" y="1272619"/>
            <a:ext cx="10972800" cy="5467546"/>
          </a:xfrm>
        </p:spPr>
        <p:txBody>
          <a:bodyPr>
            <a:normAutofit fontScale="40000" lnSpcReduction="20000"/>
          </a:bodyPr>
          <a:lstStyle/>
          <a:p>
            <a:r>
              <a:rPr lang="zh-TW" altLang="en-US" dirty="0" smtClean="0"/>
              <a:t>先</a:t>
            </a:r>
            <a:r>
              <a:rPr lang="zh-TW" altLang="en-US" dirty="0"/>
              <a:t>在你自己肚子上畫出肝的八個分</a:t>
            </a:r>
            <a:r>
              <a:rPr lang="zh-TW" altLang="en-US" dirty="0" smtClean="0"/>
              <a:t>葉</a:t>
            </a:r>
            <a:r>
              <a:rPr lang="zh-TW" altLang="en-US" dirty="0"/>
              <a:t> </a:t>
            </a:r>
            <a:r>
              <a:rPr lang="en-US" altLang="zh-TW" dirty="0"/>
              <a:t>/</a:t>
            </a:r>
            <a:r>
              <a:rPr lang="en-US" altLang="zh-TW" dirty="0" smtClean="0"/>
              <a:t>Liver </a:t>
            </a:r>
            <a:r>
              <a:rPr lang="en-US" altLang="zh-TW" dirty="0"/>
              <a:t>TNM staging/Child-Pugh score/BCLC staging</a:t>
            </a:r>
            <a:r>
              <a:rPr lang="zh-TW" altLang="en-US" dirty="0"/>
              <a:t>背</a:t>
            </a:r>
            <a:r>
              <a:rPr lang="zh-TW" altLang="en-US" dirty="0" smtClean="0"/>
              <a:t>出來</a:t>
            </a:r>
            <a:r>
              <a:rPr lang="en-US" altLang="zh-TW" dirty="0" smtClean="0"/>
              <a:t>(</a:t>
            </a:r>
            <a:r>
              <a:rPr lang="zh-TW" altLang="en-US" dirty="0" smtClean="0"/>
              <a:t>請參考前頁</a:t>
            </a:r>
            <a:r>
              <a:rPr lang="en-US" altLang="zh-TW" dirty="0" smtClean="0"/>
              <a:t>)</a:t>
            </a:r>
            <a:endParaRPr lang="zh-TW" altLang="en-US" dirty="0"/>
          </a:p>
          <a:p>
            <a:r>
              <a:rPr lang="zh-TW" altLang="en-US" dirty="0" smtClean="0"/>
              <a:t>肝癌</a:t>
            </a:r>
            <a:r>
              <a:rPr lang="zh-TW" altLang="en-US" dirty="0"/>
              <a:t>的危險因子</a:t>
            </a:r>
            <a:r>
              <a:rPr lang="en-US" altLang="zh-TW" dirty="0"/>
              <a:t>? HBV</a:t>
            </a:r>
            <a:r>
              <a:rPr lang="zh-TW" altLang="en-US" dirty="0"/>
              <a:t>跟</a:t>
            </a:r>
            <a:r>
              <a:rPr lang="en-US" altLang="zh-TW" dirty="0"/>
              <a:t>HCV</a:t>
            </a:r>
            <a:r>
              <a:rPr lang="zh-TW" altLang="en-US" dirty="0"/>
              <a:t>分別會上升多少倍</a:t>
            </a:r>
            <a:r>
              <a:rPr lang="en-US" altLang="zh-TW" dirty="0"/>
              <a:t>HCC risk? Liver cirrhosis</a:t>
            </a:r>
            <a:r>
              <a:rPr lang="zh-TW" altLang="en-US" dirty="0"/>
              <a:t>會不會變成</a:t>
            </a:r>
            <a:r>
              <a:rPr lang="en-US" altLang="zh-TW" dirty="0"/>
              <a:t>HCC? </a:t>
            </a:r>
            <a:endParaRPr lang="en-US" altLang="zh-TW" dirty="0" smtClean="0"/>
          </a:p>
          <a:p>
            <a:pPr lvl="1"/>
            <a:r>
              <a:rPr lang="en-US" altLang="zh-TW" dirty="0">
                <a:solidFill>
                  <a:srgbClr val="0000FF"/>
                </a:solidFill>
              </a:rPr>
              <a:t>HBV (223x</a:t>
            </a:r>
            <a:r>
              <a:rPr lang="en-US" altLang="zh-TW" dirty="0" smtClean="0">
                <a:solidFill>
                  <a:srgbClr val="0000FF"/>
                </a:solidFill>
              </a:rPr>
              <a:t>), </a:t>
            </a:r>
            <a:r>
              <a:rPr lang="en-US" altLang="zh-TW" dirty="0">
                <a:solidFill>
                  <a:srgbClr val="0000FF"/>
                </a:solidFill>
              </a:rPr>
              <a:t>HCV and cirrhosis (100x</a:t>
            </a:r>
            <a:r>
              <a:rPr lang="en-US" altLang="zh-TW" dirty="0"/>
              <a:t>, alcohol use double the risk</a:t>
            </a:r>
            <a:r>
              <a:rPr lang="en-US" altLang="zh-TW" dirty="0" smtClean="0"/>
              <a:t>), </a:t>
            </a:r>
            <a:r>
              <a:rPr lang="en-US" altLang="zh-TW" dirty="0"/>
              <a:t>Ethanol (80 g/d for 10+ years: 5x</a:t>
            </a:r>
            <a:r>
              <a:rPr lang="en-US" altLang="zh-TW" dirty="0" smtClean="0"/>
              <a:t>), chemical (ex: </a:t>
            </a:r>
            <a:r>
              <a:rPr lang="en-US" altLang="zh-TW" dirty="0"/>
              <a:t>nitrites, hydrocarbons</a:t>
            </a:r>
            <a:r>
              <a:rPr lang="en-US" altLang="zh-TW" dirty="0" smtClean="0"/>
              <a:t>), Environmental (ex: </a:t>
            </a:r>
            <a:r>
              <a:rPr lang="en-US" altLang="zh-TW" dirty="0" err="1" smtClean="0"/>
              <a:t>aflatoxin</a:t>
            </a:r>
            <a:r>
              <a:rPr lang="en-US" altLang="zh-TW" dirty="0" smtClean="0"/>
              <a:t>), </a:t>
            </a:r>
            <a:r>
              <a:rPr lang="en-US" altLang="zh-TW" dirty="0"/>
              <a:t>Hereditary liver </a:t>
            </a:r>
            <a:r>
              <a:rPr lang="en-US" altLang="zh-TW" dirty="0" smtClean="0"/>
              <a:t>disease(ex hemochromatosis, </a:t>
            </a:r>
            <a:r>
              <a:rPr lang="en-US" altLang="zh-TW" dirty="0" err="1" smtClean="0"/>
              <a:t>wilson</a:t>
            </a:r>
            <a:r>
              <a:rPr lang="en-US" altLang="zh-TW" dirty="0" smtClean="0"/>
              <a:t> disease, </a:t>
            </a:r>
            <a:r>
              <a:rPr lang="en-US" altLang="zh-TW" dirty="0"/>
              <a:t>hereditary </a:t>
            </a:r>
            <a:r>
              <a:rPr lang="en-US" altLang="zh-TW" dirty="0" err="1"/>
              <a:t>tyrosinemia</a:t>
            </a:r>
            <a:r>
              <a:rPr lang="en-US" altLang="zh-TW" dirty="0" smtClean="0"/>
              <a:t> ) </a:t>
            </a:r>
            <a:endParaRPr lang="en-US" altLang="zh-TW" dirty="0"/>
          </a:p>
          <a:p>
            <a:r>
              <a:rPr lang="zh-TW" altLang="en-US" dirty="0" smtClean="0"/>
              <a:t>健保</a:t>
            </a:r>
            <a:r>
              <a:rPr lang="zh-TW" altLang="en-US" dirty="0"/>
              <a:t>對於</a:t>
            </a:r>
            <a:r>
              <a:rPr lang="en-US" altLang="zh-TW" dirty="0"/>
              <a:t>SBRT</a:t>
            </a:r>
            <a:r>
              <a:rPr lang="zh-TW" altLang="en-US" dirty="0"/>
              <a:t>及</a:t>
            </a:r>
            <a:r>
              <a:rPr lang="en-US" altLang="zh-TW" dirty="0" err="1"/>
              <a:t>Nexavar</a:t>
            </a:r>
            <a:r>
              <a:rPr lang="zh-TW" altLang="en-US" dirty="0"/>
              <a:t>的規範</a:t>
            </a:r>
            <a:r>
              <a:rPr lang="en-US" altLang="zh-TW" dirty="0" smtClean="0"/>
              <a:t>?</a:t>
            </a:r>
          </a:p>
          <a:p>
            <a:pPr lvl="1"/>
            <a:r>
              <a:rPr lang="zh-TW" altLang="en-US" dirty="0" smtClean="0">
                <a:latin typeface="+mj-ea"/>
              </a:rPr>
              <a:t>健保</a:t>
            </a:r>
            <a:r>
              <a:rPr lang="zh-TW" altLang="zh-TW" dirty="0" smtClean="0">
                <a:latin typeface="+mj-ea"/>
              </a:rPr>
              <a:t>轉移性或無法手術切除且不適合局部治療或局部治療失敗之晚期肝細胞癌，並符合下列條件之一：肝外轉移（遠端轉移或肝外淋巴結侵犯）的</a:t>
            </a:r>
            <a:r>
              <a:rPr lang="en-US" altLang="zh-TW" dirty="0" smtClean="0">
                <a:latin typeface="+mj-ea"/>
              </a:rPr>
              <a:t> Child-Pugh A class </a:t>
            </a:r>
            <a:r>
              <a:rPr lang="zh-TW" altLang="zh-TW" dirty="0" smtClean="0">
                <a:latin typeface="+mj-ea"/>
              </a:rPr>
              <a:t>患者；大血管侵犯（腫瘤侵犯主門靜脈或侵犯左</a:t>
            </a:r>
            <a:r>
              <a:rPr lang="en-US" altLang="zh-TW" dirty="0" smtClean="0">
                <a:latin typeface="+mj-ea"/>
              </a:rPr>
              <a:t>/</a:t>
            </a:r>
            <a:r>
              <a:rPr lang="zh-TW" altLang="zh-TW" dirty="0" smtClean="0">
                <a:latin typeface="+mj-ea"/>
              </a:rPr>
              <a:t>右靜脈第一分支）的</a:t>
            </a:r>
            <a:r>
              <a:rPr lang="en-US" altLang="zh-TW" dirty="0" smtClean="0">
                <a:latin typeface="+mj-ea"/>
              </a:rPr>
              <a:t> Child-Pugh A class </a:t>
            </a:r>
            <a:r>
              <a:rPr lang="zh-TW" altLang="zh-TW" dirty="0" smtClean="0">
                <a:latin typeface="+mj-ea"/>
              </a:rPr>
              <a:t>患者</a:t>
            </a:r>
            <a:r>
              <a:rPr lang="en-US" altLang="zh-TW" dirty="0" smtClean="0">
                <a:latin typeface="+mj-ea"/>
              </a:rPr>
              <a:t>, </a:t>
            </a:r>
            <a:r>
              <a:rPr lang="zh-TW" altLang="en-US" dirty="0" smtClean="0">
                <a:latin typeface="+mj-ea"/>
              </a:rPr>
              <a:t>或</a:t>
            </a:r>
            <a:r>
              <a:rPr lang="zh-TW" altLang="zh-TW" dirty="0"/>
              <a:t>經導管動脈化學治療藥物栓塞治療 </a:t>
            </a:r>
            <a:r>
              <a:rPr lang="en-US" altLang="zh-TW" dirty="0"/>
              <a:t>(</a:t>
            </a:r>
            <a:r>
              <a:rPr lang="en-US" altLang="zh-TW" dirty="0" err="1"/>
              <a:t>Transcatheter</a:t>
            </a:r>
            <a:r>
              <a:rPr lang="en-US" altLang="zh-TW" dirty="0"/>
              <a:t> arterial chemoembolization, T.A.C.E) </a:t>
            </a:r>
            <a:r>
              <a:rPr lang="zh-TW" altLang="zh-TW" dirty="0"/>
              <a:t>失敗者，須提供患者 於</a:t>
            </a:r>
            <a:r>
              <a:rPr lang="en-US" altLang="zh-TW" dirty="0"/>
              <a:t> 12 </a:t>
            </a:r>
            <a:r>
              <a:rPr lang="zh-TW" altLang="zh-TW" dirty="0"/>
              <a:t>個月內 </a:t>
            </a:r>
            <a:r>
              <a:rPr lang="en-US" altLang="zh-TW" dirty="0"/>
              <a:t>&gt;=3 </a:t>
            </a:r>
            <a:r>
              <a:rPr lang="zh-TW" altLang="zh-TW" dirty="0"/>
              <a:t>次局部治療之紀錄</a:t>
            </a:r>
            <a:endParaRPr lang="en-US" altLang="zh-TW" dirty="0" smtClean="0">
              <a:latin typeface="+mj-ea"/>
            </a:endParaRPr>
          </a:p>
          <a:p>
            <a:pPr lvl="1"/>
            <a:r>
              <a:rPr lang="zh-TW" altLang="en-US" b="1" dirty="0"/>
              <a:t>原發性肝膽單一病灶</a:t>
            </a:r>
            <a:r>
              <a:rPr lang="zh-TW" altLang="en-US" dirty="0"/>
              <a:t>且不適合手術切除、血管栓塞治療、電燒灼治療</a:t>
            </a:r>
            <a:r>
              <a:rPr lang="en-US" altLang="zh-TW" dirty="0"/>
              <a:t>〈</a:t>
            </a:r>
            <a:r>
              <a:rPr lang="zh-TW" altLang="en-US" dirty="0"/>
              <a:t>或治療失敗者</a:t>
            </a:r>
            <a:r>
              <a:rPr lang="en-US" altLang="zh-TW" dirty="0"/>
              <a:t>〉</a:t>
            </a:r>
            <a:endParaRPr lang="en-US" altLang="zh-TW" dirty="0" smtClean="0"/>
          </a:p>
          <a:p>
            <a:r>
              <a:rPr lang="en-US" altLang="zh-TW" dirty="0" err="1" smtClean="0"/>
              <a:t>Nexavar</a:t>
            </a:r>
            <a:r>
              <a:rPr lang="zh-TW" altLang="en-US" dirty="0"/>
              <a:t>使用在</a:t>
            </a:r>
            <a:r>
              <a:rPr lang="en-US" altLang="zh-TW" dirty="0"/>
              <a:t>HCC</a:t>
            </a:r>
            <a:r>
              <a:rPr lang="zh-TW" altLang="en-US" dirty="0"/>
              <a:t>上面的研究為何</a:t>
            </a:r>
            <a:r>
              <a:rPr lang="en-US" altLang="zh-TW" dirty="0"/>
              <a:t>?</a:t>
            </a:r>
            <a:r>
              <a:rPr lang="zh-TW" altLang="en-US" dirty="0"/>
              <a:t>該研究可以提升多少比例的</a:t>
            </a:r>
            <a:r>
              <a:rPr lang="en-US" altLang="zh-TW" dirty="0"/>
              <a:t>survival? </a:t>
            </a:r>
            <a:endParaRPr lang="en-US" altLang="zh-TW" dirty="0" smtClean="0"/>
          </a:p>
          <a:p>
            <a:pPr lvl="1"/>
            <a:r>
              <a:rPr lang="en-US" altLang="zh-TW" dirty="0" smtClean="0"/>
              <a:t>SHARP</a:t>
            </a:r>
            <a:r>
              <a:rPr lang="zh-TW" altLang="en-US" dirty="0" smtClean="0"/>
              <a:t> </a:t>
            </a:r>
            <a:r>
              <a:rPr lang="en-US" altLang="zh-TW" dirty="0" smtClean="0"/>
              <a:t>trial, child A, </a:t>
            </a:r>
            <a:r>
              <a:rPr lang="en-US" altLang="zh-TW" dirty="0" err="1" smtClean="0"/>
              <a:t>Nexavar</a:t>
            </a:r>
            <a:r>
              <a:rPr lang="en-US" altLang="zh-TW" dirty="0" smtClean="0"/>
              <a:t> 400mg BID </a:t>
            </a:r>
            <a:r>
              <a:rPr lang="en-US" altLang="zh-TW" dirty="0" err="1" smtClean="0"/>
              <a:t>vs</a:t>
            </a:r>
            <a:r>
              <a:rPr lang="en-US" altLang="zh-TW" dirty="0" smtClean="0"/>
              <a:t> Placebo, median OS 10.7 </a:t>
            </a:r>
            <a:r>
              <a:rPr lang="en-US" altLang="zh-TW" dirty="0" err="1" smtClean="0"/>
              <a:t>vs</a:t>
            </a:r>
            <a:r>
              <a:rPr lang="en-US" altLang="zh-TW" dirty="0" smtClean="0"/>
              <a:t> 7.9m</a:t>
            </a:r>
            <a:r>
              <a:rPr lang="zh-TW" altLang="en-US" dirty="0" smtClean="0"/>
              <a:t> </a:t>
            </a:r>
            <a:endParaRPr lang="en-US" altLang="zh-TW" dirty="0" smtClean="0"/>
          </a:p>
          <a:p>
            <a:pPr lvl="1"/>
            <a:r>
              <a:rPr lang="en-US" altLang="zh-TW" dirty="0" smtClean="0"/>
              <a:t>Asia-Pacific study, child A, </a:t>
            </a:r>
            <a:r>
              <a:rPr lang="en-US" altLang="zh-TW" dirty="0" err="1"/>
              <a:t>Nexavar</a:t>
            </a:r>
            <a:r>
              <a:rPr lang="en-US" altLang="zh-TW" dirty="0"/>
              <a:t> 400mg BID </a:t>
            </a:r>
            <a:r>
              <a:rPr lang="en-US" altLang="zh-TW" dirty="0" err="1"/>
              <a:t>vs</a:t>
            </a:r>
            <a:r>
              <a:rPr lang="en-US" altLang="zh-TW" dirty="0"/>
              <a:t> </a:t>
            </a:r>
            <a:r>
              <a:rPr lang="en-US" altLang="zh-TW" dirty="0" smtClean="0"/>
              <a:t>Placebo, median OS 6.5 </a:t>
            </a:r>
            <a:r>
              <a:rPr lang="en-US" altLang="zh-TW" dirty="0" err="1" smtClean="0"/>
              <a:t>vs</a:t>
            </a:r>
            <a:r>
              <a:rPr lang="en-US" altLang="zh-TW" dirty="0" smtClean="0"/>
              <a:t> 4.2m</a:t>
            </a:r>
            <a:endParaRPr lang="en-US" altLang="zh-TW" dirty="0"/>
          </a:p>
          <a:p>
            <a:r>
              <a:rPr lang="en-US" altLang="zh-TW" dirty="0" smtClean="0"/>
              <a:t>SBRT</a:t>
            </a:r>
            <a:r>
              <a:rPr lang="zh-TW" altLang="en-US" dirty="0"/>
              <a:t>合併使用</a:t>
            </a:r>
            <a:r>
              <a:rPr lang="en-US" altLang="zh-TW" dirty="0" err="1"/>
              <a:t>Nexavar</a:t>
            </a:r>
            <a:r>
              <a:rPr lang="zh-TW" altLang="en-US" dirty="0"/>
              <a:t>可不可以</a:t>
            </a:r>
            <a:r>
              <a:rPr lang="en-US" altLang="zh-TW" dirty="0"/>
              <a:t>?</a:t>
            </a:r>
            <a:r>
              <a:rPr lang="zh-TW" altLang="en-US" dirty="0"/>
              <a:t>有沒有相關的研究</a:t>
            </a:r>
            <a:r>
              <a:rPr lang="en-US" altLang="zh-TW" dirty="0"/>
              <a:t>? </a:t>
            </a:r>
            <a:endParaRPr lang="en-US" altLang="zh-TW" dirty="0" smtClean="0"/>
          </a:p>
          <a:p>
            <a:pPr lvl="1"/>
            <a:r>
              <a:rPr lang="en-US" altLang="zh-TW" dirty="0" smtClean="0"/>
              <a:t>Phase 1, RED 2016, child A, SBRT+ </a:t>
            </a:r>
            <a:r>
              <a:rPr lang="en-US" altLang="zh-TW" dirty="0" err="1" smtClean="0"/>
              <a:t>nexavar</a:t>
            </a:r>
            <a:r>
              <a:rPr lang="en-US" altLang="zh-TW" dirty="0" smtClean="0"/>
              <a:t>, significant toxicity</a:t>
            </a:r>
          </a:p>
          <a:p>
            <a:r>
              <a:rPr lang="en-US" altLang="zh-TW" dirty="0" smtClean="0"/>
              <a:t>Biliary tract</a:t>
            </a:r>
            <a:endParaRPr lang="zh-TW" altLang="en-US" dirty="0"/>
          </a:p>
          <a:p>
            <a:pPr lvl="1"/>
            <a:r>
              <a:rPr lang="en-US" altLang="zh-TW" dirty="0" smtClean="0"/>
              <a:t>Biliary </a:t>
            </a:r>
            <a:r>
              <a:rPr lang="en-US" altLang="zh-TW" dirty="0"/>
              <a:t>tract cancer</a:t>
            </a:r>
            <a:r>
              <a:rPr lang="zh-TW" altLang="en-US" dirty="0"/>
              <a:t>分</a:t>
            </a:r>
            <a:r>
              <a:rPr lang="zh-TW" altLang="en-US" dirty="0" smtClean="0"/>
              <a:t>哪</a:t>
            </a:r>
            <a:r>
              <a:rPr lang="zh-TW" altLang="en-US" dirty="0"/>
              <a:t>些</a:t>
            </a:r>
            <a:r>
              <a:rPr lang="en-US" altLang="zh-TW" dirty="0" smtClean="0"/>
              <a:t>?</a:t>
            </a:r>
            <a:r>
              <a:rPr lang="zh-TW" altLang="en-US" dirty="0"/>
              <a:t>差別在哪裡</a:t>
            </a:r>
            <a:r>
              <a:rPr lang="en-US" altLang="zh-TW" dirty="0"/>
              <a:t>?</a:t>
            </a:r>
            <a:r>
              <a:rPr lang="zh-TW" altLang="en-US" dirty="0"/>
              <a:t>若是</a:t>
            </a:r>
            <a:r>
              <a:rPr lang="en-US" altLang="zh-TW" dirty="0" err="1"/>
              <a:t>perihilar</a:t>
            </a:r>
            <a:r>
              <a:rPr lang="en-US" altLang="zh-TW" dirty="0"/>
              <a:t> biliary cancer</a:t>
            </a:r>
            <a:r>
              <a:rPr lang="zh-TW" altLang="en-US" dirty="0"/>
              <a:t>的</a:t>
            </a:r>
            <a:r>
              <a:rPr lang="en-US" altLang="zh-TW" dirty="0"/>
              <a:t>N1</a:t>
            </a:r>
            <a:r>
              <a:rPr lang="zh-TW" altLang="en-US" dirty="0"/>
              <a:t>跟</a:t>
            </a:r>
            <a:r>
              <a:rPr lang="en-US" altLang="zh-TW" dirty="0"/>
              <a:t>N2</a:t>
            </a:r>
            <a:r>
              <a:rPr lang="zh-TW" altLang="en-US" dirty="0"/>
              <a:t>有啥差別</a:t>
            </a:r>
            <a:r>
              <a:rPr lang="en-US" altLang="zh-TW" dirty="0" smtClean="0"/>
              <a:t>?</a:t>
            </a:r>
          </a:p>
          <a:p>
            <a:pPr lvl="2"/>
            <a:r>
              <a:rPr lang="zh-TW" altLang="en-US" sz="3000" dirty="0" smtClean="0">
                <a:solidFill>
                  <a:srgbClr val="0000FF"/>
                </a:solidFill>
              </a:rPr>
              <a:t>分類</a:t>
            </a:r>
            <a:endParaRPr lang="en-US" altLang="zh-TW" sz="3000" dirty="0" smtClean="0">
              <a:solidFill>
                <a:srgbClr val="0000FF"/>
              </a:solidFill>
            </a:endParaRPr>
          </a:p>
          <a:p>
            <a:pPr lvl="3"/>
            <a:r>
              <a:rPr lang="en-US" altLang="zh-TW" sz="3500" dirty="0" smtClean="0">
                <a:solidFill>
                  <a:srgbClr val="0000FF"/>
                </a:solidFill>
              </a:rPr>
              <a:t>Bile </a:t>
            </a:r>
            <a:r>
              <a:rPr lang="en-US" altLang="zh-TW" sz="3500" dirty="0">
                <a:solidFill>
                  <a:srgbClr val="0000FF"/>
                </a:solidFill>
              </a:rPr>
              <a:t>ducts:</a:t>
            </a:r>
            <a:r>
              <a:rPr lang="zh-TW" altLang="en-US" sz="3500" dirty="0">
                <a:solidFill>
                  <a:srgbClr val="0000FF"/>
                </a:solidFill>
              </a:rPr>
              <a:t> </a:t>
            </a:r>
            <a:r>
              <a:rPr lang="en-US" altLang="zh-TW" sz="3500" dirty="0">
                <a:solidFill>
                  <a:srgbClr val="0000FF"/>
                </a:solidFill>
              </a:rPr>
              <a:t>1/3 </a:t>
            </a:r>
            <a:r>
              <a:rPr lang="en-US" altLang="zh-TW" sz="3500" dirty="0"/>
              <a:t>(</a:t>
            </a:r>
            <a:r>
              <a:rPr lang="en-US" altLang="zh-TW" sz="3500" dirty="0" err="1"/>
              <a:t>cholangiocarcinoma</a:t>
            </a:r>
            <a:r>
              <a:rPr lang="en-US" altLang="zh-TW" sz="3500" dirty="0"/>
              <a:t>: arising from epithelial cells of the bile ducts</a:t>
            </a:r>
            <a:r>
              <a:rPr lang="en-US" altLang="zh-TW" sz="3500" dirty="0" smtClean="0"/>
              <a:t>)</a:t>
            </a:r>
          </a:p>
          <a:p>
            <a:pPr lvl="4"/>
            <a:r>
              <a:rPr lang="en-US" altLang="zh-TW" sz="3500" dirty="0"/>
              <a:t>Intrahepatic (5-10%)</a:t>
            </a:r>
          </a:p>
          <a:p>
            <a:pPr lvl="4"/>
            <a:r>
              <a:rPr lang="en-US" altLang="zh-TW" sz="3500" dirty="0" err="1"/>
              <a:t>Perihilar</a:t>
            </a:r>
            <a:r>
              <a:rPr lang="en-US" altLang="zh-TW" sz="3500" dirty="0"/>
              <a:t> (65-70%): </a:t>
            </a:r>
            <a:r>
              <a:rPr lang="en-US" altLang="zh-TW" sz="3500" dirty="0" err="1"/>
              <a:t>perihilar</a:t>
            </a:r>
            <a:r>
              <a:rPr lang="en-US" altLang="zh-TW" sz="3500" dirty="0"/>
              <a:t> tumors involving the bifurcation of the hepatic duct are also called </a:t>
            </a:r>
            <a:r>
              <a:rPr lang="en-US" altLang="zh-TW" sz="3500" dirty="0" err="1"/>
              <a:t>Klatskin</a:t>
            </a:r>
            <a:r>
              <a:rPr lang="en-US" altLang="zh-TW" sz="3500" dirty="0"/>
              <a:t> tumors</a:t>
            </a:r>
          </a:p>
          <a:p>
            <a:pPr lvl="4"/>
            <a:r>
              <a:rPr lang="en-US" altLang="zh-TW" sz="3500" dirty="0"/>
              <a:t>Distal </a:t>
            </a:r>
            <a:r>
              <a:rPr lang="en-US" altLang="zh-TW" sz="3500" dirty="0" err="1"/>
              <a:t>extrahepatic</a:t>
            </a:r>
            <a:r>
              <a:rPr lang="en-US" altLang="zh-TW" sz="3500" dirty="0"/>
              <a:t> (25-30%): includes ampulla of </a:t>
            </a:r>
            <a:r>
              <a:rPr lang="en-US" altLang="zh-TW" sz="3500" dirty="0" err="1" smtClean="0"/>
              <a:t>Vater</a:t>
            </a:r>
            <a:endParaRPr lang="en-US" altLang="zh-TW" sz="3500" dirty="0">
              <a:solidFill>
                <a:srgbClr val="0000FF"/>
              </a:solidFill>
            </a:endParaRPr>
          </a:p>
          <a:p>
            <a:pPr lvl="3"/>
            <a:r>
              <a:rPr lang="en-US" altLang="zh-TW" sz="3500" dirty="0">
                <a:solidFill>
                  <a:srgbClr val="0000FF"/>
                </a:solidFill>
              </a:rPr>
              <a:t>Gallbladder: 2/3</a:t>
            </a:r>
            <a:r>
              <a:rPr lang="en-US" altLang="zh-TW" sz="3500" dirty="0"/>
              <a:t>, the most </a:t>
            </a:r>
            <a:r>
              <a:rPr lang="en-US" altLang="zh-TW" sz="3500" dirty="0" smtClean="0"/>
              <a:t>common</a:t>
            </a:r>
          </a:p>
          <a:p>
            <a:pPr lvl="1"/>
            <a:r>
              <a:rPr lang="en-US" altLang="zh-TW" dirty="0" err="1" smtClean="0"/>
              <a:t>Perihilar</a:t>
            </a:r>
            <a:r>
              <a:rPr lang="en-US" altLang="zh-TW" dirty="0" smtClean="0"/>
              <a:t> biliary cancer</a:t>
            </a:r>
          </a:p>
          <a:p>
            <a:pPr lvl="2"/>
            <a:r>
              <a:rPr lang="zh-TW" altLang="en-US" dirty="0"/>
              <a:t>見右</a:t>
            </a:r>
            <a:r>
              <a:rPr lang="zh-TW" altLang="en-US" dirty="0" smtClean="0"/>
              <a:t>圖 </a:t>
            </a:r>
            <a:r>
              <a:rPr lang="en-US" altLang="zh-TW" dirty="0" smtClean="0"/>
              <a:t>AJCC</a:t>
            </a:r>
            <a:r>
              <a:rPr lang="zh-TW" altLang="en-US" dirty="0" smtClean="0"/>
              <a:t> </a:t>
            </a:r>
            <a:r>
              <a:rPr lang="en-US" altLang="zh-TW" dirty="0" smtClean="0"/>
              <a:t>7</a:t>
            </a:r>
            <a:r>
              <a:rPr lang="en-US" altLang="zh-TW" baseline="30000" dirty="0" smtClean="0"/>
              <a:t>th</a:t>
            </a:r>
            <a:r>
              <a:rPr lang="en-US" altLang="zh-TW" dirty="0" smtClean="0"/>
              <a:t> N1 2</a:t>
            </a:r>
            <a:r>
              <a:rPr lang="zh-TW" altLang="en-US" dirty="0" smtClean="0"/>
              <a:t>是用位置區分 但 </a:t>
            </a:r>
            <a:r>
              <a:rPr lang="en-US" altLang="zh-TW" dirty="0" smtClean="0"/>
              <a:t>8th </a:t>
            </a:r>
            <a:r>
              <a:rPr lang="zh-TW" altLang="en-US" dirty="0" smtClean="0"/>
              <a:t>是用</a:t>
            </a:r>
            <a:r>
              <a:rPr lang="en-US" altLang="zh-TW" dirty="0" smtClean="0"/>
              <a:t>4</a:t>
            </a:r>
            <a:r>
              <a:rPr lang="zh-TW" altLang="en-US" dirty="0" smtClean="0"/>
              <a:t>顆區分</a:t>
            </a:r>
            <a:endParaRPr lang="en-US" altLang="zh-TW" dirty="0"/>
          </a:p>
          <a:p>
            <a:pPr lvl="1"/>
            <a:r>
              <a:rPr lang="zh-TW" altLang="en-US" dirty="0" smtClean="0"/>
              <a:t>有</a:t>
            </a:r>
            <a:r>
              <a:rPr lang="zh-TW" altLang="en-US" dirty="0"/>
              <a:t>一個</a:t>
            </a:r>
            <a:r>
              <a:rPr lang="en-US" altLang="zh-TW" dirty="0" err="1"/>
              <a:t>perihilar</a:t>
            </a:r>
            <a:r>
              <a:rPr lang="en-US" altLang="zh-TW" dirty="0"/>
              <a:t> biliary cancer</a:t>
            </a:r>
            <a:r>
              <a:rPr lang="zh-TW" altLang="en-US" dirty="0"/>
              <a:t>術後</a:t>
            </a:r>
            <a:r>
              <a:rPr lang="en-US" altLang="zh-TW" dirty="0"/>
              <a:t>surgical margin(+) &amp; N(+)</a:t>
            </a:r>
            <a:r>
              <a:rPr lang="zh-TW" altLang="en-US" dirty="0"/>
              <a:t>，你會給他什麼建議</a:t>
            </a:r>
            <a:r>
              <a:rPr lang="en-US" altLang="zh-TW" dirty="0"/>
              <a:t>?</a:t>
            </a:r>
            <a:r>
              <a:rPr lang="zh-TW" altLang="en-US" dirty="0"/>
              <a:t>要做放射治療你要怎麼計畫</a:t>
            </a:r>
            <a:r>
              <a:rPr lang="en-US" altLang="zh-TW" dirty="0"/>
              <a:t>(</a:t>
            </a:r>
            <a:r>
              <a:rPr lang="zh-TW" altLang="en-US" dirty="0"/>
              <a:t>劑量及範圍</a:t>
            </a:r>
            <a:r>
              <a:rPr lang="en-US" altLang="zh-TW" dirty="0"/>
              <a:t>)? </a:t>
            </a:r>
            <a:endParaRPr lang="en-US" altLang="zh-TW" dirty="0" smtClean="0"/>
          </a:p>
          <a:p>
            <a:pPr lvl="2"/>
            <a:r>
              <a:rPr lang="en-US" altLang="zh-TW" sz="3500" dirty="0" smtClean="0"/>
              <a:t>Post operative </a:t>
            </a:r>
            <a:r>
              <a:rPr lang="en-US" altLang="zh-TW" sz="3500" dirty="0"/>
              <a:t>R1 or R2 or LN </a:t>
            </a:r>
            <a:r>
              <a:rPr lang="en-US" altLang="zh-TW" sz="3500" dirty="0" smtClean="0"/>
              <a:t>(+)</a:t>
            </a:r>
            <a:r>
              <a:rPr lang="en-US" altLang="zh-TW" sz="3500" dirty="0"/>
              <a:t> </a:t>
            </a:r>
            <a:r>
              <a:rPr lang="en-US" altLang="zh-TW" sz="3500" dirty="0" smtClean="0"/>
              <a:t>-&gt; CCRT </a:t>
            </a:r>
            <a:r>
              <a:rPr lang="en-US" altLang="zh-TW" sz="3500" dirty="0"/>
              <a:t>(5-FU</a:t>
            </a:r>
            <a:r>
              <a:rPr lang="en-US" altLang="zh-TW" sz="3500" dirty="0" smtClean="0"/>
              <a:t>)</a:t>
            </a:r>
          </a:p>
          <a:p>
            <a:pPr lvl="2"/>
            <a:r>
              <a:rPr lang="en-US" altLang="zh-TW" sz="3500" dirty="0" smtClean="0"/>
              <a:t>Draining </a:t>
            </a:r>
            <a:r>
              <a:rPr lang="en-US" altLang="zh-TW" sz="3500" dirty="0"/>
              <a:t>regional LNs along the bile duct and potential lymphatic drainage (</a:t>
            </a:r>
            <a:r>
              <a:rPr lang="en-US" altLang="zh-TW" sz="3500" dirty="0" err="1"/>
              <a:t>porta</a:t>
            </a:r>
            <a:r>
              <a:rPr lang="en-US" altLang="zh-TW" sz="3500" dirty="0"/>
              <a:t> </a:t>
            </a:r>
            <a:r>
              <a:rPr lang="en-US" altLang="zh-TW" sz="3500" dirty="0" err="1"/>
              <a:t>hepatis</a:t>
            </a:r>
            <a:r>
              <a:rPr lang="en-US" altLang="zh-TW" sz="3500" dirty="0"/>
              <a:t>, </a:t>
            </a:r>
            <a:r>
              <a:rPr lang="en-US" altLang="zh-TW" sz="3500" dirty="0" err="1"/>
              <a:t>pancreaticoduodenal</a:t>
            </a:r>
            <a:r>
              <a:rPr lang="en-US" altLang="zh-TW" sz="3500" dirty="0"/>
              <a:t>, celiac axis </a:t>
            </a:r>
            <a:r>
              <a:rPr lang="en-US" altLang="zh-TW" sz="3500" dirty="0" smtClean="0"/>
              <a:t>to </a:t>
            </a:r>
            <a:r>
              <a:rPr lang="en-US" altLang="zh-TW" sz="3500" dirty="0"/>
              <a:t>45 </a:t>
            </a:r>
            <a:r>
              <a:rPr lang="en-US" altLang="zh-TW" sz="3500" dirty="0" err="1" smtClean="0"/>
              <a:t>Gy</a:t>
            </a:r>
            <a:endParaRPr lang="en-US" altLang="zh-TW" sz="3500" dirty="0" smtClean="0"/>
          </a:p>
          <a:p>
            <a:pPr lvl="2"/>
            <a:r>
              <a:rPr lang="en-US" altLang="zh-TW" sz="3500" dirty="0" smtClean="0"/>
              <a:t>Boost </a:t>
            </a:r>
            <a:r>
              <a:rPr lang="en-US" altLang="zh-TW" sz="3500" dirty="0"/>
              <a:t>50-60 </a:t>
            </a:r>
            <a:r>
              <a:rPr lang="en-US" altLang="zh-TW" sz="3500" dirty="0" err="1"/>
              <a:t>Gy</a:t>
            </a:r>
            <a:r>
              <a:rPr lang="en-US" altLang="zh-TW" sz="3500" dirty="0"/>
              <a:t> to tumor bed depending on margin</a:t>
            </a:r>
          </a:p>
          <a:p>
            <a:endParaRPr lang="en-US" altLang="zh-TW" dirty="0"/>
          </a:p>
        </p:txBody>
      </p:sp>
      <p:pic>
        <p:nvPicPr>
          <p:cNvPr id="4" name="圖片 3">
            <a:extLst>
              <a:ext uri="{FF2B5EF4-FFF2-40B4-BE49-F238E27FC236}">
                <a16:creationId xmlns:a16="http://schemas.microsoft.com/office/drawing/2014/main" id="{014BE628-1C47-4C09-80DC-2AF1D68DB217}"/>
              </a:ext>
            </a:extLst>
          </p:cNvPr>
          <p:cNvPicPr>
            <a:picLocks noChangeAspect="1"/>
          </p:cNvPicPr>
          <p:nvPr/>
        </p:nvPicPr>
        <p:blipFill rotWithShape="1">
          <a:blip r:embed="rId2"/>
          <a:srcRect l="2627" t="62955" r="50850" b="19004"/>
          <a:stretch/>
        </p:blipFill>
        <p:spPr>
          <a:xfrm>
            <a:off x="7400041" y="2950588"/>
            <a:ext cx="4128941" cy="1237267"/>
          </a:xfrm>
          <a:prstGeom prst="rect">
            <a:avLst/>
          </a:prstGeom>
        </p:spPr>
      </p:pic>
    </p:spTree>
    <p:extLst>
      <p:ext uri="{BB962C8B-B14F-4D97-AF65-F5344CB8AC3E}">
        <p14:creationId xmlns:p14="http://schemas.microsoft.com/office/powerpoint/2010/main" val="1273467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2014 </a:t>
            </a:r>
            <a:r>
              <a:rPr lang="zh-TW" altLang="en-US" dirty="0" smtClean="0"/>
              <a:t>劉文山</a:t>
            </a:r>
            <a:endParaRPr lang="zh-TW" altLang="en-US" dirty="0"/>
          </a:p>
        </p:txBody>
      </p:sp>
      <p:sp>
        <p:nvSpPr>
          <p:cNvPr id="3" name="內容版面配置區 2"/>
          <p:cNvSpPr>
            <a:spLocks noGrp="1"/>
          </p:cNvSpPr>
          <p:nvPr>
            <p:ph idx="1"/>
          </p:nvPr>
        </p:nvSpPr>
        <p:spPr>
          <a:xfrm>
            <a:off x="609600" y="1600201"/>
            <a:ext cx="10972800" cy="5083403"/>
          </a:xfrm>
        </p:spPr>
        <p:txBody>
          <a:bodyPr>
            <a:normAutofit fontScale="47500" lnSpcReduction="20000"/>
          </a:bodyPr>
          <a:lstStyle/>
          <a:p>
            <a:r>
              <a:rPr lang="en-US" altLang="zh-TW" dirty="0" smtClean="0"/>
              <a:t>Esophagus</a:t>
            </a:r>
          </a:p>
          <a:p>
            <a:pPr lvl="1"/>
            <a:r>
              <a:rPr lang="en-US" altLang="zh-TW" dirty="0" smtClean="0"/>
              <a:t>Esophageal </a:t>
            </a:r>
            <a:r>
              <a:rPr lang="en-US" altLang="zh-TW" dirty="0"/>
              <a:t>CA </a:t>
            </a:r>
            <a:r>
              <a:rPr lang="en-US" altLang="zh-TW" dirty="0" err="1"/>
              <a:t>preOP</a:t>
            </a:r>
            <a:r>
              <a:rPr lang="en-US" altLang="zh-TW" dirty="0"/>
              <a:t> CCRT</a:t>
            </a:r>
            <a:r>
              <a:rPr lang="zh-TW" altLang="zh-TW" dirty="0"/>
              <a:t>的</a:t>
            </a:r>
            <a:r>
              <a:rPr lang="en-US" altLang="zh-TW" dirty="0"/>
              <a:t> indication? evidence</a:t>
            </a:r>
            <a:r>
              <a:rPr lang="zh-TW" altLang="zh-TW" dirty="0"/>
              <a:t>有哪些</a:t>
            </a:r>
            <a:r>
              <a:rPr lang="en-US" altLang="zh-TW" dirty="0"/>
              <a:t>trial? </a:t>
            </a:r>
            <a:r>
              <a:rPr lang="en-US" altLang="zh-TW" dirty="0" smtClean="0"/>
              <a:t>(</a:t>
            </a:r>
            <a:r>
              <a:rPr lang="zh-TW" altLang="en-US" dirty="0" smtClean="0"/>
              <a:t>請參考前面</a:t>
            </a:r>
            <a:r>
              <a:rPr lang="en-US" altLang="zh-TW" dirty="0" smtClean="0"/>
              <a:t>)</a:t>
            </a:r>
          </a:p>
          <a:p>
            <a:pPr lvl="1"/>
            <a:r>
              <a:rPr lang="en-US" altLang="zh-TW" dirty="0" err="1" smtClean="0"/>
              <a:t>SqCC</a:t>
            </a:r>
            <a:r>
              <a:rPr lang="zh-TW" altLang="zh-TW" dirty="0"/>
              <a:t>和</a:t>
            </a:r>
            <a:r>
              <a:rPr lang="en-US" altLang="zh-TW" dirty="0" err="1"/>
              <a:t>adenoCA</a:t>
            </a:r>
            <a:r>
              <a:rPr lang="zh-TW" altLang="zh-TW" dirty="0"/>
              <a:t>的</a:t>
            </a:r>
            <a:r>
              <a:rPr lang="en-US" altLang="zh-TW" dirty="0"/>
              <a:t>management</a:t>
            </a:r>
            <a:r>
              <a:rPr lang="zh-TW" altLang="zh-TW" dirty="0"/>
              <a:t>有何不同</a:t>
            </a:r>
            <a:r>
              <a:rPr lang="en-US" altLang="zh-TW" dirty="0" smtClean="0"/>
              <a:t>?</a:t>
            </a:r>
          </a:p>
          <a:p>
            <a:pPr lvl="2"/>
            <a:r>
              <a:rPr lang="en-US" altLang="zh-TW" dirty="0" smtClean="0"/>
              <a:t>AJCC 8</a:t>
            </a:r>
            <a:r>
              <a:rPr lang="en-US" altLang="zh-TW" baseline="30000" dirty="0" smtClean="0"/>
              <a:t>th</a:t>
            </a:r>
            <a:r>
              <a:rPr lang="en-US" altLang="zh-TW" dirty="0" smtClean="0"/>
              <a:t>  staging </a:t>
            </a:r>
            <a:r>
              <a:rPr lang="zh-TW" altLang="en-US" dirty="0" smtClean="0"/>
              <a:t>不同了</a:t>
            </a:r>
            <a:r>
              <a:rPr lang="en-US" altLang="zh-TW" dirty="0" smtClean="0"/>
              <a:t>QQ, </a:t>
            </a:r>
            <a:r>
              <a:rPr lang="en-US" altLang="zh-TW" dirty="0"/>
              <a:t>SCC</a:t>
            </a:r>
            <a:r>
              <a:rPr lang="zh-TW" altLang="zh-TW" dirty="0"/>
              <a:t>的</a:t>
            </a:r>
            <a:r>
              <a:rPr lang="en-US" altLang="zh-TW" dirty="0"/>
              <a:t>stage group</a:t>
            </a:r>
            <a:r>
              <a:rPr lang="zh-TW" altLang="zh-TW" dirty="0"/>
              <a:t>除了</a:t>
            </a:r>
            <a:r>
              <a:rPr lang="en-US" altLang="zh-TW" dirty="0"/>
              <a:t>TNM</a:t>
            </a:r>
            <a:r>
              <a:rPr lang="zh-TW" altLang="zh-TW" dirty="0"/>
              <a:t>還要看</a:t>
            </a:r>
            <a:r>
              <a:rPr lang="en-US" altLang="zh-TW" dirty="0"/>
              <a:t>location</a:t>
            </a:r>
            <a:r>
              <a:rPr lang="zh-TW" altLang="zh-TW" dirty="0"/>
              <a:t>和</a:t>
            </a:r>
            <a:r>
              <a:rPr lang="en-US" altLang="zh-TW" dirty="0"/>
              <a:t>grade; </a:t>
            </a:r>
            <a:r>
              <a:rPr lang="en-US" altLang="zh-TW" dirty="0" err="1"/>
              <a:t>adeno</a:t>
            </a:r>
            <a:r>
              <a:rPr lang="zh-TW" altLang="zh-TW" dirty="0"/>
              <a:t>除了</a:t>
            </a:r>
            <a:r>
              <a:rPr lang="en-US" altLang="zh-TW" dirty="0"/>
              <a:t>TNM</a:t>
            </a:r>
            <a:r>
              <a:rPr lang="zh-TW" altLang="zh-TW" dirty="0"/>
              <a:t>要看</a:t>
            </a:r>
            <a:r>
              <a:rPr lang="en-US" altLang="zh-TW" dirty="0"/>
              <a:t>grade</a:t>
            </a:r>
            <a:r>
              <a:rPr lang="zh-TW" altLang="zh-TW" dirty="0"/>
              <a:t>但不看</a:t>
            </a:r>
            <a:r>
              <a:rPr lang="en-US" altLang="zh-TW" dirty="0"/>
              <a:t>location</a:t>
            </a:r>
            <a:r>
              <a:rPr lang="en-US" altLang="zh-TW" dirty="0" smtClean="0"/>
              <a:t> </a:t>
            </a:r>
          </a:p>
          <a:p>
            <a:pPr lvl="2"/>
            <a:r>
              <a:rPr lang="en-US" altLang="zh-TW" dirty="0" err="1" smtClean="0"/>
              <a:t>Adeno</a:t>
            </a:r>
            <a:r>
              <a:rPr lang="zh-TW" altLang="zh-TW" dirty="0"/>
              <a:t>除了</a:t>
            </a:r>
            <a:r>
              <a:rPr lang="en-US" altLang="zh-TW" dirty="0" err="1"/>
              <a:t>neoadjuvant</a:t>
            </a:r>
            <a:r>
              <a:rPr lang="en-US" altLang="zh-TW" dirty="0"/>
              <a:t> CCRT</a:t>
            </a:r>
            <a:r>
              <a:rPr lang="zh-TW" altLang="zh-TW" dirty="0"/>
              <a:t>也可以用</a:t>
            </a:r>
            <a:r>
              <a:rPr lang="en-US" altLang="zh-TW" dirty="0" err="1"/>
              <a:t>peri</a:t>
            </a:r>
            <a:r>
              <a:rPr lang="en-US" altLang="zh-TW" dirty="0"/>
              <a:t>-OP chemo; SCC</a:t>
            </a:r>
            <a:r>
              <a:rPr lang="zh-TW" altLang="zh-TW" dirty="0"/>
              <a:t>直接開刀，只有</a:t>
            </a:r>
            <a:r>
              <a:rPr lang="en-US" altLang="zh-TW" dirty="0"/>
              <a:t>R1 or R2</a:t>
            </a:r>
            <a:r>
              <a:rPr lang="zh-TW" altLang="zh-TW" dirty="0"/>
              <a:t>需要</a:t>
            </a:r>
            <a:r>
              <a:rPr lang="en-US" altLang="zh-TW" dirty="0"/>
              <a:t>adjuvant CCRT</a:t>
            </a:r>
            <a:r>
              <a:rPr lang="zh-TW" altLang="zh-TW" dirty="0"/>
              <a:t>；</a:t>
            </a:r>
            <a:r>
              <a:rPr lang="en-US" altLang="zh-TW" dirty="0" err="1"/>
              <a:t>adeno</a:t>
            </a:r>
            <a:r>
              <a:rPr lang="zh-TW" altLang="zh-TW" dirty="0"/>
              <a:t>直接開刀，除了</a:t>
            </a:r>
            <a:r>
              <a:rPr lang="en-US" altLang="zh-TW" dirty="0"/>
              <a:t>R1 or R2</a:t>
            </a:r>
            <a:r>
              <a:rPr lang="zh-TW" altLang="zh-TW" dirty="0"/>
              <a:t>，</a:t>
            </a:r>
            <a:r>
              <a:rPr lang="en-US" altLang="zh-TW" dirty="0"/>
              <a:t>T3+ or N1</a:t>
            </a:r>
            <a:r>
              <a:rPr lang="zh-TW" altLang="zh-TW" dirty="0"/>
              <a:t>也需要</a:t>
            </a:r>
            <a:r>
              <a:rPr lang="en-US" altLang="zh-TW" dirty="0"/>
              <a:t>adjuvant CCRT</a:t>
            </a:r>
            <a:endParaRPr lang="en-US" altLang="zh-TW" dirty="0" smtClean="0"/>
          </a:p>
          <a:p>
            <a:r>
              <a:rPr lang="en-US" altLang="zh-TW" dirty="0" smtClean="0"/>
              <a:t>Colon-rectum</a:t>
            </a:r>
          </a:p>
          <a:p>
            <a:pPr lvl="1"/>
            <a:r>
              <a:rPr lang="en-US" altLang="zh-TW" dirty="0"/>
              <a:t>Colon rectum cancer,</a:t>
            </a:r>
            <a:r>
              <a:rPr lang="zh-TW" altLang="zh-TW" dirty="0"/>
              <a:t>台灣一年有幾個</a:t>
            </a:r>
            <a:r>
              <a:rPr lang="en-US" altLang="zh-TW" dirty="0"/>
              <a:t>? </a:t>
            </a:r>
            <a:endParaRPr lang="en-US" altLang="zh-TW" dirty="0" smtClean="0"/>
          </a:p>
          <a:p>
            <a:pPr lvl="2"/>
            <a:r>
              <a:rPr lang="en-US" altLang="zh-TW" dirty="0" smtClean="0"/>
              <a:t>(</a:t>
            </a:r>
            <a:r>
              <a:rPr lang="en-US" altLang="zh-TW" dirty="0" err="1"/>
              <a:t>colo</a:t>
            </a:r>
            <a:r>
              <a:rPr lang="en-US" altLang="zh-TW" dirty="0"/>
              <a:t>-rectal): </a:t>
            </a:r>
            <a:r>
              <a:rPr lang="zh-TW" altLang="zh-TW" dirty="0"/>
              <a:t>發生率男</a:t>
            </a:r>
            <a:r>
              <a:rPr lang="en-US" altLang="zh-TW" dirty="0"/>
              <a:t>1</a:t>
            </a:r>
            <a:r>
              <a:rPr lang="zh-TW" altLang="zh-TW" dirty="0"/>
              <a:t>女</a:t>
            </a:r>
            <a:r>
              <a:rPr lang="en-US" altLang="zh-TW" dirty="0"/>
              <a:t>2, </a:t>
            </a:r>
            <a:r>
              <a:rPr lang="zh-TW" altLang="zh-TW" dirty="0"/>
              <a:t>死亡男</a:t>
            </a:r>
            <a:r>
              <a:rPr lang="en-US" altLang="zh-TW" dirty="0"/>
              <a:t>3</a:t>
            </a:r>
            <a:r>
              <a:rPr lang="zh-TW" altLang="zh-TW" dirty="0"/>
              <a:t>女</a:t>
            </a:r>
            <a:r>
              <a:rPr lang="en-US" altLang="zh-TW" dirty="0" smtClean="0"/>
              <a:t>3; </a:t>
            </a:r>
          </a:p>
          <a:p>
            <a:pPr lvl="2"/>
            <a:r>
              <a:rPr lang="en-US" altLang="zh-TW" dirty="0" smtClean="0"/>
              <a:t>(</a:t>
            </a:r>
            <a:r>
              <a:rPr lang="en-US" altLang="zh-TW" dirty="0"/>
              <a:t>colon): 9800 (5400 M, 4400 F), </a:t>
            </a:r>
            <a:r>
              <a:rPr lang="en-US" altLang="zh-TW" dirty="0" smtClean="0"/>
              <a:t>4000 </a:t>
            </a:r>
            <a:r>
              <a:rPr lang="en-US" altLang="zh-TW" dirty="0"/>
              <a:t>death (2200 M, 1800 F), </a:t>
            </a:r>
            <a:r>
              <a:rPr lang="en-US" altLang="zh-TW" dirty="0" err="1"/>
              <a:t>adeno</a:t>
            </a:r>
            <a:r>
              <a:rPr lang="en-US" altLang="zh-TW" dirty="0"/>
              <a:t> 95</a:t>
            </a:r>
            <a:r>
              <a:rPr lang="en-US" altLang="zh-TW" dirty="0" smtClean="0"/>
              <a:t>%</a:t>
            </a:r>
          </a:p>
          <a:p>
            <a:pPr lvl="2"/>
            <a:r>
              <a:rPr lang="en-US" altLang="zh-TW" dirty="0"/>
              <a:t>(rectum &amp; sigmoid &amp; anus): 5800 (3600 M, 2200 F), </a:t>
            </a:r>
            <a:r>
              <a:rPr lang="en-US" altLang="zh-TW" dirty="0" smtClean="0"/>
              <a:t>1600 </a:t>
            </a:r>
            <a:r>
              <a:rPr lang="en-US" altLang="zh-TW" dirty="0"/>
              <a:t>death (1000 M, 600 F), </a:t>
            </a:r>
            <a:r>
              <a:rPr lang="en-US" altLang="zh-TW" dirty="0" err="1"/>
              <a:t>adeno</a:t>
            </a:r>
            <a:r>
              <a:rPr lang="en-US" altLang="zh-TW" dirty="0"/>
              <a:t> 90%</a:t>
            </a:r>
            <a:endParaRPr lang="zh-TW" altLang="zh-TW" dirty="0"/>
          </a:p>
          <a:p>
            <a:pPr lvl="1"/>
            <a:r>
              <a:rPr lang="en-US" altLang="zh-TW" dirty="0"/>
              <a:t>Rectal cancer </a:t>
            </a:r>
            <a:r>
              <a:rPr lang="en-US" altLang="zh-TW" dirty="0" err="1"/>
              <a:t>preOP</a:t>
            </a:r>
            <a:r>
              <a:rPr lang="en-US" altLang="zh-TW" dirty="0"/>
              <a:t> CCRT</a:t>
            </a:r>
            <a:r>
              <a:rPr lang="zh-TW" altLang="zh-TW" dirty="0"/>
              <a:t>的</a:t>
            </a:r>
            <a:r>
              <a:rPr lang="en-US" altLang="zh-TW" dirty="0"/>
              <a:t>indication? </a:t>
            </a:r>
            <a:r>
              <a:rPr lang="en-US" altLang="zh-TW" dirty="0" err="1"/>
              <a:t>preOP</a:t>
            </a:r>
            <a:r>
              <a:rPr lang="en-US" altLang="zh-TW" dirty="0"/>
              <a:t> short course or long course RT</a:t>
            </a:r>
            <a:r>
              <a:rPr lang="zh-TW" altLang="zh-TW" dirty="0"/>
              <a:t>有何差別</a:t>
            </a:r>
            <a:r>
              <a:rPr lang="en-US" altLang="zh-TW" dirty="0" smtClean="0"/>
              <a:t>? </a:t>
            </a:r>
          </a:p>
          <a:p>
            <a:pPr lvl="2"/>
            <a:r>
              <a:rPr lang="en-US" altLang="zh-TW" dirty="0" err="1"/>
              <a:t>Neoadjuvant</a:t>
            </a:r>
            <a:r>
              <a:rPr lang="en-US" altLang="zh-TW" dirty="0"/>
              <a:t> CCRT indication: T3 or N</a:t>
            </a:r>
            <a:r>
              <a:rPr lang="en-US" altLang="zh-TW" dirty="0" smtClean="0"/>
              <a:t>+, </a:t>
            </a:r>
          </a:p>
          <a:p>
            <a:pPr lvl="2"/>
            <a:r>
              <a:rPr lang="en-US" altLang="zh-TW" dirty="0"/>
              <a:t>Pre-OP short course RT vs. Pre-OP </a:t>
            </a:r>
            <a:r>
              <a:rPr lang="en-US" altLang="zh-TW" dirty="0" smtClean="0"/>
              <a:t>CCRT</a:t>
            </a:r>
          </a:p>
          <a:p>
            <a:pPr lvl="3"/>
            <a:r>
              <a:rPr lang="en-US" altLang="zh-TW" dirty="0"/>
              <a:t>Polish: LR</a:t>
            </a:r>
            <a:r>
              <a:rPr lang="zh-TW" altLang="zh-TW" dirty="0"/>
              <a:t>和</a:t>
            </a:r>
            <a:r>
              <a:rPr lang="en-US" altLang="zh-TW" dirty="0"/>
              <a:t>OS</a:t>
            </a:r>
            <a:r>
              <a:rPr lang="zh-TW" altLang="zh-TW" dirty="0"/>
              <a:t>和</a:t>
            </a:r>
            <a:r>
              <a:rPr lang="en-US" altLang="zh-TW" dirty="0"/>
              <a:t>sphincter preservation</a:t>
            </a:r>
            <a:r>
              <a:rPr lang="zh-TW" altLang="zh-TW" dirty="0"/>
              <a:t>和</a:t>
            </a:r>
            <a:r>
              <a:rPr lang="en-US" altLang="zh-TW" dirty="0"/>
              <a:t>late toxicity</a:t>
            </a:r>
            <a:r>
              <a:rPr lang="zh-TW" altLang="zh-TW" dirty="0"/>
              <a:t>都沒差</a:t>
            </a:r>
            <a:r>
              <a:rPr lang="en-US" altLang="zh-TW" dirty="0"/>
              <a:t>, </a:t>
            </a:r>
            <a:r>
              <a:rPr lang="zh-TW" altLang="zh-TW" dirty="0"/>
              <a:t>增加</a:t>
            </a:r>
            <a:r>
              <a:rPr lang="en-US" altLang="zh-TW" dirty="0" err="1"/>
              <a:t>pCR</a:t>
            </a:r>
            <a:r>
              <a:rPr lang="en-US" altLang="zh-TW" dirty="0"/>
              <a:t> rate (1 vs. 16%)</a:t>
            </a:r>
            <a:r>
              <a:rPr lang="zh-TW" altLang="zh-TW" dirty="0" smtClean="0"/>
              <a:t>，減少</a:t>
            </a:r>
            <a:r>
              <a:rPr lang="en-US" altLang="zh-TW" dirty="0"/>
              <a:t>radial margin (+)</a:t>
            </a:r>
            <a:r>
              <a:rPr lang="zh-TW" altLang="zh-TW" dirty="0"/>
              <a:t>的機率</a:t>
            </a:r>
            <a:r>
              <a:rPr lang="en-US" altLang="zh-TW" dirty="0"/>
              <a:t>(13 vs. 4%)</a:t>
            </a:r>
            <a:endParaRPr lang="zh-TW" altLang="zh-TW" dirty="0"/>
          </a:p>
          <a:p>
            <a:pPr lvl="2"/>
            <a:r>
              <a:rPr lang="en-US" altLang="zh-TW" dirty="0"/>
              <a:t>Australian: LR</a:t>
            </a:r>
            <a:r>
              <a:rPr lang="zh-TW" altLang="zh-TW" dirty="0"/>
              <a:t>和</a:t>
            </a:r>
            <a:r>
              <a:rPr lang="en-US" altLang="zh-TW" dirty="0"/>
              <a:t>OS</a:t>
            </a:r>
            <a:r>
              <a:rPr lang="zh-TW" altLang="zh-TW" dirty="0"/>
              <a:t>和</a:t>
            </a:r>
            <a:r>
              <a:rPr lang="en-US" altLang="zh-TW" dirty="0"/>
              <a:t>sphincter preservation</a:t>
            </a:r>
            <a:r>
              <a:rPr lang="zh-TW" altLang="zh-TW" dirty="0"/>
              <a:t>和</a:t>
            </a:r>
            <a:r>
              <a:rPr lang="en-US" altLang="zh-TW" dirty="0"/>
              <a:t>late toxicity</a:t>
            </a:r>
            <a:r>
              <a:rPr lang="zh-TW" altLang="zh-TW" dirty="0"/>
              <a:t>都沒差</a:t>
            </a:r>
          </a:p>
          <a:p>
            <a:pPr lvl="1"/>
            <a:r>
              <a:rPr lang="en-US" altLang="zh-TW" dirty="0"/>
              <a:t>Rectal cancer</a:t>
            </a:r>
            <a:r>
              <a:rPr lang="zh-TW" altLang="zh-TW" dirty="0"/>
              <a:t>依據各期別如何做治療</a:t>
            </a:r>
            <a:r>
              <a:rPr lang="en-US" altLang="zh-TW" dirty="0" smtClean="0"/>
              <a:t>?</a:t>
            </a:r>
          </a:p>
          <a:p>
            <a:pPr lvl="2"/>
            <a:r>
              <a:rPr lang="en-US" altLang="zh-TW" dirty="0" smtClean="0"/>
              <a:t>T1-2N0, operation</a:t>
            </a:r>
          </a:p>
          <a:p>
            <a:pPr lvl="2"/>
            <a:r>
              <a:rPr lang="en-US" altLang="zh-TW" dirty="0" smtClean="0"/>
              <a:t>T3+ or N+, </a:t>
            </a:r>
            <a:r>
              <a:rPr lang="en-US" altLang="zh-TW" dirty="0"/>
              <a:t>CCRT (5-FU or </a:t>
            </a:r>
            <a:r>
              <a:rPr lang="en-US" altLang="zh-TW" dirty="0" err="1"/>
              <a:t>Xeloda</a:t>
            </a:r>
            <a:r>
              <a:rPr lang="en-US" altLang="zh-TW" dirty="0"/>
              <a:t>)</a:t>
            </a:r>
            <a:r>
              <a:rPr lang="zh-TW" altLang="zh-TW" dirty="0"/>
              <a:t>→</a:t>
            </a:r>
            <a:r>
              <a:rPr lang="en-US" altLang="zh-TW" dirty="0"/>
              <a:t>OP</a:t>
            </a:r>
            <a:r>
              <a:rPr lang="zh-TW" altLang="zh-TW" dirty="0"/>
              <a:t>→</a:t>
            </a:r>
            <a:r>
              <a:rPr lang="en-US" altLang="zh-TW" dirty="0"/>
              <a:t>CT (FOLFOX or CAPEOX) or CT</a:t>
            </a:r>
            <a:r>
              <a:rPr lang="zh-TW" altLang="zh-TW" dirty="0"/>
              <a:t>→</a:t>
            </a:r>
            <a:r>
              <a:rPr lang="en-US" altLang="zh-TW" dirty="0"/>
              <a:t>CCRT</a:t>
            </a:r>
            <a:r>
              <a:rPr lang="zh-TW" altLang="zh-TW" dirty="0"/>
              <a:t>→</a:t>
            </a:r>
            <a:r>
              <a:rPr lang="en-US" altLang="zh-TW" dirty="0"/>
              <a:t>OP or RT (short course, </a:t>
            </a:r>
            <a:r>
              <a:rPr lang="zh-TW" altLang="zh-TW" dirty="0"/>
              <a:t>只能用在</a:t>
            </a:r>
            <a:r>
              <a:rPr lang="en-US" altLang="zh-TW" dirty="0"/>
              <a:t>T3 with clear CRM)</a:t>
            </a:r>
            <a:r>
              <a:rPr lang="zh-TW" altLang="zh-TW" dirty="0"/>
              <a:t>→</a:t>
            </a:r>
            <a:r>
              <a:rPr lang="en-US" altLang="zh-TW" dirty="0" smtClean="0"/>
              <a:t>OP</a:t>
            </a:r>
            <a:endParaRPr lang="zh-TW" altLang="zh-TW" dirty="0"/>
          </a:p>
          <a:p>
            <a:r>
              <a:rPr lang="en-US" altLang="zh-TW" dirty="0" smtClean="0"/>
              <a:t>Anal </a:t>
            </a:r>
            <a:r>
              <a:rPr lang="en-US" altLang="zh-TW" dirty="0"/>
              <a:t>cancer</a:t>
            </a:r>
            <a:r>
              <a:rPr lang="zh-TW" altLang="zh-TW" dirty="0"/>
              <a:t>怎麼治療</a:t>
            </a:r>
            <a:r>
              <a:rPr lang="en-US" altLang="zh-TW" dirty="0"/>
              <a:t>? C/T regimen(</a:t>
            </a:r>
            <a:r>
              <a:rPr lang="zh-TW" altLang="zh-TW" dirty="0"/>
              <a:t>怎麼打</a:t>
            </a:r>
            <a:r>
              <a:rPr lang="en-US" altLang="zh-TW" dirty="0"/>
              <a:t>) ? R/T dose? </a:t>
            </a:r>
            <a:r>
              <a:rPr lang="zh-TW" altLang="zh-TW" dirty="0"/>
              <a:t>包覆範圍</a:t>
            </a:r>
            <a:r>
              <a:rPr lang="en-US" altLang="zh-TW" dirty="0"/>
              <a:t>?</a:t>
            </a:r>
            <a:r>
              <a:rPr lang="zh-TW" altLang="zh-TW" dirty="0"/>
              <a:t>有沒有甚麼藥可取代</a:t>
            </a:r>
            <a:r>
              <a:rPr lang="en-US" altLang="zh-TW" dirty="0"/>
              <a:t>MMC? RT</a:t>
            </a:r>
            <a:r>
              <a:rPr lang="zh-TW" altLang="zh-TW" dirty="0"/>
              <a:t>強度提高有無</a:t>
            </a:r>
            <a:r>
              <a:rPr lang="en-US" altLang="zh-TW" dirty="0"/>
              <a:t>benefit? </a:t>
            </a:r>
            <a:endParaRPr lang="en-US" altLang="zh-TW" dirty="0" smtClean="0"/>
          </a:p>
          <a:p>
            <a:pPr lvl="1"/>
            <a:r>
              <a:rPr lang="en-US" altLang="zh-TW" dirty="0"/>
              <a:t>CCRT (</a:t>
            </a:r>
            <a:r>
              <a:rPr lang="en-US" altLang="zh-TW" dirty="0" err="1"/>
              <a:t>infusional</a:t>
            </a:r>
            <a:r>
              <a:rPr lang="en-US" altLang="zh-TW" dirty="0"/>
              <a:t> 5-FU 1000 mg/m</a:t>
            </a:r>
            <a:r>
              <a:rPr lang="en-US" altLang="zh-TW" baseline="30000" dirty="0"/>
              <a:t>2</a:t>
            </a:r>
            <a:r>
              <a:rPr lang="en-US" altLang="zh-TW" dirty="0"/>
              <a:t>/d for 4 days + bolus MMC 10 mg/m</a:t>
            </a:r>
            <a:r>
              <a:rPr lang="en-US" altLang="zh-TW" baseline="30000" dirty="0"/>
              <a:t>2</a:t>
            </a:r>
            <a:r>
              <a:rPr lang="en-US" altLang="zh-TW" dirty="0"/>
              <a:t> every 4 weeks x 2 (5-FU</a:t>
            </a:r>
            <a:r>
              <a:rPr lang="zh-TW" altLang="zh-TW" dirty="0"/>
              <a:t>可用</a:t>
            </a:r>
            <a:r>
              <a:rPr lang="en-US" altLang="zh-TW" dirty="0" err="1"/>
              <a:t>Xeloda</a:t>
            </a:r>
            <a:r>
              <a:rPr lang="en-US" altLang="zh-TW" dirty="0"/>
              <a:t> 825 mg BID</a:t>
            </a:r>
            <a:r>
              <a:rPr lang="zh-TW" altLang="zh-TW" dirty="0"/>
              <a:t>取代</a:t>
            </a:r>
            <a:r>
              <a:rPr lang="en-US" altLang="zh-TW" dirty="0"/>
              <a:t>)</a:t>
            </a:r>
          </a:p>
          <a:p>
            <a:pPr lvl="1"/>
            <a:r>
              <a:rPr lang="en-US" altLang="zh-TW" dirty="0"/>
              <a:t>RT field and dose: </a:t>
            </a:r>
            <a:r>
              <a:rPr lang="en-US" altLang="zh-TW" dirty="0" err="1"/>
              <a:t>presacral</a:t>
            </a:r>
            <a:r>
              <a:rPr lang="en-US" altLang="zh-TW" dirty="0"/>
              <a:t>, external iliac, internal iliac, </a:t>
            </a:r>
            <a:r>
              <a:rPr lang="en-US" altLang="zh-TW" dirty="0" err="1"/>
              <a:t>mesorectum</a:t>
            </a:r>
            <a:r>
              <a:rPr lang="en-US" altLang="zh-TW" dirty="0"/>
              <a:t>, inguinal, primary tumor + 2.5 cm; 45 </a:t>
            </a:r>
            <a:r>
              <a:rPr lang="en-US" altLang="zh-TW" dirty="0" err="1"/>
              <a:t>Gy</a:t>
            </a:r>
            <a:r>
              <a:rPr lang="en-US" altLang="zh-TW" dirty="0"/>
              <a:t>, boost to primary tumor + 2.5 cm to 54-59 </a:t>
            </a:r>
            <a:r>
              <a:rPr lang="en-US" altLang="zh-TW" dirty="0" err="1"/>
              <a:t>Gy</a:t>
            </a:r>
            <a:r>
              <a:rPr lang="en-US" altLang="zh-TW" dirty="0"/>
              <a:t>, boost LN + 1 cm margin to 54 </a:t>
            </a:r>
            <a:r>
              <a:rPr lang="en-US" altLang="zh-TW" dirty="0" err="1" smtClean="0"/>
              <a:t>Gy</a:t>
            </a:r>
            <a:endParaRPr lang="en-US" altLang="zh-TW" dirty="0" smtClean="0"/>
          </a:p>
          <a:p>
            <a:pPr lvl="1"/>
            <a:r>
              <a:rPr lang="en-US" altLang="zh-TW" dirty="0" smtClean="0"/>
              <a:t>ACCORD 03: Induction PF*2 -&gt; CCRT (PF+45Gy+Boost 15Gy </a:t>
            </a:r>
            <a:r>
              <a:rPr lang="en-US" altLang="zh-TW" dirty="0" err="1" smtClean="0"/>
              <a:t>vs</a:t>
            </a:r>
            <a:r>
              <a:rPr lang="en-US" altLang="zh-TW" dirty="0" smtClean="0"/>
              <a:t> boost 20-25Gy) </a:t>
            </a:r>
            <a:r>
              <a:rPr lang="en-US" altLang="zh-TW" dirty="0" err="1" smtClean="0"/>
              <a:t>vs</a:t>
            </a:r>
            <a:r>
              <a:rPr lang="en-US" altLang="zh-TW" dirty="0" smtClean="0"/>
              <a:t> CCRT </a:t>
            </a:r>
            <a:r>
              <a:rPr lang="en-US" altLang="zh-TW" dirty="0"/>
              <a:t>only (PF+45Gy+Boost 15Gy </a:t>
            </a:r>
            <a:r>
              <a:rPr lang="en-US" altLang="zh-TW" dirty="0" err="1"/>
              <a:t>vs</a:t>
            </a:r>
            <a:r>
              <a:rPr lang="en-US" altLang="zh-TW" dirty="0"/>
              <a:t> boost 20-25Gy) </a:t>
            </a:r>
            <a:endParaRPr lang="en-US" altLang="zh-TW" dirty="0" smtClean="0"/>
          </a:p>
          <a:p>
            <a:pPr lvl="2"/>
            <a:r>
              <a:rPr lang="en-US" altLang="zh-TW" dirty="0" smtClean="0"/>
              <a:t>5YR CFS: induction or not, ns; CCRT high dose or not, ns -&gt; no benefit</a:t>
            </a:r>
          </a:p>
          <a:p>
            <a:pPr lvl="1"/>
            <a:endParaRPr lang="zh-TW" altLang="en-US" dirty="0"/>
          </a:p>
        </p:txBody>
      </p:sp>
    </p:spTree>
    <p:extLst>
      <p:ext uri="{BB962C8B-B14F-4D97-AF65-F5344CB8AC3E}">
        <p14:creationId xmlns:p14="http://schemas.microsoft.com/office/powerpoint/2010/main" val="38875628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2014</a:t>
            </a:r>
            <a:r>
              <a:rPr lang="zh-TW" altLang="en-US" dirty="0" smtClean="0"/>
              <a:t>丁禮莉</a:t>
            </a:r>
            <a:endParaRPr lang="zh-TW" altLang="en-US" dirty="0"/>
          </a:p>
        </p:txBody>
      </p:sp>
      <p:sp>
        <p:nvSpPr>
          <p:cNvPr id="3" name="內容版面配置區 2"/>
          <p:cNvSpPr>
            <a:spLocks noGrp="1"/>
          </p:cNvSpPr>
          <p:nvPr>
            <p:ph idx="1"/>
          </p:nvPr>
        </p:nvSpPr>
        <p:spPr/>
        <p:txBody>
          <a:bodyPr>
            <a:normAutofit fontScale="47500" lnSpcReduction="20000"/>
          </a:bodyPr>
          <a:lstStyle/>
          <a:p>
            <a:pPr lvl="0"/>
            <a:r>
              <a:rPr lang="en-US" altLang="zh-TW" dirty="0"/>
              <a:t>IORT</a:t>
            </a:r>
            <a:r>
              <a:rPr lang="zh-TW" altLang="zh-TW" dirty="0"/>
              <a:t>可用在肚子那些腫瘤</a:t>
            </a:r>
            <a:r>
              <a:rPr lang="en-US" altLang="zh-TW" dirty="0"/>
              <a:t>?(</a:t>
            </a:r>
            <a:r>
              <a:rPr lang="zh-TW" altLang="zh-TW" dirty="0"/>
              <a:t>我答大腸 胰臟</a:t>
            </a:r>
            <a:r>
              <a:rPr lang="en-US" altLang="zh-TW" dirty="0"/>
              <a:t>,</a:t>
            </a:r>
            <a:r>
              <a:rPr lang="zh-TW" altLang="zh-TW" dirty="0"/>
              <a:t>這題超冷門</a:t>
            </a:r>
            <a:r>
              <a:rPr lang="en-US" altLang="zh-TW" dirty="0"/>
              <a:t>,</a:t>
            </a:r>
            <a:r>
              <a:rPr lang="zh-TW" altLang="zh-TW" dirty="0"/>
              <a:t>應有其他的我答不出</a:t>
            </a:r>
            <a:r>
              <a:rPr lang="en-US" altLang="zh-TW" dirty="0"/>
              <a:t>&gt;&lt;,</a:t>
            </a:r>
            <a:r>
              <a:rPr lang="zh-TW" altLang="zh-TW" dirty="0"/>
              <a:t>這種大題目其實答得好後面就輕鬆了</a:t>
            </a:r>
            <a:r>
              <a:rPr lang="en-US" altLang="zh-TW" dirty="0"/>
              <a:t>),</a:t>
            </a:r>
            <a:r>
              <a:rPr lang="zh-TW" altLang="zh-TW" dirty="0"/>
              <a:t>他馬上自己說還有</a:t>
            </a:r>
            <a:r>
              <a:rPr lang="en-US" altLang="zh-TW" dirty="0" err="1"/>
              <a:t>retroperiteal</a:t>
            </a:r>
            <a:r>
              <a:rPr lang="en-US" altLang="zh-TW" dirty="0"/>
              <a:t> sarcoma(</a:t>
            </a:r>
            <a:r>
              <a:rPr lang="zh-TW" altLang="zh-TW" dirty="0"/>
              <a:t>我打蛇隨棍上說了一下去年</a:t>
            </a:r>
            <a:r>
              <a:rPr lang="en-US" altLang="zh-TW" dirty="0"/>
              <a:t>TASTRO MGH doc</a:t>
            </a:r>
            <a:r>
              <a:rPr lang="zh-TW" altLang="zh-TW" dirty="0"/>
              <a:t>它們</a:t>
            </a:r>
            <a:r>
              <a:rPr lang="en-US" altLang="zh-TW" dirty="0"/>
              <a:t>GTV 45Gy</a:t>
            </a:r>
            <a:r>
              <a:rPr lang="zh-TW" altLang="zh-TW" dirty="0"/>
              <a:t>之後</a:t>
            </a:r>
            <a:r>
              <a:rPr lang="en-US" altLang="zh-TW" dirty="0"/>
              <a:t>retroperitoneal</a:t>
            </a:r>
            <a:r>
              <a:rPr lang="zh-TW" altLang="zh-TW" dirty="0"/>
              <a:t>那側再</a:t>
            </a:r>
            <a:r>
              <a:rPr lang="en-US" altLang="zh-TW" dirty="0"/>
              <a:t>boost</a:t>
            </a:r>
            <a:r>
              <a:rPr lang="zh-TW" altLang="zh-TW" dirty="0"/>
              <a:t>的做法</a:t>
            </a:r>
            <a:r>
              <a:rPr lang="en-US" altLang="zh-TW" dirty="0"/>
              <a:t>,</a:t>
            </a:r>
            <a:r>
              <a:rPr lang="zh-TW" altLang="zh-TW" dirty="0"/>
              <a:t>而不使用</a:t>
            </a:r>
            <a:r>
              <a:rPr lang="en-US" altLang="zh-TW" dirty="0"/>
              <a:t>IORT,</a:t>
            </a:r>
            <a:r>
              <a:rPr lang="zh-TW" altLang="zh-TW" dirty="0"/>
              <a:t>這可能他可能沒想到</a:t>
            </a:r>
            <a:r>
              <a:rPr lang="en-US" altLang="zh-TW" dirty="0"/>
              <a:t>,</a:t>
            </a:r>
            <a:r>
              <a:rPr lang="zh-TW" altLang="zh-TW" dirty="0"/>
              <a:t>但看他表情應是有加到分</a:t>
            </a:r>
            <a:r>
              <a:rPr lang="en-US" altLang="zh-TW" dirty="0"/>
              <a:t> ^^)</a:t>
            </a:r>
            <a:endParaRPr lang="zh-TW" altLang="zh-TW" dirty="0"/>
          </a:p>
          <a:p>
            <a:pPr lvl="0"/>
            <a:r>
              <a:rPr lang="en-US" altLang="zh-TW" dirty="0" smtClean="0"/>
              <a:t>Gastric </a:t>
            </a:r>
          </a:p>
          <a:p>
            <a:pPr lvl="1"/>
            <a:r>
              <a:rPr lang="en-US" altLang="zh-TW" dirty="0" smtClean="0"/>
              <a:t>Gastric </a:t>
            </a:r>
            <a:r>
              <a:rPr lang="en-US" altLang="zh-TW" dirty="0"/>
              <a:t>ca. D1, D2</a:t>
            </a:r>
            <a:r>
              <a:rPr lang="zh-TW" altLang="zh-TW" dirty="0"/>
              <a:t>是只開那些</a:t>
            </a:r>
            <a:r>
              <a:rPr lang="en-US" altLang="zh-TW" dirty="0" smtClean="0"/>
              <a:t>? (</a:t>
            </a:r>
            <a:r>
              <a:rPr lang="zh-TW" altLang="en-US" dirty="0" smtClean="0"/>
              <a:t>請參考前面</a:t>
            </a:r>
            <a:r>
              <a:rPr lang="en-US" altLang="zh-TW" dirty="0" smtClean="0"/>
              <a:t>)</a:t>
            </a:r>
            <a:endParaRPr lang="zh-TW" altLang="zh-TW" dirty="0"/>
          </a:p>
          <a:p>
            <a:pPr lvl="1"/>
            <a:r>
              <a:rPr lang="en-US" altLang="zh-TW" dirty="0"/>
              <a:t>Gastric ca. B2, B3</a:t>
            </a:r>
            <a:r>
              <a:rPr lang="zh-TW" altLang="zh-TW" dirty="0"/>
              <a:t>切那些</a:t>
            </a:r>
            <a:r>
              <a:rPr lang="en-US" altLang="zh-TW" dirty="0"/>
              <a:t>?(</a:t>
            </a:r>
            <a:r>
              <a:rPr lang="zh-TW" altLang="zh-TW" dirty="0"/>
              <a:t>我不會</a:t>
            </a:r>
            <a:r>
              <a:rPr lang="en-US" altLang="zh-TW" dirty="0"/>
              <a:t>,</a:t>
            </a:r>
            <a:r>
              <a:rPr lang="zh-TW" altLang="zh-TW" dirty="0"/>
              <a:t>這種大家都不會你會</a:t>
            </a:r>
            <a:r>
              <a:rPr lang="en-US" altLang="zh-TW" dirty="0"/>
              <a:t>,</a:t>
            </a:r>
            <a:r>
              <a:rPr lang="zh-TW" altLang="zh-TW" dirty="0"/>
              <a:t>就拿前幾名了</a:t>
            </a:r>
            <a:r>
              <a:rPr lang="en-US" altLang="zh-TW" dirty="0"/>
              <a:t>,</a:t>
            </a:r>
            <a:r>
              <a:rPr lang="zh-TW" altLang="zh-TW" dirty="0"/>
              <a:t>她大概也知道這太偏了</a:t>
            </a:r>
            <a:r>
              <a:rPr lang="en-US" altLang="zh-TW" dirty="0" smtClean="0"/>
              <a:t>)</a:t>
            </a:r>
          </a:p>
          <a:p>
            <a:pPr lvl="2"/>
            <a:r>
              <a:rPr lang="en-US" altLang="zh-TW" dirty="0" err="1" smtClean="0"/>
              <a:t>Billroth</a:t>
            </a:r>
            <a:r>
              <a:rPr lang="en-US" altLang="zh-TW" dirty="0" smtClean="0"/>
              <a:t>??? B1: </a:t>
            </a:r>
            <a:r>
              <a:rPr lang="en-US" altLang="zh-TW" dirty="0" err="1" smtClean="0"/>
              <a:t>Gastroduodenostomy</a:t>
            </a:r>
            <a:r>
              <a:rPr lang="en-US" altLang="zh-TW" dirty="0" smtClean="0"/>
              <a:t>, B2: </a:t>
            </a:r>
            <a:r>
              <a:rPr lang="en-US" altLang="zh-TW" dirty="0" err="1" smtClean="0"/>
              <a:t>Gastrojejunostomy</a:t>
            </a:r>
            <a:endParaRPr lang="zh-TW" altLang="zh-TW" dirty="0"/>
          </a:p>
          <a:p>
            <a:pPr lvl="0"/>
            <a:r>
              <a:rPr lang="en-US" altLang="zh-TW" dirty="0"/>
              <a:t>SABR</a:t>
            </a:r>
            <a:r>
              <a:rPr lang="zh-TW" altLang="zh-TW" dirty="0"/>
              <a:t>的全名</a:t>
            </a:r>
            <a:r>
              <a:rPr lang="en-US" altLang="zh-TW" dirty="0"/>
              <a:t>?SABT</a:t>
            </a:r>
            <a:r>
              <a:rPr lang="zh-TW" altLang="zh-TW" dirty="0"/>
              <a:t>在消化道癌的應用</a:t>
            </a:r>
            <a:r>
              <a:rPr lang="en-US" altLang="zh-TW" dirty="0"/>
              <a:t>?(</a:t>
            </a:r>
            <a:r>
              <a:rPr lang="zh-TW" altLang="zh-TW" dirty="0"/>
              <a:t>大題目請自行發揮</a:t>
            </a:r>
            <a:r>
              <a:rPr lang="en-US" altLang="zh-TW" dirty="0"/>
              <a:t>,</a:t>
            </a:r>
            <a:r>
              <a:rPr lang="zh-TW" altLang="zh-TW" dirty="0"/>
              <a:t>我是回胰臟跟</a:t>
            </a:r>
            <a:r>
              <a:rPr lang="en-US" altLang="zh-TW" dirty="0"/>
              <a:t>liver, </a:t>
            </a:r>
            <a:r>
              <a:rPr lang="zh-TW" altLang="zh-TW" dirty="0"/>
              <a:t>甚至請出澄清王主任的經驗把</a:t>
            </a:r>
            <a:r>
              <a:rPr lang="en-US" altLang="zh-TW" dirty="0"/>
              <a:t>liver SABR</a:t>
            </a:r>
            <a:r>
              <a:rPr lang="zh-TW" altLang="zh-TW" dirty="0"/>
              <a:t>的</a:t>
            </a:r>
            <a:r>
              <a:rPr lang="en-US" altLang="zh-TW" dirty="0"/>
              <a:t>dose</a:t>
            </a:r>
            <a:r>
              <a:rPr lang="zh-TW" altLang="zh-TW" dirty="0"/>
              <a:t>說一下</a:t>
            </a:r>
            <a:r>
              <a:rPr lang="en-US" altLang="zh-TW" dirty="0"/>
              <a:t>)</a:t>
            </a:r>
            <a:endParaRPr lang="zh-TW" altLang="zh-TW" dirty="0"/>
          </a:p>
          <a:p>
            <a:pPr lvl="0"/>
            <a:r>
              <a:rPr lang="en-US" altLang="zh-TW" dirty="0" smtClean="0"/>
              <a:t>Liver</a:t>
            </a:r>
          </a:p>
          <a:p>
            <a:pPr lvl="1"/>
            <a:r>
              <a:rPr lang="en-US" altLang="zh-TW" dirty="0" smtClean="0"/>
              <a:t>Radiation </a:t>
            </a:r>
            <a:r>
              <a:rPr lang="en-US" altLang="zh-TW" dirty="0"/>
              <a:t>inducted liver disease</a:t>
            </a:r>
            <a:r>
              <a:rPr lang="zh-TW" altLang="zh-TW" dirty="0"/>
              <a:t>症狀</a:t>
            </a:r>
            <a:r>
              <a:rPr lang="en-US" altLang="zh-TW" dirty="0" smtClean="0"/>
              <a:t>?(</a:t>
            </a:r>
            <a:r>
              <a:rPr lang="zh-TW" altLang="en-US" dirty="0" smtClean="0"/>
              <a:t>請參考前面</a:t>
            </a:r>
            <a:r>
              <a:rPr lang="en-US" altLang="zh-TW" dirty="0" smtClean="0"/>
              <a:t>)</a:t>
            </a:r>
            <a:endParaRPr lang="zh-TW" altLang="zh-TW" dirty="0"/>
          </a:p>
          <a:p>
            <a:pPr lvl="0"/>
            <a:r>
              <a:rPr lang="en-US" altLang="zh-TW" dirty="0" smtClean="0"/>
              <a:t>Biliary tract</a:t>
            </a:r>
          </a:p>
          <a:p>
            <a:pPr lvl="1"/>
            <a:r>
              <a:rPr lang="en-US" altLang="zh-TW" dirty="0" err="1" smtClean="0"/>
              <a:t>Klatskin</a:t>
            </a:r>
            <a:r>
              <a:rPr lang="en-US" altLang="zh-TW" dirty="0" smtClean="0"/>
              <a:t> </a:t>
            </a:r>
            <a:r>
              <a:rPr lang="en-US" altLang="zh-TW" dirty="0"/>
              <a:t>tumor(</a:t>
            </a:r>
            <a:r>
              <a:rPr lang="zh-TW" altLang="zh-TW" dirty="0"/>
              <a:t>寫在一張紙上</a:t>
            </a:r>
            <a:r>
              <a:rPr lang="en-US" altLang="zh-TW" dirty="0" smtClean="0"/>
              <a:t>),</a:t>
            </a:r>
            <a:r>
              <a:rPr lang="zh-TW" altLang="zh-TW" dirty="0" smtClean="0"/>
              <a:t>問你知道是甚麼嗎</a:t>
            </a:r>
            <a:r>
              <a:rPr lang="en-US" altLang="zh-TW" dirty="0" smtClean="0"/>
              <a:t>?</a:t>
            </a:r>
          </a:p>
          <a:p>
            <a:pPr lvl="2"/>
            <a:r>
              <a:rPr lang="en-US" altLang="zh-TW" dirty="0" err="1" smtClean="0"/>
              <a:t>perihilar</a:t>
            </a:r>
            <a:r>
              <a:rPr lang="en-US" altLang="zh-TW" dirty="0" smtClean="0"/>
              <a:t> </a:t>
            </a:r>
            <a:r>
              <a:rPr lang="en-US" altLang="zh-TW" dirty="0"/>
              <a:t>tumors involving the bifurcation of the hepatic duct are also called </a:t>
            </a:r>
            <a:r>
              <a:rPr lang="en-US" altLang="zh-TW" dirty="0" err="1"/>
              <a:t>Klatskin</a:t>
            </a:r>
            <a:r>
              <a:rPr lang="en-US" altLang="zh-TW" dirty="0"/>
              <a:t> </a:t>
            </a:r>
            <a:r>
              <a:rPr lang="en-US" altLang="zh-TW" dirty="0" smtClean="0"/>
              <a:t>tumors</a:t>
            </a:r>
          </a:p>
          <a:p>
            <a:pPr lvl="2"/>
            <a:r>
              <a:rPr lang="en-US" altLang="zh-TW" dirty="0" smtClean="0"/>
              <a:t>Classification: </a:t>
            </a:r>
            <a:r>
              <a:rPr lang="zh-TW" altLang="en-US" dirty="0" smtClean="0"/>
              <a:t>見右圖</a:t>
            </a:r>
            <a:endParaRPr lang="zh-TW" altLang="zh-TW" dirty="0"/>
          </a:p>
          <a:p>
            <a:pPr lvl="0"/>
            <a:r>
              <a:rPr lang="en-US" altLang="zh-TW" dirty="0"/>
              <a:t>Cholangiocarcinoma</a:t>
            </a:r>
            <a:r>
              <a:rPr lang="zh-TW" altLang="zh-TW" dirty="0"/>
              <a:t>的</a:t>
            </a:r>
            <a:r>
              <a:rPr lang="en-US" altLang="zh-TW" dirty="0"/>
              <a:t>risk factor</a:t>
            </a:r>
            <a:r>
              <a:rPr lang="zh-TW" altLang="zh-TW" dirty="0"/>
              <a:t>有哪些</a:t>
            </a:r>
            <a:r>
              <a:rPr lang="en-US" altLang="zh-TW" dirty="0" smtClean="0"/>
              <a:t>?</a:t>
            </a:r>
          </a:p>
          <a:p>
            <a:pPr lvl="1"/>
            <a:r>
              <a:rPr lang="en-US" altLang="zh-TW" dirty="0"/>
              <a:t>Primary </a:t>
            </a:r>
            <a:r>
              <a:rPr lang="en-US" altLang="zh-TW" dirty="0" err="1"/>
              <a:t>sclerosing</a:t>
            </a:r>
            <a:r>
              <a:rPr lang="en-US" altLang="zh-TW" dirty="0"/>
              <a:t> cholangitis (10% lifetime risk</a:t>
            </a:r>
            <a:r>
              <a:rPr lang="en-US" altLang="zh-TW" dirty="0" smtClean="0"/>
              <a:t>), </a:t>
            </a:r>
            <a:r>
              <a:rPr lang="en-US" altLang="zh-TW" dirty="0"/>
              <a:t>chronic IBD,</a:t>
            </a:r>
            <a:r>
              <a:rPr lang="zh-TW" altLang="en-US" dirty="0"/>
              <a:t> </a:t>
            </a:r>
            <a:r>
              <a:rPr lang="en-US" altLang="zh-TW" dirty="0"/>
              <a:t>particularly </a:t>
            </a:r>
            <a:r>
              <a:rPr lang="en-US" altLang="zh-TW" dirty="0" smtClean="0"/>
              <a:t>UC, </a:t>
            </a:r>
            <a:r>
              <a:rPr lang="en-US" altLang="zh-TW" dirty="0"/>
              <a:t>Colonic neoplasm </a:t>
            </a:r>
          </a:p>
          <a:p>
            <a:pPr lvl="1"/>
            <a:r>
              <a:rPr lang="zh-TW" altLang="en-US" dirty="0">
                <a:latin typeface="標楷體" panose="03000509000000000000" pitchFamily="65" charset="-120"/>
                <a:ea typeface="標楷體" panose="03000509000000000000" pitchFamily="65" charset="-120"/>
              </a:rPr>
              <a:t>中華肝吸蟲</a:t>
            </a:r>
            <a:r>
              <a:rPr lang="en-US" altLang="zh-TW" dirty="0"/>
              <a:t>/</a:t>
            </a:r>
            <a:r>
              <a:rPr lang="zh-TW" altLang="en-US" dirty="0">
                <a:latin typeface="標楷體" panose="03000509000000000000" pitchFamily="65" charset="-120"/>
                <a:ea typeface="標楷體" panose="03000509000000000000" pitchFamily="65" charset="-120"/>
              </a:rPr>
              <a:t>泰國</a:t>
            </a:r>
            <a:r>
              <a:rPr lang="zh-TW" altLang="en-US" dirty="0" smtClean="0">
                <a:latin typeface="標楷體" panose="03000509000000000000" pitchFamily="65" charset="-120"/>
                <a:ea typeface="標楷體" panose="03000509000000000000" pitchFamily="65" charset="-120"/>
              </a:rPr>
              <a:t>肝吸蟲</a:t>
            </a:r>
            <a:r>
              <a:rPr lang="en-US" altLang="zh-TW" dirty="0" smtClean="0">
                <a:latin typeface="標楷體" panose="03000509000000000000" pitchFamily="65" charset="-120"/>
                <a:ea typeface="標楷體" panose="03000509000000000000" pitchFamily="65" charset="-120"/>
              </a:rPr>
              <a:t>, </a:t>
            </a:r>
            <a:r>
              <a:rPr lang="en-US" altLang="zh-TW" dirty="0" smtClean="0"/>
              <a:t>nitrosamine, </a:t>
            </a:r>
            <a:r>
              <a:rPr lang="en-US" altLang="zh-TW" dirty="0"/>
              <a:t>Chronic </a:t>
            </a:r>
            <a:r>
              <a:rPr lang="en-US" altLang="zh-TW" dirty="0" smtClean="0"/>
              <a:t>HCV</a:t>
            </a:r>
            <a:endParaRPr lang="zh-TW" altLang="zh-TW" dirty="0"/>
          </a:p>
          <a:p>
            <a:r>
              <a:rPr lang="en-US" altLang="zh-TW" dirty="0"/>
              <a:t>Colon cancer</a:t>
            </a:r>
            <a:r>
              <a:rPr lang="zh-TW" altLang="zh-TW" dirty="0"/>
              <a:t>何時需要</a:t>
            </a:r>
            <a:r>
              <a:rPr lang="en-US" altLang="zh-TW" dirty="0"/>
              <a:t>adjuvant RT</a:t>
            </a:r>
            <a:r>
              <a:rPr lang="en-US" altLang="zh-TW" dirty="0" smtClean="0"/>
              <a:t>?</a:t>
            </a:r>
          </a:p>
          <a:p>
            <a:pPr lvl="1"/>
            <a:r>
              <a:rPr lang="en-US" altLang="zh-TW" dirty="0"/>
              <a:t>Adjuvant RT indication: T4 with penetration to a fixed structure</a:t>
            </a:r>
            <a:endParaRPr lang="zh-TW" altLang="en-US" dirty="0"/>
          </a:p>
        </p:txBody>
      </p:sp>
      <p:pic>
        <p:nvPicPr>
          <p:cNvPr id="4" name="圖片 3">
            <a:extLst>
              <a:ext uri="{FF2B5EF4-FFF2-40B4-BE49-F238E27FC236}">
                <a16:creationId xmlns:a16="http://schemas.microsoft.com/office/drawing/2014/main" id="{E62466C9-8AF2-448D-9C62-1DFE38936D29}"/>
              </a:ext>
            </a:extLst>
          </p:cNvPr>
          <p:cNvPicPr>
            <a:picLocks noChangeAspect="1"/>
          </p:cNvPicPr>
          <p:nvPr/>
        </p:nvPicPr>
        <p:blipFill>
          <a:blip r:embed="rId2"/>
          <a:stretch>
            <a:fillRect/>
          </a:stretch>
        </p:blipFill>
        <p:spPr>
          <a:xfrm>
            <a:off x="8267308" y="3419573"/>
            <a:ext cx="2957660" cy="2957660"/>
          </a:xfrm>
          <a:prstGeom prst="rect">
            <a:avLst/>
          </a:prstGeom>
        </p:spPr>
      </p:pic>
    </p:spTree>
    <p:extLst>
      <p:ext uri="{BB962C8B-B14F-4D97-AF65-F5344CB8AC3E}">
        <p14:creationId xmlns:p14="http://schemas.microsoft.com/office/powerpoint/2010/main" val="7727466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2013 </a:t>
            </a:r>
            <a:r>
              <a:rPr lang="zh-TW" altLang="en-US" dirty="0" smtClean="0"/>
              <a:t>方富民</a:t>
            </a:r>
            <a:endParaRPr lang="zh-TW" altLang="en-US" dirty="0"/>
          </a:p>
        </p:txBody>
      </p:sp>
      <p:sp>
        <p:nvSpPr>
          <p:cNvPr id="3" name="內容版面配置區 2"/>
          <p:cNvSpPr>
            <a:spLocks noGrp="1"/>
          </p:cNvSpPr>
          <p:nvPr>
            <p:ph idx="1"/>
          </p:nvPr>
        </p:nvSpPr>
        <p:spPr/>
        <p:txBody>
          <a:bodyPr>
            <a:normAutofit/>
          </a:bodyPr>
          <a:lstStyle/>
          <a:p>
            <a:r>
              <a:rPr lang="en-US" altLang="zh-TW" dirty="0"/>
              <a:t>Esophageal cancer </a:t>
            </a:r>
            <a:endParaRPr lang="en-US" altLang="zh-TW" dirty="0" smtClean="0"/>
          </a:p>
          <a:p>
            <a:pPr lvl="1"/>
            <a:r>
              <a:rPr lang="en-US" altLang="zh-TW" dirty="0" smtClean="0"/>
              <a:t>Incidence</a:t>
            </a:r>
            <a:r>
              <a:rPr lang="en-US" altLang="zh-TW" dirty="0"/>
              <a:t>, </a:t>
            </a:r>
            <a:r>
              <a:rPr lang="en-US" altLang="zh-TW" dirty="0" smtClean="0"/>
              <a:t>histology: </a:t>
            </a:r>
            <a:r>
              <a:rPr lang="zh-TW" altLang="en-US" dirty="0" smtClean="0"/>
              <a:t>發生</a:t>
            </a:r>
            <a:r>
              <a:rPr lang="en-US" altLang="zh-TW" dirty="0" smtClean="0"/>
              <a:t>2600 </a:t>
            </a:r>
            <a:r>
              <a:rPr lang="en-US" altLang="zh-TW" dirty="0"/>
              <a:t>(2400 M, 200 F)</a:t>
            </a:r>
            <a:r>
              <a:rPr lang="zh-TW" altLang="zh-TW" dirty="0"/>
              <a:t>男</a:t>
            </a:r>
            <a:r>
              <a:rPr lang="en-US" altLang="zh-TW" dirty="0"/>
              <a:t>6</a:t>
            </a:r>
            <a:r>
              <a:rPr lang="zh-TW" altLang="zh-TW" dirty="0"/>
              <a:t>女</a:t>
            </a:r>
            <a:r>
              <a:rPr lang="en-US" altLang="zh-TW" dirty="0"/>
              <a:t>25, </a:t>
            </a:r>
            <a:r>
              <a:rPr lang="en-US" altLang="zh-TW" dirty="0" smtClean="0"/>
              <a:t>60 </a:t>
            </a:r>
            <a:r>
              <a:rPr lang="en-US" altLang="zh-TW" dirty="0"/>
              <a:t>y/o, </a:t>
            </a:r>
            <a:r>
              <a:rPr lang="zh-TW" altLang="en-US" dirty="0"/>
              <a:t>死亡</a:t>
            </a:r>
            <a:r>
              <a:rPr lang="en-US" altLang="zh-TW" dirty="0" smtClean="0"/>
              <a:t>1800 (</a:t>
            </a:r>
            <a:r>
              <a:rPr lang="en-US" altLang="zh-TW" dirty="0"/>
              <a:t>1700 M, 100 F)</a:t>
            </a:r>
            <a:r>
              <a:rPr lang="zh-TW" altLang="zh-TW" dirty="0"/>
              <a:t>男</a:t>
            </a:r>
            <a:r>
              <a:rPr lang="en-US" altLang="zh-TW" dirty="0"/>
              <a:t>5</a:t>
            </a:r>
            <a:r>
              <a:rPr lang="zh-TW" altLang="zh-TW" dirty="0"/>
              <a:t>女</a:t>
            </a:r>
            <a:r>
              <a:rPr lang="en-US" altLang="zh-TW" dirty="0"/>
              <a:t>20, SCC 90% (</a:t>
            </a:r>
            <a:r>
              <a:rPr lang="zh-TW" altLang="zh-TW" dirty="0"/>
              <a:t>國外是</a:t>
            </a:r>
            <a:r>
              <a:rPr lang="en-US" altLang="zh-TW" dirty="0" err="1"/>
              <a:t>adeno</a:t>
            </a:r>
            <a:r>
              <a:rPr lang="en-US" altLang="zh-TW" dirty="0"/>
              <a:t> 70%)</a:t>
            </a:r>
            <a:r>
              <a:rPr lang="en-US" altLang="zh-TW" dirty="0" smtClean="0"/>
              <a:t> </a:t>
            </a:r>
          </a:p>
          <a:p>
            <a:pPr lvl="1"/>
            <a:r>
              <a:rPr lang="en-US" altLang="zh-TW" dirty="0" smtClean="0"/>
              <a:t>Case </a:t>
            </a:r>
            <a:r>
              <a:rPr lang="en-US" altLang="zh-TW" dirty="0"/>
              <a:t>for staging, treatment options(op, CCRT trials, benefit), outcome(LC, 5yr OS), RT </a:t>
            </a:r>
            <a:r>
              <a:rPr lang="en-US" altLang="zh-TW" dirty="0" smtClean="0"/>
              <a:t>dose/field</a:t>
            </a:r>
            <a:r>
              <a:rPr lang="zh-TW" altLang="en-US" dirty="0" smtClean="0"/>
              <a:t> </a:t>
            </a:r>
            <a:r>
              <a:rPr lang="en-US" altLang="zh-TW" dirty="0" smtClean="0"/>
              <a:t>(</a:t>
            </a:r>
            <a:r>
              <a:rPr lang="zh-TW" altLang="en-US" dirty="0" smtClean="0"/>
              <a:t>請參考前面</a:t>
            </a:r>
            <a:r>
              <a:rPr lang="en-US" altLang="zh-TW" dirty="0" smtClean="0"/>
              <a:t>)</a:t>
            </a:r>
            <a:endParaRPr lang="zh-TW" altLang="zh-TW" dirty="0"/>
          </a:p>
          <a:p>
            <a:r>
              <a:rPr lang="en-US" altLang="zh-TW" dirty="0" smtClean="0"/>
              <a:t>Rectal cancer (</a:t>
            </a:r>
            <a:r>
              <a:rPr lang="zh-TW" altLang="en-US" dirty="0" smtClean="0"/>
              <a:t>請參考前面</a:t>
            </a:r>
            <a:r>
              <a:rPr lang="en-US" altLang="zh-TW" dirty="0" smtClean="0"/>
              <a:t>)</a:t>
            </a:r>
          </a:p>
          <a:p>
            <a:pPr lvl="1"/>
            <a:r>
              <a:rPr lang="en-US" altLang="zh-TW" dirty="0" smtClean="0"/>
              <a:t>Rectal </a:t>
            </a:r>
            <a:r>
              <a:rPr lang="en-US" altLang="zh-TW" dirty="0"/>
              <a:t>cancer case for staging, T2N0, </a:t>
            </a:r>
            <a:r>
              <a:rPr lang="en-US" altLang="zh-TW" dirty="0" err="1"/>
              <a:t>transanal</a:t>
            </a:r>
            <a:r>
              <a:rPr lang="en-US" altLang="zh-TW" dirty="0"/>
              <a:t> excision? </a:t>
            </a:r>
            <a:endParaRPr lang="en-US" altLang="zh-TW" dirty="0" smtClean="0"/>
          </a:p>
          <a:p>
            <a:pPr lvl="1"/>
            <a:r>
              <a:rPr lang="en-US" altLang="zh-TW" dirty="0" err="1" smtClean="0"/>
              <a:t>Preop</a:t>
            </a:r>
            <a:r>
              <a:rPr lang="en-US" altLang="zh-TW" dirty="0" smtClean="0"/>
              <a:t> </a:t>
            </a:r>
            <a:r>
              <a:rPr lang="en-US" altLang="zh-TW" dirty="0"/>
              <a:t>vs. postop RT/CRT trials, benefit, short vs. long course trial, benefit? </a:t>
            </a:r>
            <a:r>
              <a:rPr lang="en-US" altLang="zh-TW" dirty="0" smtClean="0"/>
              <a:t> </a:t>
            </a:r>
            <a:endParaRPr lang="zh-TW" altLang="en-US" dirty="0"/>
          </a:p>
        </p:txBody>
      </p:sp>
    </p:spTree>
    <p:extLst>
      <p:ext uri="{BB962C8B-B14F-4D97-AF65-F5344CB8AC3E}">
        <p14:creationId xmlns:p14="http://schemas.microsoft.com/office/powerpoint/2010/main" val="18412211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2013 </a:t>
            </a:r>
            <a:r>
              <a:rPr lang="zh-TW" altLang="en-US" dirty="0" smtClean="0"/>
              <a:t>鄭鴻鈞</a:t>
            </a:r>
            <a:endParaRPr lang="zh-TW" altLang="en-US" dirty="0"/>
          </a:p>
        </p:txBody>
      </p:sp>
      <p:sp>
        <p:nvSpPr>
          <p:cNvPr id="3" name="內容版面配置區 2"/>
          <p:cNvSpPr>
            <a:spLocks noGrp="1"/>
          </p:cNvSpPr>
          <p:nvPr>
            <p:ph idx="1"/>
          </p:nvPr>
        </p:nvSpPr>
        <p:spPr/>
        <p:txBody>
          <a:bodyPr>
            <a:normAutofit fontScale="85000" lnSpcReduction="20000"/>
          </a:bodyPr>
          <a:lstStyle/>
          <a:p>
            <a:r>
              <a:rPr lang="en-US" altLang="zh-TW" dirty="0"/>
              <a:t>Esophageal cancer AJCC staging</a:t>
            </a:r>
            <a:r>
              <a:rPr lang="zh-TW" altLang="zh-TW" dirty="0"/>
              <a:t>的改變</a:t>
            </a:r>
            <a:r>
              <a:rPr lang="en-US" altLang="zh-TW" dirty="0"/>
              <a:t>, lower third with SCF LAP, why N not M</a:t>
            </a:r>
            <a:r>
              <a:rPr lang="en-US" altLang="zh-TW" dirty="0" smtClean="0"/>
              <a:t>?</a:t>
            </a:r>
            <a:r>
              <a:rPr lang="zh-TW" altLang="en-US" dirty="0" smtClean="0"/>
              <a:t> </a:t>
            </a:r>
            <a:r>
              <a:rPr lang="en-US" altLang="zh-TW" dirty="0" smtClean="0"/>
              <a:t>(</a:t>
            </a:r>
            <a:r>
              <a:rPr lang="zh-TW" altLang="en-US" dirty="0" smtClean="0"/>
              <a:t>似乎不適用了</a:t>
            </a:r>
            <a:r>
              <a:rPr lang="en-US" altLang="zh-TW" dirty="0" smtClean="0"/>
              <a:t>?!)</a:t>
            </a:r>
            <a:endParaRPr lang="zh-TW" altLang="zh-TW" dirty="0"/>
          </a:p>
          <a:p>
            <a:r>
              <a:rPr lang="en-US" altLang="zh-TW" dirty="0"/>
              <a:t>GE junction tumor </a:t>
            </a:r>
            <a:r>
              <a:rPr lang="en-US" altLang="zh-TW" dirty="0" smtClean="0"/>
              <a:t>classification</a:t>
            </a:r>
          </a:p>
          <a:p>
            <a:pPr lvl="1"/>
            <a:r>
              <a:rPr lang="en-US" altLang="zh-TW" dirty="0" smtClean="0"/>
              <a:t>AJCC8th </a:t>
            </a:r>
          </a:p>
          <a:p>
            <a:pPr lvl="1"/>
            <a:r>
              <a:rPr lang="en-US" altLang="zh-TW" dirty="0" smtClean="0"/>
              <a:t>Without EGJ invasion -&gt; as gastric cancer</a:t>
            </a:r>
          </a:p>
          <a:p>
            <a:pPr lvl="1"/>
            <a:r>
              <a:rPr lang="en-US" altLang="zh-TW" dirty="0" smtClean="0"/>
              <a:t>With EGJ invasion</a:t>
            </a:r>
          </a:p>
          <a:p>
            <a:pPr lvl="2"/>
            <a:r>
              <a:rPr lang="en-US" altLang="zh-TW" dirty="0" smtClean="0"/>
              <a:t>Tumor center &lt; 2cm -&gt; as esophageal cancer</a:t>
            </a:r>
          </a:p>
          <a:p>
            <a:pPr lvl="2"/>
            <a:r>
              <a:rPr lang="en-US" altLang="zh-TW" dirty="0" smtClean="0"/>
              <a:t>Tumor center &gt; 2cm -&gt; as gastric cancer</a:t>
            </a:r>
            <a:endParaRPr lang="zh-TW" altLang="zh-TW" dirty="0"/>
          </a:p>
          <a:p>
            <a:r>
              <a:rPr lang="en-US" altLang="zh-TW" dirty="0"/>
              <a:t>Gastric </a:t>
            </a:r>
            <a:r>
              <a:rPr lang="en-US" altLang="zh-TW" dirty="0" smtClean="0"/>
              <a:t>cancer</a:t>
            </a:r>
            <a:r>
              <a:rPr lang="zh-TW" altLang="en-US" dirty="0" smtClean="0"/>
              <a:t> </a:t>
            </a:r>
            <a:r>
              <a:rPr lang="en-US" altLang="zh-TW" dirty="0" smtClean="0"/>
              <a:t>(</a:t>
            </a:r>
            <a:r>
              <a:rPr lang="zh-TW" altLang="en-US" dirty="0" smtClean="0"/>
              <a:t>請參考前面</a:t>
            </a:r>
            <a:r>
              <a:rPr lang="en-US" altLang="zh-TW" dirty="0" smtClean="0"/>
              <a:t>)</a:t>
            </a:r>
          </a:p>
          <a:p>
            <a:pPr lvl="1"/>
            <a:r>
              <a:rPr lang="en-US" altLang="zh-TW" dirty="0" smtClean="0"/>
              <a:t>Adjuvant </a:t>
            </a:r>
            <a:r>
              <a:rPr lang="en-US" altLang="zh-TW" dirty="0"/>
              <a:t>CRT, D1 vs. D2 trial, Korean trial, which group of patients benefit most?</a:t>
            </a:r>
            <a:endParaRPr lang="zh-TW" altLang="zh-TW" dirty="0"/>
          </a:p>
          <a:p>
            <a:r>
              <a:rPr lang="en-US" altLang="zh-TW" dirty="0"/>
              <a:t>Anal </a:t>
            </a:r>
            <a:r>
              <a:rPr lang="en-US" altLang="zh-TW" dirty="0" smtClean="0"/>
              <a:t>cancer</a:t>
            </a:r>
            <a:r>
              <a:rPr lang="zh-TW" altLang="en-US" dirty="0" smtClean="0"/>
              <a:t> </a:t>
            </a:r>
            <a:r>
              <a:rPr lang="en-US" altLang="zh-TW" dirty="0"/>
              <a:t>(</a:t>
            </a:r>
            <a:r>
              <a:rPr lang="zh-TW" altLang="en-US" dirty="0"/>
              <a:t>請參考前面</a:t>
            </a:r>
            <a:r>
              <a:rPr lang="en-US" altLang="zh-TW" dirty="0"/>
              <a:t>)</a:t>
            </a:r>
            <a:endParaRPr lang="en-US" altLang="zh-TW" dirty="0" smtClean="0"/>
          </a:p>
          <a:p>
            <a:pPr lvl="1"/>
            <a:r>
              <a:rPr lang="en-US" altLang="zh-TW" dirty="0" smtClean="0"/>
              <a:t>RT </a:t>
            </a:r>
            <a:r>
              <a:rPr lang="en-US" altLang="zh-TW" dirty="0"/>
              <a:t>dose</a:t>
            </a:r>
            <a:endParaRPr lang="zh-TW" altLang="en-US" dirty="0"/>
          </a:p>
        </p:txBody>
      </p:sp>
    </p:spTree>
    <p:extLst>
      <p:ext uri="{BB962C8B-B14F-4D97-AF65-F5344CB8AC3E}">
        <p14:creationId xmlns:p14="http://schemas.microsoft.com/office/powerpoint/2010/main" val="6637384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2012 </a:t>
            </a:r>
            <a:r>
              <a:rPr lang="zh-TW" altLang="en-US" dirty="0" smtClean="0"/>
              <a:t>蔡玉真 </a:t>
            </a:r>
            <a:r>
              <a:rPr lang="en-US" altLang="zh-TW" dirty="0" smtClean="0"/>
              <a:t>Esophagus</a:t>
            </a:r>
            <a:endParaRPr lang="zh-TW" altLang="en-US" dirty="0"/>
          </a:p>
        </p:txBody>
      </p:sp>
      <p:sp>
        <p:nvSpPr>
          <p:cNvPr id="3" name="內容版面配置區 2"/>
          <p:cNvSpPr>
            <a:spLocks noGrp="1"/>
          </p:cNvSpPr>
          <p:nvPr>
            <p:ph idx="1"/>
          </p:nvPr>
        </p:nvSpPr>
        <p:spPr/>
        <p:txBody>
          <a:bodyPr>
            <a:normAutofit fontScale="85000" lnSpcReduction="20000"/>
          </a:bodyPr>
          <a:lstStyle/>
          <a:p>
            <a:r>
              <a:rPr lang="en-US" altLang="zh-TW" dirty="0" smtClean="0"/>
              <a:t>Esophagus (</a:t>
            </a:r>
            <a:r>
              <a:rPr lang="zh-TW" altLang="en-US" dirty="0" smtClean="0"/>
              <a:t>請參考前面</a:t>
            </a:r>
            <a:r>
              <a:rPr lang="en-US" altLang="zh-TW" dirty="0" smtClean="0"/>
              <a:t>)</a:t>
            </a:r>
          </a:p>
          <a:p>
            <a:pPr lvl="1"/>
            <a:r>
              <a:rPr lang="zh-TW" altLang="zh-TW" dirty="0" smtClean="0"/>
              <a:t>食道癌</a:t>
            </a:r>
            <a:r>
              <a:rPr lang="zh-TW" altLang="zh-TW" dirty="0"/>
              <a:t>病人前來門診</a:t>
            </a:r>
          </a:p>
          <a:p>
            <a:pPr lvl="1"/>
            <a:r>
              <a:rPr lang="en-US" altLang="zh-TW" dirty="0"/>
              <a:t>History </a:t>
            </a:r>
            <a:r>
              <a:rPr lang="zh-TW" altLang="zh-TW" dirty="0"/>
              <a:t>要問哪些</a:t>
            </a:r>
            <a:r>
              <a:rPr lang="en-US" altLang="zh-TW" dirty="0"/>
              <a:t>? (</a:t>
            </a:r>
            <a:r>
              <a:rPr lang="zh-TW" altLang="zh-TW" dirty="0"/>
              <a:t>有沒有咳血</a:t>
            </a:r>
            <a:r>
              <a:rPr lang="en-US" altLang="zh-TW" dirty="0"/>
              <a:t>,tarry stool, bloody stool, chocking)</a:t>
            </a:r>
            <a:endParaRPr lang="zh-TW" altLang="zh-TW" dirty="0"/>
          </a:p>
          <a:p>
            <a:pPr lvl="1"/>
            <a:r>
              <a:rPr lang="en-US" altLang="zh-TW" dirty="0"/>
              <a:t>Physical examination </a:t>
            </a:r>
            <a:r>
              <a:rPr lang="zh-TW" altLang="zh-TW" dirty="0"/>
              <a:t>要檢查哪些</a:t>
            </a:r>
            <a:r>
              <a:rPr lang="en-US" altLang="zh-TW" dirty="0" smtClean="0"/>
              <a:t>?	</a:t>
            </a:r>
            <a:endParaRPr lang="zh-TW" altLang="zh-TW" dirty="0"/>
          </a:p>
          <a:p>
            <a:pPr lvl="1"/>
            <a:r>
              <a:rPr lang="en-US" altLang="zh-TW" dirty="0"/>
              <a:t>Lab data</a:t>
            </a:r>
            <a:r>
              <a:rPr lang="zh-TW" altLang="zh-TW" dirty="0"/>
              <a:t>要驗哪些</a:t>
            </a:r>
            <a:r>
              <a:rPr lang="en-US" altLang="zh-TW" dirty="0"/>
              <a:t>? (CBC/DC, </a:t>
            </a:r>
            <a:r>
              <a:rPr lang="en-US" altLang="zh-TW" dirty="0" err="1"/>
              <a:t>Hb</a:t>
            </a:r>
            <a:r>
              <a:rPr lang="en-US" altLang="zh-TW" dirty="0"/>
              <a:t>, Bun/Cr, GOT/GPT, HBV for </a:t>
            </a:r>
            <a:r>
              <a:rPr lang="zh-TW" altLang="zh-TW" dirty="0"/>
              <a:t>一般以及後續治療如</a:t>
            </a:r>
            <a:r>
              <a:rPr lang="en-US" altLang="zh-TW" dirty="0"/>
              <a:t>chemotherapy</a:t>
            </a:r>
            <a:r>
              <a:rPr lang="zh-TW" altLang="zh-TW" dirty="0"/>
              <a:t>的評估</a:t>
            </a:r>
            <a:r>
              <a:rPr lang="en-US" altLang="zh-TW" dirty="0"/>
              <a:t> )</a:t>
            </a:r>
            <a:endParaRPr lang="zh-TW" altLang="zh-TW" dirty="0"/>
          </a:p>
          <a:p>
            <a:pPr lvl="1"/>
            <a:r>
              <a:rPr lang="zh-TW" altLang="zh-TW" dirty="0"/>
              <a:t>要安排哪些檢查</a:t>
            </a:r>
            <a:r>
              <a:rPr lang="en-US" altLang="zh-TW" dirty="0"/>
              <a:t>?</a:t>
            </a:r>
            <a:endParaRPr lang="zh-TW" altLang="zh-TW" dirty="0"/>
          </a:p>
          <a:p>
            <a:pPr lvl="1"/>
            <a:r>
              <a:rPr lang="zh-TW" altLang="zh-TW" dirty="0"/>
              <a:t>有沒有</a:t>
            </a:r>
            <a:r>
              <a:rPr lang="en-US" altLang="zh-TW" dirty="0"/>
              <a:t>PET</a:t>
            </a:r>
            <a:endParaRPr lang="zh-TW" altLang="zh-TW" dirty="0"/>
          </a:p>
          <a:p>
            <a:pPr lvl="1"/>
            <a:r>
              <a:rPr lang="zh-TW" altLang="zh-TW" dirty="0"/>
              <a:t>如果是</a:t>
            </a:r>
            <a:r>
              <a:rPr lang="en-US" altLang="zh-TW" dirty="0"/>
              <a:t>CT</a:t>
            </a:r>
            <a:r>
              <a:rPr lang="zh-TW" altLang="zh-TW" dirty="0"/>
              <a:t>要切的範圍有哪些</a:t>
            </a:r>
          </a:p>
          <a:p>
            <a:pPr lvl="1"/>
            <a:r>
              <a:rPr lang="en-US" altLang="zh-TW" dirty="0"/>
              <a:t>T2N1M0</a:t>
            </a:r>
            <a:r>
              <a:rPr lang="zh-TW" altLang="zh-TW" dirty="0"/>
              <a:t>的病人怎樣建議治療</a:t>
            </a:r>
          </a:p>
          <a:p>
            <a:pPr lvl="1"/>
            <a:r>
              <a:rPr lang="zh-TW" altLang="zh-TW" dirty="0"/>
              <a:t>如果外科讓你選要不就</a:t>
            </a:r>
            <a:r>
              <a:rPr lang="en-US" altLang="zh-TW" dirty="0"/>
              <a:t>CCRT alone</a:t>
            </a:r>
            <a:r>
              <a:rPr lang="zh-TW" altLang="zh-TW" dirty="0"/>
              <a:t>要不然就</a:t>
            </a:r>
            <a:r>
              <a:rPr lang="en-US" altLang="zh-TW" dirty="0"/>
              <a:t>OP alone</a:t>
            </a:r>
            <a:r>
              <a:rPr lang="zh-TW" altLang="zh-TW" dirty="0"/>
              <a:t>你要怎麼選</a:t>
            </a:r>
            <a:r>
              <a:rPr lang="en-US" altLang="zh-TW" dirty="0"/>
              <a:t>? </a:t>
            </a:r>
            <a:r>
              <a:rPr lang="zh-TW" altLang="zh-TW" dirty="0"/>
              <a:t>怎麼建議</a:t>
            </a:r>
            <a:r>
              <a:rPr lang="en-US" altLang="zh-TW" dirty="0"/>
              <a:t>?</a:t>
            </a:r>
            <a:endParaRPr lang="zh-TW" altLang="zh-TW" dirty="0"/>
          </a:p>
          <a:p>
            <a:pPr lvl="1"/>
            <a:r>
              <a:rPr lang="en-US" altLang="zh-TW" dirty="0"/>
              <a:t>CCRT survival rate</a:t>
            </a:r>
            <a:r>
              <a:rPr lang="zh-TW" altLang="zh-TW" dirty="0"/>
              <a:t>是多少</a:t>
            </a:r>
            <a:r>
              <a:rPr lang="en-US" altLang="zh-TW" dirty="0"/>
              <a:t>?</a:t>
            </a:r>
            <a:endParaRPr lang="zh-TW" altLang="en-US" dirty="0"/>
          </a:p>
        </p:txBody>
      </p:sp>
    </p:spTree>
    <p:extLst>
      <p:ext uri="{BB962C8B-B14F-4D97-AF65-F5344CB8AC3E}">
        <p14:creationId xmlns:p14="http://schemas.microsoft.com/office/powerpoint/2010/main" val="20543998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2011 </a:t>
            </a:r>
            <a:r>
              <a:rPr lang="zh-TW" altLang="en-US" dirty="0" smtClean="0"/>
              <a:t>成佳憲</a:t>
            </a:r>
            <a:endParaRPr lang="zh-TW" altLang="en-US" dirty="0"/>
          </a:p>
        </p:txBody>
      </p:sp>
      <p:sp>
        <p:nvSpPr>
          <p:cNvPr id="3" name="內容版面配置區 2"/>
          <p:cNvSpPr>
            <a:spLocks noGrp="1"/>
          </p:cNvSpPr>
          <p:nvPr>
            <p:ph idx="1"/>
          </p:nvPr>
        </p:nvSpPr>
        <p:spPr/>
        <p:txBody>
          <a:bodyPr>
            <a:normAutofit fontScale="55000" lnSpcReduction="20000"/>
          </a:bodyPr>
          <a:lstStyle/>
          <a:p>
            <a:pPr lvl="0"/>
            <a:r>
              <a:rPr lang="en-US" altLang="zh-TW" dirty="0" smtClean="0"/>
              <a:t>Pancreas</a:t>
            </a:r>
          </a:p>
          <a:p>
            <a:pPr lvl="1"/>
            <a:r>
              <a:rPr lang="zh-TW" altLang="zh-TW" dirty="0"/>
              <a:t>突然問到</a:t>
            </a:r>
            <a:r>
              <a:rPr lang="en-US" altLang="zh-TW" dirty="0"/>
              <a:t>pancreas staging, T3? T4? </a:t>
            </a:r>
            <a:r>
              <a:rPr lang="zh-TW" altLang="zh-TW" dirty="0"/>
              <a:t>什麼是</a:t>
            </a:r>
            <a:r>
              <a:rPr lang="en-US" altLang="zh-TW" dirty="0"/>
              <a:t>borderline </a:t>
            </a:r>
            <a:r>
              <a:rPr lang="en-US" altLang="zh-TW" dirty="0" err="1"/>
              <a:t>resectable</a:t>
            </a:r>
            <a:r>
              <a:rPr lang="zh-TW" altLang="zh-TW" dirty="0"/>
              <a:t>的定義</a:t>
            </a:r>
            <a:r>
              <a:rPr lang="en-US" altLang="zh-TW" dirty="0"/>
              <a:t>?</a:t>
            </a:r>
            <a:r>
              <a:rPr lang="zh-TW" altLang="en-US" dirty="0"/>
              <a:t> </a:t>
            </a:r>
            <a:r>
              <a:rPr lang="en-US" altLang="zh-TW" dirty="0"/>
              <a:t>(</a:t>
            </a:r>
            <a:r>
              <a:rPr lang="zh-TW" altLang="en-US" dirty="0"/>
              <a:t>請參考前面</a:t>
            </a:r>
            <a:r>
              <a:rPr lang="en-US" altLang="zh-TW" dirty="0"/>
              <a:t>)</a:t>
            </a:r>
            <a:endParaRPr lang="zh-TW" altLang="zh-TW" dirty="0"/>
          </a:p>
          <a:p>
            <a:pPr lvl="1"/>
            <a:r>
              <a:rPr lang="zh-TW" altLang="zh-TW" dirty="0"/>
              <a:t>如果是</a:t>
            </a:r>
            <a:r>
              <a:rPr lang="en-US" altLang="zh-TW" dirty="0" err="1"/>
              <a:t>unresectable</a:t>
            </a:r>
            <a:r>
              <a:rPr lang="en-US" altLang="zh-TW" dirty="0"/>
              <a:t> pancreas, guideline</a:t>
            </a:r>
            <a:r>
              <a:rPr lang="zh-TW" altLang="zh-TW" dirty="0"/>
              <a:t>建議</a:t>
            </a:r>
            <a:r>
              <a:rPr lang="en-US" altLang="zh-TW" dirty="0"/>
              <a:t>?</a:t>
            </a:r>
            <a:r>
              <a:rPr lang="zh-TW" altLang="en-US" dirty="0"/>
              <a:t> </a:t>
            </a:r>
            <a:r>
              <a:rPr lang="en-US" altLang="zh-TW" dirty="0"/>
              <a:t>(</a:t>
            </a:r>
            <a:r>
              <a:rPr lang="zh-TW" altLang="en-US" dirty="0"/>
              <a:t>請參考前面</a:t>
            </a:r>
            <a:r>
              <a:rPr lang="en-US" altLang="zh-TW" dirty="0" smtClean="0"/>
              <a:t>)</a:t>
            </a:r>
          </a:p>
          <a:p>
            <a:pPr lvl="1"/>
            <a:r>
              <a:rPr lang="en-US" altLang="zh-TW" dirty="0" smtClean="0"/>
              <a:t>Pancreas </a:t>
            </a:r>
            <a:r>
              <a:rPr lang="en-US" altLang="zh-TW" dirty="0"/>
              <a:t>adenocarcinoma, </a:t>
            </a:r>
            <a:r>
              <a:rPr lang="zh-TW" altLang="zh-TW" dirty="0"/>
              <a:t>術後</a:t>
            </a:r>
            <a:r>
              <a:rPr lang="en-US" altLang="zh-TW" dirty="0"/>
              <a:t>pT2N0.</a:t>
            </a:r>
            <a:endParaRPr lang="zh-TW" altLang="zh-TW" dirty="0"/>
          </a:p>
          <a:p>
            <a:pPr lvl="2"/>
            <a:r>
              <a:rPr lang="zh-TW" altLang="zh-TW" dirty="0" smtClean="0"/>
              <a:t>問</a:t>
            </a:r>
            <a:r>
              <a:rPr lang="zh-TW" altLang="zh-TW" dirty="0"/>
              <a:t>後續治療</a:t>
            </a:r>
            <a:r>
              <a:rPr lang="en-US" altLang="zh-TW" dirty="0"/>
              <a:t>? </a:t>
            </a:r>
            <a:r>
              <a:rPr lang="zh-TW" altLang="zh-TW" dirty="0"/>
              <a:t>目前</a:t>
            </a:r>
            <a:r>
              <a:rPr lang="en-US" altLang="zh-TW" dirty="0"/>
              <a:t>guideline</a:t>
            </a:r>
            <a:r>
              <a:rPr lang="zh-TW" altLang="zh-TW" dirty="0"/>
              <a:t>應是</a:t>
            </a:r>
            <a:r>
              <a:rPr lang="zh-TW" altLang="zh-TW" dirty="0" smtClean="0"/>
              <a:t>以</a:t>
            </a:r>
            <a:r>
              <a:rPr lang="en-US" altLang="zh-TW" dirty="0" smtClean="0"/>
              <a:t>chemotherapy </a:t>
            </a:r>
            <a:r>
              <a:rPr lang="zh-TW" altLang="zh-TW" dirty="0"/>
              <a:t>為主</a:t>
            </a:r>
            <a:r>
              <a:rPr lang="en-US" altLang="zh-TW" dirty="0" smtClean="0"/>
              <a:t>. If margin+ </a:t>
            </a:r>
            <a:r>
              <a:rPr lang="zh-TW" altLang="en-US" dirty="0" smtClean="0"/>
              <a:t>則</a:t>
            </a:r>
            <a:r>
              <a:rPr lang="en-US" altLang="zh-TW" dirty="0" smtClean="0"/>
              <a:t>CCRT</a:t>
            </a:r>
            <a:endParaRPr lang="zh-TW" altLang="zh-TW" dirty="0"/>
          </a:p>
          <a:p>
            <a:pPr lvl="2"/>
            <a:r>
              <a:rPr lang="zh-TW" altLang="zh-TW" dirty="0" smtClean="0"/>
              <a:t>有</a:t>
            </a:r>
            <a:r>
              <a:rPr lang="zh-TW" altLang="zh-TW" dirty="0"/>
              <a:t>沒有</a:t>
            </a:r>
            <a:r>
              <a:rPr lang="en-US" altLang="zh-TW" dirty="0"/>
              <a:t>favor RT</a:t>
            </a:r>
            <a:r>
              <a:rPr lang="zh-TW" altLang="zh-TW" dirty="0"/>
              <a:t>的</a:t>
            </a:r>
            <a:r>
              <a:rPr lang="en-US" altLang="zh-TW" dirty="0"/>
              <a:t>trial? </a:t>
            </a:r>
            <a:endParaRPr lang="en-US" altLang="zh-TW" dirty="0" smtClean="0"/>
          </a:p>
          <a:p>
            <a:pPr lvl="3"/>
            <a:r>
              <a:rPr lang="en-US" altLang="zh-TW" dirty="0" smtClean="0"/>
              <a:t>GITSG</a:t>
            </a:r>
            <a:r>
              <a:rPr lang="en-US" altLang="zh-TW" dirty="0"/>
              <a:t> </a:t>
            </a:r>
            <a:r>
              <a:rPr lang="en-US" altLang="zh-TW" dirty="0" smtClean="0"/>
              <a:t>9173: CCRT bolus 5FU + 40Gy split course: 2Yr OS 14 </a:t>
            </a:r>
            <a:r>
              <a:rPr lang="en-US" altLang="zh-TW" dirty="0" err="1" smtClean="0"/>
              <a:t>vs</a:t>
            </a:r>
            <a:r>
              <a:rPr lang="en-US" altLang="zh-TW" dirty="0" smtClean="0"/>
              <a:t> 43%, median OS 11 </a:t>
            </a:r>
            <a:r>
              <a:rPr lang="en-US" altLang="zh-TW" dirty="0" err="1" smtClean="0"/>
              <a:t>vs</a:t>
            </a:r>
            <a:r>
              <a:rPr lang="en-US" altLang="zh-TW" dirty="0" smtClean="0"/>
              <a:t> 20m</a:t>
            </a:r>
            <a:endParaRPr lang="zh-TW" altLang="zh-TW" dirty="0"/>
          </a:p>
          <a:p>
            <a:pPr lvl="2"/>
            <a:r>
              <a:rPr lang="en-US" altLang="zh-TW" dirty="0" smtClean="0"/>
              <a:t>Favor </a:t>
            </a:r>
            <a:r>
              <a:rPr lang="en-US" altLang="zh-TW" dirty="0"/>
              <a:t>C/T </a:t>
            </a:r>
            <a:r>
              <a:rPr lang="zh-TW" altLang="zh-TW" dirty="0"/>
              <a:t>的</a:t>
            </a:r>
            <a:r>
              <a:rPr lang="en-US" altLang="zh-TW" dirty="0"/>
              <a:t>trial? </a:t>
            </a:r>
            <a:endParaRPr lang="en-US" altLang="zh-TW" dirty="0" smtClean="0"/>
          </a:p>
          <a:p>
            <a:pPr lvl="3"/>
            <a:r>
              <a:rPr lang="en-US" altLang="zh-TW" dirty="0" smtClean="0"/>
              <a:t>ESPAC-1: </a:t>
            </a:r>
            <a:r>
              <a:rPr lang="en-US" altLang="zh-TW" dirty="0" err="1" smtClean="0"/>
              <a:t>adjvuant</a:t>
            </a:r>
            <a:r>
              <a:rPr lang="en-US" altLang="zh-TW" dirty="0" smtClean="0"/>
              <a:t> chemotherapy significant survival benefit then no chemo</a:t>
            </a:r>
          </a:p>
          <a:p>
            <a:pPr lvl="3"/>
            <a:r>
              <a:rPr lang="en-US" altLang="zh-TW" dirty="0" smtClean="0"/>
              <a:t>CONKO 001: adjuvant </a:t>
            </a:r>
            <a:r>
              <a:rPr lang="en-US" altLang="zh-TW" dirty="0" err="1" smtClean="0"/>
              <a:t>Gemzar</a:t>
            </a:r>
            <a:r>
              <a:rPr lang="en-US" altLang="zh-TW" dirty="0" smtClean="0"/>
              <a:t>, median PFS 6.7 </a:t>
            </a:r>
            <a:r>
              <a:rPr lang="en-US" altLang="zh-TW" dirty="0" err="1" smtClean="0"/>
              <a:t>vs</a:t>
            </a:r>
            <a:r>
              <a:rPr lang="en-US" altLang="zh-TW" dirty="0" smtClean="0"/>
              <a:t> 13.4m, OS 20 </a:t>
            </a:r>
            <a:r>
              <a:rPr lang="en-US" altLang="zh-TW" dirty="0" err="1" smtClean="0"/>
              <a:t>vs</a:t>
            </a:r>
            <a:r>
              <a:rPr lang="en-US" altLang="zh-TW" dirty="0" smtClean="0"/>
              <a:t> 23m</a:t>
            </a:r>
            <a:endParaRPr lang="zh-TW" altLang="zh-TW" dirty="0"/>
          </a:p>
          <a:p>
            <a:pPr lvl="2"/>
            <a:r>
              <a:rPr lang="zh-TW" altLang="zh-TW" dirty="0" smtClean="0"/>
              <a:t>各</a:t>
            </a:r>
            <a:r>
              <a:rPr lang="en-US" altLang="zh-TW" dirty="0"/>
              <a:t>trial</a:t>
            </a:r>
            <a:r>
              <a:rPr lang="zh-TW" altLang="zh-TW" dirty="0"/>
              <a:t>的</a:t>
            </a:r>
            <a:r>
              <a:rPr lang="en-US" altLang="zh-TW" dirty="0"/>
              <a:t>criticism? </a:t>
            </a:r>
          </a:p>
          <a:p>
            <a:pPr lvl="3"/>
            <a:r>
              <a:rPr lang="en-US" altLang="zh-TW" dirty="0" smtClean="0"/>
              <a:t>ESPAC-1 </a:t>
            </a:r>
            <a:r>
              <a:rPr lang="zh-TW" altLang="zh-TW" dirty="0"/>
              <a:t>的</a:t>
            </a:r>
            <a:r>
              <a:rPr lang="en-US" altLang="zh-TW" dirty="0"/>
              <a:t> RT</a:t>
            </a:r>
            <a:r>
              <a:rPr lang="zh-TW" altLang="zh-TW" dirty="0"/>
              <a:t>是</a:t>
            </a:r>
            <a:r>
              <a:rPr lang="en-US" altLang="zh-TW" dirty="0"/>
              <a:t>40Gy split </a:t>
            </a:r>
            <a:r>
              <a:rPr lang="en-US" altLang="zh-TW" dirty="0" smtClean="0"/>
              <a:t>course, low total dose</a:t>
            </a:r>
          </a:p>
          <a:p>
            <a:pPr lvl="3"/>
            <a:r>
              <a:rPr lang="en-US" altLang="zh-TW" dirty="0" smtClean="0"/>
              <a:t>GITSG 9173: large field RT, low total dose, split course</a:t>
            </a:r>
            <a:endParaRPr lang="zh-TW" altLang="zh-TW" dirty="0"/>
          </a:p>
          <a:p>
            <a:pPr lvl="0"/>
            <a:r>
              <a:rPr lang="en-US" altLang="zh-TW" dirty="0" smtClean="0"/>
              <a:t>Gastric </a:t>
            </a:r>
            <a:r>
              <a:rPr lang="en-US" altLang="zh-TW" dirty="0"/>
              <a:t>adenocarcinoma, </a:t>
            </a:r>
            <a:r>
              <a:rPr lang="zh-TW" altLang="zh-TW" dirty="0"/>
              <a:t>術後</a:t>
            </a:r>
            <a:r>
              <a:rPr lang="en-US" altLang="zh-TW" dirty="0"/>
              <a:t>pT2N0.</a:t>
            </a:r>
            <a:endParaRPr lang="zh-TW" altLang="zh-TW" dirty="0"/>
          </a:p>
          <a:p>
            <a:r>
              <a:rPr lang="en-US" altLang="zh-TW" dirty="0">
                <a:sym typeface="Wingdings"/>
              </a:rPr>
              <a:t></a:t>
            </a:r>
            <a:r>
              <a:rPr lang="en-US" altLang="zh-TW" dirty="0"/>
              <a:t> Adjuvant treatment? </a:t>
            </a:r>
            <a:r>
              <a:rPr lang="zh-TW" altLang="zh-TW" dirty="0"/>
              <a:t>應該就是想問</a:t>
            </a:r>
            <a:r>
              <a:rPr lang="en-US" altLang="zh-TW" dirty="0"/>
              <a:t>INT-0116</a:t>
            </a:r>
            <a:r>
              <a:rPr lang="zh-TW" altLang="zh-TW" dirty="0"/>
              <a:t>和</a:t>
            </a:r>
            <a:r>
              <a:rPr lang="en-US" altLang="zh-TW" dirty="0"/>
              <a:t>MAGIC trial</a:t>
            </a:r>
            <a:r>
              <a:rPr lang="zh-TW" altLang="zh-TW" dirty="0"/>
              <a:t>對</a:t>
            </a:r>
            <a:r>
              <a:rPr lang="en-US" altLang="zh-TW" dirty="0"/>
              <a:t>guideline</a:t>
            </a:r>
            <a:r>
              <a:rPr lang="zh-TW" altLang="zh-TW" dirty="0"/>
              <a:t>的影響</a:t>
            </a:r>
            <a:r>
              <a:rPr lang="en-US" altLang="zh-TW" dirty="0"/>
              <a:t>, </a:t>
            </a:r>
            <a:r>
              <a:rPr lang="zh-TW" altLang="zh-TW" dirty="0"/>
              <a:t>所以把兩種狀況都說了</a:t>
            </a:r>
            <a:r>
              <a:rPr lang="en-US" altLang="zh-TW" dirty="0"/>
              <a:t>.</a:t>
            </a:r>
            <a:endParaRPr lang="zh-TW" altLang="zh-TW" dirty="0"/>
          </a:p>
          <a:p>
            <a:r>
              <a:rPr lang="en-US" altLang="zh-TW" dirty="0">
                <a:sym typeface="Wingdings"/>
              </a:rPr>
              <a:t></a:t>
            </a:r>
            <a:r>
              <a:rPr lang="en-US" altLang="zh-TW" dirty="0"/>
              <a:t> INT-0116</a:t>
            </a:r>
            <a:r>
              <a:rPr lang="zh-TW" altLang="zh-TW" dirty="0"/>
              <a:t>增加</a:t>
            </a:r>
            <a:r>
              <a:rPr lang="en-US" altLang="zh-TW" dirty="0"/>
              <a:t>survival</a:t>
            </a:r>
            <a:r>
              <a:rPr lang="zh-TW" altLang="zh-TW" dirty="0"/>
              <a:t>多少</a:t>
            </a:r>
            <a:r>
              <a:rPr lang="en-US" altLang="zh-TW" dirty="0"/>
              <a:t>? </a:t>
            </a:r>
            <a:r>
              <a:rPr lang="zh-TW" altLang="zh-TW" dirty="0"/>
              <a:t>這個</a:t>
            </a:r>
            <a:r>
              <a:rPr lang="en-US" altLang="zh-TW" dirty="0"/>
              <a:t>trial</a:t>
            </a:r>
            <a:r>
              <a:rPr lang="zh-TW" altLang="zh-TW" dirty="0"/>
              <a:t>的</a:t>
            </a:r>
            <a:r>
              <a:rPr lang="en-US" altLang="zh-TW" dirty="0"/>
              <a:t>criticism? </a:t>
            </a:r>
            <a:r>
              <a:rPr lang="zh-TW" altLang="zh-TW" dirty="0"/>
              <a:t>例如有做</a:t>
            </a:r>
            <a:r>
              <a:rPr lang="en-US" altLang="zh-TW" dirty="0" err="1"/>
              <a:t>ChRT</a:t>
            </a:r>
            <a:r>
              <a:rPr lang="zh-TW" altLang="zh-TW" dirty="0"/>
              <a:t>為何</a:t>
            </a:r>
            <a:r>
              <a:rPr lang="en-US" altLang="zh-TW" dirty="0"/>
              <a:t>DM</a:t>
            </a:r>
            <a:r>
              <a:rPr lang="zh-TW" altLang="zh-TW" dirty="0"/>
              <a:t>比</a:t>
            </a:r>
            <a:r>
              <a:rPr lang="en-US" altLang="zh-TW" dirty="0"/>
              <a:t>op alone</a:t>
            </a:r>
            <a:r>
              <a:rPr lang="zh-TW" altLang="zh-TW" dirty="0"/>
              <a:t>還要差</a:t>
            </a:r>
            <a:r>
              <a:rPr lang="en-US" altLang="zh-TW" dirty="0"/>
              <a:t>? (</a:t>
            </a:r>
            <a:r>
              <a:rPr lang="zh-TW" altLang="zh-TW" dirty="0"/>
              <a:t>只記得</a:t>
            </a:r>
            <a:r>
              <a:rPr lang="en-US" altLang="zh-TW" dirty="0"/>
              <a:t>OS</a:t>
            </a:r>
            <a:r>
              <a:rPr lang="zh-TW" altLang="zh-TW" dirty="0"/>
              <a:t>有差但忘記數據了</a:t>
            </a:r>
            <a:r>
              <a:rPr lang="en-US" altLang="zh-TW" dirty="0"/>
              <a:t>, </a:t>
            </a:r>
            <a:r>
              <a:rPr lang="zh-TW" altLang="zh-TW" dirty="0"/>
              <a:t>其實每年常常出現的</a:t>
            </a:r>
            <a:r>
              <a:rPr lang="en-US" altLang="zh-TW" dirty="0"/>
              <a:t>trial</a:t>
            </a:r>
            <a:r>
              <a:rPr lang="zh-TW" altLang="zh-TW" dirty="0"/>
              <a:t>應該都是經典的</a:t>
            </a:r>
            <a:r>
              <a:rPr lang="en-US" altLang="zh-TW" dirty="0"/>
              <a:t>, </a:t>
            </a:r>
            <a:r>
              <a:rPr lang="zh-TW" altLang="zh-TW" dirty="0"/>
              <a:t>建議數據也背</a:t>
            </a:r>
            <a:r>
              <a:rPr lang="en-US" altLang="zh-TW" dirty="0"/>
              <a:t>, </a:t>
            </a:r>
            <a:r>
              <a:rPr lang="zh-TW" altLang="zh-TW" dirty="0"/>
              <a:t>還有</a:t>
            </a:r>
            <a:r>
              <a:rPr lang="en-US" altLang="zh-TW" dirty="0"/>
              <a:t>ASTRO</a:t>
            </a:r>
            <a:r>
              <a:rPr lang="zh-TW" altLang="zh-TW" dirty="0"/>
              <a:t>教學檔案常常會針對這些</a:t>
            </a:r>
            <a:r>
              <a:rPr lang="en-US" altLang="zh-TW" dirty="0"/>
              <a:t>trial</a:t>
            </a:r>
            <a:r>
              <a:rPr lang="zh-TW" altLang="zh-TW" dirty="0"/>
              <a:t>提出批評</a:t>
            </a:r>
            <a:r>
              <a:rPr lang="en-US" altLang="zh-TW" dirty="0"/>
              <a:t>, </a:t>
            </a:r>
            <a:r>
              <a:rPr lang="zh-TW" altLang="zh-TW" dirty="0"/>
              <a:t>也滿有幫助的</a:t>
            </a:r>
            <a:r>
              <a:rPr lang="en-US" altLang="zh-TW" dirty="0"/>
              <a:t>)</a:t>
            </a:r>
            <a:endParaRPr lang="zh-TW" altLang="zh-TW" dirty="0"/>
          </a:p>
          <a:p>
            <a:r>
              <a:rPr lang="en-US" altLang="zh-TW" dirty="0">
                <a:sym typeface="Wingdings"/>
              </a:rPr>
              <a:t></a:t>
            </a:r>
            <a:r>
              <a:rPr lang="en-US" altLang="zh-TW" dirty="0"/>
              <a:t> </a:t>
            </a:r>
            <a:r>
              <a:rPr lang="zh-TW" altLang="zh-TW" dirty="0"/>
              <a:t>病人突然變成</a:t>
            </a:r>
            <a:r>
              <a:rPr lang="en-US" altLang="zh-TW" dirty="0"/>
              <a:t>N+, </a:t>
            </a:r>
            <a:r>
              <a:rPr lang="zh-TW" altLang="zh-TW" dirty="0"/>
              <a:t>在胃大彎位置</a:t>
            </a:r>
            <a:r>
              <a:rPr lang="en-US" altLang="zh-TW" dirty="0"/>
              <a:t>, RT field</a:t>
            </a:r>
            <a:r>
              <a:rPr lang="zh-TW" altLang="zh-TW" dirty="0"/>
              <a:t>要</a:t>
            </a:r>
            <a:r>
              <a:rPr lang="en-US" altLang="zh-TW" dirty="0"/>
              <a:t>cover</a:t>
            </a:r>
            <a:r>
              <a:rPr lang="zh-TW" altLang="zh-TW" dirty="0"/>
              <a:t>哪裡</a:t>
            </a:r>
            <a:r>
              <a:rPr lang="en-US" altLang="zh-TW" dirty="0"/>
              <a:t>? </a:t>
            </a:r>
            <a:r>
              <a:rPr lang="zh-TW" altLang="zh-TW" dirty="0"/>
              <a:t>就是</a:t>
            </a:r>
            <a:r>
              <a:rPr lang="en-US" altLang="zh-TW" dirty="0"/>
              <a:t>Perez</a:t>
            </a:r>
            <a:r>
              <a:rPr lang="zh-TW" altLang="zh-TW" dirty="0"/>
              <a:t>課本胃的</a:t>
            </a:r>
            <a:r>
              <a:rPr lang="en-US" altLang="zh-TW" dirty="0"/>
              <a:t>4</a:t>
            </a:r>
            <a:r>
              <a:rPr lang="zh-TW" altLang="zh-TW" dirty="0"/>
              <a:t>個區域應該要包的</a:t>
            </a:r>
            <a:r>
              <a:rPr lang="en-US" altLang="zh-TW" dirty="0"/>
              <a:t>LN</a:t>
            </a:r>
            <a:r>
              <a:rPr lang="zh-TW" altLang="zh-TW" dirty="0"/>
              <a:t>及</a:t>
            </a:r>
            <a:r>
              <a:rPr lang="en-US" altLang="zh-TW" dirty="0"/>
              <a:t>organ.</a:t>
            </a:r>
            <a:endParaRPr lang="zh-TW" altLang="zh-TW" dirty="0"/>
          </a:p>
          <a:p>
            <a:r>
              <a:rPr lang="en-US" altLang="zh-TW" dirty="0">
                <a:sym typeface="Wingdings"/>
              </a:rPr>
              <a:t></a:t>
            </a:r>
            <a:r>
              <a:rPr lang="en-US" altLang="zh-TW" dirty="0"/>
              <a:t> GI tract</a:t>
            </a:r>
            <a:r>
              <a:rPr lang="zh-TW" altLang="zh-TW" dirty="0"/>
              <a:t>作</a:t>
            </a:r>
            <a:r>
              <a:rPr lang="en-US" altLang="zh-TW" dirty="0"/>
              <a:t>RT</a:t>
            </a:r>
            <a:r>
              <a:rPr lang="zh-TW" altLang="zh-TW" dirty="0"/>
              <a:t>的限制</a:t>
            </a:r>
            <a:r>
              <a:rPr lang="en-US" altLang="zh-TW" dirty="0"/>
              <a:t>? </a:t>
            </a:r>
            <a:r>
              <a:rPr lang="zh-TW" altLang="zh-TW" dirty="0"/>
              <a:t>有什麼方式可以減少治療的不確定性</a:t>
            </a:r>
            <a:r>
              <a:rPr lang="en-US" altLang="zh-TW" dirty="0"/>
              <a:t>?</a:t>
            </a:r>
            <a:endParaRPr lang="zh-TW" altLang="zh-TW" dirty="0"/>
          </a:p>
          <a:p>
            <a:endParaRPr lang="zh-TW" altLang="en-US" dirty="0"/>
          </a:p>
        </p:txBody>
      </p:sp>
    </p:spTree>
    <p:extLst>
      <p:ext uri="{BB962C8B-B14F-4D97-AF65-F5344CB8AC3E}">
        <p14:creationId xmlns:p14="http://schemas.microsoft.com/office/powerpoint/2010/main" val="11848888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2011 </a:t>
            </a:r>
            <a:r>
              <a:rPr lang="zh-TW" altLang="en-US" dirty="0" smtClean="0"/>
              <a:t>吳孟浩  </a:t>
            </a:r>
            <a:r>
              <a:rPr lang="en-US" altLang="zh-TW" dirty="0" smtClean="0"/>
              <a:t>Colon-rectal-anal</a:t>
            </a:r>
            <a:endParaRPr lang="zh-TW" altLang="en-US" dirty="0"/>
          </a:p>
        </p:txBody>
      </p:sp>
      <p:sp>
        <p:nvSpPr>
          <p:cNvPr id="3" name="內容版面配置區 2"/>
          <p:cNvSpPr>
            <a:spLocks noGrp="1"/>
          </p:cNvSpPr>
          <p:nvPr>
            <p:ph idx="1"/>
          </p:nvPr>
        </p:nvSpPr>
        <p:spPr/>
        <p:txBody>
          <a:bodyPr>
            <a:normAutofit fontScale="55000" lnSpcReduction="20000"/>
          </a:bodyPr>
          <a:lstStyle/>
          <a:p>
            <a:pPr lvl="0"/>
            <a:r>
              <a:rPr lang="en-US" altLang="zh-TW" dirty="0" smtClean="0"/>
              <a:t>Anal cancer</a:t>
            </a:r>
          </a:p>
          <a:p>
            <a:pPr lvl="1"/>
            <a:r>
              <a:rPr lang="en-US" altLang="zh-TW" dirty="0" smtClean="0"/>
              <a:t>Anal </a:t>
            </a:r>
            <a:r>
              <a:rPr lang="en-US" altLang="zh-TW" dirty="0"/>
              <a:t>rectal cancer</a:t>
            </a:r>
            <a:r>
              <a:rPr lang="zh-TW" altLang="zh-TW" dirty="0"/>
              <a:t>的解剖構造</a:t>
            </a:r>
            <a:r>
              <a:rPr lang="en-US" altLang="zh-TW" dirty="0"/>
              <a:t>?</a:t>
            </a:r>
            <a:r>
              <a:rPr lang="zh-TW" altLang="zh-TW" dirty="0"/>
              <a:t>淋巴回流</a:t>
            </a:r>
            <a:r>
              <a:rPr lang="en-US" altLang="zh-TW" dirty="0"/>
              <a:t>?</a:t>
            </a:r>
            <a:endParaRPr lang="zh-TW" altLang="zh-TW" dirty="0"/>
          </a:p>
          <a:p>
            <a:pPr lvl="1"/>
            <a:r>
              <a:rPr lang="zh-TW" altLang="zh-TW" dirty="0"/>
              <a:t>要如何評估肛門癌病人</a:t>
            </a:r>
            <a:r>
              <a:rPr lang="en-US" altLang="zh-TW" dirty="0"/>
              <a:t>?digital examination</a:t>
            </a:r>
            <a:r>
              <a:rPr lang="zh-TW" altLang="zh-TW" dirty="0"/>
              <a:t>的時候要注意哪些</a:t>
            </a:r>
            <a:r>
              <a:rPr lang="en-US" altLang="zh-TW" dirty="0"/>
              <a:t>?(</a:t>
            </a:r>
            <a:r>
              <a:rPr lang="zh-TW" altLang="zh-TW" dirty="0"/>
              <a:t>依某人提出有些因子會影響到預後</a:t>
            </a:r>
            <a:r>
              <a:rPr lang="en-US" altLang="zh-TW" dirty="0"/>
              <a:t>)</a:t>
            </a:r>
            <a:endParaRPr lang="zh-TW" altLang="zh-TW" dirty="0"/>
          </a:p>
          <a:p>
            <a:pPr lvl="1"/>
            <a:r>
              <a:rPr lang="zh-TW" altLang="zh-TW" dirty="0"/>
              <a:t>一個病人</a:t>
            </a:r>
            <a:r>
              <a:rPr lang="en-US" altLang="zh-TW" dirty="0"/>
              <a:t>anal tumor</a:t>
            </a:r>
            <a:r>
              <a:rPr lang="zh-TW" altLang="zh-TW" dirty="0"/>
              <a:t>有</a:t>
            </a:r>
            <a:r>
              <a:rPr lang="en-US" altLang="zh-TW" dirty="0"/>
              <a:t>4cm</a:t>
            </a:r>
            <a:r>
              <a:rPr lang="zh-TW" altLang="zh-TW" dirty="0"/>
              <a:t>，有侵犯到</a:t>
            </a:r>
            <a:r>
              <a:rPr lang="en-US" altLang="zh-TW" dirty="0"/>
              <a:t>anal sphincter</a:t>
            </a:r>
            <a:r>
              <a:rPr lang="zh-TW" altLang="zh-TW" dirty="0"/>
              <a:t>，另外</a:t>
            </a:r>
            <a:r>
              <a:rPr lang="en-US" altLang="zh-TW" dirty="0"/>
              <a:t>pre-sacral</a:t>
            </a:r>
            <a:r>
              <a:rPr lang="zh-TW" altLang="zh-TW" dirty="0"/>
              <a:t>及</a:t>
            </a:r>
            <a:r>
              <a:rPr lang="en-US" altLang="zh-TW" dirty="0"/>
              <a:t>internal iliac</a:t>
            </a:r>
            <a:r>
              <a:rPr lang="zh-TW" altLang="zh-TW" dirty="0"/>
              <a:t>有淋巴結，你的</a:t>
            </a:r>
            <a:r>
              <a:rPr lang="en-US" altLang="zh-TW" dirty="0"/>
              <a:t>staging</a:t>
            </a:r>
            <a:r>
              <a:rPr lang="zh-TW" altLang="zh-TW" dirty="0"/>
              <a:t>要如何下</a:t>
            </a:r>
            <a:r>
              <a:rPr lang="en-US" altLang="zh-TW" dirty="0"/>
              <a:t>?</a:t>
            </a:r>
            <a:endParaRPr lang="zh-TW" altLang="zh-TW" dirty="0"/>
          </a:p>
          <a:p>
            <a:pPr lvl="1"/>
            <a:r>
              <a:rPr lang="zh-TW" altLang="zh-TW" dirty="0"/>
              <a:t>肛門癌有哪些</a:t>
            </a:r>
            <a:r>
              <a:rPr lang="en-US" altLang="zh-TW" dirty="0"/>
              <a:t>risk factor?</a:t>
            </a:r>
            <a:endParaRPr lang="zh-TW" altLang="zh-TW" dirty="0"/>
          </a:p>
          <a:p>
            <a:pPr lvl="1"/>
            <a:r>
              <a:rPr lang="zh-TW" altLang="zh-TW" dirty="0"/>
              <a:t>有哪些條件可以支持肛門保留的局部切除手術</a:t>
            </a:r>
            <a:r>
              <a:rPr lang="en-US" altLang="zh-TW" dirty="0"/>
              <a:t>?</a:t>
            </a:r>
            <a:endParaRPr lang="zh-TW" altLang="zh-TW" dirty="0"/>
          </a:p>
          <a:p>
            <a:pPr lvl="1"/>
            <a:r>
              <a:rPr lang="en-US" altLang="zh-TW" dirty="0"/>
              <a:t>T3N1</a:t>
            </a:r>
            <a:r>
              <a:rPr lang="zh-TW" altLang="zh-TW" dirty="0"/>
              <a:t>的病人，你會如何治療</a:t>
            </a:r>
            <a:r>
              <a:rPr lang="en-US" altLang="zh-TW" dirty="0"/>
              <a:t>?(</a:t>
            </a:r>
            <a:r>
              <a:rPr lang="zh-TW" altLang="zh-TW" dirty="0"/>
              <a:t>包含回答</a:t>
            </a:r>
            <a:r>
              <a:rPr lang="en-US" altLang="zh-TW" dirty="0"/>
              <a:t>RT</a:t>
            </a:r>
            <a:r>
              <a:rPr lang="zh-TW" altLang="zh-TW" dirty="0"/>
              <a:t>的</a:t>
            </a:r>
            <a:r>
              <a:rPr lang="en-US" altLang="zh-TW" dirty="0"/>
              <a:t>dose</a:t>
            </a:r>
            <a:r>
              <a:rPr lang="zh-TW" altLang="zh-TW" dirty="0"/>
              <a:t>及</a:t>
            </a:r>
            <a:r>
              <a:rPr lang="en-US" altLang="zh-TW" dirty="0"/>
              <a:t>field,</a:t>
            </a:r>
            <a:r>
              <a:rPr lang="zh-TW" altLang="zh-TW" dirty="0"/>
              <a:t>依據</a:t>
            </a:r>
            <a:r>
              <a:rPr lang="en-US" altLang="zh-TW" dirty="0"/>
              <a:t>RTOG 98-11</a:t>
            </a:r>
            <a:r>
              <a:rPr lang="zh-TW" altLang="zh-TW" dirty="0"/>
              <a:t>用的</a:t>
            </a:r>
            <a:r>
              <a:rPr lang="en-US" altLang="zh-TW" dirty="0"/>
              <a:t>mitomycin,5-FU</a:t>
            </a:r>
            <a:r>
              <a:rPr lang="zh-TW" altLang="zh-TW" dirty="0"/>
              <a:t>劑量及如何施打</a:t>
            </a:r>
            <a:r>
              <a:rPr lang="en-US" altLang="zh-TW" dirty="0"/>
              <a:t>(</a:t>
            </a:r>
            <a:r>
              <a:rPr lang="zh-TW" altLang="zh-TW" dirty="0"/>
              <a:t>那幾天，幾個</a:t>
            </a:r>
            <a:r>
              <a:rPr lang="en-US" altLang="zh-TW" dirty="0"/>
              <a:t>course)?</a:t>
            </a:r>
            <a:r>
              <a:rPr lang="zh-TW" altLang="zh-TW" dirty="0"/>
              <a:t>你剛提到</a:t>
            </a:r>
            <a:r>
              <a:rPr lang="en-US" altLang="zh-TW" dirty="0"/>
              <a:t>RTOG 9811 study</a:t>
            </a:r>
            <a:r>
              <a:rPr lang="zh-TW" altLang="zh-TW" dirty="0"/>
              <a:t>中</a:t>
            </a:r>
            <a:r>
              <a:rPr lang="en-US" altLang="zh-TW" dirty="0"/>
              <a:t>maintain C/T </a:t>
            </a:r>
            <a:r>
              <a:rPr lang="zh-TW" altLang="zh-TW" dirty="0"/>
              <a:t>的結果如何</a:t>
            </a:r>
            <a:r>
              <a:rPr lang="en-US" altLang="zh-TW" dirty="0"/>
              <a:t>?)</a:t>
            </a:r>
            <a:endParaRPr lang="zh-TW" altLang="zh-TW" dirty="0"/>
          </a:p>
          <a:p>
            <a:pPr lvl="0"/>
            <a:r>
              <a:rPr lang="en-US" altLang="zh-TW" dirty="0" smtClean="0"/>
              <a:t>Rectal cancer</a:t>
            </a:r>
          </a:p>
          <a:p>
            <a:pPr lvl="1"/>
            <a:r>
              <a:rPr lang="zh-TW" altLang="zh-TW" dirty="0" smtClean="0"/>
              <a:t>直腸癌</a:t>
            </a:r>
            <a:r>
              <a:rPr lang="zh-TW" altLang="zh-TW" dirty="0"/>
              <a:t>的解剖構造與腹膜關係</a:t>
            </a:r>
            <a:r>
              <a:rPr lang="en-US" altLang="zh-TW" dirty="0"/>
              <a:t>?</a:t>
            </a:r>
            <a:r>
              <a:rPr lang="zh-TW" altLang="zh-TW" dirty="0"/>
              <a:t>淋巴回流</a:t>
            </a:r>
            <a:r>
              <a:rPr lang="en-US" altLang="zh-TW" dirty="0"/>
              <a:t>?</a:t>
            </a:r>
            <a:endParaRPr lang="zh-TW" altLang="zh-TW" dirty="0"/>
          </a:p>
          <a:p>
            <a:pPr lvl="1"/>
            <a:r>
              <a:rPr lang="zh-TW" altLang="zh-TW" dirty="0"/>
              <a:t>直腸癌有哪些</a:t>
            </a:r>
            <a:r>
              <a:rPr lang="en-US" altLang="zh-TW" dirty="0"/>
              <a:t>risk factor?</a:t>
            </a:r>
            <a:endParaRPr lang="zh-TW" altLang="zh-TW" dirty="0"/>
          </a:p>
          <a:p>
            <a:pPr lvl="1"/>
            <a:r>
              <a:rPr lang="zh-TW" altLang="zh-TW" dirty="0"/>
              <a:t>剛剛有提到</a:t>
            </a:r>
            <a:r>
              <a:rPr lang="en-US" altLang="zh-TW" dirty="0"/>
              <a:t>HNPCC</a:t>
            </a:r>
            <a:r>
              <a:rPr lang="zh-TW" altLang="zh-TW" dirty="0"/>
              <a:t>，這是哪一個</a:t>
            </a:r>
            <a:r>
              <a:rPr lang="en-US" altLang="zh-TW" dirty="0"/>
              <a:t>gene</a:t>
            </a:r>
            <a:r>
              <a:rPr lang="zh-TW" altLang="zh-TW" dirty="0"/>
              <a:t>造成的</a:t>
            </a:r>
            <a:r>
              <a:rPr lang="en-US" altLang="zh-TW" dirty="0"/>
              <a:t>?</a:t>
            </a:r>
            <a:r>
              <a:rPr lang="zh-TW" altLang="zh-TW" dirty="0"/>
              <a:t>有哪些癌症跟</a:t>
            </a:r>
            <a:r>
              <a:rPr lang="en-US" altLang="zh-TW" dirty="0"/>
              <a:t>HNPCC</a:t>
            </a:r>
            <a:r>
              <a:rPr lang="zh-TW" altLang="zh-TW" dirty="0"/>
              <a:t>有關係</a:t>
            </a:r>
            <a:r>
              <a:rPr lang="en-US" altLang="zh-TW" dirty="0"/>
              <a:t>?</a:t>
            </a:r>
            <a:endParaRPr lang="zh-TW" altLang="zh-TW" dirty="0"/>
          </a:p>
          <a:p>
            <a:pPr lvl="1"/>
            <a:r>
              <a:rPr lang="zh-TW" altLang="zh-TW" dirty="0"/>
              <a:t>一個病人診斷出直腸癌，腫瘤侵犯到</a:t>
            </a:r>
            <a:r>
              <a:rPr lang="en-US" altLang="zh-TW" dirty="0"/>
              <a:t>perirectal fat</a:t>
            </a:r>
            <a:r>
              <a:rPr lang="zh-TW" altLang="zh-TW" dirty="0"/>
              <a:t>，在</a:t>
            </a:r>
            <a:r>
              <a:rPr lang="en-US" altLang="zh-TW" dirty="0"/>
              <a:t>external iliac</a:t>
            </a:r>
            <a:r>
              <a:rPr lang="zh-TW" altLang="zh-TW" dirty="0"/>
              <a:t>有一顆三公分的有淋巴結，你的</a:t>
            </a:r>
            <a:r>
              <a:rPr lang="en-US" altLang="zh-TW" dirty="0"/>
              <a:t>staging</a:t>
            </a:r>
            <a:r>
              <a:rPr lang="zh-TW" altLang="zh-TW" dirty="0"/>
              <a:t>要如何下</a:t>
            </a:r>
            <a:r>
              <a:rPr lang="en-US" altLang="zh-TW" dirty="0"/>
              <a:t>?</a:t>
            </a:r>
            <a:endParaRPr lang="zh-TW" altLang="zh-TW" dirty="0"/>
          </a:p>
          <a:p>
            <a:pPr lvl="1"/>
            <a:r>
              <a:rPr lang="zh-TW" altLang="zh-TW" dirty="0"/>
              <a:t>請說出</a:t>
            </a:r>
            <a:r>
              <a:rPr lang="en-US" altLang="zh-TW" dirty="0"/>
              <a:t>rectal cancer T3N1</a:t>
            </a:r>
            <a:r>
              <a:rPr lang="zh-TW" altLang="zh-TW" dirty="0"/>
              <a:t>要如何安排治療計畫</a:t>
            </a:r>
            <a:r>
              <a:rPr lang="en-US" altLang="zh-TW" dirty="0"/>
              <a:t>?</a:t>
            </a:r>
            <a:endParaRPr lang="zh-TW" altLang="zh-TW" dirty="0"/>
          </a:p>
          <a:p>
            <a:pPr lvl="1"/>
            <a:r>
              <a:rPr lang="zh-TW" altLang="zh-TW" dirty="0"/>
              <a:t>剛剛說的是</a:t>
            </a:r>
            <a:r>
              <a:rPr lang="en-US" altLang="zh-TW" dirty="0"/>
              <a:t>long course</a:t>
            </a:r>
            <a:r>
              <a:rPr lang="zh-TW" altLang="zh-TW" dirty="0"/>
              <a:t>的</a:t>
            </a:r>
            <a:r>
              <a:rPr lang="en-US" altLang="zh-TW" dirty="0"/>
              <a:t>RT</a:t>
            </a:r>
            <a:r>
              <a:rPr lang="zh-TW" altLang="zh-TW" dirty="0"/>
              <a:t>，那有哪些</a:t>
            </a:r>
            <a:r>
              <a:rPr lang="en-US" altLang="zh-TW" dirty="0"/>
              <a:t>trial</a:t>
            </a:r>
            <a:r>
              <a:rPr lang="zh-TW" altLang="zh-TW" dirty="0"/>
              <a:t>是</a:t>
            </a:r>
            <a:r>
              <a:rPr lang="en-US" altLang="zh-TW" dirty="0"/>
              <a:t>short course</a:t>
            </a:r>
            <a:r>
              <a:rPr lang="zh-TW" altLang="zh-TW" dirty="0"/>
              <a:t>的</a:t>
            </a:r>
            <a:r>
              <a:rPr lang="en-US" altLang="zh-TW" dirty="0"/>
              <a:t>benefit?</a:t>
            </a:r>
            <a:r>
              <a:rPr lang="zh-TW" altLang="zh-TW" dirty="0"/>
              <a:t>有何優點跟缺點</a:t>
            </a:r>
            <a:r>
              <a:rPr lang="en-US" altLang="zh-TW" dirty="0"/>
              <a:t>?</a:t>
            </a:r>
            <a:endParaRPr lang="zh-TW" altLang="en-US" dirty="0"/>
          </a:p>
        </p:txBody>
      </p:sp>
    </p:spTree>
    <p:extLst>
      <p:ext uri="{BB962C8B-B14F-4D97-AF65-F5344CB8AC3E}">
        <p14:creationId xmlns:p14="http://schemas.microsoft.com/office/powerpoint/2010/main" val="3920899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2010 </a:t>
            </a:r>
            <a:r>
              <a:rPr lang="zh-TW" altLang="en-US" dirty="0" smtClean="0"/>
              <a:t>丁禮莉 </a:t>
            </a:r>
            <a:r>
              <a:rPr lang="en-US" altLang="zh-TW" dirty="0" smtClean="0"/>
              <a:t>(</a:t>
            </a:r>
            <a:r>
              <a:rPr lang="zh-TW" altLang="en-US" dirty="0" smtClean="0"/>
              <a:t>根本是</a:t>
            </a:r>
            <a:r>
              <a:rPr lang="en-US" altLang="zh-TW" dirty="0" smtClean="0"/>
              <a:t>Risk factor </a:t>
            </a:r>
            <a:r>
              <a:rPr lang="zh-TW" altLang="en-US" dirty="0" smtClean="0"/>
              <a:t>大全</a:t>
            </a:r>
            <a:r>
              <a:rPr lang="en-US" altLang="zh-TW" dirty="0" smtClean="0"/>
              <a:t>XD)</a:t>
            </a:r>
            <a:endParaRPr lang="zh-TW" altLang="en-US" dirty="0"/>
          </a:p>
        </p:txBody>
      </p:sp>
      <p:sp>
        <p:nvSpPr>
          <p:cNvPr id="3" name="內容版面配置區 2"/>
          <p:cNvSpPr>
            <a:spLocks noGrp="1"/>
          </p:cNvSpPr>
          <p:nvPr>
            <p:ph idx="1"/>
          </p:nvPr>
        </p:nvSpPr>
        <p:spPr>
          <a:xfrm>
            <a:off x="609600" y="1272619"/>
            <a:ext cx="10972800" cy="5392132"/>
          </a:xfrm>
        </p:spPr>
        <p:txBody>
          <a:bodyPr>
            <a:normAutofit fontScale="47500" lnSpcReduction="20000"/>
          </a:bodyPr>
          <a:lstStyle/>
          <a:p>
            <a:r>
              <a:rPr lang="en-US" altLang="zh-TW" dirty="0" smtClean="0"/>
              <a:t>Liver (</a:t>
            </a:r>
            <a:r>
              <a:rPr lang="zh-TW" altLang="en-US" dirty="0" smtClean="0"/>
              <a:t>請參考前面</a:t>
            </a:r>
            <a:r>
              <a:rPr lang="en-US" altLang="zh-TW" dirty="0" smtClean="0"/>
              <a:t>)</a:t>
            </a:r>
          </a:p>
          <a:p>
            <a:pPr lvl="1"/>
            <a:r>
              <a:rPr lang="en-US" altLang="zh-TW" dirty="0" smtClean="0"/>
              <a:t>Segment </a:t>
            </a:r>
            <a:r>
              <a:rPr lang="en-US" altLang="zh-TW" dirty="0"/>
              <a:t>of liver</a:t>
            </a:r>
            <a:endParaRPr lang="zh-TW" altLang="zh-TW" dirty="0"/>
          </a:p>
          <a:p>
            <a:pPr lvl="1"/>
            <a:r>
              <a:rPr lang="en-US" altLang="zh-TW" dirty="0" err="1" smtClean="0"/>
              <a:t>Hepatoma</a:t>
            </a:r>
            <a:r>
              <a:rPr lang="zh-TW" altLang="zh-TW" dirty="0"/>
              <a:t>的治療</a:t>
            </a:r>
          </a:p>
          <a:p>
            <a:pPr lvl="1"/>
            <a:r>
              <a:rPr lang="en-US" altLang="zh-TW" dirty="0"/>
              <a:t>&gt;2cm hepatoma </a:t>
            </a:r>
            <a:r>
              <a:rPr lang="zh-TW" altLang="zh-TW" dirty="0"/>
              <a:t>的治療</a:t>
            </a:r>
          </a:p>
          <a:p>
            <a:pPr lvl="1"/>
            <a:r>
              <a:rPr lang="en-US" altLang="zh-TW" dirty="0"/>
              <a:t>risk factor of recurrence for hepatoma with liver transplantation</a:t>
            </a:r>
            <a:endParaRPr lang="zh-TW" altLang="zh-TW" dirty="0"/>
          </a:p>
          <a:p>
            <a:r>
              <a:rPr lang="en-US" altLang="zh-TW" dirty="0" smtClean="0"/>
              <a:t>Bile </a:t>
            </a:r>
            <a:r>
              <a:rPr lang="en-US" altLang="zh-TW" dirty="0"/>
              <a:t>duct tumor </a:t>
            </a:r>
            <a:r>
              <a:rPr lang="zh-TW" altLang="zh-TW" dirty="0" smtClean="0"/>
              <a:t>分類</a:t>
            </a:r>
            <a:endParaRPr lang="en-US" altLang="zh-TW" dirty="0" smtClean="0"/>
          </a:p>
          <a:p>
            <a:pPr lvl="1"/>
            <a:r>
              <a:rPr lang="en-US" altLang="zh-TW" dirty="0" smtClean="0"/>
              <a:t>Intrahepatic </a:t>
            </a:r>
            <a:r>
              <a:rPr lang="en-US" altLang="zh-TW" dirty="0"/>
              <a:t>(5-10%)</a:t>
            </a:r>
          </a:p>
          <a:p>
            <a:pPr lvl="1"/>
            <a:r>
              <a:rPr lang="en-US" altLang="zh-TW" dirty="0" err="1"/>
              <a:t>Perihilar</a:t>
            </a:r>
            <a:r>
              <a:rPr lang="en-US" altLang="zh-TW" dirty="0"/>
              <a:t> (65-70%): </a:t>
            </a:r>
            <a:r>
              <a:rPr lang="en-US" altLang="zh-TW" dirty="0" err="1"/>
              <a:t>perihilar</a:t>
            </a:r>
            <a:r>
              <a:rPr lang="en-US" altLang="zh-TW" dirty="0"/>
              <a:t> tumors involving the bifurcation of the hepatic duct are also called </a:t>
            </a:r>
            <a:r>
              <a:rPr lang="en-US" altLang="zh-TW" dirty="0" err="1"/>
              <a:t>Klatskin</a:t>
            </a:r>
            <a:r>
              <a:rPr lang="en-US" altLang="zh-TW" dirty="0"/>
              <a:t> tumors</a:t>
            </a:r>
          </a:p>
          <a:p>
            <a:pPr lvl="1"/>
            <a:r>
              <a:rPr lang="en-US" altLang="zh-TW" dirty="0"/>
              <a:t>Distal </a:t>
            </a:r>
            <a:r>
              <a:rPr lang="en-US" altLang="zh-TW" dirty="0" err="1"/>
              <a:t>extrahepatic</a:t>
            </a:r>
            <a:r>
              <a:rPr lang="en-US" altLang="zh-TW" dirty="0"/>
              <a:t> (25-30%): includes ampulla of </a:t>
            </a:r>
            <a:r>
              <a:rPr lang="en-US" altLang="zh-TW" dirty="0" err="1" smtClean="0"/>
              <a:t>Vater</a:t>
            </a:r>
            <a:endParaRPr lang="zh-TW" altLang="zh-TW" dirty="0"/>
          </a:p>
          <a:p>
            <a:r>
              <a:rPr lang="en-US" altLang="zh-TW" dirty="0" smtClean="0"/>
              <a:t>Risk </a:t>
            </a:r>
            <a:r>
              <a:rPr lang="en-US" altLang="zh-TW" dirty="0"/>
              <a:t>factor of gallbladder </a:t>
            </a:r>
            <a:r>
              <a:rPr lang="en-US" altLang="zh-TW" dirty="0" smtClean="0"/>
              <a:t>cancer</a:t>
            </a:r>
          </a:p>
          <a:p>
            <a:pPr lvl="1"/>
            <a:r>
              <a:rPr lang="en-US" altLang="zh-TW" dirty="0"/>
              <a:t>primary </a:t>
            </a:r>
            <a:r>
              <a:rPr lang="en-US" altLang="zh-TW" dirty="0" err="1"/>
              <a:t>sclerosing</a:t>
            </a:r>
            <a:r>
              <a:rPr lang="en-US" altLang="zh-TW" dirty="0"/>
              <a:t> cholangitis, </a:t>
            </a:r>
            <a:r>
              <a:rPr lang="zh-TW" altLang="zh-TW" dirty="0"/>
              <a:t>肝吸蟲，</a:t>
            </a:r>
            <a:r>
              <a:rPr lang="en-US" altLang="zh-TW" dirty="0"/>
              <a:t>HCV, </a:t>
            </a:r>
            <a:r>
              <a:rPr lang="en-US" altLang="zh-TW" dirty="0" err="1"/>
              <a:t>hepatolithiasis</a:t>
            </a:r>
            <a:r>
              <a:rPr lang="en-US" altLang="zh-TW" dirty="0"/>
              <a:t> (</a:t>
            </a:r>
            <a:r>
              <a:rPr lang="zh-TW" altLang="zh-TW" dirty="0"/>
              <a:t>膽道結石</a:t>
            </a:r>
            <a:r>
              <a:rPr lang="en-US" altLang="zh-TW" dirty="0"/>
              <a:t>), congenital fibrocystic disease</a:t>
            </a:r>
            <a:endParaRPr lang="zh-TW" altLang="zh-TW" dirty="0"/>
          </a:p>
          <a:p>
            <a:r>
              <a:rPr lang="en-US" altLang="zh-TW" dirty="0" smtClean="0"/>
              <a:t>Risk </a:t>
            </a:r>
            <a:r>
              <a:rPr lang="en-US" altLang="zh-TW" dirty="0"/>
              <a:t>factor of gastric </a:t>
            </a:r>
            <a:r>
              <a:rPr lang="en-US" altLang="zh-TW" dirty="0" smtClean="0"/>
              <a:t>cancer</a:t>
            </a:r>
          </a:p>
          <a:p>
            <a:pPr lvl="1"/>
            <a:r>
              <a:rPr lang="en-US" altLang="zh-TW" dirty="0"/>
              <a:t>Helicobacter pylori, pernicious anemia, prior subtotal </a:t>
            </a:r>
            <a:r>
              <a:rPr lang="en-US" altLang="zh-TW" dirty="0" err="1"/>
              <a:t>gastrectomy</a:t>
            </a:r>
            <a:r>
              <a:rPr lang="en-US" altLang="zh-TW" dirty="0"/>
              <a:t> for benign lesion, villous adenoma, family history, previous RT, smoking, alcohol, </a:t>
            </a:r>
            <a:r>
              <a:rPr lang="zh-TW" altLang="zh-TW" dirty="0"/>
              <a:t>煙燻和醃漬類的食物，少蔬果，低社經地位</a:t>
            </a:r>
          </a:p>
          <a:p>
            <a:pPr lvl="1"/>
            <a:r>
              <a:rPr lang="en-US" altLang="zh-TW" dirty="0"/>
              <a:t>Treatment for post </a:t>
            </a:r>
            <a:r>
              <a:rPr lang="en-US" altLang="zh-TW" dirty="0" err="1" smtClean="0"/>
              <a:t>gastrectomy</a:t>
            </a:r>
            <a:endParaRPr lang="en-US" altLang="zh-TW" dirty="0" smtClean="0"/>
          </a:p>
          <a:p>
            <a:pPr lvl="2"/>
            <a:r>
              <a:rPr lang="en-US" altLang="zh-TW" dirty="0"/>
              <a:t>T3 or N1</a:t>
            </a:r>
            <a:r>
              <a:rPr lang="zh-TW" altLang="zh-TW" dirty="0"/>
              <a:t>開完刀但是沒有開</a:t>
            </a:r>
            <a:r>
              <a:rPr lang="en-US" altLang="zh-TW" dirty="0"/>
              <a:t>D2</a:t>
            </a:r>
            <a:r>
              <a:rPr lang="zh-TW" altLang="zh-TW" dirty="0"/>
              <a:t>就要做</a:t>
            </a:r>
            <a:r>
              <a:rPr lang="en-US" altLang="zh-TW" dirty="0"/>
              <a:t>adjuvant </a:t>
            </a:r>
            <a:r>
              <a:rPr lang="en-US" altLang="zh-TW" dirty="0" smtClean="0"/>
              <a:t>CCRT</a:t>
            </a:r>
          </a:p>
          <a:p>
            <a:pPr lvl="2"/>
            <a:r>
              <a:rPr lang="en-US" altLang="zh-TW" dirty="0" smtClean="0"/>
              <a:t>R1 </a:t>
            </a:r>
            <a:r>
              <a:rPr lang="en-US" altLang="zh-TW" dirty="0"/>
              <a:t>or R2 resection</a:t>
            </a:r>
            <a:r>
              <a:rPr lang="zh-TW" altLang="zh-TW" dirty="0"/>
              <a:t>也做</a:t>
            </a:r>
            <a:r>
              <a:rPr lang="en-US" altLang="zh-TW" dirty="0"/>
              <a:t>CCRT</a:t>
            </a:r>
            <a:endParaRPr lang="zh-TW" altLang="zh-TW" dirty="0"/>
          </a:p>
          <a:p>
            <a:r>
              <a:rPr lang="en-US" altLang="zh-TW" dirty="0" smtClean="0"/>
              <a:t>Rectal cancer</a:t>
            </a:r>
          </a:p>
          <a:p>
            <a:pPr lvl="1"/>
            <a:r>
              <a:rPr lang="en-US" altLang="zh-TW" dirty="0" smtClean="0"/>
              <a:t>Risk </a:t>
            </a:r>
            <a:r>
              <a:rPr lang="en-US" altLang="zh-TW" dirty="0"/>
              <a:t>of rectal </a:t>
            </a:r>
            <a:r>
              <a:rPr lang="en-US" altLang="zh-TW" dirty="0" smtClean="0"/>
              <a:t>cancer</a:t>
            </a:r>
            <a:r>
              <a:rPr lang="zh-TW" altLang="en-US" dirty="0" smtClean="0"/>
              <a:t> </a:t>
            </a:r>
            <a:endParaRPr lang="en-US" altLang="zh-TW" dirty="0" smtClean="0"/>
          </a:p>
          <a:p>
            <a:pPr lvl="2"/>
            <a:r>
              <a:rPr lang="zh-TW" altLang="zh-TW" dirty="0">
                <a:solidFill>
                  <a:srgbClr val="00B0F0"/>
                </a:solidFill>
              </a:rPr>
              <a:t>年紀大的老男人愛喝酒</a:t>
            </a:r>
            <a:r>
              <a:rPr lang="en-US" altLang="zh-TW" dirty="0">
                <a:solidFill>
                  <a:srgbClr val="00B0F0"/>
                </a:solidFill>
              </a:rPr>
              <a:t> </a:t>
            </a:r>
            <a:r>
              <a:rPr lang="en-US" altLang="zh-TW" dirty="0"/>
              <a:t>(increasing age, male sex, and excessive alcohol use no smoke compare with anal </a:t>
            </a:r>
            <a:r>
              <a:rPr lang="en-US" altLang="zh-TW" dirty="0" err="1"/>
              <a:t>ca</a:t>
            </a:r>
            <a:r>
              <a:rPr lang="en-US" altLang="zh-TW" dirty="0"/>
              <a:t> smoke only)</a:t>
            </a:r>
            <a:endParaRPr lang="zh-TW" altLang="zh-TW" dirty="0"/>
          </a:p>
          <a:p>
            <a:pPr lvl="1"/>
            <a:r>
              <a:rPr lang="en-US" altLang="zh-TW" dirty="0"/>
              <a:t>Treatment of rectal </a:t>
            </a:r>
            <a:r>
              <a:rPr lang="en-US" altLang="zh-TW" dirty="0" err="1" smtClean="0"/>
              <a:t>ca</a:t>
            </a:r>
            <a:r>
              <a:rPr lang="zh-TW" altLang="en-US" dirty="0" smtClean="0"/>
              <a:t> </a:t>
            </a:r>
            <a:r>
              <a:rPr lang="en-US" altLang="zh-TW" dirty="0"/>
              <a:t>(</a:t>
            </a:r>
            <a:r>
              <a:rPr lang="zh-TW" altLang="en-US" dirty="0"/>
              <a:t>請參考前面</a:t>
            </a:r>
            <a:r>
              <a:rPr lang="en-US" altLang="zh-TW" dirty="0"/>
              <a:t>)</a:t>
            </a:r>
            <a:endParaRPr lang="zh-TW" altLang="zh-TW" dirty="0"/>
          </a:p>
          <a:p>
            <a:pPr lvl="1"/>
            <a:r>
              <a:rPr lang="en-US" altLang="zh-TW" dirty="0" smtClean="0"/>
              <a:t>compare </a:t>
            </a:r>
            <a:r>
              <a:rPr lang="en-US" altLang="zh-TW" dirty="0" err="1"/>
              <a:t>preop</a:t>
            </a:r>
            <a:r>
              <a:rPr lang="en-US" altLang="zh-TW" dirty="0"/>
              <a:t> CCRT and postop CCRT for rectal </a:t>
            </a:r>
            <a:r>
              <a:rPr lang="en-US" altLang="zh-TW" dirty="0" smtClean="0"/>
              <a:t>cancer</a:t>
            </a:r>
            <a:r>
              <a:rPr lang="zh-TW" altLang="en-US" dirty="0" smtClean="0"/>
              <a:t> </a:t>
            </a:r>
            <a:r>
              <a:rPr lang="en-US" altLang="zh-TW" dirty="0"/>
              <a:t>(</a:t>
            </a:r>
            <a:r>
              <a:rPr lang="zh-TW" altLang="en-US" dirty="0"/>
              <a:t>請參考前面</a:t>
            </a:r>
            <a:r>
              <a:rPr lang="en-US" altLang="zh-TW" dirty="0"/>
              <a:t>)</a:t>
            </a:r>
            <a:endParaRPr lang="zh-TW" altLang="zh-TW" dirty="0"/>
          </a:p>
          <a:p>
            <a:r>
              <a:rPr lang="en-US" altLang="zh-TW" dirty="0" smtClean="0"/>
              <a:t>Anal cancer</a:t>
            </a:r>
          </a:p>
          <a:p>
            <a:pPr lvl="1"/>
            <a:r>
              <a:rPr lang="en-US" altLang="zh-TW" dirty="0" smtClean="0"/>
              <a:t>Risk </a:t>
            </a:r>
            <a:r>
              <a:rPr lang="en-US" altLang="zh-TW" dirty="0"/>
              <a:t>factor of anal </a:t>
            </a:r>
            <a:r>
              <a:rPr lang="en-US" altLang="zh-TW" dirty="0" err="1" smtClean="0"/>
              <a:t>ca</a:t>
            </a:r>
            <a:endParaRPr lang="en-US" altLang="zh-TW" dirty="0" smtClean="0"/>
          </a:p>
          <a:p>
            <a:pPr lvl="2"/>
            <a:r>
              <a:rPr lang="en-US" altLang="zh-TW" dirty="0"/>
              <a:t>HPV, HIV, immunosuppression, STD, multiple sexual partners, smoking, GYN history</a:t>
            </a:r>
            <a:endParaRPr lang="zh-TW" altLang="zh-TW" dirty="0"/>
          </a:p>
          <a:p>
            <a:pPr lvl="1"/>
            <a:r>
              <a:rPr lang="en-US" altLang="zh-TW" dirty="0" smtClean="0"/>
              <a:t>Treatment </a:t>
            </a:r>
            <a:r>
              <a:rPr lang="en-US" altLang="zh-TW" dirty="0"/>
              <a:t>of anal </a:t>
            </a:r>
            <a:r>
              <a:rPr lang="en-US" altLang="zh-TW" dirty="0" err="1" smtClean="0"/>
              <a:t>ca</a:t>
            </a:r>
            <a:r>
              <a:rPr lang="en-US" altLang="zh-TW" dirty="0" smtClean="0"/>
              <a:t> (</a:t>
            </a:r>
            <a:r>
              <a:rPr lang="zh-TW" altLang="en-US" dirty="0" smtClean="0"/>
              <a:t>請參考前面</a:t>
            </a:r>
            <a:r>
              <a:rPr lang="en-US" altLang="zh-TW" dirty="0" smtClean="0"/>
              <a:t>)</a:t>
            </a:r>
            <a:endParaRPr lang="zh-TW" altLang="zh-TW" dirty="0"/>
          </a:p>
          <a:p>
            <a:endParaRPr lang="zh-TW" altLang="en-US" dirty="0"/>
          </a:p>
        </p:txBody>
      </p:sp>
    </p:spTree>
    <p:extLst>
      <p:ext uri="{BB962C8B-B14F-4D97-AF65-F5344CB8AC3E}">
        <p14:creationId xmlns:p14="http://schemas.microsoft.com/office/powerpoint/2010/main" val="336976451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548</TotalTime>
  <Words>5457</Words>
  <Application>Microsoft Office PowerPoint</Application>
  <PresentationFormat>寬螢幕</PresentationFormat>
  <Paragraphs>390</Paragraphs>
  <Slides>31</Slides>
  <Notes>9</Notes>
  <HiddenSlides>0</HiddenSlides>
  <MMClips>0</MMClips>
  <ScaleCrop>false</ScaleCrop>
  <HeadingPairs>
    <vt:vector size="6" baseType="variant">
      <vt:variant>
        <vt:lpstr>使用字型</vt:lpstr>
      </vt:variant>
      <vt:variant>
        <vt:i4>8</vt:i4>
      </vt:variant>
      <vt:variant>
        <vt:lpstr>佈景主題</vt:lpstr>
      </vt:variant>
      <vt:variant>
        <vt:i4>2</vt:i4>
      </vt:variant>
      <vt:variant>
        <vt:lpstr>投影片標題</vt:lpstr>
      </vt:variant>
      <vt:variant>
        <vt:i4>31</vt:i4>
      </vt:variant>
    </vt:vector>
  </HeadingPairs>
  <TitlesOfParts>
    <vt:vector size="41" baseType="lpstr">
      <vt:lpstr>Alegreya</vt:lpstr>
      <vt:lpstr>ＭＳ Ｐゴシック</vt:lpstr>
      <vt:lpstr>新細明體</vt:lpstr>
      <vt:lpstr>標楷體</vt:lpstr>
      <vt:lpstr>Arial</vt:lpstr>
      <vt:lpstr>Calibri</vt:lpstr>
      <vt:lpstr>Calibri Light</vt:lpstr>
      <vt:lpstr>Wingdings</vt:lpstr>
      <vt:lpstr>Office 佈景主題</vt:lpstr>
      <vt:lpstr>1_Office 佈景主題</vt:lpstr>
      <vt:lpstr>GI</vt:lpstr>
      <vt:lpstr>2010-2018 GI 歷年</vt:lpstr>
      <vt:lpstr>2018 吳孟浩  Pancreas</vt:lpstr>
      <vt:lpstr>2018 吳孟浩  Pancreas</vt:lpstr>
      <vt:lpstr>2018 吳孟浩  Pancreas</vt:lpstr>
      <vt:lpstr>2018 吳孟浩  Pancreas</vt:lpstr>
      <vt:lpstr>2018 吳孟浩  Pancreas</vt:lpstr>
      <vt:lpstr>2018 吳孟浩  Pancreas</vt:lpstr>
      <vt:lpstr>PowerPoint 簡報</vt:lpstr>
      <vt:lpstr>2018 熊佩韋 HCC</vt:lpstr>
      <vt:lpstr>2018 熊佩韋 HCC</vt:lpstr>
      <vt:lpstr>2018 熊佩韋 HCC</vt:lpstr>
      <vt:lpstr>2017 劉岱瑋 Esophagus</vt:lpstr>
      <vt:lpstr>2017 劉岱瑋 Esophagus</vt:lpstr>
      <vt:lpstr>PowerPoint 簡報</vt:lpstr>
      <vt:lpstr>2017 葉世安 GI</vt:lpstr>
      <vt:lpstr>2017 葉世安 GI</vt:lpstr>
      <vt:lpstr>2016 郭嘉駿 GI</vt:lpstr>
      <vt:lpstr>PowerPoint 簡報</vt:lpstr>
      <vt:lpstr>2016 郭嘉駿 GI</vt:lpstr>
      <vt:lpstr>2016 黃經民 Colon-rectal</vt:lpstr>
      <vt:lpstr>2015 王令瑋</vt:lpstr>
      <vt:lpstr>2015 張東浩 HCC</vt:lpstr>
      <vt:lpstr>2014 劉文山</vt:lpstr>
      <vt:lpstr>2014丁禮莉</vt:lpstr>
      <vt:lpstr>2013 方富民</vt:lpstr>
      <vt:lpstr>2013 鄭鴻鈞</vt:lpstr>
      <vt:lpstr>2012 蔡玉真 Esophagus</vt:lpstr>
      <vt:lpstr>2011 成佳憲</vt:lpstr>
      <vt:lpstr>2011 吳孟浩  Colon-rectal-anal</vt:lpstr>
      <vt:lpstr>2010 丁禮莉 (根本是Risk factor 大全XD)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Lung cancer (NSCLC)</dc:title>
  <dc:creator>VDI用</dc:creator>
  <cp:lastModifiedBy>楊婉琴</cp:lastModifiedBy>
  <cp:revision>63</cp:revision>
  <dcterms:created xsi:type="dcterms:W3CDTF">2019-09-03T02:43:47Z</dcterms:created>
  <dcterms:modified xsi:type="dcterms:W3CDTF">2019-09-21T13:41:49Z</dcterms:modified>
</cp:coreProperties>
</file>