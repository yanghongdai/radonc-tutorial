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7"/>
  </p:notesMasterIdLst>
  <p:sldIdLst>
    <p:sldId id="256" r:id="rId3"/>
    <p:sldId id="257" r:id="rId4"/>
    <p:sldId id="29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98"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99" r:id="rId38"/>
    <p:sldId id="289" r:id="rId39"/>
    <p:sldId id="290" r:id="rId40"/>
    <p:sldId id="291" r:id="rId41"/>
    <p:sldId id="292" r:id="rId42"/>
    <p:sldId id="293" r:id="rId43"/>
    <p:sldId id="294" r:id="rId44"/>
    <p:sldId id="295" r:id="rId45"/>
    <p:sldId id="296" r:id="rId4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471" autoAdjust="0"/>
    <p:restoredTop sz="94660"/>
  </p:normalViewPr>
  <p:slideViewPr>
    <p:cSldViewPr snapToGrid="0">
      <p:cViewPr>
        <p:scale>
          <a:sx n="70" d="100"/>
          <a:sy n="70" d="100"/>
        </p:scale>
        <p:origin x="-80"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E0EC3C-CDAB-48DE-8994-F6C1A8AAF71E}" type="datetimeFigureOut">
              <a:rPr lang="zh-TW" altLang="en-US" smtClean="0"/>
              <a:t>2019/9/30</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6B9739-BE20-4544-87D2-9DC9FF0B6407}" type="slidenum">
              <a:rPr lang="zh-TW" altLang="en-US" smtClean="0"/>
              <a:t>‹#›</a:t>
            </a:fld>
            <a:endParaRPr lang="zh-TW" altLang="en-US"/>
          </a:p>
        </p:txBody>
      </p:sp>
    </p:spTree>
    <p:extLst>
      <p:ext uri="{BB962C8B-B14F-4D97-AF65-F5344CB8AC3E}">
        <p14:creationId xmlns:p14="http://schemas.microsoft.com/office/powerpoint/2010/main" val="868474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34FF4B6-DC42-4EC3-8EF7-D5CF0B1876DC}" type="slidenum">
              <a:rPr lang="zh-TW" altLang="en-US" smtClean="0">
                <a:solidFill>
                  <a:prstClr val="black"/>
                </a:solidFill>
              </a:rPr>
              <a:pPr/>
              <a:t>1</a:t>
            </a:fld>
            <a:endParaRPr lang="zh-TW" altLang="en-US">
              <a:solidFill>
                <a:prstClr val="black"/>
              </a:solidFill>
            </a:endParaRPr>
          </a:p>
        </p:txBody>
      </p:sp>
    </p:spTree>
    <p:extLst>
      <p:ext uri="{BB962C8B-B14F-4D97-AF65-F5344CB8AC3E}">
        <p14:creationId xmlns:p14="http://schemas.microsoft.com/office/powerpoint/2010/main" val="3575348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483D8755-603F-41DD-9E82-CF11CCFE87FE}" type="datetimeFigureOut">
              <a:rPr lang="zh-TW" altLang="en-US" smtClean="0"/>
              <a:t>2019/9/30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420028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83D8755-603F-41DD-9E82-CF11CCFE87FE}" type="datetimeFigureOut">
              <a:rPr lang="zh-TW" altLang="en-US" smtClean="0"/>
              <a:t>2019/9/30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218030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483D8755-603F-41DD-9E82-CF11CCFE87FE}" type="datetimeFigureOut">
              <a:rPr lang="zh-TW" altLang="en-US" smtClean="0"/>
              <a:t>2019/9/30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2746831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483D8755-603F-41DD-9E82-CF11CCFE87FE}" type="datetimeFigureOut">
              <a:rPr lang="zh-TW" altLang="en-US" smtClean="0"/>
              <a:t>2019/9/30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1415658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483D8755-603F-41DD-9E82-CF11CCFE87FE}" type="datetimeFigureOut">
              <a:rPr lang="zh-TW" altLang="en-US" smtClean="0"/>
              <a:t>2019/9/30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865447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483D8755-603F-41DD-9E82-CF11CCFE87FE}" type="datetimeFigureOut">
              <a:rPr lang="zh-TW" altLang="en-US" smtClean="0"/>
              <a:t>2019/9/30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2222261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83D8755-603F-41DD-9E82-CF11CCFE87FE}" type="datetimeFigureOut">
              <a:rPr lang="zh-TW" altLang="en-US" smtClean="0"/>
              <a:t>2019/9/30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2110467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483D8755-603F-41DD-9E82-CF11CCFE87FE}" type="datetimeFigureOut">
              <a:rPr lang="zh-TW" altLang="en-US" smtClean="0"/>
              <a:t>2019/9/30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3044698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483D8755-603F-41DD-9E82-CF11CCFE87FE}" type="datetimeFigureOut">
              <a:rPr lang="zh-TW" altLang="en-US" smtClean="0"/>
              <a:t>2019/9/30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178061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83D8755-603F-41DD-9E82-CF11CCFE87FE}" type="datetimeFigureOut">
              <a:rPr lang="zh-TW" altLang="en-US" smtClean="0"/>
              <a:t>2019/9/30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388792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83D8755-603F-41DD-9E82-CF11CCFE87FE}" type="datetimeFigureOut">
              <a:rPr lang="zh-TW" altLang="en-US" smtClean="0"/>
              <a:t>2019/9/30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681150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26"/>
            <a:ext cx="103632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2019/9/30</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1339270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2019/9/30</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1778252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1"/>
            <a:ext cx="103632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2019/9/30</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41850885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2019/9/30</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4177030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2019/9/30</a:t>
            </a:fld>
            <a:endParaRPr lang="zh-TW" altLang="en-US">
              <a:solidFill>
                <a:prstClr val="black">
                  <a:tint val="75000"/>
                </a:prstClr>
              </a:solidFill>
            </a:endParaRPr>
          </a:p>
        </p:txBody>
      </p:sp>
      <p:sp>
        <p:nvSpPr>
          <p:cNvPr id="8" name="頁尾版面配置區 7"/>
          <p:cNvSpPr>
            <a:spLocks noGrp="1"/>
          </p:cNvSpPr>
          <p:nvPr>
            <p:ph type="ftr" sz="quarter" idx="11"/>
          </p:nvPr>
        </p:nvSpPr>
        <p:spPr/>
        <p:txBody>
          <a:bodyPr/>
          <a:lstStyle/>
          <a:p>
            <a:endParaRPr lang="zh-TW" altLang="en-US">
              <a:solidFill>
                <a:prstClr val="black">
                  <a:tint val="75000"/>
                </a:prstClr>
              </a:solidFill>
            </a:endParaRPr>
          </a:p>
        </p:txBody>
      </p:sp>
      <p:sp>
        <p:nvSpPr>
          <p:cNvPr id="9" name="投影片編號版面配置區 8"/>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9949537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2019/9/30</a:t>
            </a:fld>
            <a:endParaRPr lang="zh-TW" altLang="en-US">
              <a:solidFill>
                <a:prstClr val="black">
                  <a:tint val="75000"/>
                </a:prstClr>
              </a:solidFill>
            </a:endParaRPr>
          </a:p>
        </p:txBody>
      </p:sp>
      <p:sp>
        <p:nvSpPr>
          <p:cNvPr id="4" name="頁尾版面配置區 3"/>
          <p:cNvSpPr>
            <a:spLocks noGrp="1"/>
          </p:cNvSpPr>
          <p:nvPr>
            <p:ph type="ftr" sz="quarter" idx="11"/>
          </p:nvPr>
        </p:nvSpPr>
        <p:spPr/>
        <p:txBody>
          <a:bodyPr/>
          <a:lstStyle/>
          <a:p>
            <a:endParaRPr lang="zh-TW" altLang="en-US">
              <a:solidFill>
                <a:prstClr val="black">
                  <a:tint val="75000"/>
                </a:prstClr>
              </a:solidFill>
            </a:endParaRPr>
          </a:p>
        </p:txBody>
      </p:sp>
      <p:sp>
        <p:nvSpPr>
          <p:cNvPr id="5" name="投影片編號版面配置區 4"/>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1914855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2019/9/30</a:t>
            </a:fld>
            <a:endParaRPr lang="zh-TW" altLang="en-US">
              <a:solidFill>
                <a:prstClr val="black">
                  <a:tint val="75000"/>
                </a:prstClr>
              </a:solidFill>
            </a:endParaRPr>
          </a:p>
        </p:txBody>
      </p:sp>
      <p:sp>
        <p:nvSpPr>
          <p:cNvPr id="3" name="頁尾版面配置區 2"/>
          <p:cNvSpPr>
            <a:spLocks noGrp="1"/>
          </p:cNvSpPr>
          <p:nvPr>
            <p:ph type="ftr" sz="quarter" idx="11"/>
          </p:nvPr>
        </p:nvSpPr>
        <p:spPr/>
        <p:txBody>
          <a:bodyPr/>
          <a:lstStyle/>
          <a:p>
            <a:endParaRPr lang="zh-TW" altLang="en-US">
              <a:solidFill>
                <a:prstClr val="black">
                  <a:tint val="75000"/>
                </a:prstClr>
              </a:solidFill>
            </a:endParaRPr>
          </a:p>
        </p:txBody>
      </p:sp>
      <p:sp>
        <p:nvSpPr>
          <p:cNvPr id="4" name="投影片編號版面配置區 3"/>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4226913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1" y="273050"/>
            <a:ext cx="4011084"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2019/9/30</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6659085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2019/9/30</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9051440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2019/9/30</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881963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839200" y="274639"/>
            <a:ext cx="27432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09600" y="274639"/>
            <a:ext cx="80264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7B96D06-473C-4AC0-A51C-DC89895D343D}" type="datetimeFigureOut">
              <a:rPr lang="zh-TW" altLang="en-US" smtClean="0">
                <a:solidFill>
                  <a:prstClr val="black">
                    <a:tint val="75000"/>
                  </a:prstClr>
                </a:solidFill>
              </a:rPr>
              <a:pPr/>
              <a:t>2019/9/30</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27218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3D8755-603F-41DD-9E82-CF11CCFE87FE}" type="datetimeFigureOut">
              <a:rPr lang="zh-TW" altLang="en-US" smtClean="0"/>
              <a:t>2019/9/30</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3415C3-29F2-462F-A764-713450682BB0}" type="slidenum">
              <a:rPr lang="zh-TW" altLang="en-US" smtClean="0"/>
              <a:t>‹#›</a:t>
            </a:fld>
            <a:endParaRPr lang="zh-TW" altLang="en-US"/>
          </a:p>
        </p:txBody>
      </p:sp>
    </p:spTree>
    <p:extLst>
      <p:ext uri="{BB962C8B-B14F-4D97-AF65-F5344CB8AC3E}">
        <p14:creationId xmlns:p14="http://schemas.microsoft.com/office/powerpoint/2010/main" val="1311589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B96D06-473C-4AC0-A51C-DC89895D343D}" type="datetimeFigureOut">
              <a:rPr lang="zh-TW" altLang="en-US" smtClean="0">
                <a:solidFill>
                  <a:prstClr val="black">
                    <a:tint val="75000"/>
                  </a:prstClr>
                </a:solidFill>
              </a:rPr>
              <a:pPr/>
              <a:t>2019/9/30</a:t>
            </a:fld>
            <a:endParaRPr lang="zh-TW" altLang="en-US">
              <a:solidFill>
                <a:prstClr val="black">
                  <a:tint val="75000"/>
                </a:prstClr>
              </a:solidFill>
            </a:endParaRPr>
          </a:p>
        </p:txBody>
      </p:sp>
      <p:sp>
        <p:nvSpPr>
          <p:cNvPr id="5" name="頁尾版面配置區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solidFill>
                <a:prstClr val="black">
                  <a:tint val="75000"/>
                </a:prstClr>
              </a:solidFill>
            </a:endParaRPr>
          </a:p>
        </p:txBody>
      </p:sp>
      <p:sp>
        <p:nvSpPr>
          <p:cNvPr id="6" name="投影片編號版面配置區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C3DA4F-CCEB-4A8B-BBA5-E9B8671591DC}"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8859128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5.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3.xml"/><Relationship Id="rId5" Type="http://schemas.openxmlformats.org/officeDocument/2006/relationships/image" Target="../media/image43.png"/><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3.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Lung cancer (NSCLC)</a:t>
            </a:r>
            <a:endParaRPr lang="zh-TW" altLang="en-US" dirty="0"/>
          </a:p>
        </p:txBody>
      </p:sp>
      <p:sp>
        <p:nvSpPr>
          <p:cNvPr id="3" name="副標題 2"/>
          <p:cNvSpPr>
            <a:spLocks noGrp="1"/>
          </p:cNvSpPr>
          <p:nvPr>
            <p:ph type="subTitle" idx="1"/>
          </p:nvPr>
        </p:nvSpPr>
        <p:spPr/>
        <p:txBody>
          <a:bodyPr/>
          <a:lstStyle/>
          <a:p>
            <a:endParaRPr lang="en-US" altLang="zh-TW" dirty="0" smtClean="0"/>
          </a:p>
          <a:p>
            <a:r>
              <a:rPr lang="en-US" altLang="zh-TW" smtClean="0"/>
              <a:t>2019/9/3</a:t>
            </a:r>
            <a:endParaRPr lang="zh-TW" altLang="en-US" dirty="0" smtClean="0"/>
          </a:p>
          <a:p>
            <a:endParaRPr lang="zh-TW" altLang="en-US" dirty="0"/>
          </a:p>
        </p:txBody>
      </p:sp>
    </p:spTree>
    <p:extLst>
      <p:ext uri="{BB962C8B-B14F-4D97-AF65-F5344CB8AC3E}">
        <p14:creationId xmlns:p14="http://schemas.microsoft.com/office/powerpoint/2010/main" val="36606733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陳妙</a:t>
            </a:r>
            <a:r>
              <a:rPr lang="zh-TW" altLang="en-US" dirty="0"/>
              <a:t>芬</a:t>
            </a:r>
            <a:endParaRPr lang="zh-TW" altLang="en-US" dirty="0"/>
          </a:p>
        </p:txBody>
      </p:sp>
      <p:sp>
        <p:nvSpPr>
          <p:cNvPr id="3" name="內容版面配置區 2"/>
          <p:cNvSpPr>
            <a:spLocks noGrp="1"/>
          </p:cNvSpPr>
          <p:nvPr>
            <p:ph idx="1"/>
          </p:nvPr>
        </p:nvSpPr>
        <p:spPr/>
        <p:txBody>
          <a:bodyPr>
            <a:normAutofit fontScale="47500" lnSpcReduction="20000"/>
          </a:bodyPr>
          <a:lstStyle/>
          <a:p>
            <a:pPr>
              <a:lnSpc>
                <a:spcPct val="107000"/>
              </a:lnSpc>
            </a:pPr>
            <a:r>
              <a:rPr lang="fr-FR" altLang="zh-TW" b="1" kern="100" dirty="0">
                <a:latin typeface="Times New Roman" panose="02020603050405020304" pitchFamily="18" charset="0"/>
                <a:ea typeface="標楷體" panose="03000509000000000000" pitchFamily="65" charset="-120"/>
                <a:cs typeface="Times New Roman" panose="02020603050405020304" pitchFamily="18" charset="0"/>
              </a:rPr>
              <a:t>2014 </a:t>
            </a:r>
            <a:r>
              <a:rPr lang="zh-TW" altLang="zh-TW" b="1" kern="100" dirty="0">
                <a:latin typeface="Times New Roman" panose="02020603050405020304" pitchFamily="18" charset="0"/>
                <a:ea typeface="標楷體" panose="03000509000000000000" pitchFamily="65" charset="-120"/>
                <a:cs typeface="Times New Roman" panose="02020603050405020304" pitchFamily="18" charset="0"/>
              </a:rPr>
              <a:t>陳妙芬</a:t>
            </a:r>
            <a:endParaRPr lang="zh-TW" altLang="zh-TW" sz="2800" b="1" dirty="0">
              <a:latin typeface="Calibri" panose="020F0502020204030204" pitchFamily="34" charset="0"/>
              <a:cs typeface="Times New Roman" panose="02020603050405020304" pitchFamily="18" charset="0"/>
            </a:endParaRPr>
          </a:p>
          <a:p>
            <a:pPr>
              <a:lnSpc>
                <a:spcPct val="107000"/>
              </a:lnSpc>
            </a:pP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Lung CA SBRT</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的</a:t>
            </a:r>
            <a:r>
              <a:rPr lang="fr-FR" altLang="zh-TW" kern="100" dirty="0" smtClean="0">
                <a:latin typeface="Times New Roman" panose="02020603050405020304" pitchFamily="18" charset="0"/>
                <a:ea typeface="標楷體" panose="03000509000000000000" pitchFamily="65" charset="-120"/>
                <a:cs typeface="Times New Roman" panose="02020603050405020304" pitchFamily="18" charset="0"/>
              </a:rPr>
              <a:t>indication  tumor size &lt;5 cm, without lymphadenopathy   T1, T2, N0M0, medically inoperable, or patient refuse to receive surgery   </a:t>
            </a:r>
            <a:endParaRPr lang="zh-TW" altLang="zh-TW" sz="2800" dirty="0">
              <a:latin typeface="Calibri" panose="020F0502020204030204" pitchFamily="34" charset="0"/>
              <a:cs typeface="Times New Roman" panose="02020603050405020304" pitchFamily="18" charset="0"/>
            </a:endParaRPr>
          </a:p>
          <a:p>
            <a:pPr>
              <a:lnSpc>
                <a:spcPct val="107000"/>
              </a:lnSpc>
            </a:pP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SBRT</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定義</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條件</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zh-TW" sz="2800" dirty="0">
              <a:latin typeface="Calibri" panose="020F0502020204030204" pitchFamily="34" charset="0"/>
              <a:cs typeface="Times New Roman" panose="02020603050405020304" pitchFamily="18" charset="0"/>
            </a:endParaRPr>
          </a:p>
          <a:p>
            <a:pPr>
              <a:lnSpc>
                <a:spcPct val="107000"/>
              </a:lnSpc>
            </a:pP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Lung CA SBRT dose prescription? </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 Peripheral tumor ( 34 </a:t>
            </a:r>
            <a:r>
              <a:rPr lang="en-US" altLang="zh-TW" kern="100" dirty="0" err="1" smtClean="0">
                <a:latin typeface="Times New Roman" panose="02020603050405020304" pitchFamily="18" charset="0"/>
                <a:ea typeface="標楷體" panose="03000509000000000000" pitchFamily="65" charset="-120"/>
                <a:cs typeface="Times New Roman" panose="02020603050405020304" pitchFamily="18" charset="0"/>
              </a:rPr>
              <a:t>Gy</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/1 </a:t>
            </a:r>
            <a:r>
              <a:rPr lang="en-US" altLang="zh-TW" kern="100" dirty="0" err="1" smtClean="0">
                <a:latin typeface="Times New Roman" panose="02020603050405020304" pitchFamily="18" charset="0"/>
                <a:ea typeface="標楷體" panose="03000509000000000000" pitchFamily="65" charset="-120"/>
                <a:cs typeface="Times New Roman" panose="02020603050405020304" pitchFamily="18" charset="0"/>
              </a:rPr>
              <a:t>fx</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 15-20 </a:t>
            </a:r>
            <a:r>
              <a:rPr lang="en-US" altLang="zh-TW" kern="100" dirty="0" err="1" smtClean="0">
                <a:latin typeface="Times New Roman" panose="02020603050405020304" pitchFamily="18" charset="0"/>
                <a:ea typeface="標楷體" panose="03000509000000000000" pitchFamily="65" charset="-120"/>
                <a:cs typeface="Times New Roman" panose="02020603050405020304" pitchFamily="18" charset="0"/>
              </a:rPr>
              <a:t>Gy</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/3 fractions)</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 or central tumor(&lt; 2cm from proximal </a:t>
            </a:r>
            <a:r>
              <a:rPr lang="en-US" altLang="zh-TW" kern="100" dirty="0" err="1" smtClean="0">
                <a:latin typeface="Times New Roman" panose="02020603050405020304" pitchFamily="18" charset="0"/>
                <a:ea typeface="標楷體" panose="03000509000000000000" pitchFamily="65" charset="-120"/>
                <a:cs typeface="Times New Roman" panose="02020603050405020304" pitchFamily="18" charset="0"/>
              </a:rPr>
              <a:t>brochial</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 tree) (48-50 </a:t>
            </a:r>
            <a:r>
              <a:rPr lang="en-US" altLang="zh-TW" kern="100" dirty="0" err="1" smtClean="0">
                <a:latin typeface="Times New Roman" panose="02020603050405020304" pitchFamily="18" charset="0"/>
                <a:ea typeface="標楷體" panose="03000509000000000000" pitchFamily="65" charset="-120"/>
                <a:cs typeface="Times New Roman" panose="02020603050405020304" pitchFamily="18" charset="0"/>
              </a:rPr>
              <a:t>Gy</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/4-5 fractions, 60-70/8-10 fractions) </a:t>
            </a:r>
            <a:endParaRPr lang="zh-TW" altLang="zh-TW" sz="2800" dirty="0">
              <a:latin typeface="Calibri" panose="020F0502020204030204" pitchFamily="34" charset="0"/>
              <a:cs typeface="Times New Roman" panose="02020603050405020304" pitchFamily="18" charset="0"/>
            </a:endParaRPr>
          </a:p>
          <a:p>
            <a:pPr>
              <a:lnSpc>
                <a:spcPct val="107000"/>
              </a:lnSpc>
            </a:pP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Lung CA SBRT local control </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是多少</a:t>
            </a:r>
            <a:r>
              <a:rPr lang="fr-FR" altLang="zh-TW" kern="100" dirty="0" smtClean="0">
                <a:latin typeface="Times New Roman" panose="02020603050405020304" pitchFamily="18" charset="0"/>
                <a:ea typeface="標楷體" panose="03000509000000000000" pitchFamily="65" charset="-120"/>
                <a:cs typeface="Times New Roman" panose="02020603050405020304" pitchFamily="18" charset="0"/>
              </a:rPr>
              <a:t>? 80-90%</a:t>
            </a:r>
            <a:endParaRPr lang="zh-TW" altLang="zh-TW" sz="2800" dirty="0">
              <a:latin typeface="Calibri" panose="020F0502020204030204" pitchFamily="34" charset="0"/>
              <a:cs typeface="Times New Roman" panose="02020603050405020304" pitchFamily="18" charset="0"/>
            </a:endParaRPr>
          </a:p>
          <a:p>
            <a:pPr>
              <a:lnSpc>
                <a:spcPct val="107000"/>
              </a:lnSpc>
            </a:pP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OAR</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的</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dose constraint? </a:t>
            </a:r>
            <a:r>
              <a:rPr lang="fr-FR" altLang="zh-TW" kern="100" dirty="0" smtClean="0">
                <a:latin typeface="Times New Roman" panose="02020603050405020304" pitchFamily="18" charset="0"/>
                <a:ea typeface="標楷體" panose="03000509000000000000" pitchFamily="65" charset="-120"/>
                <a:cs typeface="Times New Roman" panose="02020603050405020304" pitchFamily="18" charset="0"/>
              </a:rPr>
              <a:t> </a:t>
            </a:r>
            <a:r>
              <a:rPr lang="zh-TW" altLang="en-US" kern="100" dirty="0" smtClean="0">
                <a:latin typeface="Times New Roman" panose="02020603050405020304" pitchFamily="18" charset="0"/>
                <a:ea typeface="標楷體" panose="03000509000000000000" pitchFamily="65" charset="-120"/>
                <a:cs typeface="Times New Roman" panose="02020603050405020304" pitchFamily="18" charset="0"/>
              </a:rPr>
              <a:t>如果是</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single</a:t>
            </a:r>
            <a:r>
              <a:rPr lang="zh-TW" altLang="en-US" kern="1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dose</a:t>
            </a:r>
            <a:r>
              <a:rPr lang="zh-TW" altLang="en-US" kern="1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spine &lt; 13 </a:t>
            </a:r>
            <a:r>
              <a:rPr lang="en-US" altLang="zh-TW" kern="100" dirty="0" err="1" smtClean="0">
                <a:latin typeface="Times New Roman" panose="02020603050405020304" pitchFamily="18" charset="0"/>
                <a:ea typeface="標楷體" panose="03000509000000000000" pitchFamily="65" charset="-120"/>
                <a:cs typeface="Times New Roman" panose="02020603050405020304" pitchFamily="18" charset="0"/>
              </a:rPr>
              <a:t>Gy</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 3 fractions -&gt; 20 </a:t>
            </a:r>
            <a:r>
              <a:rPr lang="en-US" altLang="zh-TW" kern="100" dirty="0" err="1" smtClean="0">
                <a:latin typeface="Times New Roman" panose="02020603050405020304" pitchFamily="18" charset="0"/>
                <a:ea typeface="標楷體" panose="03000509000000000000" pitchFamily="65" charset="-120"/>
                <a:cs typeface="Times New Roman" panose="02020603050405020304" pitchFamily="18" charset="0"/>
              </a:rPr>
              <a:t>Gy</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 </a:t>
            </a:r>
            <a:r>
              <a:rPr lang="zh-TW" altLang="en-US" kern="100" dirty="0" smtClean="0">
                <a:latin typeface="Times New Roman" panose="02020603050405020304" pitchFamily="18" charset="0"/>
                <a:ea typeface="標楷體" panose="03000509000000000000" pitchFamily="65" charset="-120"/>
                <a:cs typeface="Times New Roman" panose="02020603050405020304" pitchFamily="18" charset="0"/>
              </a:rPr>
              <a:t>食道 </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30 </a:t>
            </a:r>
            <a:r>
              <a:rPr lang="en-US" altLang="zh-TW" kern="100" dirty="0" err="1" smtClean="0">
                <a:latin typeface="Times New Roman" panose="02020603050405020304" pitchFamily="18" charset="0"/>
                <a:ea typeface="標楷體" panose="03000509000000000000" pitchFamily="65" charset="-120"/>
                <a:cs typeface="Times New Roman" panose="02020603050405020304" pitchFamily="18" charset="0"/>
              </a:rPr>
              <a:t>Gy</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 heart 34 </a:t>
            </a:r>
            <a:r>
              <a:rPr lang="en-US" altLang="zh-TW" kern="100" dirty="0" err="1" smtClean="0">
                <a:latin typeface="Times New Roman" panose="02020603050405020304" pitchFamily="18" charset="0"/>
                <a:ea typeface="標楷體" panose="03000509000000000000" pitchFamily="65" charset="-120"/>
                <a:cs typeface="Times New Roman" panose="02020603050405020304" pitchFamily="18" charset="0"/>
              </a:rPr>
              <a:t>Gy</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 great vessel 50 </a:t>
            </a:r>
            <a:r>
              <a:rPr lang="en-US" altLang="zh-TW" kern="100" dirty="0" err="1" smtClean="0">
                <a:latin typeface="Times New Roman" panose="02020603050405020304" pitchFamily="18" charset="0"/>
                <a:ea typeface="標楷體" panose="03000509000000000000" pitchFamily="65" charset="-120"/>
                <a:cs typeface="Times New Roman" panose="02020603050405020304" pitchFamily="18" charset="0"/>
              </a:rPr>
              <a:t>Gy</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  </a:t>
            </a:r>
            <a:endParaRPr lang="zh-TW" altLang="zh-TW" sz="2800" dirty="0">
              <a:latin typeface="Calibri" panose="020F0502020204030204" pitchFamily="34" charset="0"/>
              <a:cs typeface="Times New Roman" panose="02020603050405020304" pitchFamily="18" charset="0"/>
            </a:endParaRPr>
          </a:p>
          <a:p>
            <a:pPr>
              <a:lnSpc>
                <a:spcPct val="107000"/>
              </a:lnSpc>
            </a:pP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central lesion </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的</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SBRT normal organ</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假如</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BED</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用</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3</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，要多少以下</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 Ans ~250(</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她說沒關係大家都不會</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zh-TW" sz="2800" dirty="0">
              <a:latin typeface="Calibri" panose="020F0502020204030204" pitchFamily="34" charset="0"/>
              <a:cs typeface="Times New Roman" panose="02020603050405020304" pitchFamily="18" charset="0"/>
            </a:endParaRPr>
          </a:p>
          <a:p>
            <a:pPr>
              <a:lnSpc>
                <a:spcPct val="107000"/>
              </a:lnSpc>
            </a:pP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那個部位的</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NSCLC</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標準是先</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CCRT? superior sulcus tumor</a:t>
            </a:r>
            <a:endParaRPr lang="zh-TW" altLang="zh-TW" sz="2800" dirty="0">
              <a:latin typeface="Calibri" panose="020F0502020204030204" pitchFamily="34" charset="0"/>
              <a:cs typeface="Times New Roman" panose="02020603050405020304" pitchFamily="18" charset="0"/>
            </a:endParaRPr>
          </a:p>
          <a:p>
            <a:pPr>
              <a:lnSpc>
                <a:spcPct val="107000"/>
              </a:lnSpc>
            </a:pP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IIIB tx? definitive CCRT, RT dose</a:t>
            </a:r>
            <a:r>
              <a:rPr lang="zh-TW" altLang="zh-TW" kern="10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 60 </a:t>
            </a:r>
            <a:r>
              <a:rPr lang="en-US" altLang="zh-TW" kern="100" dirty="0" err="1" smtClean="0">
                <a:latin typeface="Times New Roman" panose="02020603050405020304" pitchFamily="18" charset="0"/>
                <a:ea typeface="標楷體" panose="03000509000000000000" pitchFamily="65" charset="-120"/>
                <a:cs typeface="Times New Roman" panose="02020603050405020304" pitchFamily="18" charset="0"/>
              </a:rPr>
              <a:t>Gy</a:t>
            </a:r>
            <a:r>
              <a:rPr lang="en-US" altLang="zh-TW" kern="100" dirty="0" smtClean="0">
                <a:latin typeface="Times New Roman" panose="02020603050405020304" pitchFamily="18" charset="0"/>
                <a:ea typeface="標楷體" panose="03000509000000000000" pitchFamily="65" charset="-120"/>
                <a:cs typeface="Times New Roman" panose="02020603050405020304" pitchFamily="18" charset="0"/>
              </a:rPr>
              <a:t> ( by 0617 ) </a:t>
            </a:r>
            <a:endParaRPr lang="zh-TW" altLang="zh-TW" sz="2800" dirty="0">
              <a:latin typeface="Calibri" panose="020F0502020204030204" pitchFamily="34" charset="0"/>
              <a:cs typeface="Times New Roman" panose="02020603050405020304" pitchFamily="18" charset="0"/>
            </a:endParaRPr>
          </a:p>
          <a:p>
            <a:pPr>
              <a:lnSpc>
                <a:spcPct val="107000"/>
              </a:lnSpc>
            </a:pP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SCLC cT1N0M0</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的</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management?</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可以考慮</a:t>
            </a:r>
            <a:r>
              <a:rPr lang="fr-FR" altLang="zh-TW" kern="100" dirty="0" smtClean="0">
                <a:latin typeface="Times New Roman" panose="02020603050405020304" pitchFamily="18" charset="0"/>
                <a:ea typeface="標楷體" panose="03000509000000000000" pitchFamily="65" charset="-120"/>
                <a:cs typeface="Times New Roman" panose="02020603050405020304" pitchFamily="18" charset="0"/>
              </a:rPr>
              <a:t>OP or SBRT if medically inoperable</a:t>
            </a:r>
            <a:endParaRPr lang="zh-TW" altLang="zh-TW" sz="2800" dirty="0">
              <a:latin typeface="Calibri" panose="020F0502020204030204" pitchFamily="34" charset="0"/>
              <a:cs typeface="Times New Roman" panose="02020603050405020304" pitchFamily="18" charset="0"/>
            </a:endParaRPr>
          </a:p>
          <a:p>
            <a:pPr>
              <a:lnSpc>
                <a:spcPct val="107000"/>
              </a:lnSpc>
            </a:pP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SCLC limited stage CCRT dose? </a:t>
            </a:r>
            <a:r>
              <a:rPr lang="fr-FR" altLang="zh-TW" kern="100" dirty="0" smtClean="0">
                <a:latin typeface="Times New Roman" panose="02020603050405020304" pitchFamily="18" charset="0"/>
                <a:ea typeface="標楷體" panose="03000509000000000000" pitchFamily="65" charset="-120"/>
                <a:cs typeface="Times New Roman" panose="02020603050405020304" pitchFamily="18" charset="0"/>
              </a:rPr>
              <a:t> 45 Gy BID   (However, </a:t>
            </a:r>
            <a:r>
              <a:rPr lang="fr-FR" altLang="zh-TW" kern="100"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CONVERT also shoewd similar results with 66 Gy QD, but it is a superiority designed trial </a:t>
            </a:r>
            <a:r>
              <a:rPr lang="zh-TW" altLang="en-US" kern="100"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kern="1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kern="100"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standard  should be 45 </a:t>
            </a:r>
            <a:r>
              <a:rPr lang="en-US" altLang="zh-TW" kern="100" dirty="0" err="1"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Gy</a:t>
            </a:r>
            <a:r>
              <a:rPr lang="en-US" altLang="zh-TW" kern="100"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with 1.5 </a:t>
            </a:r>
            <a:r>
              <a:rPr lang="en-US" altLang="zh-TW" kern="100" dirty="0" err="1"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Gy</a:t>
            </a:r>
            <a:r>
              <a:rPr lang="en-US" altLang="zh-TW" kern="100" dirty="0" smtClean="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 BID </a:t>
            </a:r>
            <a:r>
              <a:rPr lang="fr-FR" altLang="zh-TW" kern="100" dirty="0" smtClean="0">
                <a:latin typeface="Times New Roman" panose="02020603050405020304" pitchFamily="18" charset="0"/>
                <a:ea typeface="標楷體" panose="03000509000000000000" pitchFamily="65" charset="-120"/>
                <a:cs typeface="Times New Roman" panose="02020603050405020304" pitchFamily="18" charset="0"/>
              </a:rPr>
              <a:t>)</a:t>
            </a:r>
            <a:endParaRPr lang="zh-TW" altLang="zh-TW" sz="2800" dirty="0">
              <a:latin typeface="Calibri" panose="020F0502020204030204" pitchFamily="34" charset="0"/>
              <a:cs typeface="Times New Roman" panose="02020603050405020304" pitchFamily="18" charset="0"/>
            </a:endParaRPr>
          </a:p>
          <a:p>
            <a:pPr>
              <a:lnSpc>
                <a:spcPct val="107000"/>
              </a:lnSpc>
            </a:pP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CCRT</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在</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chemo</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第幾個</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course</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給予</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?--&gt; (1,2</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間</a:t>
            </a: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zh-TW" sz="2800" dirty="0">
              <a:latin typeface="Calibri" panose="020F0502020204030204" pitchFamily="34" charset="0"/>
              <a:cs typeface="Times New Roman" panose="02020603050405020304" pitchFamily="18" charset="0"/>
            </a:endParaRPr>
          </a:p>
          <a:p>
            <a:pPr>
              <a:lnSpc>
                <a:spcPct val="107000"/>
              </a:lnSpc>
            </a:pP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PCI role</a:t>
            </a:r>
            <a:r>
              <a:rPr lang="zh-TW" altLang="zh-TW" kern="10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zh-TW" sz="2800" dirty="0">
              <a:latin typeface="Calibri" panose="020F0502020204030204" pitchFamily="34" charset="0"/>
              <a:cs typeface="Times New Roman" panose="02020603050405020304" pitchFamily="18" charset="0"/>
            </a:endParaRPr>
          </a:p>
          <a:p>
            <a:pPr>
              <a:lnSpc>
                <a:spcPct val="107000"/>
              </a:lnSpc>
            </a:pPr>
            <a:r>
              <a:rPr lang="fr-FR" altLang="zh-TW" kern="100" dirty="0">
                <a:latin typeface="Times New Roman" panose="02020603050405020304" pitchFamily="18" charset="0"/>
                <a:ea typeface="標楷體" panose="03000509000000000000" pitchFamily="65" charset="-120"/>
                <a:cs typeface="Times New Roman" panose="02020603050405020304" pitchFamily="18" charset="0"/>
              </a:rPr>
              <a:t> </a:t>
            </a:r>
            <a:endParaRPr lang="zh-TW" altLang="zh-TW" sz="2800" dirty="0">
              <a:latin typeface="Calibri" panose="020F0502020204030204" pitchFamily="34" charset="0"/>
              <a:cs typeface="Times New Roman" panose="02020603050405020304" pitchFamily="18" charset="0"/>
            </a:endParaRPr>
          </a:p>
          <a:p>
            <a:endParaRPr lang="zh-TW" altLang="en-US" dirty="0"/>
          </a:p>
          <a:p>
            <a:endParaRPr lang="zh-TW" altLang="en-US" dirty="0"/>
          </a:p>
          <a:p>
            <a:endParaRPr lang="zh-TW" altLang="en-US" dirty="0"/>
          </a:p>
        </p:txBody>
      </p:sp>
    </p:spTree>
    <p:extLst>
      <p:ext uri="{BB962C8B-B14F-4D97-AF65-F5344CB8AC3E}">
        <p14:creationId xmlns:p14="http://schemas.microsoft.com/office/powerpoint/2010/main" val="41541933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70000" lnSpcReduction="20000"/>
          </a:bodyPr>
          <a:lstStyle/>
          <a:p>
            <a:r>
              <a:rPr lang="en-US" altLang="zh-TW" dirty="0"/>
              <a:t>2015 </a:t>
            </a:r>
            <a:r>
              <a:rPr lang="zh-TW" altLang="en-US" dirty="0"/>
              <a:t>簡君儒</a:t>
            </a:r>
          </a:p>
          <a:p>
            <a:r>
              <a:rPr lang="zh-TW" altLang="en-US" dirty="0"/>
              <a:t>貴院一年幾個肺癌病人</a:t>
            </a:r>
            <a:r>
              <a:rPr lang="en-US" altLang="zh-TW" dirty="0"/>
              <a:t>? </a:t>
            </a:r>
            <a:r>
              <a:rPr lang="en-US" altLang="zh-TW" dirty="0" smtClean="0"/>
              <a:t> 900 -1000   </a:t>
            </a:r>
            <a:r>
              <a:rPr lang="zh-TW" altLang="en-US" dirty="0" smtClean="0"/>
              <a:t>幾個</a:t>
            </a:r>
            <a:r>
              <a:rPr lang="zh-TW" altLang="en-US" dirty="0"/>
              <a:t>手術</a:t>
            </a:r>
            <a:r>
              <a:rPr lang="en-US" altLang="zh-TW" dirty="0" smtClean="0"/>
              <a:t>? 200-300  </a:t>
            </a:r>
            <a:r>
              <a:rPr lang="zh-TW" altLang="en-US" dirty="0"/>
              <a:t>幾個做</a:t>
            </a:r>
            <a:r>
              <a:rPr lang="en-US" altLang="zh-TW" dirty="0"/>
              <a:t>definitive RT</a:t>
            </a:r>
            <a:r>
              <a:rPr lang="en-US" altLang="zh-TW" dirty="0" smtClean="0"/>
              <a:t>? 40-50 </a:t>
            </a:r>
            <a:endParaRPr lang="en-US" altLang="zh-TW" dirty="0"/>
          </a:p>
          <a:p>
            <a:r>
              <a:rPr lang="zh-TW" altLang="en-US" dirty="0"/>
              <a:t>肺癌討論會多久一次</a:t>
            </a:r>
            <a:r>
              <a:rPr lang="en-US" altLang="zh-TW" dirty="0"/>
              <a:t>? </a:t>
            </a:r>
            <a:r>
              <a:rPr lang="zh-TW" altLang="en-US" dirty="0"/>
              <a:t>你去過幾次</a:t>
            </a:r>
            <a:r>
              <a:rPr lang="en-US" altLang="zh-TW" dirty="0"/>
              <a:t>? </a:t>
            </a:r>
            <a:r>
              <a:rPr lang="zh-TW" altLang="en-US" dirty="0"/>
              <a:t>個管師名字</a:t>
            </a:r>
            <a:r>
              <a:rPr lang="en-US" altLang="zh-TW" dirty="0"/>
              <a:t>? </a:t>
            </a:r>
            <a:r>
              <a:rPr lang="zh-TW" altLang="en-US" dirty="0"/>
              <a:t>影醫科醫師名字</a:t>
            </a:r>
            <a:r>
              <a:rPr lang="en-US" altLang="zh-TW" dirty="0"/>
              <a:t>? </a:t>
            </a:r>
            <a:r>
              <a:rPr lang="zh-TW" altLang="en-US" dirty="0"/>
              <a:t>病理科醫師名字</a:t>
            </a:r>
            <a:r>
              <a:rPr lang="en-US" altLang="zh-TW" dirty="0"/>
              <a:t>?</a:t>
            </a:r>
          </a:p>
          <a:p>
            <a:r>
              <a:rPr lang="zh-TW" altLang="en-US" dirty="0"/>
              <a:t>情境</a:t>
            </a:r>
            <a:r>
              <a:rPr lang="en-US" altLang="zh-TW" dirty="0"/>
              <a:t>: NSCLC, poorly </a:t>
            </a:r>
            <a:r>
              <a:rPr lang="en-US" altLang="zh-TW" dirty="0" err="1"/>
              <a:t>diferrenciated</a:t>
            </a:r>
            <a:r>
              <a:rPr lang="en-US" altLang="zh-TW" dirty="0"/>
              <a:t> carcinoma, </a:t>
            </a:r>
            <a:r>
              <a:rPr lang="zh-TW" altLang="en-US" dirty="0"/>
              <a:t>骨頭單處轉移打過化療</a:t>
            </a:r>
            <a:r>
              <a:rPr lang="en-US" altLang="zh-TW" dirty="0"/>
              <a:t>x2</a:t>
            </a:r>
            <a:r>
              <a:rPr lang="zh-TW" altLang="en-US" dirty="0"/>
              <a:t>轉給你，你要做什麼檢查</a:t>
            </a:r>
            <a:r>
              <a:rPr lang="en-US" altLang="zh-TW" dirty="0"/>
              <a:t>? Chest CT: cT4N0M1b(adrenal gland)</a:t>
            </a:r>
            <a:r>
              <a:rPr lang="zh-TW" altLang="en-US" dirty="0"/>
              <a:t>，骨頭沒有</a:t>
            </a:r>
            <a:r>
              <a:rPr lang="en-US" altLang="zh-TW" dirty="0"/>
              <a:t>pathology</a:t>
            </a:r>
            <a:r>
              <a:rPr lang="zh-TW" altLang="en-US" dirty="0"/>
              <a:t>，</a:t>
            </a:r>
            <a:r>
              <a:rPr lang="en-US" altLang="zh-TW" dirty="0"/>
              <a:t>PET</a:t>
            </a:r>
            <a:r>
              <a:rPr lang="zh-TW" altLang="en-US" dirty="0"/>
              <a:t>只有</a:t>
            </a:r>
            <a:r>
              <a:rPr lang="en-US" altLang="zh-TW" dirty="0"/>
              <a:t>lung</a:t>
            </a:r>
            <a:r>
              <a:rPr lang="zh-TW" altLang="en-US" dirty="0"/>
              <a:t>有，後來骨頭開刀是</a:t>
            </a:r>
            <a:r>
              <a:rPr lang="en-US" altLang="zh-TW" dirty="0"/>
              <a:t>fibrous dysplasia...</a:t>
            </a:r>
            <a:r>
              <a:rPr lang="zh-TW" altLang="en-US" dirty="0"/>
              <a:t>搞不清楚他想表達的重點，應該就是</a:t>
            </a:r>
            <a:r>
              <a:rPr lang="en-US" altLang="zh-TW" dirty="0"/>
              <a:t>M</a:t>
            </a:r>
            <a:r>
              <a:rPr lang="zh-TW" altLang="en-US" dirty="0"/>
              <a:t>要</a:t>
            </a:r>
            <a:r>
              <a:rPr lang="en-US" altLang="zh-TW" dirty="0" smtClean="0"/>
              <a:t>pathology</a:t>
            </a:r>
          </a:p>
          <a:p>
            <a:pPr marL="0" indent="0">
              <a:buNone/>
            </a:pPr>
            <a:r>
              <a:rPr lang="en-US" altLang="zh-TW" dirty="0"/>
              <a:t> </a:t>
            </a:r>
            <a:r>
              <a:rPr lang="en-US" altLang="zh-TW" dirty="0" smtClean="0"/>
              <a:t>     local treatment to the </a:t>
            </a:r>
            <a:r>
              <a:rPr lang="en-US" altLang="zh-TW" dirty="0" err="1" smtClean="0"/>
              <a:t>oligal</a:t>
            </a:r>
            <a:r>
              <a:rPr lang="en-US" altLang="zh-TW" dirty="0" smtClean="0"/>
              <a:t> metastatic sites  (</a:t>
            </a:r>
            <a:r>
              <a:rPr lang="zh-TW" altLang="en-US" dirty="0" smtClean="0"/>
              <a:t>如果今天影像有懷疑不確定是的話可以考慮</a:t>
            </a:r>
            <a:r>
              <a:rPr lang="en-US" altLang="zh-TW" dirty="0" smtClean="0"/>
              <a:t>biopsy</a:t>
            </a:r>
            <a:r>
              <a:rPr lang="en-US" altLang="zh-TW" dirty="0"/>
              <a:t>)</a:t>
            </a:r>
            <a:endParaRPr lang="en-US" altLang="zh-TW" dirty="0" smtClean="0"/>
          </a:p>
          <a:p>
            <a:pPr marL="0" indent="0">
              <a:buNone/>
            </a:pPr>
            <a:r>
              <a:rPr lang="zh-TW" altLang="en-US" dirty="0" smtClean="0"/>
              <a:t>印</a:t>
            </a:r>
            <a:r>
              <a:rPr lang="zh-TW" altLang="en-US" dirty="0"/>
              <a:t>兩張紙上面寫很多小題，覺得自己會的就打勾，我全勾了，從中他抽考，要講</a:t>
            </a:r>
            <a:r>
              <a:rPr lang="en-US" altLang="zh-TW" dirty="0"/>
              <a:t>evidence</a:t>
            </a:r>
            <a:r>
              <a:rPr lang="zh-TW" altLang="en-US" dirty="0"/>
              <a:t>。</a:t>
            </a:r>
          </a:p>
          <a:p>
            <a:r>
              <a:rPr lang="en-US" altLang="zh-TW" dirty="0" err="1"/>
              <a:t>Unresectable</a:t>
            </a:r>
            <a:r>
              <a:rPr lang="en-US" altLang="zh-TW" dirty="0"/>
              <a:t> NSCLC</a:t>
            </a:r>
            <a:r>
              <a:rPr lang="zh-TW" altLang="en-US" dirty="0"/>
              <a:t>治療</a:t>
            </a:r>
            <a:r>
              <a:rPr lang="en-US" altLang="zh-TW" dirty="0"/>
              <a:t>?</a:t>
            </a:r>
          </a:p>
          <a:p>
            <a:r>
              <a:rPr lang="en-US" altLang="zh-TW" dirty="0"/>
              <a:t>RT</a:t>
            </a:r>
            <a:r>
              <a:rPr lang="zh-TW" altLang="en-US" dirty="0"/>
              <a:t>劑量</a:t>
            </a:r>
            <a:r>
              <a:rPr lang="en-US" altLang="zh-TW" dirty="0"/>
              <a:t>? Elective nodal irradiation?</a:t>
            </a:r>
          </a:p>
          <a:p>
            <a:r>
              <a:rPr lang="en-US" altLang="zh-TW" dirty="0"/>
              <a:t>IMRT vs. 3DCRT?</a:t>
            </a:r>
          </a:p>
          <a:p>
            <a:endParaRPr lang="zh-TW" altLang="en-US" dirty="0"/>
          </a:p>
        </p:txBody>
      </p:sp>
    </p:spTree>
    <p:extLst>
      <p:ext uri="{BB962C8B-B14F-4D97-AF65-F5344CB8AC3E}">
        <p14:creationId xmlns:p14="http://schemas.microsoft.com/office/powerpoint/2010/main" val="1915398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97725" y="53752"/>
            <a:ext cx="8229600" cy="1143000"/>
          </a:xfrm>
        </p:spPr>
        <p:txBody>
          <a:bodyPr/>
          <a:lstStyle/>
          <a:p>
            <a:r>
              <a:rPr lang="en-US" altLang="zh-TW" dirty="0" smtClean="0"/>
              <a:t>2006</a:t>
            </a:r>
            <a:endParaRPr lang="zh-TW" altLang="en-US" dirty="0"/>
          </a:p>
        </p:txBody>
      </p:sp>
      <p:sp>
        <p:nvSpPr>
          <p:cNvPr id="3" name="內容版面配置區 2"/>
          <p:cNvSpPr>
            <a:spLocks noGrp="1"/>
          </p:cNvSpPr>
          <p:nvPr>
            <p:ph sz="half" idx="1"/>
          </p:nvPr>
        </p:nvSpPr>
        <p:spPr>
          <a:xfrm>
            <a:off x="1631504" y="908720"/>
            <a:ext cx="4388296" cy="5949280"/>
          </a:xfrm>
        </p:spPr>
        <p:txBody>
          <a:bodyPr>
            <a:normAutofit fontScale="47500" lnSpcReduction="20000"/>
          </a:bodyPr>
          <a:lstStyle/>
          <a:p>
            <a:r>
              <a:rPr lang="zh-TW" altLang="en-US" sz="2900" dirty="0"/>
              <a:t>丁禮莉：</a:t>
            </a:r>
          </a:p>
          <a:p>
            <a:r>
              <a:rPr lang="en-US" altLang="zh-TW" sz="2900" dirty="0"/>
              <a:t>Q1: V20</a:t>
            </a:r>
            <a:r>
              <a:rPr lang="zh-TW" altLang="en-US" sz="2900" dirty="0"/>
              <a:t>於</a:t>
            </a:r>
            <a:r>
              <a:rPr lang="en-US" altLang="zh-TW" sz="2900" dirty="0"/>
              <a:t>RT alone</a:t>
            </a:r>
            <a:r>
              <a:rPr lang="zh-TW" altLang="en-US" sz="2900" dirty="0"/>
              <a:t>和</a:t>
            </a:r>
            <a:r>
              <a:rPr lang="en-US" altLang="zh-TW" sz="2900" dirty="0"/>
              <a:t>CCRT</a:t>
            </a:r>
            <a:r>
              <a:rPr lang="zh-TW" altLang="en-US" sz="2900" dirty="0"/>
              <a:t>的</a:t>
            </a:r>
            <a:r>
              <a:rPr lang="en-US" altLang="zh-TW" sz="2900" dirty="0"/>
              <a:t>constraint</a:t>
            </a:r>
            <a:r>
              <a:rPr lang="zh-TW" altLang="en-US" sz="2900" dirty="0"/>
              <a:t>分別為何？</a:t>
            </a:r>
            <a:endParaRPr lang="en-US" altLang="zh-TW" sz="2900" dirty="0"/>
          </a:p>
          <a:p>
            <a:r>
              <a:rPr lang="en-US" altLang="zh-TW" sz="2900" dirty="0"/>
              <a:t>A:  Lung: V20&lt;35%~40%</a:t>
            </a:r>
          </a:p>
          <a:p>
            <a:pPr lvl="1"/>
            <a:r>
              <a:rPr lang="en-US" altLang="zh-TW" sz="2900" dirty="0"/>
              <a:t>V20&lt;35%  for &gt;70 y/o , </a:t>
            </a:r>
            <a:r>
              <a:rPr lang="en-US" altLang="zh-TW" sz="2900" dirty="0" err="1"/>
              <a:t>taxane</a:t>
            </a:r>
            <a:r>
              <a:rPr lang="en-US" altLang="zh-TW" sz="2900" dirty="0"/>
              <a:t>, poor PFT</a:t>
            </a:r>
          </a:p>
          <a:p>
            <a:pPr lvl="1"/>
            <a:r>
              <a:rPr lang="en-US" altLang="zh-TW" sz="2900" dirty="0"/>
              <a:t>RT along V20&lt;40%, CRT V20&lt;35% (MDACC Lee 2003)</a:t>
            </a:r>
          </a:p>
          <a:p>
            <a:pPr lvl="1"/>
            <a:endParaRPr lang="zh-TW" altLang="en-US" sz="2900" dirty="0"/>
          </a:p>
          <a:p>
            <a:r>
              <a:rPr lang="en-US" altLang="zh-TW" sz="2900" dirty="0"/>
              <a:t>Q2: Mean lung dose (normal lung) </a:t>
            </a:r>
            <a:r>
              <a:rPr lang="zh-TW" altLang="en-US" sz="2900" dirty="0"/>
              <a:t>的</a:t>
            </a:r>
            <a:r>
              <a:rPr lang="en-US" altLang="zh-TW" sz="2900" dirty="0"/>
              <a:t>constraint</a:t>
            </a:r>
            <a:r>
              <a:rPr lang="zh-TW" altLang="en-US" sz="2900" dirty="0"/>
              <a:t>為何？</a:t>
            </a:r>
            <a:endParaRPr lang="en-US" altLang="zh-TW" sz="2900" dirty="0"/>
          </a:p>
          <a:p>
            <a:r>
              <a:rPr lang="en-US" altLang="zh-TW" sz="2900" dirty="0"/>
              <a:t>A: MLD &lt;20Gy</a:t>
            </a:r>
          </a:p>
          <a:p>
            <a:endParaRPr lang="en-US" altLang="zh-TW" sz="2900" dirty="0"/>
          </a:p>
          <a:p>
            <a:r>
              <a:rPr lang="en-US" altLang="zh-TW" sz="2900" dirty="0"/>
              <a:t>Q3:  </a:t>
            </a:r>
            <a:r>
              <a:rPr lang="zh-TW" altLang="en-US" sz="2900" dirty="0"/>
              <a:t>貴科治療</a:t>
            </a:r>
            <a:r>
              <a:rPr lang="en-US" altLang="zh-TW" sz="2900" dirty="0"/>
              <a:t>lung ca RT alone</a:t>
            </a:r>
            <a:r>
              <a:rPr lang="zh-TW" altLang="en-US" sz="2900" dirty="0"/>
              <a:t>和</a:t>
            </a:r>
            <a:r>
              <a:rPr lang="en-US" altLang="zh-TW" sz="2900" dirty="0"/>
              <a:t>CCRT</a:t>
            </a:r>
            <a:r>
              <a:rPr lang="zh-TW" altLang="en-US" sz="2900" dirty="0"/>
              <a:t>的</a:t>
            </a:r>
            <a:r>
              <a:rPr lang="en-US" altLang="zh-TW" sz="2900" dirty="0"/>
              <a:t>protocol</a:t>
            </a:r>
            <a:r>
              <a:rPr lang="zh-TW" altLang="en-US" sz="2900" dirty="0"/>
              <a:t>分別為何？</a:t>
            </a:r>
            <a:endParaRPr lang="en-US" altLang="zh-TW" sz="2900" dirty="0"/>
          </a:p>
          <a:p>
            <a:r>
              <a:rPr lang="en-US" altLang="zh-TW" sz="2900" dirty="0"/>
              <a:t>A: CCRT</a:t>
            </a:r>
            <a:r>
              <a:rPr lang="zh-TW" altLang="en-US" sz="2900" dirty="0"/>
              <a:t> </a:t>
            </a:r>
            <a:r>
              <a:rPr lang="en-US" altLang="zh-TW" sz="2900" dirty="0"/>
              <a:t>for </a:t>
            </a:r>
            <a:r>
              <a:rPr lang="en-US" altLang="zh-TW" sz="2900" dirty="0" err="1"/>
              <a:t>unresectable</a:t>
            </a:r>
            <a:r>
              <a:rPr lang="en-US" altLang="zh-TW" sz="2900" dirty="0"/>
              <a:t> stage III </a:t>
            </a:r>
            <a:r>
              <a:rPr lang="zh-TW" altLang="en-US" sz="2900" dirty="0"/>
              <a:t>以上</a:t>
            </a:r>
            <a:r>
              <a:rPr lang="en-US" altLang="zh-TW" sz="2900" dirty="0"/>
              <a:t>.</a:t>
            </a:r>
            <a:r>
              <a:rPr lang="zh-TW" altLang="en-US" sz="2900" dirty="0"/>
              <a:t> </a:t>
            </a:r>
            <a:endParaRPr lang="en-US" altLang="zh-TW" sz="2900" dirty="0"/>
          </a:p>
          <a:p>
            <a:r>
              <a:rPr lang="en-US" altLang="zh-TW" sz="2900" dirty="0"/>
              <a:t>RT alone for Stage I-II  &lt;5cm, N0, </a:t>
            </a:r>
            <a:r>
              <a:rPr lang="en-US" altLang="zh-TW" sz="2900" dirty="0" err="1"/>
              <a:t>unresctable</a:t>
            </a:r>
            <a:r>
              <a:rPr lang="en-US" altLang="zh-TW" sz="2900" dirty="0"/>
              <a:t> </a:t>
            </a:r>
            <a:r>
              <a:rPr lang="en-US" altLang="zh-TW" sz="2900" dirty="0">
                <a:sym typeface="Wingdings" panose="05000000000000000000" pitchFamily="2" charset="2"/>
              </a:rPr>
              <a:t> SBRT</a:t>
            </a:r>
            <a:endParaRPr lang="en-US" altLang="zh-TW" sz="2900" dirty="0"/>
          </a:p>
          <a:p>
            <a:r>
              <a:rPr lang="en-US" altLang="zh-TW" sz="2900" dirty="0"/>
              <a:t>Stage III: RT</a:t>
            </a:r>
            <a:r>
              <a:rPr lang="zh-TW" altLang="en-US" sz="2900" dirty="0"/>
              <a:t> </a:t>
            </a:r>
            <a:r>
              <a:rPr lang="en-US" altLang="zh-TW" sz="2900" dirty="0"/>
              <a:t>alone </a:t>
            </a:r>
            <a:r>
              <a:rPr lang="zh-TW" altLang="en-US" sz="2900" dirty="0"/>
              <a:t>可以</a:t>
            </a:r>
            <a:r>
              <a:rPr lang="en-US" altLang="zh-TW" sz="2900" dirty="0"/>
              <a:t>altered fractionation </a:t>
            </a:r>
            <a:r>
              <a:rPr lang="en-US" altLang="zh-TW" sz="2900" dirty="0">
                <a:solidFill>
                  <a:srgbClr val="FF0000"/>
                </a:solidFill>
              </a:rPr>
              <a:t>RTOG 8311</a:t>
            </a:r>
            <a:r>
              <a:rPr lang="en-US" altLang="zh-TW" sz="2900" dirty="0"/>
              <a:t> 69.6Gy (1.2 BID) improve 3 y/o survival, </a:t>
            </a:r>
            <a:r>
              <a:rPr lang="en-US" altLang="zh-TW" sz="2900" dirty="0">
                <a:solidFill>
                  <a:srgbClr val="FF0000"/>
                </a:solidFill>
              </a:rPr>
              <a:t>CHART</a:t>
            </a:r>
            <a:r>
              <a:rPr lang="en-US" altLang="zh-TW" sz="2900" dirty="0"/>
              <a:t> 54Gy (1.5 TID) vs 60Gy improve 10% absolute survival, severe esophagitis (19%vs3%)</a:t>
            </a:r>
            <a:endParaRPr lang="zh-TW" altLang="en-US" sz="2900" dirty="0"/>
          </a:p>
          <a:p>
            <a:endParaRPr lang="en-US" altLang="zh-TW" sz="2900" dirty="0"/>
          </a:p>
          <a:p>
            <a:r>
              <a:rPr lang="en-US" altLang="zh-TW" sz="2900" dirty="0"/>
              <a:t>Q4: AJCC stage IIIB</a:t>
            </a:r>
            <a:r>
              <a:rPr lang="zh-TW" altLang="en-US" sz="2900" dirty="0"/>
              <a:t>定義？</a:t>
            </a:r>
            <a:r>
              <a:rPr lang="en-US" altLang="zh-TW" sz="2900" dirty="0"/>
              <a:t>T</a:t>
            </a:r>
            <a:r>
              <a:rPr lang="zh-TW" altLang="en-US" sz="2900" dirty="0"/>
              <a:t>？</a:t>
            </a:r>
            <a:r>
              <a:rPr lang="en-US" altLang="zh-TW" sz="2900" dirty="0"/>
              <a:t>N</a:t>
            </a:r>
            <a:r>
              <a:rPr lang="zh-TW" altLang="en-US" sz="2900" dirty="0"/>
              <a:t>？</a:t>
            </a:r>
            <a:endParaRPr lang="en-US" altLang="zh-TW" sz="2900" dirty="0"/>
          </a:p>
          <a:p>
            <a:r>
              <a:rPr lang="en-US" altLang="zh-TW" sz="2900" dirty="0"/>
              <a:t>A: IIIB: T1-2 N3, T3-4 N2</a:t>
            </a:r>
          </a:p>
          <a:p>
            <a:endParaRPr lang="zh-TW" altLang="en-US" sz="2900" dirty="0"/>
          </a:p>
          <a:p>
            <a:r>
              <a:rPr lang="en-US" altLang="zh-TW" sz="2900" dirty="0"/>
              <a:t>Q5: </a:t>
            </a:r>
            <a:r>
              <a:rPr lang="zh-TW" altLang="en-US" sz="2900" dirty="0"/>
              <a:t>何謂</a:t>
            </a:r>
            <a:r>
              <a:rPr lang="en-US" altLang="zh-TW" sz="2900" dirty="0"/>
              <a:t>superior sulcus cancer? </a:t>
            </a:r>
            <a:r>
              <a:rPr lang="zh-TW" altLang="en-US" sz="2900" dirty="0"/>
              <a:t>如何治療？</a:t>
            </a:r>
            <a:r>
              <a:rPr lang="en-US" altLang="zh-TW" sz="2900" dirty="0"/>
              <a:t>(NCCN</a:t>
            </a:r>
            <a:r>
              <a:rPr lang="zh-TW" altLang="en-US" sz="2900" dirty="0"/>
              <a:t>準則</a:t>
            </a:r>
            <a:r>
              <a:rPr lang="en-US" altLang="zh-TW" sz="2900" dirty="0"/>
              <a:t>) </a:t>
            </a:r>
            <a:r>
              <a:rPr lang="zh-TW" altLang="en-US" sz="2900" dirty="0"/>
              <a:t>注意事項？</a:t>
            </a:r>
            <a:endParaRPr lang="en-US" altLang="zh-TW" sz="2900" dirty="0"/>
          </a:p>
          <a:p>
            <a:r>
              <a:rPr lang="en-US" altLang="zh-TW" sz="2900" dirty="0"/>
              <a:t>A: Superior sulcus (</a:t>
            </a:r>
            <a:r>
              <a:rPr lang="en-US" altLang="zh-TW" sz="2900" dirty="0" err="1"/>
              <a:t>Pancoast</a:t>
            </a:r>
            <a:r>
              <a:rPr lang="en-US" altLang="zh-TW" sz="2900" dirty="0"/>
              <a:t> tumor). </a:t>
            </a:r>
            <a:r>
              <a:rPr lang="en-US" altLang="zh-TW" sz="2900" dirty="0" err="1"/>
              <a:t>Tx</a:t>
            </a:r>
            <a:r>
              <a:rPr lang="en-US" altLang="zh-TW" sz="2900" dirty="0"/>
              <a:t>: SWOG 9416/ INT 0160: Induction CRT 45Gy</a:t>
            </a:r>
            <a:r>
              <a:rPr lang="en-US" altLang="zh-TW" sz="2900" dirty="0">
                <a:sym typeface="Wingdings" panose="05000000000000000000" pitchFamily="2" charset="2"/>
              </a:rPr>
              <a:t> OP  Chemo</a:t>
            </a:r>
          </a:p>
          <a:p>
            <a:r>
              <a:rPr lang="en-US" altLang="zh-TW" sz="2900" dirty="0">
                <a:sym typeface="Wingdings" panose="05000000000000000000" pitchFamily="2" charset="2"/>
              </a:rPr>
              <a:t>Induction </a:t>
            </a:r>
            <a:r>
              <a:rPr lang="zh-TW" altLang="en-US" sz="2900" dirty="0">
                <a:sym typeface="Wingdings" panose="05000000000000000000" pitchFamily="2" charset="2"/>
              </a:rPr>
              <a:t>後 如果無法手術 就 完成 </a:t>
            </a:r>
            <a:r>
              <a:rPr lang="en-US" altLang="zh-TW" sz="2900" dirty="0">
                <a:sym typeface="Wingdings" panose="05000000000000000000" pitchFamily="2" charset="2"/>
              </a:rPr>
              <a:t>CCRT</a:t>
            </a:r>
            <a:r>
              <a:rPr lang="zh-TW" altLang="en-US" sz="2900" dirty="0">
                <a:sym typeface="Wingdings" panose="05000000000000000000" pitchFamily="2" charset="2"/>
              </a:rPr>
              <a:t> </a:t>
            </a:r>
            <a:endParaRPr lang="en-US" altLang="zh-TW" sz="2900" dirty="0">
              <a:sym typeface="Wingdings" panose="05000000000000000000" pitchFamily="2" charset="2"/>
            </a:endParaRPr>
          </a:p>
          <a:p>
            <a:r>
              <a:rPr lang="zh-TW" altLang="en-US" sz="2900" dirty="0"/>
              <a:t>補充</a:t>
            </a:r>
            <a:r>
              <a:rPr lang="en-US" altLang="zh-TW" sz="2900" dirty="0"/>
              <a:t>:</a:t>
            </a:r>
            <a:r>
              <a:rPr lang="zh-TW" altLang="en-US" sz="2900" dirty="0"/>
              <a:t> </a:t>
            </a:r>
            <a:r>
              <a:rPr lang="en-US" altLang="zh-TW" sz="2900" dirty="0"/>
              <a:t>Chest wall tumor </a:t>
            </a:r>
            <a:r>
              <a:rPr lang="zh-TW" altLang="en-US" sz="2900" dirty="0"/>
              <a:t>跟 </a:t>
            </a:r>
            <a:r>
              <a:rPr lang="en-US" altLang="zh-TW" sz="2900" dirty="0"/>
              <a:t>Superior Sulcus </a:t>
            </a:r>
            <a:r>
              <a:rPr lang="zh-TW" altLang="en-US" sz="2900" dirty="0"/>
              <a:t>不一樣</a:t>
            </a:r>
            <a:r>
              <a:rPr lang="en-US" altLang="zh-TW" sz="2900" dirty="0"/>
              <a:t>:</a:t>
            </a:r>
            <a:r>
              <a:rPr lang="zh-TW" altLang="en-US" sz="2900" dirty="0"/>
              <a:t> </a:t>
            </a:r>
            <a:r>
              <a:rPr lang="en-US" altLang="zh-TW" sz="2900" dirty="0"/>
              <a:t>Chest wall tumor </a:t>
            </a:r>
            <a:r>
              <a:rPr lang="zh-TW" altLang="en-US" sz="2900" dirty="0"/>
              <a:t>先 </a:t>
            </a:r>
            <a:r>
              <a:rPr lang="en-US" altLang="zh-TW" sz="2900" dirty="0"/>
              <a:t>OP(preferred)</a:t>
            </a:r>
            <a:endParaRPr lang="zh-TW" altLang="en-US" dirty="0"/>
          </a:p>
        </p:txBody>
      </p:sp>
      <p:sp>
        <p:nvSpPr>
          <p:cNvPr id="5" name="內容版面配置區 4"/>
          <p:cNvSpPr>
            <a:spLocks noGrp="1"/>
          </p:cNvSpPr>
          <p:nvPr>
            <p:ph sz="half" idx="2"/>
          </p:nvPr>
        </p:nvSpPr>
        <p:spPr/>
        <p:txBody>
          <a:bodyPr>
            <a:normAutofit fontScale="47500" lnSpcReduction="20000"/>
          </a:bodyPr>
          <a:lstStyle/>
          <a:p>
            <a:endParaRPr lang="zh-TW" altLang="en-US" dirty="0"/>
          </a:p>
        </p:txBody>
      </p:sp>
      <p:pic>
        <p:nvPicPr>
          <p:cNvPr id="4" name="圖片 3"/>
          <p:cNvPicPr>
            <a:picLocks noChangeAspect="1"/>
          </p:cNvPicPr>
          <p:nvPr/>
        </p:nvPicPr>
        <p:blipFill>
          <a:blip r:embed="rId2"/>
          <a:stretch>
            <a:fillRect/>
          </a:stretch>
        </p:blipFill>
        <p:spPr>
          <a:xfrm>
            <a:off x="6112525" y="1104955"/>
            <a:ext cx="4076700" cy="3438525"/>
          </a:xfrm>
          <a:prstGeom prst="rect">
            <a:avLst/>
          </a:prstGeom>
        </p:spPr>
      </p:pic>
      <p:pic>
        <p:nvPicPr>
          <p:cNvPr id="6" name="圖片 5"/>
          <p:cNvPicPr>
            <a:picLocks noChangeAspect="1"/>
          </p:cNvPicPr>
          <p:nvPr/>
        </p:nvPicPr>
        <p:blipFill>
          <a:blip r:embed="rId3"/>
          <a:stretch>
            <a:fillRect/>
          </a:stretch>
        </p:blipFill>
        <p:spPr>
          <a:xfrm>
            <a:off x="6034894" y="4878998"/>
            <a:ext cx="4541277" cy="1862370"/>
          </a:xfrm>
          <a:prstGeom prst="rect">
            <a:avLst/>
          </a:prstGeom>
        </p:spPr>
      </p:pic>
    </p:spTree>
    <p:extLst>
      <p:ext uri="{BB962C8B-B14F-4D97-AF65-F5344CB8AC3E}">
        <p14:creationId xmlns:p14="http://schemas.microsoft.com/office/powerpoint/2010/main" val="34630387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sz="half" idx="1"/>
          </p:nvPr>
        </p:nvSpPr>
        <p:spPr/>
        <p:txBody>
          <a:bodyPr/>
          <a:lstStyle/>
          <a:p>
            <a:endParaRPr lang="zh-TW" altLang="en-US" dirty="0"/>
          </a:p>
        </p:txBody>
      </p:sp>
      <p:sp>
        <p:nvSpPr>
          <p:cNvPr id="4" name="內容版面配置區 3"/>
          <p:cNvSpPr>
            <a:spLocks noGrp="1"/>
          </p:cNvSpPr>
          <p:nvPr>
            <p:ph sz="half" idx="2"/>
          </p:nvPr>
        </p:nvSpPr>
        <p:spPr/>
        <p:txBody>
          <a:bodyPr/>
          <a:lstStyle/>
          <a:p>
            <a:endParaRPr lang="zh-TW" altLang="en-US"/>
          </a:p>
        </p:txBody>
      </p:sp>
      <p:pic>
        <p:nvPicPr>
          <p:cNvPr id="5" name="圖片 4"/>
          <p:cNvPicPr>
            <a:picLocks noChangeAspect="1"/>
          </p:cNvPicPr>
          <p:nvPr/>
        </p:nvPicPr>
        <p:blipFill>
          <a:blip r:embed="rId2"/>
          <a:stretch>
            <a:fillRect/>
          </a:stretch>
        </p:blipFill>
        <p:spPr>
          <a:xfrm>
            <a:off x="1719263" y="1700808"/>
            <a:ext cx="8601075" cy="3600450"/>
          </a:xfrm>
          <a:prstGeom prst="rect">
            <a:avLst/>
          </a:prstGeom>
        </p:spPr>
      </p:pic>
    </p:spTree>
    <p:extLst>
      <p:ext uri="{BB962C8B-B14F-4D97-AF65-F5344CB8AC3E}">
        <p14:creationId xmlns:p14="http://schemas.microsoft.com/office/powerpoint/2010/main" val="21738683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623120" y="66404"/>
            <a:ext cx="2026568" cy="1143000"/>
          </a:xfrm>
        </p:spPr>
        <p:txBody>
          <a:bodyPr/>
          <a:lstStyle/>
          <a:p>
            <a:r>
              <a:rPr lang="en-US" altLang="zh-TW" dirty="0" smtClean="0"/>
              <a:t>2007</a:t>
            </a:r>
            <a:endParaRPr lang="zh-TW" altLang="en-US" dirty="0"/>
          </a:p>
        </p:txBody>
      </p:sp>
      <p:sp>
        <p:nvSpPr>
          <p:cNvPr id="3" name="內容版面配置區 2"/>
          <p:cNvSpPr>
            <a:spLocks noGrp="1"/>
          </p:cNvSpPr>
          <p:nvPr>
            <p:ph sz="half" idx="1"/>
          </p:nvPr>
        </p:nvSpPr>
        <p:spPr>
          <a:xfrm>
            <a:off x="1775520" y="1052737"/>
            <a:ext cx="4244280" cy="5073427"/>
          </a:xfrm>
        </p:spPr>
        <p:txBody>
          <a:bodyPr>
            <a:normAutofit fontScale="47500" lnSpcReduction="20000"/>
          </a:bodyPr>
          <a:lstStyle/>
          <a:p>
            <a:r>
              <a:rPr lang="zh-TW" altLang="zh-TW" dirty="0"/>
              <a:t>黃經民</a:t>
            </a:r>
          </a:p>
          <a:p>
            <a:pPr lvl="0"/>
            <a:r>
              <a:rPr lang="en-US" altLang="zh-TW" dirty="0" smtClean="0"/>
              <a:t>Q1: small </a:t>
            </a:r>
            <a:r>
              <a:rPr lang="en-US" altLang="zh-TW" dirty="0"/>
              <a:t>cell lung cancer limited stage</a:t>
            </a:r>
            <a:r>
              <a:rPr lang="zh-TW" altLang="zh-TW" dirty="0"/>
              <a:t>的定義</a:t>
            </a:r>
            <a:r>
              <a:rPr lang="en-US" altLang="zh-TW" dirty="0"/>
              <a:t>,</a:t>
            </a:r>
            <a:r>
              <a:rPr lang="zh-TW" altLang="zh-TW" dirty="0" smtClean="0"/>
              <a:t>處置</a:t>
            </a:r>
            <a:r>
              <a:rPr lang="en-US" altLang="zh-TW" dirty="0" smtClean="0"/>
              <a:t>?</a:t>
            </a:r>
          </a:p>
          <a:p>
            <a:pPr lvl="0"/>
            <a:r>
              <a:rPr lang="zh-TW" altLang="en-US" dirty="0" smtClean="0"/>
              <a:t>分可安全</a:t>
            </a:r>
            <a:r>
              <a:rPr lang="en-US" altLang="zh-TW" dirty="0" smtClean="0"/>
              <a:t>RT</a:t>
            </a:r>
            <a:r>
              <a:rPr lang="zh-TW" altLang="en-US" dirty="0" smtClean="0"/>
              <a:t>與否</a:t>
            </a:r>
            <a:r>
              <a:rPr lang="en-US" altLang="zh-TW" dirty="0" smtClean="0"/>
              <a:t>,</a:t>
            </a:r>
            <a:r>
              <a:rPr lang="zh-TW" altLang="en-US" dirty="0" smtClean="0"/>
              <a:t> 太大 太多顆 就是 </a:t>
            </a:r>
            <a:r>
              <a:rPr lang="en-US" altLang="zh-TW" dirty="0" smtClean="0"/>
              <a:t>Extensive</a:t>
            </a:r>
          </a:p>
          <a:p>
            <a:pPr lvl="0"/>
            <a:endParaRPr lang="en-US" altLang="zh-TW" dirty="0" smtClean="0"/>
          </a:p>
          <a:p>
            <a:pPr lvl="0"/>
            <a:r>
              <a:rPr lang="en-US" altLang="zh-TW" dirty="0" smtClean="0"/>
              <a:t>Q2: RT</a:t>
            </a:r>
            <a:r>
              <a:rPr lang="zh-TW" altLang="zh-TW" dirty="0"/>
              <a:t>和</a:t>
            </a:r>
            <a:r>
              <a:rPr lang="en-US" altLang="zh-TW" dirty="0"/>
              <a:t>chemotherapy</a:t>
            </a:r>
            <a:r>
              <a:rPr lang="zh-TW" altLang="zh-TW" dirty="0"/>
              <a:t>的順序</a:t>
            </a:r>
            <a:r>
              <a:rPr lang="en-US" altLang="zh-TW" dirty="0"/>
              <a:t>,</a:t>
            </a:r>
            <a:r>
              <a:rPr lang="zh-TW" altLang="zh-TW" dirty="0"/>
              <a:t>是否</a:t>
            </a:r>
            <a:r>
              <a:rPr lang="zh-TW" altLang="zh-TW" dirty="0" smtClean="0"/>
              <a:t>同步</a:t>
            </a:r>
            <a:r>
              <a:rPr lang="en-US" altLang="zh-TW" dirty="0" smtClean="0"/>
              <a:t>?</a:t>
            </a:r>
          </a:p>
          <a:p>
            <a:pPr lvl="0"/>
            <a:r>
              <a:rPr lang="en-US" altLang="zh-TW" dirty="0" smtClean="0"/>
              <a:t>A:  CRT better than sequential: (JCOG Takada JCO 2002) 10% OS benefit </a:t>
            </a:r>
          </a:p>
          <a:p>
            <a:r>
              <a:rPr lang="en-US" altLang="zh-TW" dirty="0" smtClean="0"/>
              <a:t>Early RT better than late. Increase </a:t>
            </a:r>
            <a:r>
              <a:rPr lang="en-US" altLang="zh-TW" dirty="0"/>
              <a:t>5.2% 2 year OS in early RT &lt;9wks</a:t>
            </a:r>
            <a:r>
              <a:rPr lang="en-US" altLang="zh-TW" dirty="0" smtClean="0"/>
              <a:t>. (Meta-analysis Fried JCO 2004)</a:t>
            </a:r>
          </a:p>
          <a:p>
            <a:r>
              <a:rPr lang="en-US" altLang="zh-TW" dirty="0" smtClean="0"/>
              <a:t>Poor KPS: Sequential</a:t>
            </a:r>
          </a:p>
          <a:p>
            <a:endParaRPr lang="en-US" altLang="zh-TW" dirty="0"/>
          </a:p>
          <a:p>
            <a:pPr lvl="0"/>
            <a:r>
              <a:rPr lang="en-US" altLang="zh-TW" dirty="0" smtClean="0"/>
              <a:t>Q3: Small cell </a:t>
            </a:r>
            <a:r>
              <a:rPr lang="zh-TW" altLang="zh-TW" dirty="0" smtClean="0"/>
              <a:t>什麼</a:t>
            </a:r>
            <a:r>
              <a:rPr lang="zh-TW" altLang="zh-TW" dirty="0"/>
              <a:t>情況可以</a:t>
            </a:r>
            <a:r>
              <a:rPr lang="en-US" altLang="zh-TW" dirty="0" smtClean="0"/>
              <a:t>OP?</a:t>
            </a:r>
            <a:endParaRPr lang="zh-TW" altLang="zh-TW" dirty="0"/>
          </a:p>
          <a:p>
            <a:pPr lvl="0"/>
            <a:r>
              <a:rPr lang="en-US" altLang="zh-TW" dirty="0" smtClean="0"/>
              <a:t>A: Stage IA-IIA, </a:t>
            </a:r>
          </a:p>
          <a:p>
            <a:pPr lvl="0"/>
            <a:r>
              <a:rPr lang="zh-TW" altLang="en-US" dirty="0" smtClean="0"/>
              <a:t>能手術 就手術 </a:t>
            </a:r>
            <a:r>
              <a:rPr lang="en-US" altLang="zh-TW" dirty="0" smtClean="0"/>
              <a:t>(OP+</a:t>
            </a:r>
            <a:r>
              <a:rPr lang="zh-TW" altLang="en-US" dirty="0" smtClean="0"/>
              <a:t> </a:t>
            </a:r>
            <a:r>
              <a:rPr lang="en-US" altLang="zh-TW" dirty="0" smtClean="0"/>
              <a:t>MLND)</a:t>
            </a:r>
            <a:r>
              <a:rPr lang="en-US" altLang="zh-TW" dirty="0"/>
              <a:t>,</a:t>
            </a:r>
            <a:r>
              <a:rPr lang="zh-TW" altLang="en-US" dirty="0" smtClean="0"/>
              <a:t>手術後記得 要 </a:t>
            </a:r>
            <a:r>
              <a:rPr lang="en-US" altLang="zh-TW" dirty="0" smtClean="0"/>
              <a:t>CHEMO!</a:t>
            </a:r>
          </a:p>
          <a:p>
            <a:pPr lvl="0"/>
            <a:endParaRPr lang="en-US" altLang="zh-TW" dirty="0" smtClean="0"/>
          </a:p>
          <a:p>
            <a:pPr lvl="0"/>
            <a:r>
              <a:rPr lang="en-US" altLang="zh-TW" dirty="0" smtClean="0"/>
              <a:t>Q4: non-small </a:t>
            </a:r>
            <a:r>
              <a:rPr lang="en-US" altLang="zh-TW" dirty="0"/>
              <a:t>cell lung cancer—stage IIIA</a:t>
            </a:r>
            <a:r>
              <a:rPr lang="zh-TW" altLang="zh-TW" dirty="0"/>
              <a:t>有哪些</a:t>
            </a:r>
            <a:r>
              <a:rPr lang="en-US" altLang="zh-TW" dirty="0"/>
              <a:t>(TNM), </a:t>
            </a:r>
            <a:r>
              <a:rPr lang="zh-TW" altLang="zh-TW" dirty="0" smtClean="0"/>
              <a:t>處置</a:t>
            </a:r>
            <a:r>
              <a:rPr lang="en-US" altLang="zh-TW" dirty="0" smtClean="0"/>
              <a:t>?</a:t>
            </a:r>
          </a:p>
          <a:p>
            <a:pPr lvl="0"/>
            <a:r>
              <a:rPr lang="en-US" altLang="zh-TW" dirty="0" smtClean="0"/>
              <a:t>A:</a:t>
            </a:r>
            <a:r>
              <a:rPr lang="zh-TW" altLang="en-US" dirty="0" smtClean="0"/>
              <a:t> </a:t>
            </a:r>
            <a:r>
              <a:rPr lang="en-US" altLang="zh-TW" dirty="0" smtClean="0"/>
              <a:t>T4N0,</a:t>
            </a:r>
            <a:r>
              <a:rPr lang="zh-TW" altLang="en-US" dirty="0" smtClean="0"/>
              <a:t> </a:t>
            </a:r>
            <a:r>
              <a:rPr lang="en-US" altLang="zh-TW" dirty="0" smtClean="0"/>
              <a:t>T3-4N1,</a:t>
            </a:r>
            <a:r>
              <a:rPr lang="zh-TW" altLang="en-US" dirty="0" smtClean="0"/>
              <a:t> </a:t>
            </a:r>
            <a:r>
              <a:rPr lang="en-US" altLang="zh-TW" dirty="0" smtClean="0"/>
              <a:t>T1-2</a:t>
            </a:r>
            <a:r>
              <a:rPr lang="zh-TW" altLang="en-US" dirty="0" smtClean="0"/>
              <a:t> </a:t>
            </a:r>
            <a:r>
              <a:rPr lang="en-US" altLang="zh-TW" dirty="0" smtClean="0"/>
              <a:t>N2</a:t>
            </a:r>
          </a:p>
          <a:p>
            <a:pPr lvl="0"/>
            <a:r>
              <a:rPr lang="zh-TW" altLang="en-US" dirty="0" smtClean="0"/>
              <a:t>如果是</a:t>
            </a:r>
            <a:r>
              <a:rPr lang="en-US" altLang="zh-TW" dirty="0" smtClean="0"/>
              <a:t>superior sulcus </a:t>
            </a:r>
            <a:r>
              <a:rPr lang="zh-TW" altLang="en-US" dirty="0" smtClean="0"/>
              <a:t>就 </a:t>
            </a:r>
            <a:r>
              <a:rPr lang="en-US" altLang="zh-TW" dirty="0" err="1" smtClean="0"/>
              <a:t>Ind</a:t>
            </a:r>
            <a:r>
              <a:rPr lang="en-US" altLang="zh-TW" dirty="0" smtClean="0"/>
              <a:t> CRT </a:t>
            </a:r>
            <a:r>
              <a:rPr lang="en-US" altLang="zh-TW" dirty="0" smtClean="0">
                <a:sym typeface="Wingdings" panose="05000000000000000000" pitchFamily="2" charset="2"/>
              </a:rPr>
              <a:t> OP  Chemo</a:t>
            </a:r>
          </a:p>
          <a:p>
            <a:pPr lvl="0"/>
            <a:r>
              <a:rPr lang="zh-TW" altLang="en-US" dirty="0" smtClean="0">
                <a:sym typeface="Wingdings" panose="05000000000000000000" pitchFamily="2" charset="2"/>
              </a:rPr>
              <a:t>如果是</a:t>
            </a:r>
            <a:r>
              <a:rPr lang="en-US" altLang="zh-TW" dirty="0" smtClean="0">
                <a:sym typeface="Wingdings" panose="05000000000000000000" pitchFamily="2" charset="2"/>
              </a:rPr>
              <a:t>chest wall:  OP first</a:t>
            </a:r>
            <a:r>
              <a:rPr lang="zh-TW" altLang="en-US" dirty="0" smtClean="0">
                <a:sym typeface="Wingdings" panose="05000000000000000000" pitchFamily="2" charset="2"/>
              </a:rPr>
              <a:t> </a:t>
            </a:r>
            <a:r>
              <a:rPr lang="en-US" altLang="zh-TW" dirty="0" smtClean="0">
                <a:sym typeface="Wingdings" panose="05000000000000000000" pitchFamily="2" charset="2"/>
              </a:rPr>
              <a:t>preferred. </a:t>
            </a:r>
            <a:r>
              <a:rPr lang="zh-TW" altLang="en-US" dirty="0" smtClean="0">
                <a:sym typeface="Wingdings" panose="05000000000000000000" pitchFamily="2" charset="2"/>
              </a:rPr>
              <a:t>看一張 </a:t>
            </a:r>
            <a:r>
              <a:rPr lang="en-US" altLang="zh-TW" dirty="0" smtClean="0">
                <a:sym typeface="Wingdings" panose="05000000000000000000" pitchFamily="2" charset="2"/>
              </a:rPr>
              <a:t>PPT</a:t>
            </a:r>
            <a:endParaRPr lang="en-US" altLang="zh-TW" dirty="0" smtClean="0"/>
          </a:p>
          <a:p>
            <a:pPr lvl="0"/>
            <a:r>
              <a:rPr lang="en-US" altLang="zh-TW" dirty="0" smtClean="0"/>
              <a:t>Stage</a:t>
            </a:r>
            <a:r>
              <a:rPr lang="zh-TW" altLang="en-US" dirty="0" smtClean="0"/>
              <a:t> </a:t>
            </a:r>
            <a:r>
              <a:rPr lang="en-US" altLang="zh-TW" dirty="0" smtClean="0"/>
              <a:t>IIIA:</a:t>
            </a:r>
            <a:r>
              <a:rPr lang="zh-TW" altLang="en-US" dirty="0" smtClean="0"/>
              <a:t> </a:t>
            </a:r>
            <a:endParaRPr lang="en-US" altLang="zh-TW" dirty="0" smtClean="0"/>
          </a:p>
          <a:p>
            <a:pPr lvl="1"/>
            <a:r>
              <a:rPr lang="en-US" altLang="zh-TW" dirty="0" smtClean="0"/>
              <a:t>1) </a:t>
            </a:r>
            <a:r>
              <a:rPr lang="en-US" altLang="zh-TW" dirty="0" err="1" smtClean="0"/>
              <a:t>Resectable</a:t>
            </a:r>
            <a:r>
              <a:rPr lang="en-US" altLang="zh-TW" dirty="0" smtClean="0"/>
              <a:t>: OP</a:t>
            </a:r>
            <a:r>
              <a:rPr lang="zh-TW" altLang="en-US" dirty="0" smtClean="0"/>
              <a:t> </a:t>
            </a:r>
            <a:r>
              <a:rPr lang="en-US" altLang="zh-TW" dirty="0" smtClean="0"/>
              <a:t>+</a:t>
            </a:r>
            <a:r>
              <a:rPr lang="zh-TW" altLang="en-US" dirty="0" smtClean="0"/>
              <a:t> </a:t>
            </a:r>
            <a:r>
              <a:rPr lang="en-US" altLang="zh-TW" dirty="0" err="1" smtClean="0"/>
              <a:t>adj</a:t>
            </a:r>
            <a:r>
              <a:rPr lang="zh-TW" altLang="en-US" dirty="0" smtClean="0"/>
              <a:t> </a:t>
            </a:r>
            <a:r>
              <a:rPr lang="en-US" altLang="zh-TW" dirty="0" smtClean="0"/>
              <a:t>chemo</a:t>
            </a:r>
            <a:r>
              <a:rPr lang="zh-TW" altLang="en-US" dirty="0" smtClean="0"/>
              <a:t> </a:t>
            </a:r>
            <a:r>
              <a:rPr lang="en-US" altLang="zh-TW" dirty="0" smtClean="0"/>
              <a:t>+ CRT if (margin+, ECE or N2)</a:t>
            </a:r>
          </a:p>
          <a:p>
            <a:pPr lvl="1"/>
            <a:r>
              <a:rPr lang="en-US" altLang="zh-TW" dirty="0" smtClean="0"/>
              <a:t>2)</a:t>
            </a:r>
            <a:r>
              <a:rPr lang="zh-TW" altLang="en-US" dirty="0" smtClean="0"/>
              <a:t> </a:t>
            </a:r>
            <a:r>
              <a:rPr lang="en-US" altLang="zh-TW" dirty="0" smtClean="0"/>
              <a:t>If lobectomy planned </a:t>
            </a:r>
            <a:r>
              <a:rPr lang="en-US" altLang="zh-TW" dirty="0" err="1" smtClean="0"/>
              <a:t>Ind</a:t>
            </a:r>
            <a:r>
              <a:rPr lang="en-US" altLang="zh-TW" dirty="0" smtClean="0"/>
              <a:t> CRT + OP (INT 0139)</a:t>
            </a:r>
          </a:p>
          <a:p>
            <a:pPr lvl="1"/>
            <a:r>
              <a:rPr lang="en-US" altLang="zh-TW" dirty="0" smtClean="0"/>
              <a:t>2) </a:t>
            </a:r>
            <a:r>
              <a:rPr lang="en-US" altLang="zh-TW" dirty="0" err="1" smtClean="0"/>
              <a:t>Unresectable</a:t>
            </a:r>
            <a:r>
              <a:rPr lang="en-US" altLang="zh-TW" dirty="0" smtClean="0"/>
              <a:t>: CCRT</a:t>
            </a:r>
            <a:r>
              <a:rPr lang="zh-TW" altLang="en-US" dirty="0" smtClean="0"/>
              <a:t>  </a:t>
            </a:r>
            <a:endParaRPr lang="en-US" altLang="zh-TW" dirty="0" smtClean="0"/>
          </a:p>
          <a:p>
            <a:pPr lvl="0"/>
            <a:endParaRPr lang="zh-TW" altLang="zh-TW" dirty="0"/>
          </a:p>
          <a:p>
            <a:endParaRPr lang="zh-TW" altLang="en-US" dirty="0"/>
          </a:p>
        </p:txBody>
      </p:sp>
      <p:sp>
        <p:nvSpPr>
          <p:cNvPr id="4" name="內容版面配置區 3"/>
          <p:cNvSpPr>
            <a:spLocks noGrp="1"/>
          </p:cNvSpPr>
          <p:nvPr>
            <p:ph sz="half" idx="2"/>
          </p:nvPr>
        </p:nvSpPr>
        <p:spPr/>
        <p:txBody>
          <a:bodyPr>
            <a:normAutofit fontScale="47500" lnSpcReduction="20000"/>
          </a:bodyPr>
          <a:lstStyle/>
          <a:p>
            <a:endParaRPr lang="zh-TW" altLang="en-US" dirty="0"/>
          </a:p>
        </p:txBody>
      </p:sp>
      <p:pic>
        <p:nvPicPr>
          <p:cNvPr id="5" name="圖片 4"/>
          <p:cNvPicPr>
            <a:picLocks noChangeAspect="1"/>
          </p:cNvPicPr>
          <p:nvPr/>
        </p:nvPicPr>
        <p:blipFill>
          <a:blip r:embed="rId2"/>
          <a:stretch>
            <a:fillRect/>
          </a:stretch>
        </p:blipFill>
        <p:spPr>
          <a:xfrm>
            <a:off x="4079777" y="234697"/>
            <a:ext cx="6394425" cy="762000"/>
          </a:xfrm>
          <a:prstGeom prst="rect">
            <a:avLst/>
          </a:prstGeom>
        </p:spPr>
      </p:pic>
      <p:pic>
        <p:nvPicPr>
          <p:cNvPr id="6" name="圖片 5"/>
          <p:cNvPicPr>
            <a:picLocks noChangeAspect="1"/>
          </p:cNvPicPr>
          <p:nvPr/>
        </p:nvPicPr>
        <p:blipFill>
          <a:blip r:embed="rId3"/>
          <a:stretch>
            <a:fillRect/>
          </a:stretch>
        </p:blipFill>
        <p:spPr>
          <a:xfrm>
            <a:off x="6011588" y="1443627"/>
            <a:ext cx="4656412" cy="1684784"/>
          </a:xfrm>
          <a:prstGeom prst="rect">
            <a:avLst/>
          </a:prstGeom>
        </p:spPr>
      </p:pic>
      <p:pic>
        <p:nvPicPr>
          <p:cNvPr id="7" name="圖片 6"/>
          <p:cNvPicPr>
            <a:picLocks noChangeAspect="1"/>
          </p:cNvPicPr>
          <p:nvPr/>
        </p:nvPicPr>
        <p:blipFill>
          <a:blip r:embed="rId4"/>
          <a:stretch>
            <a:fillRect/>
          </a:stretch>
        </p:blipFill>
        <p:spPr>
          <a:xfrm>
            <a:off x="6075448" y="3212977"/>
            <a:ext cx="4592552" cy="2308205"/>
          </a:xfrm>
          <a:prstGeom prst="rect">
            <a:avLst/>
          </a:prstGeom>
        </p:spPr>
      </p:pic>
      <p:pic>
        <p:nvPicPr>
          <p:cNvPr id="8" name="圖片 7"/>
          <p:cNvPicPr>
            <a:picLocks noChangeAspect="1"/>
          </p:cNvPicPr>
          <p:nvPr/>
        </p:nvPicPr>
        <p:blipFill>
          <a:blip r:embed="rId5"/>
          <a:stretch>
            <a:fillRect/>
          </a:stretch>
        </p:blipFill>
        <p:spPr>
          <a:xfrm>
            <a:off x="1775520" y="5756368"/>
            <a:ext cx="8285182" cy="1052736"/>
          </a:xfrm>
          <a:prstGeom prst="rect">
            <a:avLst/>
          </a:prstGeom>
        </p:spPr>
      </p:pic>
    </p:spTree>
    <p:extLst>
      <p:ext uri="{BB962C8B-B14F-4D97-AF65-F5344CB8AC3E}">
        <p14:creationId xmlns:p14="http://schemas.microsoft.com/office/powerpoint/2010/main" val="34990028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91544" y="0"/>
            <a:ext cx="1666528" cy="1143000"/>
          </a:xfrm>
        </p:spPr>
        <p:txBody>
          <a:bodyPr/>
          <a:lstStyle/>
          <a:p>
            <a:r>
              <a:rPr lang="en-US" altLang="zh-TW" dirty="0" smtClean="0"/>
              <a:t>2008 </a:t>
            </a:r>
            <a:endParaRPr lang="zh-TW" altLang="en-US" dirty="0"/>
          </a:p>
        </p:txBody>
      </p:sp>
      <p:sp>
        <p:nvSpPr>
          <p:cNvPr id="3" name="內容版面配置區 2"/>
          <p:cNvSpPr>
            <a:spLocks noGrp="1"/>
          </p:cNvSpPr>
          <p:nvPr>
            <p:ph sz="half" idx="1"/>
          </p:nvPr>
        </p:nvSpPr>
        <p:spPr>
          <a:xfrm>
            <a:off x="1524000" y="836713"/>
            <a:ext cx="4495800" cy="4746483"/>
          </a:xfrm>
        </p:spPr>
        <p:txBody>
          <a:bodyPr>
            <a:normAutofit fontScale="25000" lnSpcReduction="20000"/>
          </a:bodyPr>
          <a:lstStyle/>
          <a:p>
            <a:r>
              <a:rPr lang="zh-TW" altLang="zh-TW" sz="4000" dirty="0"/>
              <a:t>梁雲</a:t>
            </a:r>
            <a:r>
              <a:rPr lang="en-US" altLang="zh-TW" sz="4000" dirty="0"/>
              <a:t> </a:t>
            </a:r>
            <a:endParaRPr lang="zh-TW" altLang="zh-TW" sz="4000" dirty="0"/>
          </a:p>
          <a:p>
            <a:r>
              <a:rPr lang="en-US" altLang="zh-TW" sz="4000" dirty="0"/>
              <a:t>Q1: lung cancer  RT </a:t>
            </a:r>
            <a:r>
              <a:rPr lang="zh-TW" altLang="zh-TW" sz="4000" dirty="0"/>
              <a:t>範圍怎麼做？</a:t>
            </a:r>
            <a:endParaRPr lang="en-US" altLang="zh-TW" sz="4000" dirty="0"/>
          </a:p>
          <a:p>
            <a:r>
              <a:rPr lang="en-US" altLang="zh-TW" sz="4000" dirty="0"/>
              <a:t>PET/CT delineate, 4D CT,</a:t>
            </a:r>
            <a:r>
              <a:rPr lang="zh-TW" altLang="en-US" sz="4000" dirty="0"/>
              <a:t> </a:t>
            </a:r>
            <a:r>
              <a:rPr lang="en-US" altLang="zh-TW" sz="4000" dirty="0"/>
              <a:t>no need for ENI. </a:t>
            </a:r>
            <a:r>
              <a:rPr lang="zh-TW" altLang="en-US" sz="4000" dirty="0"/>
              <a:t> </a:t>
            </a:r>
            <a:r>
              <a:rPr lang="en-US" altLang="zh-TW" sz="4000" dirty="0"/>
              <a:t>RT post-chemo tumor, node IFRT (pre-chemo)</a:t>
            </a:r>
          </a:p>
          <a:p>
            <a:r>
              <a:rPr lang="en-US" altLang="zh-TW" sz="4000" dirty="0"/>
              <a:t>4D:</a:t>
            </a:r>
            <a:r>
              <a:rPr lang="zh-TW" altLang="en-US" sz="4000" dirty="0"/>
              <a:t>  </a:t>
            </a:r>
            <a:r>
              <a:rPr lang="en-US" altLang="zh-TW" sz="4000" dirty="0"/>
              <a:t>no GTV to CTV, ITV = GTV +</a:t>
            </a:r>
            <a:r>
              <a:rPr lang="zh-TW" altLang="en-US" sz="4000" dirty="0"/>
              <a:t> </a:t>
            </a:r>
            <a:r>
              <a:rPr lang="en-US" altLang="zh-TW" sz="4000" dirty="0"/>
              <a:t>(MIP), PTV: ITV + 5mm</a:t>
            </a:r>
          </a:p>
          <a:p>
            <a:r>
              <a:rPr lang="en-US" altLang="zh-TW" sz="4000" dirty="0"/>
              <a:t>NSCLC: MSKCC and Yuan ASCO 2007 Only involved area to improve dose escalation (Tumor </a:t>
            </a:r>
            <a:r>
              <a:rPr lang="zh-TW" altLang="en-US" sz="4000" dirty="0"/>
              <a:t>接受到的 </a:t>
            </a:r>
            <a:r>
              <a:rPr lang="en-US" altLang="zh-TW" sz="4000" dirty="0"/>
              <a:t>Dose </a:t>
            </a:r>
            <a:r>
              <a:rPr lang="zh-TW" altLang="en-US" sz="4000" dirty="0"/>
              <a:t>比 </a:t>
            </a:r>
            <a:r>
              <a:rPr lang="en-US" altLang="zh-TW" sz="4000" dirty="0"/>
              <a:t>ENI</a:t>
            </a:r>
            <a:r>
              <a:rPr lang="zh-TW" altLang="en-US" sz="4000" dirty="0"/>
              <a:t> 重要</a:t>
            </a:r>
            <a:r>
              <a:rPr lang="en-US" altLang="zh-TW" sz="4000" dirty="0"/>
              <a:t>)</a:t>
            </a:r>
          </a:p>
          <a:p>
            <a:r>
              <a:rPr lang="en-US" altLang="zh-TW" sz="4000" dirty="0"/>
              <a:t>RT</a:t>
            </a:r>
            <a:r>
              <a:rPr lang="zh-TW" altLang="en-US" sz="4000" dirty="0"/>
              <a:t> </a:t>
            </a:r>
            <a:r>
              <a:rPr lang="en-US" altLang="zh-TW" sz="4000" dirty="0"/>
              <a:t>alone data: RTOG 9311, </a:t>
            </a:r>
            <a:r>
              <a:rPr lang="zh-TW" altLang="en-US" sz="4000" dirty="0"/>
              <a:t>或是</a:t>
            </a:r>
            <a:r>
              <a:rPr lang="en-US" altLang="zh-TW" sz="4000" dirty="0"/>
              <a:t> SBRT data</a:t>
            </a:r>
            <a:r>
              <a:rPr lang="zh-TW" altLang="en-US" sz="4000" dirty="0"/>
              <a:t> </a:t>
            </a:r>
            <a:r>
              <a:rPr lang="en-US" altLang="zh-TW" sz="4000" dirty="0"/>
              <a:t>in stage I-II: LN failure </a:t>
            </a:r>
            <a:r>
              <a:rPr lang="zh-TW" altLang="en-US" sz="4000" dirty="0"/>
              <a:t>都小於 </a:t>
            </a:r>
            <a:r>
              <a:rPr lang="en-US" altLang="zh-TW" sz="4000" dirty="0"/>
              <a:t>10%</a:t>
            </a:r>
          </a:p>
          <a:p>
            <a:r>
              <a:rPr lang="en-US" altLang="zh-TW" sz="4000" dirty="0"/>
              <a:t>SCLC: CALGB</a:t>
            </a:r>
            <a:r>
              <a:rPr lang="zh-TW" altLang="en-US" sz="4000" dirty="0"/>
              <a:t> </a:t>
            </a:r>
            <a:r>
              <a:rPr lang="en-US" altLang="zh-TW" sz="4000" dirty="0"/>
              <a:t>30610</a:t>
            </a:r>
            <a:r>
              <a:rPr lang="zh-TW" altLang="en-US" sz="4000" dirty="0"/>
              <a:t> </a:t>
            </a:r>
            <a:r>
              <a:rPr lang="en-US" altLang="zh-TW" sz="4000" dirty="0"/>
              <a:t>(45GBID</a:t>
            </a:r>
            <a:r>
              <a:rPr lang="zh-TW" altLang="en-US" sz="4000" dirty="0"/>
              <a:t> </a:t>
            </a:r>
            <a:r>
              <a:rPr lang="en-US" altLang="zh-TW" sz="4000" dirty="0"/>
              <a:t>vs 70Gy QD) + Convert 66Gy trial:</a:t>
            </a:r>
            <a:r>
              <a:rPr lang="zh-TW" altLang="en-US" sz="4000" dirty="0"/>
              <a:t>目前都</a:t>
            </a:r>
            <a:r>
              <a:rPr lang="en-US" altLang="zh-TW" sz="4000" dirty="0"/>
              <a:t> no ENI</a:t>
            </a:r>
          </a:p>
          <a:p>
            <a:r>
              <a:rPr lang="en-US" altLang="zh-TW" sz="4000" dirty="0"/>
              <a:t>RT dose : R0N2: 50-54, chemo +</a:t>
            </a:r>
            <a:r>
              <a:rPr lang="en-US" altLang="zh-TW" sz="4000" dirty="0" err="1"/>
              <a:t>Rt</a:t>
            </a:r>
            <a:endParaRPr lang="en-US" altLang="zh-TW" sz="4000" dirty="0"/>
          </a:p>
          <a:p>
            <a:r>
              <a:rPr lang="en-US" altLang="zh-TW" sz="4000" dirty="0"/>
              <a:t>                  R1, ECE, margin+ : 54-60Gy sequential or CRT</a:t>
            </a:r>
          </a:p>
          <a:p>
            <a:r>
              <a:rPr lang="en-US" altLang="zh-TW" sz="4000" dirty="0"/>
              <a:t>                  R2: 60Gy CRT</a:t>
            </a:r>
          </a:p>
          <a:p>
            <a:endParaRPr lang="en-US" altLang="zh-TW" sz="4000" dirty="0"/>
          </a:p>
          <a:p>
            <a:r>
              <a:rPr lang="en-US" altLang="zh-TW" sz="4000" dirty="0"/>
              <a:t>Q2: </a:t>
            </a:r>
            <a:r>
              <a:rPr lang="zh-TW" altLang="zh-TW" sz="4000" dirty="0"/>
              <a:t>哪些重要器官要注意？</a:t>
            </a:r>
            <a:r>
              <a:rPr lang="en-US" altLang="zh-TW" sz="4000" dirty="0"/>
              <a:t> lung, heart, spinal cord, esophagus, brachial plexus..]</a:t>
            </a:r>
          </a:p>
          <a:p>
            <a:r>
              <a:rPr lang="en-US" altLang="zh-TW" sz="4000" dirty="0"/>
              <a:t>A: </a:t>
            </a:r>
            <a:r>
              <a:rPr lang="zh-TW" altLang="en-US" sz="4000" dirty="0"/>
              <a:t>前面 </a:t>
            </a:r>
            <a:r>
              <a:rPr lang="en-US" altLang="zh-TW" sz="4000" dirty="0"/>
              <a:t>PPT</a:t>
            </a:r>
            <a:r>
              <a:rPr lang="zh-TW" altLang="en-US" sz="4000" dirty="0"/>
              <a:t> 有附上 </a:t>
            </a:r>
            <a:r>
              <a:rPr lang="en-US" altLang="zh-TW" sz="4000" dirty="0"/>
              <a:t>conventional constraint</a:t>
            </a:r>
            <a:endParaRPr lang="zh-TW" altLang="zh-TW" sz="4000" dirty="0"/>
          </a:p>
          <a:p>
            <a:endParaRPr lang="en-US" altLang="zh-TW" sz="4000" dirty="0"/>
          </a:p>
          <a:p>
            <a:r>
              <a:rPr lang="en-US" altLang="zh-TW" sz="4000" dirty="0"/>
              <a:t>Q3: Lung </a:t>
            </a:r>
            <a:r>
              <a:rPr lang="zh-TW" altLang="zh-TW" sz="4000" dirty="0"/>
              <a:t>跟</a:t>
            </a:r>
            <a:r>
              <a:rPr lang="en-US" altLang="zh-TW" sz="4000" dirty="0"/>
              <a:t>bone</a:t>
            </a:r>
            <a:r>
              <a:rPr lang="zh-TW" altLang="zh-TW" sz="4000" dirty="0"/>
              <a:t>的</a:t>
            </a:r>
            <a:r>
              <a:rPr lang="en-US" altLang="zh-TW" sz="4000" dirty="0"/>
              <a:t>correction factor</a:t>
            </a:r>
            <a:r>
              <a:rPr lang="zh-TW" altLang="zh-TW" sz="4000" dirty="0"/>
              <a:t>是多少？</a:t>
            </a:r>
            <a:r>
              <a:rPr lang="en-US" altLang="zh-TW" sz="4000" dirty="0"/>
              <a:t> </a:t>
            </a:r>
            <a:endParaRPr lang="zh-TW" altLang="zh-TW" sz="4000" dirty="0"/>
          </a:p>
          <a:p>
            <a:r>
              <a:rPr lang="zh-TW" altLang="en-US" sz="4000" dirty="0"/>
              <a:t>Ａ： </a:t>
            </a:r>
            <a:r>
              <a:rPr lang="en-US" altLang="zh-TW" sz="4000" dirty="0"/>
              <a:t>Lung: 0.25 Bone: 1.65 </a:t>
            </a:r>
            <a:r>
              <a:rPr lang="zh-TW" altLang="en-US" sz="4000" dirty="0"/>
              <a:t>我不確定是不是問這個</a:t>
            </a:r>
            <a:endParaRPr lang="en-US" altLang="zh-TW" sz="4000" dirty="0"/>
          </a:p>
          <a:p>
            <a:r>
              <a:rPr lang="en-US" altLang="zh-TW" sz="4000" dirty="0"/>
              <a:t>Q4: Whole lung</a:t>
            </a:r>
            <a:r>
              <a:rPr lang="zh-TW" altLang="zh-TW" sz="4000" dirty="0"/>
              <a:t>的</a:t>
            </a:r>
            <a:r>
              <a:rPr lang="en-US" altLang="zh-TW" sz="4000" dirty="0"/>
              <a:t>tolerance dose?</a:t>
            </a:r>
            <a:endParaRPr lang="zh-TW" altLang="zh-TW" sz="4000" dirty="0"/>
          </a:p>
          <a:p>
            <a:r>
              <a:rPr lang="en-US" altLang="zh-TW" sz="4000" dirty="0"/>
              <a:t>MLD&lt;20Gy</a:t>
            </a:r>
          </a:p>
          <a:p>
            <a:endParaRPr lang="en-US" altLang="zh-TW" sz="4000" dirty="0"/>
          </a:p>
          <a:p>
            <a:r>
              <a:rPr lang="en-US" altLang="zh-TW" sz="4000" dirty="0"/>
              <a:t>Q5:</a:t>
            </a:r>
            <a:r>
              <a:rPr lang="zh-TW" altLang="en-US" sz="4000" dirty="0"/>
              <a:t> </a:t>
            </a:r>
            <a:r>
              <a:rPr lang="en-US" altLang="zh-TW" sz="4000" dirty="0"/>
              <a:t>PCI</a:t>
            </a:r>
            <a:r>
              <a:rPr lang="zh-TW" altLang="zh-TW" sz="4000" dirty="0"/>
              <a:t>什麼時候要做？怎麼做？劑量？</a:t>
            </a:r>
            <a:endParaRPr lang="en-US" altLang="zh-TW" sz="4000" dirty="0"/>
          </a:p>
          <a:p>
            <a:r>
              <a:rPr lang="en-US" altLang="zh-TW" sz="4000" dirty="0"/>
              <a:t>NSCLC:</a:t>
            </a:r>
            <a:r>
              <a:rPr lang="zh-TW" altLang="en-US" sz="4000" dirty="0"/>
              <a:t> </a:t>
            </a:r>
            <a:r>
              <a:rPr lang="en-US" altLang="zh-TW" sz="4000" dirty="0"/>
              <a:t>RTOG</a:t>
            </a:r>
            <a:r>
              <a:rPr lang="zh-TW" altLang="en-US" sz="4000" dirty="0"/>
              <a:t> </a:t>
            </a:r>
            <a:r>
              <a:rPr lang="en-US" altLang="zh-TW" sz="4000" dirty="0"/>
              <a:t>0214</a:t>
            </a:r>
            <a:r>
              <a:rPr lang="zh-TW" altLang="en-US" sz="4000" dirty="0"/>
              <a:t>  </a:t>
            </a:r>
            <a:r>
              <a:rPr lang="en-US" altLang="zh-TW" sz="4000" dirty="0"/>
              <a:t>PCI</a:t>
            </a:r>
            <a:r>
              <a:rPr lang="zh-TW" altLang="en-US" sz="4000" dirty="0"/>
              <a:t> </a:t>
            </a:r>
            <a:r>
              <a:rPr lang="en-US" altLang="zh-TW" sz="4000" dirty="0"/>
              <a:t>no OS</a:t>
            </a:r>
          </a:p>
          <a:p>
            <a:r>
              <a:rPr lang="en-US" altLang="zh-TW" sz="4000" dirty="0"/>
              <a:t>SCLC:  RTOG 0212, EORTC (</a:t>
            </a:r>
            <a:r>
              <a:rPr lang="en-US" altLang="zh-TW" sz="4000" dirty="0" err="1"/>
              <a:t>Slotman</a:t>
            </a:r>
            <a:r>
              <a:rPr lang="en-US" altLang="zh-TW" sz="4000" dirty="0"/>
              <a:t>) </a:t>
            </a:r>
            <a:r>
              <a:rPr lang="en-US" altLang="zh-TW" sz="4000" dirty="0">
                <a:sym typeface="Wingdings" panose="05000000000000000000" pitchFamily="2" charset="2"/>
              </a:rPr>
              <a:t> PCI improve OS and decrease brain </a:t>
            </a:r>
            <a:r>
              <a:rPr lang="en-US" altLang="zh-TW" sz="4000" dirty="0" err="1">
                <a:sym typeface="Wingdings" panose="05000000000000000000" pitchFamily="2" charset="2"/>
              </a:rPr>
              <a:t>mets</a:t>
            </a:r>
            <a:r>
              <a:rPr lang="en-US" altLang="zh-TW" sz="4000" dirty="0">
                <a:sym typeface="Wingdings" panose="05000000000000000000" pitchFamily="2" charset="2"/>
              </a:rPr>
              <a:t> 25Gy/10fx or 20Gy/5fx</a:t>
            </a:r>
          </a:p>
          <a:p>
            <a:r>
              <a:rPr lang="en-US" altLang="zh-TW" sz="4000" dirty="0">
                <a:sym typeface="Wingdings" panose="05000000000000000000" pitchFamily="2" charset="2"/>
              </a:rPr>
              <a:t>NCCN: </a:t>
            </a:r>
            <a:r>
              <a:rPr lang="zh-TW" altLang="en-US" sz="4000" dirty="0">
                <a:sym typeface="Wingdings" panose="05000000000000000000" pitchFamily="2" charset="2"/>
              </a:rPr>
              <a:t>不管</a:t>
            </a:r>
            <a:r>
              <a:rPr lang="en-US" altLang="zh-TW" sz="4000" dirty="0">
                <a:sym typeface="Wingdings" panose="05000000000000000000" pitchFamily="2" charset="2"/>
              </a:rPr>
              <a:t>limited or extensive</a:t>
            </a:r>
            <a:r>
              <a:rPr lang="zh-TW" altLang="en-US" sz="4000" dirty="0">
                <a:sym typeface="Wingdings" panose="05000000000000000000" pitchFamily="2" charset="2"/>
              </a:rPr>
              <a:t>有 </a:t>
            </a:r>
            <a:r>
              <a:rPr lang="en-US" altLang="zh-TW" sz="4000" dirty="0">
                <a:sym typeface="Wingdings" panose="05000000000000000000" pitchFamily="2" charset="2"/>
              </a:rPr>
              <a:t>complete response </a:t>
            </a:r>
            <a:r>
              <a:rPr lang="zh-TW" altLang="en-US" sz="4000" dirty="0">
                <a:sym typeface="Wingdings" panose="05000000000000000000" pitchFamily="2" charset="2"/>
              </a:rPr>
              <a:t>或是 </a:t>
            </a:r>
            <a:r>
              <a:rPr lang="en-US" altLang="zh-TW" sz="4000" dirty="0">
                <a:sym typeface="Wingdings" panose="05000000000000000000" pitchFamily="2" charset="2"/>
              </a:rPr>
              <a:t>partial response </a:t>
            </a:r>
            <a:r>
              <a:rPr lang="zh-TW" altLang="en-US" sz="4000" dirty="0">
                <a:sym typeface="Wingdings" panose="05000000000000000000" pitchFamily="2" charset="2"/>
              </a:rPr>
              <a:t>病人 就做</a:t>
            </a:r>
            <a:r>
              <a:rPr lang="en-US" altLang="zh-TW" sz="4000" dirty="0">
                <a:sym typeface="Wingdings" panose="05000000000000000000" pitchFamily="2" charset="2"/>
              </a:rPr>
              <a:t>PCI.</a:t>
            </a:r>
            <a:r>
              <a:rPr lang="zh-TW" altLang="en-US" sz="4000" dirty="0">
                <a:sym typeface="Wingdings" panose="05000000000000000000" pitchFamily="2" charset="2"/>
              </a:rPr>
              <a:t> 手術 後也做 </a:t>
            </a:r>
            <a:r>
              <a:rPr lang="en-US" altLang="zh-TW" sz="4000" dirty="0">
                <a:sym typeface="Wingdings" panose="05000000000000000000" pitchFamily="2" charset="2"/>
              </a:rPr>
              <a:t>(</a:t>
            </a:r>
            <a:r>
              <a:rPr lang="zh-TW" altLang="en-US" sz="4000" dirty="0">
                <a:sym typeface="Wingdings" panose="05000000000000000000" pitchFamily="2" charset="2"/>
              </a:rPr>
              <a:t> 但針對 這點 </a:t>
            </a:r>
            <a:r>
              <a:rPr lang="en-US" altLang="zh-TW" sz="4000" dirty="0">
                <a:sym typeface="Wingdings" panose="05000000000000000000" pitchFamily="2" charset="2"/>
              </a:rPr>
              <a:t>NCCN surgery </a:t>
            </a:r>
            <a:r>
              <a:rPr lang="zh-TW" altLang="en-US" sz="4000" dirty="0">
                <a:sym typeface="Wingdings" panose="05000000000000000000" pitchFamily="2" charset="2"/>
              </a:rPr>
              <a:t>部分說</a:t>
            </a:r>
            <a:r>
              <a:rPr lang="en-US" altLang="zh-TW" sz="4000" dirty="0">
                <a:sym typeface="Wingdings" panose="05000000000000000000" pitchFamily="2" charset="2"/>
              </a:rPr>
              <a:t>stage I-IIA </a:t>
            </a:r>
            <a:r>
              <a:rPr lang="zh-TW" altLang="en-US" sz="4000" dirty="0">
                <a:sym typeface="Wingdings" panose="05000000000000000000" pitchFamily="2" charset="2"/>
              </a:rPr>
              <a:t>病人少見 </a:t>
            </a:r>
            <a:r>
              <a:rPr lang="en-US" altLang="zh-TW" sz="4000" dirty="0">
                <a:sym typeface="Wingdings" panose="05000000000000000000" pitchFamily="2" charset="2"/>
              </a:rPr>
              <a:t>brain </a:t>
            </a:r>
            <a:r>
              <a:rPr lang="en-US" altLang="zh-TW" sz="4000" dirty="0" err="1">
                <a:sym typeface="Wingdings" panose="05000000000000000000" pitchFamily="2" charset="2"/>
              </a:rPr>
              <a:t>mets</a:t>
            </a:r>
            <a:r>
              <a:rPr lang="en-US" altLang="zh-TW" sz="4000" dirty="0">
                <a:sym typeface="Wingdings" panose="05000000000000000000" pitchFamily="2" charset="2"/>
              </a:rPr>
              <a:t> </a:t>
            </a:r>
            <a:r>
              <a:rPr lang="zh-TW" altLang="en-US" sz="4000" dirty="0">
                <a:sym typeface="Wingdings" panose="05000000000000000000" pitchFamily="2" charset="2"/>
              </a:rPr>
              <a:t>可不做</a:t>
            </a:r>
            <a:endParaRPr lang="en-US" altLang="zh-TW" sz="4000" dirty="0">
              <a:sym typeface="Wingdings" panose="05000000000000000000" pitchFamily="2" charset="2"/>
            </a:endParaRPr>
          </a:p>
          <a:p>
            <a:r>
              <a:rPr lang="zh-TW" altLang="en-US" sz="4000" dirty="0">
                <a:sym typeface="Wingdings" panose="05000000000000000000" pitchFamily="2" charset="2"/>
              </a:rPr>
              <a:t>病人如果大於</a:t>
            </a:r>
            <a:r>
              <a:rPr lang="en-US" altLang="zh-TW" sz="4000" dirty="0">
                <a:sym typeface="Wingdings" panose="05000000000000000000" pitchFamily="2" charset="2"/>
              </a:rPr>
              <a:t>60</a:t>
            </a:r>
            <a:r>
              <a:rPr lang="zh-TW" altLang="en-US" sz="4000" dirty="0">
                <a:sym typeface="Wingdings" panose="05000000000000000000" pitchFamily="2" charset="2"/>
              </a:rPr>
              <a:t>歲</a:t>
            </a:r>
            <a:r>
              <a:rPr lang="en-US" altLang="zh-TW" sz="4000" dirty="0">
                <a:sym typeface="Wingdings" panose="05000000000000000000" pitchFamily="2" charset="2"/>
              </a:rPr>
              <a:t>toxicity increase, discuss with patient.</a:t>
            </a:r>
          </a:p>
          <a:p>
            <a:r>
              <a:rPr lang="en-US" altLang="zh-TW" sz="4000" dirty="0">
                <a:sym typeface="Wingdings" panose="05000000000000000000" pitchFamily="2" charset="2"/>
              </a:rPr>
              <a:t>Poor performance or cognitive impair  no PCI</a:t>
            </a:r>
            <a:endParaRPr lang="zh-TW" altLang="zh-TW" sz="4000" dirty="0"/>
          </a:p>
          <a:p>
            <a:endParaRPr lang="zh-TW" altLang="en-US" dirty="0"/>
          </a:p>
        </p:txBody>
      </p:sp>
      <p:sp>
        <p:nvSpPr>
          <p:cNvPr id="4" name="內容版面配置區 3"/>
          <p:cNvSpPr>
            <a:spLocks noGrp="1"/>
          </p:cNvSpPr>
          <p:nvPr>
            <p:ph sz="half" idx="2"/>
          </p:nvPr>
        </p:nvSpPr>
        <p:spPr/>
        <p:txBody>
          <a:bodyPr>
            <a:normAutofit fontScale="25000" lnSpcReduction="20000"/>
          </a:bodyPr>
          <a:lstStyle/>
          <a:p>
            <a:endParaRPr lang="zh-TW" altLang="en-US" dirty="0"/>
          </a:p>
        </p:txBody>
      </p:sp>
      <p:pic>
        <p:nvPicPr>
          <p:cNvPr id="5" name="圖片 4"/>
          <p:cNvPicPr>
            <a:picLocks noChangeAspect="1"/>
          </p:cNvPicPr>
          <p:nvPr/>
        </p:nvPicPr>
        <p:blipFill>
          <a:blip r:embed="rId2"/>
          <a:stretch>
            <a:fillRect/>
          </a:stretch>
        </p:blipFill>
        <p:spPr>
          <a:xfrm>
            <a:off x="7260795" y="63612"/>
            <a:ext cx="3035730" cy="3105736"/>
          </a:xfrm>
          <a:prstGeom prst="rect">
            <a:avLst/>
          </a:prstGeom>
        </p:spPr>
      </p:pic>
      <p:pic>
        <p:nvPicPr>
          <p:cNvPr id="6" name="圖片 5"/>
          <p:cNvPicPr>
            <a:picLocks noChangeAspect="1"/>
          </p:cNvPicPr>
          <p:nvPr/>
        </p:nvPicPr>
        <p:blipFill>
          <a:blip r:embed="rId3"/>
          <a:stretch>
            <a:fillRect/>
          </a:stretch>
        </p:blipFill>
        <p:spPr>
          <a:xfrm>
            <a:off x="6162979" y="3169348"/>
            <a:ext cx="3900244" cy="2713742"/>
          </a:xfrm>
          <a:prstGeom prst="rect">
            <a:avLst/>
          </a:prstGeom>
        </p:spPr>
      </p:pic>
      <p:pic>
        <p:nvPicPr>
          <p:cNvPr id="7" name="圖片 6"/>
          <p:cNvPicPr>
            <a:picLocks noChangeAspect="1"/>
          </p:cNvPicPr>
          <p:nvPr/>
        </p:nvPicPr>
        <p:blipFill>
          <a:blip r:embed="rId4"/>
          <a:stretch>
            <a:fillRect/>
          </a:stretch>
        </p:blipFill>
        <p:spPr>
          <a:xfrm>
            <a:off x="1743075" y="6276226"/>
            <a:ext cx="8553450" cy="542925"/>
          </a:xfrm>
          <a:prstGeom prst="rect">
            <a:avLst/>
          </a:prstGeom>
        </p:spPr>
      </p:pic>
      <p:pic>
        <p:nvPicPr>
          <p:cNvPr id="8" name="圖片 7"/>
          <p:cNvPicPr>
            <a:picLocks noChangeAspect="1"/>
          </p:cNvPicPr>
          <p:nvPr/>
        </p:nvPicPr>
        <p:blipFill>
          <a:blip r:embed="rId5"/>
          <a:stretch>
            <a:fillRect/>
          </a:stretch>
        </p:blipFill>
        <p:spPr>
          <a:xfrm>
            <a:off x="1743076" y="5671458"/>
            <a:ext cx="6223257" cy="542969"/>
          </a:xfrm>
          <a:prstGeom prst="rect">
            <a:avLst/>
          </a:prstGeom>
        </p:spPr>
      </p:pic>
    </p:spTree>
    <p:extLst>
      <p:ext uri="{BB962C8B-B14F-4D97-AF65-F5344CB8AC3E}">
        <p14:creationId xmlns:p14="http://schemas.microsoft.com/office/powerpoint/2010/main" val="15018270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sz="half" idx="1"/>
          </p:nvPr>
        </p:nvSpPr>
        <p:spPr/>
        <p:txBody>
          <a:bodyPr/>
          <a:lstStyle/>
          <a:p>
            <a:endParaRPr lang="zh-TW" altLang="en-US" dirty="0"/>
          </a:p>
        </p:txBody>
      </p:sp>
      <p:sp>
        <p:nvSpPr>
          <p:cNvPr id="4" name="內容版面配置區 3"/>
          <p:cNvSpPr>
            <a:spLocks noGrp="1"/>
          </p:cNvSpPr>
          <p:nvPr>
            <p:ph sz="half" idx="2"/>
          </p:nvPr>
        </p:nvSpPr>
        <p:spPr/>
        <p:txBody>
          <a:bodyPr/>
          <a:lstStyle/>
          <a:p>
            <a:endParaRPr lang="zh-TW" altLang="en-US"/>
          </a:p>
        </p:txBody>
      </p:sp>
      <p:pic>
        <p:nvPicPr>
          <p:cNvPr id="5" name="圖片 4"/>
          <p:cNvPicPr>
            <a:picLocks noChangeAspect="1"/>
          </p:cNvPicPr>
          <p:nvPr/>
        </p:nvPicPr>
        <p:blipFill>
          <a:blip r:embed="rId2"/>
          <a:stretch>
            <a:fillRect/>
          </a:stretch>
        </p:blipFill>
        <p:spPr>
          <a:xfrm>
            <a:off x="1572254" y="1595418"/>
            <a:ext cx="8638547" cy="2424683"/>
          </a:xfrm>
          <a:prstGeom prst="rect">
            <a:avLst/>
          </a:prstGeom>
        </p:spPr>
      </p:pic>
    </p:spTree>
    <p:extLst>
      <p:ext uri="{BB962C8B-B14F-4D97-AF65-F5344CB8AC3E}">
        <p14:creationId xmlns:p14="http://schemas.microsoft.com/office/powerpoint/2010/main" val="1857693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010657" y="-12044"/>
            <a:ext cx="1666528" cy="1143000"/>
          </a:xfrm>
        </p:spPr>
        <p:txBody>
          <a:bodyPr/>
          <a:lstStyle/>
          <a:p>
            <a:r>
              <a:rPr lang="en-US" altLang="zh-TW" dirty="0" smtClean="0"/>
              <a:t>2009</a:t>
            </a:r>
            <a:endParaRPr lang="zh-TW" altLang="en-US" dirty="0"/>
          </a:p>
        </p:txBody>
      </p:sp>
      <p:sp>
        <p:nvSpPr>
          <p:cNvPr id="3" name="內容版面配置區 2"/>
          <p:cNvSpPr>
            <a:spLocks noGrp="1"/>
          </p:cNvSpPr>
          <p:nvPr>
            <p:ph idx="1"/>
          </p:nvPr>
        </p:nvSpPr>
        <p:spPr>
          <a:xfrm>
            <a:off x="1981200" y="836712"/>
            <a:ext cx="8229600" cy="5760640"/>
          </a:xfrm>
        </p:spPr>
        <p:txBody>
          <a:bodyPr>
            <a:noAutofit/>
          </a:bodyPr>
          <a:lstStyle/>
          <a:p>
            <a:r>
              <a:rPr lang="zh-TW" altLang="en-US" sz="900" dirty="0"/>
              <a:t>和信鄭鴻鈞主任</a:t>
            </a:r>
            <a:endParaRPr lang="en-US" altLang="zh-TW" sz="900" dirty="0"/>
          </a:p>
          <a:p>
            <a:r>
              <a:rPr lang="en-US" altLang="zh-TW" sz="900" dirty="0"/>
              <a:t>Q1: Low dose CT </a:t>
            </a:r>
            <a:r>
              <a:rPr lang="zh-TW" altLang="en-US" sz="900" dirty="0"/>
              <a:t>在</a:t>
            </a:r>
            <a:r>
              <a:rPr lang="en-US" altLang="zh-TW" sz="900" dirty="0"/>
              <a:t>lung Ca staging screening</a:t>
            </a:r>
            <a:r>
              <a:rPr lang="zh-TW" altLang="en-US" sz="900" dirty="0"/>
              <a:t>的角色？</a:t>
            </a:r>
            <a:endParaRPr lang="en-US" altLang="zh-TW" sz="900" dirty="0"/>
          </a:p>
          <a:p>
            <a:r>
              <a:rPr lang="en-US" altLang="zh-TW" sz="900" dirty="0"/>
              <a:t>A: NLST </a:t>
            </a:r>
            <a:r>
              <a:rPr lang="zh-TW" altLang="en-US" sz="900" dirty="0"/>
              <a:t>每 </a:t>
            </a:r>
            <a:r>
              <a:rPr lang="en-US" altLang="zh-TW" sz="900" dirty="0"/>
              <a:t>screen 320 LDCT </a:t>
            </a:r>
            <a:r>
              <a:rPr lang="zh-TW" altLang="en-US" sz="900" dirty="0"/>
              <a:t>可以</a:t>
            </a:r>
            <a:r>
              <a:rPr lang="en-US" altLang="zh-TW" sz="900" dirty="0"/>
              <a:t>prevent</a:t>
            </a:r>
            <a:r>
              <a:rPr lang="zh-TW" altLang="en-US" sz="900" dirty="0"/>
              <a:t> </a:t>
            </a:r>
            <a:r>
              <a:rPr lang="en-US" altLang="zh-TW" sz="900" dirty="0"/>
              <a:t>1</a:t>
            </a:r>
            <a:r>
              <a:rPr lang="zh-TW" altLang="en-US" sz="900" dirty="0"/>
              <a:t> </a:t>
            </a:r>
            <a:r>
              <a:rPr lang="en-US" altLang="zh-TW" sz="900" dirty="0"/>
              <a:t>death. LDCT decrease RR by 20%. USPSTF: 55-80y/o  greater than 30PPY and smokers who quit &lt;15 year </a:t>
            </a:r>
          </a:p>
          <a:p>
            <a:pPr marL="228600"/>
            <a:endParaRPr lang="en-US" altLang="zh-TW" sz="900" dirty="0"/>
          </a:p>
          <a:p>
            <a:pPr marL="228600"/>
            <a:r>
              <a:rPr lang="en-US" altLang="zh-TW" sz="900" dirty="0"/>
              <a:t>Q2: </a:t>
            </a:r>
            <a:r>
              <a:rPr lang="zh-TW" altLang="zh-TW" sz="900" kern="100" dirty="0">
                <a:latin typeface="Times New Roman" panose="02020603050405020304" pitchFamily="18" charset="0"/>
              </a:rPr>
              <a:t>做</a:t>
            </a:r>
            <a:r>
              <a:rPr lang="en-US" altLang="zh-TW" sz="900" kern="100" dirty="0">
                <a:latin typeface="Times New Roman" panose="02020603050405020304" pitchFamily="18" charset="0"/>
              </a:rPr>
              <a:t>low dose CT screening</a:t>
            </a:r>
            <a:r>
              <a:rPr lang="zh-TW" altLang="zh-TW" sz="900" kern="100" dirty="0">
                <a:latin typeface="Times New Roman" panose="02020603050405020304" pitchFamily="18" charset="0"/>
              </a:rPr>
              <a:t>可能對病人造成什麼危險？</a:t>
            </a:r>
          </a:p>
          <a:p>
            <a:pPr marL="228600"/>
            <a:r>
              <a:rPr lang="en-US" altLang="zh-TW" sz="900" kern="100" dirty="0">
                <a:latin typeface="Times New Roman" panose="02020603050405020304" pitchFamily="18" charset="0"/>
                <a:sym typeface="Wingdings" panose="05000000000000000000" pitchFamily="2" charset="2"/>
              </a:rPr>
              <a:t>A:</a:t>
            </a:r>
            <a:r>
              <a:rPr lang="en-US" altLang="zh-TW" sz="900" kern="100" dirty="0">
                <a:latin typeface="Times New Roman" panose="02020603050405020304" pitchFamily="18" charset="0"/>
              </a:rPr>
              <a:t> </a:t>
            </a:r>
            <a:r>
              <a:rPr lang="zh-TW" altLang="zh-TW" sz="900" kern="100" dirty="0">
                <a:latin typeface="Times New Roman" panose="02020603050405020304" pitchFamily="18" charset="0"/>
              </a:rPr>
              <a:t>增加不必要的</a:t>
            </a:r>
            <a:r>
              <a:rPr lang="en-US" altLang="zh-TW" sz="900" kern="100" dirty="0">
                <a:latin typeface="Times New Roman" panose="02020603050405020304" pitchFamily="18" charset="0"/>
              </a:rPr>
              <a:t>invasive procedure (</a:t>
            </a:r>
            <a:r>
              <a:rPr lang="zh-TW" altLang="zh-TW" sz="900" kern="100" dirty="0">
                <a:latin typeface="Times New Roman" panose="02020603050405020304" pitchFamily="18" charset="0"/>
              </a:rPr>
              <a:t>因為</a:t>
            </a:r>
            <a:r>
              <a:rPr lang="en-US" altLang="zh-TW" sz="900" kern="100" dirty="0">
                <a:latin typeface="Times New Roman" panose="02020603050405020304" pitchFamily="18" charset="0"/>
              </a:rPr>
              <a:t>screening</a:t>
            </a:r>
            <a:r>
              <a:rPr lang="zh-TW" altLang="zh-TW" sz="900" kern="100" dirty="0">
                <a:latin typeface="Times New Roman" panose="02020603050405020304" pitchFamily="18" charset="0"/>
              </a:rPr>
              <a:t>出來有很多小的</a:t>
            </a:r>
            <a:r>
              <a:rPr lang="en-US" altLang="zh-TW" sz="900" kern="100" dirty="0">
                <a:latin typeface="Times New Roman" panose="02020603050405020304" pitchFamily="18" charset="0"/>
              </a:rPr>
              <a:t>lung mass</a:t>
            </a:r>
            <a:r>
              <a:rPr lang="zh-TW" altLang="zh-TW" sz="900" kern="100" dirty="0">
                <a:latin typeface="Times New Roman" panose="02020603050405020304" pitchFamily="18" charset="0"/>
              </a:rPr>
              <a:t>或</a:t>
            </a:r>
            <a:r>
              <a:rPr lang="en-US" altLang="zh-TW" sz="900" kern="100" dirty="0">
                <a:latin typeface="Times New Roman" panose="02020603050405020304" pitchFamily="18" charset="0"/>
              </a:rPr>
              <a:t>benign tumor</a:t>
            </a:r>
            <a:r>
              <a:rPr lang="zh-TW" altLang="zh-TW" sz="900" kern="100" dirty="0">
                <a:latin typeface="Times New Roman" panose="02020603050405020304" pitchFamily="18" charset="0"/>
              </a:rPr>
              <a:t>會因為這樣需要做</a:t>
            </a:r>
            <a:r>
              <a:rPr lang="en-US" altLang="zh-TW" sz="900" kern="100" dirty="0">
                <a:latin typeface="Times New Roman" panose="02020603050405020304" pitchFamily="18" charset="0"/>
              </a:rPr>
              <a:t>invasive </a:t>
            </a:r>
            <a:r>
              <a:rPr lang="en-US" altLang="zh-TW" sz="900" kern="100" dirty="0" err="1">
                <a:latin typeface="Times New Roman" panose="02020603050405020304" pitchFamily="18" charset="0"/>
              </a:rPr>
              <a:t>Bx</a:t>
            </a:r>
            <a:r>
              <a:rPr lang="en-US" altLang="zh-TW" sz="900" kern="100" dirty="0">
                <a:latin typeface="Times New Roman" panose="02020603050405020304" pitchFamily="18" charset="0"/>
              </a:rPr>
              <a:t>)</a:t>
            </a:r>
          </a:p>
          <a:p>
            <a:pPr marL="228600"/>
            <a:endParaRPr lang="en-US" altLang="zh-TW" sz="900" dirty="0"/>
          </a:p>
          <a:p>
            <a:pPr marL="228600"/>
            <a:r>
              <a:rPr lang="en-US" altLang="zh-TW" sz="900" dirty="0"/>
              <a:t>Q3: </a:t>
            </a:r>
            <a:r>
              <a:rPr lang="zh-TW" altLang="en-US" sz="900" dirty="0"/>
              <a:t>一個病人</a:t>
            </a:r>
            <a:r>
              <a:rPr lang="en-US" altLang="zh-TW" sz="900" dirty="0"/>
              <a:t>RLL T2N1, LUL</a:t>
            </a:r>
            <a:r>
              <a:rPr lang="zh-TW" altLang="en-US" sz="900" dirty="0"/>
              <a:t>有一顆</a:t>
            </a:r>
            <a:r>
              <a:rPr lang="en-US" altLang="zh-TW" sz="900" dirty="0"/>
              <a:t>&lt;3cm nodule, staging?   </a:t>
            </a:r>
          </a:p>
          <a:p>
            <a:r>
              <a:rPr lang="en-US" altLang="zh-TW" sz="900" dirty="0"/>
              <a:t>A: </a:t>
            </a:r>
            <a:r>
              <a:rPr lang="zh-TW" altLang="en-US" sz="900" dirty="0"/>
              <a:t>兩個</a:t>
            </a:r>
            <a:r>
              <a:rPr lang="en-US" altLang="zh-TW" sz="900" dirty="0"/>
              <a:t>primary, T2N1</a:t>
            </a:r>
            <a:r>
              <a:rPr lang="zh-TW" altLang="en-US" sz="900" dirty="0"/>
              <a:t>及 </a:t>
            </a:r>
            <a:r>
              <a:rPr lang="en-US" altLang="zh-TW" sz="900" dirty="0"/>
              <a:t>left T1cN0, </a:t>
            </a:r>
            <a:r>
              <a:rPr lang="zh-TW" altLang="en-US" sz="900" dirty="0"/>
              <a:t>都可以分別手術</a:t>
            </a:r>
            <a:r>
              <a:rPr lang="en-US" altLang="zh-TW" sz="900" dirty="0"/>
              <a:t>, </a:t>
            </a:r>
            <a:r>
              <a:rPr lang="zh-TW" altLang="en-US" sz="900" dirty="0"/>
              <a:t>病人可能可以治癒</a:t>
            </a:r>
            <a:r>
              <a:rPr lang="en-US" altLang="zh-TW" sz="900" dirty="0"/>
              <a:t>,</a:t>
            </a:r>
          </a:p>
          <a:p>
            <a:endParaRPr lang="en-US" altLang="zh-TW" sz="900" dirty="0"/>
          </a:p>
          <a:p>
            <a:r>
              <a:rPr lang="en-US" altLang="zh-TW" sz="900" dirty="0"/>
              <a:t>Q4: </a:t>
            </a:r>
            <a:r>
              <a:rPr lang="zh-TW" altLang="en-US" sz="900" dirty="0"/>
              <a:t>如果</a:t>
            </a:r>
            <a:r>
              <a:rPr lang="en-US" altLang="zh-TW" sz="900" dirty="0"/>
              <a:t>RLL T3N1, WBBS negative </a:t>
            </a:r>
            <a:r>
              <a:rPr lang="zh-TW" altLang="en-US" sz="900" dirty="0"/>
              <a:t>但是</a:t>
            </a:r>
            <a:r>
              <a:rPr lang="en-US" altLang="zh-TW" sz="900" dirty="0"/>
              <a:t>PET</a:t>
            </a:r>
            <a:r>
              <a:rPr lang="zh-TW" altLang="en-US" sz="900" dirty="0"/>
              <a:t>發現在</a:t>
            </a:r>
            <a:r>
              <a:rPr lang="en-US" altLang="zh-TW" sz="900" dirty="0"/>
              <a:t>L4</a:t>
            </a:r>
            <a:r>
              <a:rPr lang="zh-TW" altLang="en-US" sz="900" dirty="0"/>
              <a:t>的地方有</a:t>
            </a:r>
            <a:r>
              <a:rPr lang="en-US" altLang="zh-TW" sz="900" dirty="0"/>
              <a:t>uptake, </a:t>
            </a:r>
            <a:r>
              <a:rPr lang="zh-TW" altLang="en-US" sz="900" dirty="0"/>
              <a:t>接下來怎麼做</a:t>
            </a:r>
            <a:r>
              <a:rPr lang="en-US" altLang="zh-TW" sz="900" dirty="0"/>
              <a:t>?  </a:t>
            </a:r>
          </a:p>
          <a:p>
            <a:r>
              <a:rPr lang="en-US" altLang="zh-TW" sz="900" dirty="0"/>
              <a:t>A: PET</a:t>
            </a:r>
            <a:r>
              <a:rPr lang="zh-TW" altLang="en-US" sz="900" dirty="0"/>
              <a:t>的</a:t>
            </a:r>
            <a:r>
              <a:rPr lang="en-US" altLang="zh-TW" sz="900" dirty="0"/>
              <a:t>sensitivity</a:t>
            </a:r>
            <a:r>
              <a:rPr lang="zh-TW" altLang="en-US" sz="900" dirty="0"/>
              <a:t>約</a:t>
            </a:r>
            <a:r>
              <a:rPr lang="en-US" altLang="zh-TW" sz="900" dirty="0"/>
              <a:t>85-90%???(</a:t>
            </a:r>
            <a:r>
              <a:rPr lang="zh-TW" altLang="en-US" sz="900" dirty="0"/>
              <a:t>我的書寫７０</a:t>
            </a:r>
            <a:r>
              <a:rPr lang="en-US" altLang="zh-TW" sz="900" dirty="0"/>
              <a:t>% sensitivity, specificity 90%), </a:t>
            </a:r>
            <a:r>
              <a:rPr lang="zh-TW" altLang="en-US" sz="900" dirty="0"/>
              <a:t>所以還是應該要做</a:t>
            </a:r>
            <a:r>
              <a:rPr lang="en-US" altLang="zh-TW" sz="900" dirty="0"/>
              <a:t>tissue proof, </a:t>
            </a:r>
            <a:r>
              <a:rPr lang="zh-TW" altLang="en-US" sz="900" dirty="0"/>
              <a:t>才能得到正確的</a:t>
            </a:r>
            <a:r>
              <a:rPr lang="en-US" altLang="zh-TW" sz="900" dirty="0"/>
              <a:t>staging. </a:t>
            </a:r>
            <a:r>
              <a:rPr lang="en-US" altLang="zh-TW" sz="900" kern="100" dirty="0">
                <a:latin typeface="Times New Roman" panose="02020603050405020304" pitchFamily="18" charset="0"/>
              </a:rPr>
              <a:t>M0</a:t>
            </a:r>
            <a:r>
              <a:rPr lang="zh-TW" altLang="zh-TW" sz="900" kern="100" dirty="0">
                <a:latin typeface="Times New Roman" panose="02020603050405020304" pitchFamily="18" charset="0"/>
              </a:rPr>
              <a:t>和</a:t>
            </a:r>
            <a:r>
              <a:rPr lang="en-US" altLang="zh-TW" sz="900" kern="100" dirty="0">
                <a:latin typeface="Times New Roman" panose="02020603050405020304" pitchFamily="18" charset="0"/>
              </a:rPr>
              <a:t>M1</a:t>
            </a:r>
            <a:r>
              <a:rPr lang="zh-TW" altLang="zh-TW" sz="900" kern="100" dirty="0">
                <a:latin typeface="Times New Roman" panose="02020603050405020304" pitchFamily="18" charset="0"/>
              </a:rPr>
              <a:t>的差別會影響治療。</a:t>
            </a:r>
            <a:endParaRPr lang="en-US" altLang="zh-TW" sz="900" kern="100" dirty="0">
              <a:latin typeface="Times New Roman" panose="02020603050405020304" pitchFamily="18" charset="0"/>
            </a:endParaRPr>
          </a:p>
          <a:p>
            <a:r>
              <a:rPr lang="en-US" altLang="zh-TW" sz="900" kern="100" dirty="0">
                <a:latin typeface="Times New Roman" panose="02020603050405020304" pitchFamily="18" charset="0"/>
              </a:rPr>
              <a:t>M1  molecular testing, Target therapy</a:t>
            </a:r>
            <a:endParaRPr lang="en-US" altLang="zh-TW" sz="900" dirty="0"/>
          </a:p>
          <a:p>
            <a:endParaRPr lang="en-US" altLang="zh-TW" sz="900" dirty="0"/>
          </a:p>
          <a:p>
            <a:endParaRPr lang="en-US" altLang="zh-TW" sz="900" dirty="0"/>
          </a:p>
          <a:p>
            <a:pPr marL="0" indent="0">
              <a:buNone/>
            </a:pPr>
            <a:endParaRPr lang="en-US" altLang="zh-TW" sz="900" dirty="0"/>
          </a:p>
          <a:p>
            <a:r>
              <a:rPr lang="en-US" altLang="zh-TW" sz="900" dirty="0"/>
              <a:t>Q5:  T1-2N0M0</a:t>
            </a:r>
            <a:r>
              <a:rPr lang="zh-TW" altLang="en-US" sz="900" dirty="0"/>
              <a:t>的</a:t>
            </a:r>
            <a:r>
              <a:rPr lang="en-US" altLang="zh-TW" sz="900" dirty="0"/>
              <a:t>lung Ca</a:t>
            </a:r>
            <a:r>
              <a:rPr lang="zh-TW" altLang="en-US" sz="900" dirty="0"/>
              <a:t>，</a:t>
            </a:r>
            <a:r>
              <a:rPr lang="en-US" altLang="zh-TW" sz="900" dirty="0"/>
              <a:t>operable</a:t>
            </a:r>
            <a:r>
              <a:rPr lang="zh-TW" altLang="en-US" sz="900" dirty="0"/>
              <a:t>，請問你病人需不需要做</a:t>
            </a:r>
            <a:r>
              <a:rPr lang="en-US" altLang="zh-TW" sz="900" dirty="0"/>
              <a:t>PET</a:t>
            </a:r>
            <a:r>
              <a:rPr lang="zh-TW" altLang="en-US" sz="900" dirty="0"/>
              <a:t>？理由是什麼？</a:t>
            </a:r>
            <a:endParaRPr lang="en-US" altLang="zh-TW" sz="900" dirty="0"/>
          </a:p>
          <a:p>
            <a:r>
              <a:rPr lang="en-US" altLang="zh-TW" sz="900" dirty="0"/>
              <a:t>A: NCCN guideline </a:t>
            </a:r>
            <a:r>
              <a:rPr lang="zh-TW" altLang="en-US" sz="900" dirty="0"/>
              <a:t>從 </a:t>
            </a:r>
            <a:r>
              <a:rPr lang="en-US" altLang="zh-TW" sz="900" dirty="0"/>
              <a:t>IA</a:t>
            </a:r>
            <a:r>
              <a:rPr lang="zh-TW" altLang="en-US" sz="900" dirty="0"/>
              <a:t> </a:t>
            </a:r>
            <a:r>
              <a:rPr lang="en-US" altLang="zh-TW" sz="900" dirty="0"/>
              <a:t>workup </a:t>
            </a:r>
            <a:r>
              <a:rPr lang="zh-TW" altLang="en-US" sz="900" dirty="0"/>
              <a:t>就有 </a:t>
            </a:r>
            <a:r>
              <a:rPr lang="en-US" altLang="zh-TW" sz="900" dirty="0"/>
              <a:t>PET/CT,</a:t>
            </a:r>
            <a:r>
              <a:rPr lang="zh-TW" altLang="en-US" sz="900" dirty="0"/>
              <a:t> 建議做</a:t>
            </a:r>
            <a:r>
              <a:rPr lang="en-US" altLang="zh-TW" sz="900" dirty="0"/>
              <a:t>.</a:t>
            </a:r>
            <a:r>
              <a:rPr lang="zh-TW" altLang="en-US" sz="900" dirty="0"/>
              <a:t> </a:t>
            </a:r>
            <a:r>
              <a:rPr lang="en-US" altLang="zh-TW" sz="900" dirty="0"/>
              <a:t>occult </a:t>
            </a:r>
            <a:r>
              <a:rPr lang="en-US" altLang="zh-TW" sz="900" dirty="0" err="1"/>
              <a:t>mets</a:t>
            </a:r>
            <a:r>
              <a:rPr lang="en-US" altLang="zh-TW" sz="900" dirty="0"/>
              <a:t> : 6~18%, PET/CT</a:t>
            </a:r>
            <a:r>
              <a:rPr lang="zh-TW" altLang="en-US" sz="900" dirty="0"/>
              <a:t> </a:t>
            </a:r>
            <a:r>
              <a:rPr lang="en-US" altLang="zh-TW" sz="900" dirty="0"/>
              <a:t>false positive 10~20%</a:t>
            </a:r>
          </a:p>
          <a:p>
            <a:endParaRPr lang="en-US" altLang="zh-TW" sz="900" dirty="0"/>
          </a:p>
          <a:p>
            <a:r>
              <a:rPr lang="en-US" altLang="zh-TW" sz="900" dirty="0"/>
              <a:t>Q6: Locally advanced inoperable lung Ca</a:t>
            </a:r>
            <a:r>
              <a:rPr lang="zh-TW" altLang="en-US" sz="900" dirty="0"/>
              <a:t>需不需要做</a:t>
            </a:r>
            <a:r>
              <a:rPr lang="en-US" altLang="zh-TW" sz="900" dirty="0"/>
              <a:t>PET</a:t>
            </a:r>
            <a:r>
              <a:rPr lang="zh-TW" altLang="en-US" sz="900" dirty="0"/>
              <a:t>？理由是什麼？ </a:t>
            </a:r>
            <a:r>
              <a:rPr lang="en-US" altLang="zh-TW" sz="900" dirty="0"/>
              <a:t>Lung cancer work-up, PET</a:t>
            </a:r>
            <a:r>
              <a:rPr lang="zh-TW" altLang="en-US" sz="900" dirty="0"/>
              <a:t>的角色</a:t>
            </a:r>
            <a:r>
              <a:rPr lang="en-US" altLang="zh-TW" sz="900" dirty="0"/>
              <a:t>?</a:t>
            </a:r>
          </a:p>
          <a:p>
            <a:r>
              <a:rPr lang="en-US" altLang="zh-TW" sz="900" dirty="0"/>
              <a:t>A:   </a:t>
            </a:r>
            <a:r>
              <a:rPr lang="zh-TW" altLang="en-US" sz="900" dirty="0"/>
              <a:t>主要就是看是不是</a:t>
            </a:r>
            <a:r>
              <a:rPr lang="en-US" altLang="zh-TW" sz="900" dirty="0"/>
              <a:t>N2, </a:t>
            </a:r>
            <a:r>
              <a:rPr lang="zh-TW" altLang="en-US" sz="900" dirty="0"/>
              <a:t>另外就是可幫助</a:t>
            </a:r>
            <a:r>
              <a:rPr lang="en-US" altLang="zh-TW" sz="900" dirty="0"/>
              <a:t>RT contour. Lung Ca RT </a:t>
            </a:r>
            <a:r>
              <a:rPr lang="zh-TW" altLang="en-US" sz="900" dirty="0"/>
              <a:t>走</a:t>
            </a:r>
            <a:r>
              <a:rPr lang="en-US" altLang="zh-TW" sz="900" dirty="0"/>
              <a:t>involved field, not ENI. PET</a:t>
            </a:r>
            <a:r>
              <a:rPr lang="zh-TW" altLang="en-US" sz="900" dirty="0"/>
              <a:t>可以幫助</a:t>
            </a:r>
            <a:r>
              <a:rPr lang="en-US" altLang="zh-TW" sz="900" dirty="0"/>
              <a:t>target volume delineation</a:t>
            </a:r>
            <a:endParaRPr lang="zh-TW" altLang="en-US" sz="900" dirty="0"/>
          </a:p>
          <a:p>
            <a:pPr marL="0" indent="0">
              <a:buNone/>
            </a:pPr>
            <a:endParaRPr lang="en-US" altLang="zh-TW" sz="900" dirty="0"/>
          </a:p>
          <a:p>
            <a:r>
              <a:rPr lang="en-US" altLang="zh-TW" sz="900" dirty="0"/>
              <a:t>Q7: </a:t>
            </a:r>
            <a:r>
              <a:rPr lang="zh-TW" altLang="en-US" sz="900" dirty="0"/>
              <a:t>如果</a:t>
            </a:r>
            <a:r>
              <a:rPr lang="en-US" altLang="zh-TW" sz="900" dirty="0"/>
              <a:t>PET</a:t>
            </a:r>
            <a:r>
              <a:rPr lang="zh-TW" altLang="en-US" sz="900" dirty="0"/>
              <a:t>在</a:t>
            </a:r>
            <a:r>
              <a:rPr lang="en-US" altLang="zh-TW" sz="900" dirty="0"/>
              <a:t>mediastinum</a:t>
            </a:r>
            <a:r>
              <a:rPr lang="zh-TW" altLang="en-US" sz="900" dirty="0"/>
              <a:t>有顯影</a:t>
            </a:r>
            <a:r>
              <a:rPr lang="en-US" altLang="zh-TW" sz="900" dirty="0"/>
              <a:t>, </a:t>
            </a:r>
            <a:r>
              <a:rPr lang="zh-TW" altLang="en-US" sz="900" dirty="0"/>
              <a:t>接下來怎麼做</a:t>
            </a:r>
            <a:r>
              <a:rPr lang="en-US" altLang="zh-TW" sz="900" dirty="0"/>
              <a:t>?  </a:t>
            </a:r>
          </a:p>
          <a:p>
            <a:r>
              <a:rPr lang="en-US" altLang="zh-TW" sz="900" dirty="0"/>
              <a:t>A:  </a:t>
            </a:r>
            <a:r>
              <a:rPr lang="en-US" altLang="zh-TW" sz="900" dirty="0" err="1"/>
              <a:t>Mediastinoscope</a:t>
            </a:r>
            <a:r>
              <a:rPr lang="zh-TW" altLang="en-US" sz="900" dirty="0"/>
              <a:t>拿組織確認　</a:t>
            </a:r>
            <a:endParaRPr lang="en-US" altLang="zh-TW" sz="900" dirty="0"/>
          </a:p>
          <a:p>
            <a:endParaRPr lang="en-US" altLang="zh-TW" sz="900" dirty="0"/>
          </a:p>
          <a:p>
            <a:r>
              <a:rPr lang="en-US" altLang="zh-TW" sz="900" dirty="0"/>
              <a:t>Q8:  Case: </a:t>
            </a:r>
            <a:r>
              <a:rPr lang="zh-TW" altLang="en-US" sz="900" dirty="0"/>
              <a:t>一病患，右下肺有一</a:t>
            </a:r>
            <a:r>
              <a:rPr lang="en-US" altLang="zh-TW" sz="900" dirty="0"/>
              <a:t>5 cm</a:t>
            </a:r>
            <a:r>
              <a:rPr lang="zh-TW" altLang="en-US" sz="900" dirty="0"/>
              <a:t>腫瘤，確定為</a:t>
            </a:r>
            <a:r>
              <a:rPr lang="en-US" altLang="zh-TW" sz="900" dirty="0"/>
              <a:t>adenocarcinoma</a:t>
            </a:r>
            <a:r>
              <a:rPr lang="zh-TW" altLang="en-US" sz="900" dirty="0"/>
              <a:t>，同側</a:t>
            </a:r>
            <a:r>
              <a:rPr lang="en-US" altLang="zh-TW" sz="900" dirty="0" err="1"/>
              <a:t>hilar</a:t>
            </a:r>
            <a:r>
              <a:rPr lang="en-US" altLang="zh-TW" sz="900" dirty="0"/>
              <a:t> lymph node PET positive</a:t>
            </a:r>
            <a:r>
              <a:rPr lang="zh-TW" altLang="en-US" sz="900" dirty="0"/>
              <a:t>，另有一 </a:t>
            </a:r>
            <a:r>
              <a:rPr lang="en-US" altLang="zh-TW" sz="900" dirty="0"/>
              <a:t>nodule</a:t>
            </a:r>
            <a:r>
              <a:rPr lang="zh-TW" altLang="en-US" sz="900" dirty="0"/>
              <a:t>左上肺</a:t>
            </a:r>
            <a:r>
              <a:rPr lang="en-US" altLang="zh-TW" sz="900" dirty="0"/>
              <a:t>Apex</a:t>
            </a:r>
            <a:r>
              <a:rPr lang="zh-TW" altLang="en-US" sz="900" dirty="0"/>
              <a:t>，</a:t>
            </a:r>
            <a:r>
              <a:rPr lang="en-US" altLang="zh-TW" sz="900" dirty="0"/>
              <a:t>PET avid…</a:t>
            </a:r>
            <a:r>
              <a:rPr lang="zh-TW" altLang="en-US" sz="900" dirty="0"/>
              <a:t>試問病人應如何處置？回答應</a:t>
            </a:r>
            <a:r>
              <a:rPr lang="en-US" altLang="zh-TW" sz="900" dirty="0" err="1"/>
              <a:t>Bx</a:t>
            </a:r>
            <a:r>
              <a:rPr lang="zh-TW" altLang="en-US" sz="900" dirty="0"/>
              <a:t>因為</a:t>
            </a:r>
            <a:r>
              <a:rPr lang="en-US" altLang="zh-TW" sz="900" dirty="0"/>
              <a:t>PET</a:t>
            </a:r>
            <a:r>
              <a:rPr lang="zh-TW" altLang="en-US" sz="900" dirty="0"/>
              <a:t>會</a:t>
            </a:r>
            <a:r>
              <a:rPr lang="en-US" altLang="zh-TW" sz="900" dirty="0"/>
              <a:t>false positive</a:t>
            </a:r>
            <a:r>
              <a:rPr lang="zh-TW" altLang="en-US" sz="900" dirty="0"/>
              <a:t>，而病人的</a:t>
            </a:r>
            <a:r>
              <a:rPr lang="en-US" altLang="zh-TW" sz="900" dirty="0"/>
              <a:t>disease</a:t>
            </a:r>
            <a:r>
              <a:rPr lang="zh-TW" altLang="en-US" sz="900" dirty="0"/>
              <a:t>除了那一顆以外是</a:t>
            </a:r>
            <a:r>
              <a:rPr lang="en-US" altLang="zh-TW" sz="900" dirty="0"/>
              <a:t>operable disease</a:t>
            </a:r>
            <a:r>
              <a:rPr lang="zh-TW" altLang="en-US" sz="900" dirty="0"/>
              <a:t>，應該</a:t>
            </a:r>
            <a:r>
              <a:rPr lang="en-US" altLang="zh-TW" sz="900" dirty="0"/>
              <a:t>aggressive. </a:t>
            </a:r>
            <a:r>
              <a:rPr lang="zh-TW" altLang="en-US" sz="900" dirty="0"/>
              <a:t>主任再問</a:t>
            </a:r>
            <a:r>
              <a:rPr lang="en-US" altLang="zh-TW" sz="900" dirty="0" err="1"/>
              <a:t>Bx</a:t>
            </a:r>
            <a:r>
              <a:rPr lang="zh-TW" altLang="en-US" sz="900" dirty="0"/>
              <a:t>出來如果也是</a:t>
            </a:r>
            <a:r>
              <a:rPr lang="en-US" altLang="zh-TW" sz="900" dirty="0"/>
              <a:t>adenocarcinoma</a:t>
            </a:r>
            <a:r>
              <a:rPr lang="zh-TW" altLang="en-US" sz="900" dirty="0"/>
              <a:t>應如何處理？主任說應考慮</a:t>
            </a:r>
            <a:r>
              <a:rPr lang="en-US" altLang="zh-TW" sz="900" dirty="0"/>
              <a:t>2nd primary lung Ca</a:t>
            </a:r>
            <a:r>
              <a:rPr lang="zh-TW" altLang="en-US" sz="900" dirty="0"/>
              <a:t>的可能。</a:t>
            </a:r>
            <a:endParaRPr lang="en-US" altLang="zh-TW" sz="900" dirty="0"/>
          </a:p>
          <a:p>
            <a:r>
              <a:rPr lang="en-US" altLang="zh-TW" sz="900" dirty="0"/>
              <a:t>A: </a:t>
            </a:r>
            <a:r>
              <a:rPr lang="zh-TW" altLang="en-US" sz="900" dirty="0"/>
              <a:t>不知道前面在說甚麼　</a:t>
            </a:r>
            <a:r>
              <a:rPr lang="en-US" altLang="zh-TW" sz="900" dirty="0"/>
              <a:t>anyway </a:t>
            </a:r>
            <a:r>
              <a:rPr lang="zh-TW" altLang="en-US" sz="900" dirty="0"/>
              <a:t>我自己會選擇 </a:t>
            </a:r>
            <a:r>
              <a:rPr lang="en-US" altLang="zh-TW" sz="900" dirty="0"/>
              <a:t>Treat as two primary A: Multiple Lung, N0-1 </a:t>
            </a:r>
            <a:r>
              <a:rPr lang="zh-TW" altLang="en-US" sz="900" dirty="0"/>
              <a:t>能開則開</a:t>
            </a:r>
            <a:endParaRPr lang="en-US" altLang="zh-TW" sz="900" dirty="0"/>
          </a:p>
          <a:p>
            <a:r>
              <a:rPr lang="en-US" altLang="zh-TW" sz="900" dirty="0"/>
              <a:t>A:  N2-N3, Advanced or Metastatic,  </a:t>
            </a:r>
            <a:r>
              <a:rPr lang="en-US" altLang="zh-TW" sz="900" dirty="0">
                <a:sym typeface="Wingdings" panose="05000000000000000000" pitchFamily="2" charset="2"/>
              </a:rPr>
              <a:t> Molecular testing </a:t>
            </a:r>
          </a:p>
        </p:txBody>
      </p:sp>
      <p:pic>
        <p:nvPicPr>
          <p:cNvPr id="4" name="圖片 3"/>
          <p:cNvPicPr>
            <a:picLocks noChangeAspect="1"/>
          </p:cNvPicPr>
          <p:nvPr/>
        </p:nvPicPr>
        <p:blipFill>
          <a:blip r:embed="rId2"/>
          <a:stretch>
            <a:fillRect/>
          </a:stretch>
        </p:blipFill>
        <p:spPr>
          <a:xfrm>
            <a:off x="6456041" y="1640673"/>
            <a:ext cx="3895725" cy="504825"/>
          </a:xfrm>
          <a:prstGeom prst="rect">
            <a:avLst/>
          </a:prstGeom>
        </p:spPr>
      </p:pic>
      <p:pic>
        <p:nvPicPr>
          <p:cNvPr id="5" name="圖片 4"/>
          <p:cNvPicPr>
            <a:picLocks noChangeAspect="1"/>
          </p:cNvPicPr>
          <p:nvPr/>
        </p:nvPicPr>
        <p:blipFill>
          <a:blip r:embed="rId3"/>
          <a:stretch>
            <a:fillRect/>
          </a:stretch>
        </p:blipFill>
        <p:spPr>
          <a:xfrm>
            <a:off x="4367809" y="2933985"/>
            <a:ext cx="5680989" cy="506755"/>
          </a:xfrm>
          <a:prstGeom prst="rect">
            <a:avLst/>
          </a:prstGeom>
        </p:spPr>
      </p:pic>
      <p:pic>
        <p:nvPicPr>
          <p:cNvPr id="7" name="圖片 6"/>
          <p:cNvPicPr>
            <a:picLocks noChangeAspect="1"/>
          </p:cNvPicPr>
          <p:nvPr/>
        </p:nvPicPr>
        <p:blipFill>
          <a:blip r:embed="rId4"/>
          <a:stretch>
            <a:fillRect/>
          </a:stretch>
        </p:blipFill>
        <p:spPr>
          <a:xfrm>
            <a:off x="2076842" y="5877272"/>
            <a:ext cx="8267700" cy="838200"/>
          </a:xfrm>
          <a:prstGeom prst="rect">
            <a:avLst/>
          </a:prstGeom>
        </p:spPr>
      </p:pic>
    </p:spTree>
    <p:extLst>
      <p:ext uri="{BB962C8B-B14F-4D97-AF65-F5344CB8AC3E}">
        <p14:creationId xmlns:p14="http://schemas.microsoft.com/office/powerpoint/2010/main" val="41245973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4" name="圖片 3"/>
          <p:cNvPicPr>
            <a:picLocks noChangeAspect="1"/>
          </p:cNvPicPr>
          <p:nvPr/>
        </p:nvPicPr>
        <p:blipFill>
          <a:blip r:embed="rId2"/>
          <a:stretch>
            <a:fillRect/>
          </a:stretch>
        </p:blipFill>
        <p:spPr>
          <a:xfrm>
            <a:off x="2124512" y="25857"/>
            <a:ext cx="5976664" cy="2258151"/>
          </a:xfrm>
          <a:prstGeom prst="rect">
            <a:avLst/>
          </a:prstGeom>
        </p:spPr>
      </p:pic>
      <p:pic>
        <p:nvPicPr>
          <p:cNvPr id="5" name="圖片 4"/>
          <p:cNvPicPr>
            <a:picLocks noChangeAspect="1"/>
          </p:cNvPicPr>
          <p:nvPr/>
        </p:nvPicPr>
        <p:blipFill>
          <a:blip r:embed="rId3"/>
          <a:stretch>
            <a:fillRect/>
          </a:stretch>
        </p:blipFill>
        <p:spPr>
          <a:xfrm>
            <a:off x="1866050" y="2357494"/>
            <a:ext cx="6493588" cy="4500506"/>
          </a:xfrm>
          <a:prstGeom prst="rect">
            <a:avLst/>
          </a:prstGeom>
        </p:spPr>
      </p:pic>
    </p:spTree>
    <p:extLst>
      <p:ext uri="{BB962C8B-B14F-4D97-AF65-F5344CB8AC3E}">
        <p14:creationId xmlns:p14="http://schemas.microsoft.com/office/powerpoint/2010/main" val="17106309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9" name="內容版面配置區 8"/>
          <p:cNvPicPr>
            <a:picLocks noGrp="1" noChangeAspect="1"/>
          </p:cNvPicPr>
          <p:nvPr>
            <p:ph idx="1"/>
          </p:nvPr>
        </p:nvPicPr>
        <p:blipFill>
          <a:blip r:embed="rId2"/>
          <a:stretch>
            <a:fillRect/>
          </a:stretch>
        </p:blipFill>
        <p:spPr>
          <a:xfrm>
            <a:off x="4871864" y="4509121"/>
            <a:ext cx="670618" cy="45719"/>
          </a:xfrm>
          <a:prstGeom prst="rect">
            <a:avLst/>
          </a:prstGeom>
        </p:spPr>
      </p:pic>
      <p:pic>
        <p:nvPicPr>
          <p:cNvPr id="4" name="圖片 3"/>
          <p:cNvPicPr>
            <a:picLocks noChangeAspect="1"/>
          </p:cNvPicPr>
          <p:nvPr/>
        </p:nvPicPr>
        <p:blipFill>
          <a:blip r:embed="rId3"/>
          <a:stretch>
            <a:fillRect/>
          </a:stretch>
        </p:blipFill>
        <p:spPr>
          <a:xfrm>
            <a:off x="1699204" y="1484785"/>
            <a:ext cx="8515350" cy="3857625"/>
          </a:xfrm>
          <a:prstGeom prst="rect">
            <a:avLst/>
          </a:prstGeom>
        </p:spPr>
      </p:pic>
      <p:cxnSp>
        <p:nvCxnSpPr>
          <p:cNvPr id="8" name="直線接點 7"/>
          <p:cNvCxnSpPr/>
          <p:nvPr/>
        </p:nvCxnSpPr>
        <p:spPr>
          <a:xfrm>
            <a:off x="4943872" y="2636912"/>
            <a:ext cx="648072"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pic>
        <p:nvPicPr>
          <p:cNvPr id="10" name="圖片 9"/>
          <p:cNvPicPr>
            <a:picLocks noChangeAspect="1"/>
          </p:cNvPicPr>
          <p:nvPr/>
        </p:nvPicPr>
        <p:blipFill>
          <a:blip r:embed="rId2"/>
          <a:stretch>
            <a:fillRect/>
          </a:stretch>
        </p:blipFill>
        <p:spPr>
          <a:xfrm>
            <a:off x="4897348" y="4554840"/>
            <a:ext cx="670618" cy="30483"/>
          </a:xfrm>
          <a:prstGeom prst="rect">
            <a:avLst/>
          </a:prstGeom>
        </p:spPr>
      </p:pic>
      <p:pic>
        <p:nvPicPr>
          <p:cNvPr id="11" name="圖片 10"/>
          <p:cNvPicPr>
            <a:picLocks noChangeAspect="1"/>
          </p:cNvPicPr>
          <p:nvPr/>
        </p:nvPicPr>
        <p:blipFill>
          <a:blip r:embed="rId2"/>
          <a:stretch>
            <a:fillRect/>
          </a:stretch>
        </p:blipFill>
        <p:spPr>
          <a:xfrm>
            <a:off x="5596235" y="2060849"/>
            <a:ext cx="670618" cy="30483"/>
          </a:xfrm>
          <a:prstGeom prst="rect">
            <a:avLst/>
          </a:prstGeom>
        </p:spPr>
      </p:pic>
      <p:pic>
        <p:nvPicPr>
          <p:cNvPr id="12" name="圖片 11"/>
          <p:cNvPicPr>
            <a:picLocks noChangeAspect="1"/>
          </p:cNvPicPr>
          <p:nvPr/>
        </p:nvPicPr>
        <p:blipFill>
          <a:blip r:embed="rId4"/>
          <a:stretch>
            <a:fillRect/>
          </a:stretch>
        </p:blipFill>
        <p:spPr>
          <a:xfrm>
            <a:off x="1581096" y="5418807"/>
            <a:ext cx="8724955" cy="1322561"/>
          </a:xfrm>
          <a:prstGeom prst="rect">
            <a:avLst/>
          </a:prstGeom>
        </p:spPr>
      </p:pic>
    </p:spTree>
    <p:extLst>
      <p:ext uri="{BB962C8B-B14F-4D97-AF65-F5344CB8AC3E}">
        <p14:creationId xmlns:p14="http://schemas.microsoft.com/office/powerpoint/2010/main" val="11386737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87850" y="5009"/>
            <a:ext cx="8229600" cy="1143000"/>
          </a:xfrm>
        </p:spPr>
        <p:txBody>
          <a:bodyPr/>
          <a:lstStyle/>
          <a:p>
            <a:r>
              <a:rPr lang="en-US" altLang="zh-TW" dirty="0" smtClean="0"/>
              <a:t>2009 continue</a:t>
            </a:r>
            <a:endParaRPr lang="zh-TW" altLang="en-US" dirty="0"/>
          </a:p>
        </p:txBody>
      </p:sp>
      <p:sp>
        <p:nvSpPr>
          <p:cNvPr id="3" name="內容版面配置區 2"/>
          <p:cNvSpPr>
            <a:spLocks noGrp="1"/>
          </p:cNvSpPr>
          <p:nvPr>
            <p:ph idx="1"/>
          </p:nvPr>
        </p:nvSpPr>
        <p:spPr>
          <a:xfrm>
            <a:off x="1981200" y="980729"/>
            <a:ext cx="8229600" cy="5145435"/>
          </a:xfrm>
        </p:spPr>
        <p:txBody>
          <a:bodyPr>
            <a:normAutofit/>
          </a:bodyPr>
          <a:lstStyle/>
          <a:p>
            <a:r>
              <a:rPr lang="en-US" altLang="zh-TW" sz="1400" dirty="0"/>
              <a:t>Q9: Target therapy (</a:t>
            </a:r>
            <a:r>
              <a:rPr lang="zh-TW" altLang="en-US" sz="1400" dirty="0"/>
              <a:t>如</a:t>
            </a:r>
            <a:r>
              <a:rPr lang="en-US" altLang="zh-TW" sz="1400" dirty="0"/>
              <a:t>Erbitux) </a:t>
            </a:r>
            <a:r>
              <a:rPr lang="zh-TW" altLang="en-US" sz="1400" dirty="0"/>
              <a:t>在</a:t>
            </a:r>
            <a:r>
              <a:rPr lang="en-US" altLang="zh-TW" sz="1400" dirty="0"/>
              <a:t>K-</a:t>
            </a:r>
            <a:r>
              <a:rPr lang="en-US" altLang="zh-TW" sz="1400" dirty="0" err="1"/>
              <a:t>ras</a:t>
            </a:r>
            <a:r>
              <a:rPr lang="en-US" altLang="zh-TW" sz="1400" dirty="0"/>
              <a:t> wild-type</a:t>
            </a:r>
            <a:r>
              <a:rPr lang="zh-TW" altLang="en-US" sz="1400" dirty="0"/>
              <a:t>及</a:t>
            </a:r>
            <a:r>
              <a:rPr lang="en-US" altLang="zh-TW" sz="1400" dirty="0"/>
              <a:t>EGFR overexpression</a:t>
            </a:r>
            <a:r>
              <a:rPr lang="zh-TW" altLang="en-US" sz="1400" dirty="0"/>
              <a:t>才有用</a:t>
            </a:r>
            <a:r>
              <a:rPr lang="en-US" altLang="zh-TW" sz="1400" dirty="0"/>
              <a:t>?</a:t>
            </a:r>
          </a:p>
          <a:p>
            <a:r>
              <a:rPr lang="en-US" altLang="zh-TW" sz="1400" dirty="0"/>
              <a:t>A:</a:t>
            </a:r>
            <a:r>
              <a:rPr lang="zh-TW" altLang="en-US" sz="1400" dirty="0"/>
              <a:t>對於</a:t>
            </a:r>
            <a:r>
              <a:rPr lang="en-US" altLang="zh-TW" sz="1400" dirty="0"/>
              <a:t>K-</a:t>
            </a:r>
            <a:r>
              <a:rPr lang="en-US" altLang="zh-TW" sz="1400" dirty="0" err="1"/>
              <a:t>ras</a:t>
            </a:r>
            <a:r>
              <a:rPr lang="en-US" altLang="zh-TW" sz="1400" dirty="0"/>
              <a:t> gene</a:t>
            </a:r>
            <a:r>
              <a:rPr lang="zh-TW" altLang="en-US" sz="1400" dirty="0"/>
              <a:t>對於</a:t>
            </a:r>
            <a:r>
              <a:rPr lang="en-US" altLang="zh-TW" sz="1400" dirty="0"/>
              <a:t>lung CA</a:t>
            </a:r>
            <a:r>
              <a:rPr lang="zh-TW" altLang="en-US" sz="1400" dirty="0"/>
              <a:t>預後的影響</a:t>
            </a:r>
            <a:r>
              <a:rPr lang="en-US" altLang="zh-TW" sz="1400" dirty="0"/>
              <a:t>…(K-</a:t>
            </a:r>
            <a:r>
              <a:rPr lang="en-US" altLang="zh-TW" sz="1400" dirty="0" err="1"/>
              <a:t>ras</a:t>
            </a:r>
            <a:r>
              <a:rPr lang="en-US" altLang="zh-TW" sz="1400" dirty="0"/>
              <a:t>(+)</a:t>
            </a:r>
            <a:r>
              <a:rPr lang="zh-TW" altLang="en-US" sz="1400" dirty="0"/>
              <a:t>就不能使用</a:t>
            </a:r>
            <a:r>
              <a:rPr lang="en-US" altLang="zh-TW" sz="1400" dirty="0"/>
              <a:t>EGFR…)</a:t>
            </a:r>
          </a:p>
          <a:p>
            <a:r>
              <a:rPr lang="en-US" altLang="zh-TW" sz="1400" dirty="0"/>
              <a:t>A: KRAS mutation resistant to EGFR TKI</a:t>
            </a:r>
          </a:p>
          <a:p>
            <a:endParaRPr lang="en-US" altLang="zh-TW" sz="1400" dirty="0"/>
          </a:p>
          <a:p>
            <a:r>
              <a:rPr lang="en-US" altLang="zh-TW" sz="1400" dirty="0"/>
              <a:t>Q10.	Pre-op CCRT</a:t>
            </a:r>
            <a:r>
              <a:rPr lang="zh-TW" altLang="en-US" sz="1400" dirty="0"/>
              <a:t>之後</a:t>
            </a:r>
            <a:r>
              <a:rPr lang="en-US" altLang="zh-TW" sz="1400" dirty="0"/>
              <a:t>V20</a:t>
            </a:r>
            <a:r>
              <a:rPr lang="zh-TW" altLang="en-US" sz="1400" dirty="0"/>
              <a:t>的</a:t>
            </a:r>
            <a:r>
              <a:rPr lang="en-US" altLang="zh-TW" sz="1400" dirty="0"/>
              <a:t>dose constraint</a:t>
            </a:r>
            <a:r>
              <a:rPr lang="zh-TW" altLang="en-US" sz="1400" dirty="0"/>
              <a:t>應該怎麼設定，為什麼要設定</a:t>
            </a:r>
            <a:r>
              <a:rPr lang="en-US" altLang="zh-TW" sz="1400" dirty="0"/>
              <a:t>V20 &lt;= 20%</a:t>
            </a:r>
          </a:p>
          <a:p>
            <a:pPr lvl="0"/>
            <a:r>
              <a:rPr lang="en-US" altLang="zh-TW" sz="1400" dirty="0"/>
              <a:t>A: </a:t>
            </a:r>
            <a:r>
              <a:rPr lang="zh-TW" altLang="en-US" sz="1400" dirty="0"/>
              <a:t>我的答案</a:t>
            </a:r>
            <a:r>
              <a:rPr lang="en-US" altLang="zh-TW" sz="1400" dirty="0"/>
              <a:t>Pre-OP CCRT </a:t>
            </a:r>
            <a:r>
              <a:rPr lang="zh-TW" altLang="en-US" sz="1400" dirty="0"/>
              <a:t>一開始要嚴，　萬一無法開刀可以繼續ＣＣＲＴ好像（</a:t>
            </a:r>
            <a:r>
              <a:rPr lang="zh-TW" altLang="zh-TW" sz="1400" kern="100" dirty="0">
                <a:latin typeface="Times New Roman" panose="02020603050405020304" pitchFamily="18" charset="0"/>
              </a:rPr>
              <a:t>好像有</a:t>
            </a:r>
            <a:r>
              <a:rPr lang="en-US" altLang="zh-TW" sz="1400" kern="100" dirty="0">
                <a:latin typeface="Times New Roman" panose="02020603050405020304" pitchFamily="18" charset="0"/>
              </a:rPr>
              <a:t>trial</a:t>
            </a:r>
            <a:r>
              <a:rPr lang="zh-TW" altLang="zh-TW" sz="1400" kern="100" dirty="0">
                <a:latin typeface="Times New Roman" panose="02020603050405020304" pitchFamily="18" charset="0"/>
              </a:rPr>
              <a:t>可以看要再查一下</a:t>
            </a:r>
            <a:r>
              <a:rPr lang="en-US" altLang="zh-TW" sz="1400" kern="100" dirty="0">
                <a:latin typeface="Times New Roman" panose="02020603050405020304" pitchFamily="18" charset="0"/>
              </a:rPr>
              <a:t>)</a:t>
            </a:r>
            <a:endParaRPr lang="en-US" altLang="zh-TW" sz="1400" dirty="0"/>
          </a:p>
          <a:p>
            <a:endParaRPr lang="en-US" altLang="zh-TW" sz="1400" dirty="0"/>
          </a:p>
          <a:p>
            <a:r>
              <a:rPr lang="zh-TW" altLang="en-US" sz="1400" dirty="0"/>
              <a:t>Ｑ</a:t>
            </a:r>
            <a:r>
              <a:rPr lang="en-US" altLang="zh-TW" sz="1400" dirty="0"/>
              <a:t>11: Pre-op CCRT</a:t>
            </a:r>
            <a:r>
              <a:rPr lang="zh-TW" altLang="en-US" sz="1400" dirty="0"/>
              <a:t>做完以後病人不應該接受那一種手術</a:t>
            </a:r>
            <a:endParaRPr lang="en-US" altLang="zh-TW" sz="1400" dirty="0"/>
          </a:p>
          <a:p>
            <a:r>
              <a:rPr lang="en-US" altLang="zh-TW" sz="1400" dirty="0"/>
              <a:t>A: INT 0139: 26% died in </a:t>
            </a:r>
            <a:r>
              <a:rPr lang="en-US" altLang="zh-TW" sz="1400" dirty="0" err="1"/>
              <a:t>pneumonectomy</a:t>
            </a:r>
            <a:r>
              <a:rPr lang="en-US" altLang="zh-TW" sz="1400" dirty="0"/>
              <a:t>, 1% lobectomy</a:t>
            </a:r>
          </a:p>
          <a:p>
            <a:r>
              <a:rPr lang="en-US" altLang="zh-TW" sz="1400" dirty="0"/>
              <a:t>German Lung Cooperative Group (Pre-OP Chemo vs Per-OP CRT Lancet Thomas 2008) </a:t>
            </a:r>
            <a:r>
              <a:rPr lang="zh-TW" altLang="en-US" sz="1400" dirty="0"/>
              <a:t>增加 </a:t>
            </a:r>
            <a:r>
              <a:rPr lang="en-US" altLang="zh-TW" sz="1400" dirty="0"/>
              <a:t>Mortality in CRT group </a:t>
            </a:r>
          </a:p>
          <a:p>
            <a:endParaRPr lang="en-US" altLang="zh-TW" sz="1400" dirty="0"/>
          </a:p>
          <a:p>
            <a:pPr lvl="0"/>
            <a:r>
              <a:rPr lang="en-US" altLang="zh-TW" sz="1400" dirty="0"/>
              <a:t>Q 12: </a:t>
            </a:r>
            <a:r>
              <a:rPr lang="en-US" altLang="zh-TW" sz="1400" kern="100" dirty="0">
                <a:latin typeface="Times New Roman" panose="02020603050405020304" pitchFamily="18" charset="0"/>
              </a:rPr>
              <a:t>Inoperable locally advanced lung Ca</a:t>
            </a:r>
            <a:r>
              <a:rPr lang="zh-TW" altLang="zh-TW" sz="1400" kern="100" dirty="0">
                <a:latin typeface="Times New Roman" panose="02020603050405020304" pitchFamily="18" charset="0"/>
              </a:rPr>
              <a:t>放射治療照射的範圍，劑量，以及照法，採取</a:t>
            </a:r>
            <a:r>
              <a:rPr lang="en-US" altLang="zh-TW" sz="1400" kern="100" dirty="0">
                <a:latin typeface="Times New Roman" panose="02020603050405020304" pitchFamily="18" charset="0"/>
              </a:rPr>
              <a:t>ENI</a:t>
            </a:r>
            <a:r>
              <a:rPr lang="zh-TW" altLang="zh-TW" sz="1400" kern="100" dirty="0">
                <a:latin typeface="Times New Roman" panose="02020603050405020304" pitchFamily="18" charset="0"/>
              </a:rPr>
              <a:t>的主要理由？</a:t>
            </a:r>
            <a:endParaRPr lang="en-US" altLang="zh-TW" sz="1400" kern="100" dirty="0">
              <a:latin typeface="Times New Roman" panose="02020603050405020304" pitchFamily="18" charset="0"/>
            </a:endParaRPr>
          </a:p>
          <a:p>
            <a:endParaRPr lang="en-US" altLang="zh-TW" kern="100" dirty="0">
              <a:latin typeface="Times New Roman" panose="02020603050405020304" pitchFamily="18" charset="0"/>
            </a:endParaRPr>
          </a:p>
          <a:p>
            <a:endParaRPr lang="en-US" altLang="zh-TW" kern="100" dirty="0" smtClean="0">
              <a:latin typeface="Times New Roman" panose="02020603050405020304" pitchFamily="18" charset="0"/>
            </a:endParaRPr>
          </a:p>
          <a:p>
            <a:endParaRPr lang="en-US" altLang="zh-TW" kern="100" dirty="0" smtClean="0">
              <a:latin typeface="Times New Roman" panose="02020603050405020304" pitchFamily="18" charset="0"/>
            </a:endParaRPr>
          </a:p>
          <a:p>
            <a:endParaRPr lang="en-US" altLang="zh-TW" kern="100" dirty="0">
              <a:latin typeface="Times New Roman" panose="02020603050405020304" pitchFamily="18" charset="0"/>
            </a:endParaRPr>
          </a:p>
          <a:p>
            <a:endParaRPr lang="en-US" altLang="zh-TW" kern="100" dirty="0" smtClean="0">
              <a:latin typeface="Times New Roman" panose="02020603050405020304" pitchFamily="18" charset="0"/>
            </a:endParaRPr>
          </a:p>
          <a:p>
            <a:endParaRPr lang="en-US" altLang="zh-TW" kern="100" dirty="0">
              <a:latin typeface="Times New Roman" panose="02020603050405020304" pitchFamily="18" charset="0"/>
            </a:endParaRPr>
          </a:p>
          <a:p>
            <a:endParaRPr lang="en-US" altLang="zh-TW" kern="100" dirty="0">
              <a:latin typeface="Times New Roman" panose="02020603050405020304" pitchFamily="18" charset="0"/>
            </a:endParaRPr>
          </a:p>
          <a:p>
            <a:endParaRPr lang="zh-TW" altLang="en-US" dirty="0"/>
          </a:p>
        </p:txBody>
      </p:sp>
      <p:pic>
        <p:nvPicPr>
          <p:cNvPr id="4" name="圖片 3"/>
          <p:cNvPicPr>
            <a:picLocks noChangeAspect="1"/>
          </p:cNvPicPr>
          <p:nvPr/>
        </p:nvPicPr>
        <p:blipFill>
          <a:blip r:embed="rId2"/>
          <a:stretch>
            <a:fillRect/>
          </a:stretch>
        </p:blipFill>
        <p:spPr>
          <a:xfrm>
            <a:off x="2135560" y="4941168"/>
            <a:ext cx="7632848" cy="1481772"/>
          </a:xfrm>
          <a:prstGeom prst="rect">
            <a:avLst/>
          </a:prstGeom>
        </p:spPr>
      </p:pic>
    </p:spTree>
    <p:extLst>
      <p:ext uri="{BB962C8B-B14F-4D97-AF65-F5344CB8AC3E}">
        <p14:creationId xmlns:p14="http://schemas.microsoft.com/office/powerpoint/2010/main" val="12313930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81200" y="274638"/>
            <a:ext cx="1594520" cy="1143000"/>
          </a:xfrm>
        </p:spPr>
        <p:txBody>
          <a:bodyPr/>
          <a:lstStyle/>
          <a:p>
            <a:r>
              <a:rPr lang="en-US" altLang="zh-TW" dirty="0" smtClean="0"/>
              <a:t>2009</a:t>
            </a:r>
            <a:endParaRPr lang="zh-TW" altLang="en-US" dirty="0"/>
          </a:p>
        </p:txBody>
      </p:sp>
      <p:sp>
        <p:nvSpPr>
          <p:cNvPr id="3" name="內容版面配置區 2"/>
          <p:cNvSpPr>
            <a:spLocks noGrp="1"/>
          </p:cNvSpPr>
          <p:nvPr>
            <p:ph idx="1"/>
          </p:nvPr>
        </p:nvSpPr>
        <p:spPr>
          <a:xfrm>
            <a:off x="2015022" y="1196753"/>
            <a:ext cx="8229600" cy="4525963"/>
          </a:xfrm>
        </p:spPr>
        <p:txBody>
          <a:bodyPr>
            <a:normAutofit/>
          </a:bodyPr>
          <a:lstStyle/>
          <a:p>
            <a:r>
              <a:rPr lang="en-US" altLang="zh-TW" sz="1800" dirty="0"/>
              <a:t>Q13: </a:t>
            </a:r>
            <a:r>
              <a:rPr lang="zh-TW" altLang="en-US" sz="1800" dirty="0"/>
              <a:t>請問</a:t>
            </a:r>
            <a:r>
              <a:rPr lang="en-US" altLang="zh-TW" sz="1800" dirty="0"/>
              <a:t>SBRT</a:t>
            </a:r>
            <a:r>
              <a:rPr lang="zh-TW" altLang="en-US" sz="1800" dirty="0"/>
              <a:t>在</a:t>
            </a:r>
            <a:r>
              <a:rPr lang="en-US" altLang="zh-TW" sz="1800" dirty="0"/>
              <a:t>Lung CA</a:t>
            </a:r>
            <a:r>
              <a:rPr lang="zh-TW" altLang="en-US" sz="1800" dirty="0"/>
              <a:t>的角色 </a:t>
            </a:r>
            <a:r>
              <a:rPr lang="en-US" altLang="zh-TW" sz="1800" dirty="0"/>
              <a:t>?</a:t>
            </a:r>
          </a:p>
          <a:p>
            <a:r>
              <a:rPr lang="en-US" altLang="zh-TW" sz="1800" dirty="0"/>
              <a:t>For inoperable, high risk (&gt;75 age or poor PFT)</a:t>
            </a:r>
          </a:p>
          <a:p>
            <a:r>
              <a:rPr lang="en-US" altLang="zh-TW" sz="1800" dirty="0"/>
              <a:t>BED &gt; 100 Gy10; &gt; 80 Gy10</a:t>
            </a:r>
            <a:r>
              <a:rPr lang="zh-TW" altLang="en-US" sz="1800" dirty="0"/>
              <a:t>的</a:t>
            </a:r>
            <a:r>
              <a:rPr lang="en-US" altLang="zh-TW" sz="1800" dirty="0"/>
              <a:t>volume</a:t>
            </a:r>
            <a:r>
              <a:rPr lang="zh-TW" altLang="en-US" sz="1800" dirty="0"/>
              <a:t>要盡量減少</a:t>
            </a:r>
            <a:endParaRPr lang="en-US" altLang="zh-TW" sz="1800" dirty="0"/>
          </a:p>
          <a:p>
            <a:r>
              <a:rPr lang="en-US" altLang="zh-TW" sz="1800" dirty="0"/>
              <a:t>Centrally located &lt;2cm from bronchial tree, 4~10 </a:t>
            </a:r>
            <a:r>
              <a:rPr lang="en-US" altLang="zh-TW" sz="1800" dirty="0" err="1"/>
              <a:t>fx</a:t>
            </a:r>
            <a:endParaRPr lang="en-US" altLang="zh-TW" sz="1800" dirty="0"/>
          </a:p>
          <a:p>
            <a:r>
              <a:rPr lang="en-US" altLang="zh-TW" sz="1800" dirty="0"/>
              <a:t>RTOG 0813 centrally located (9-11Gy x 5 no toxicity, 12Gy 1patient</a:t>
            </a:r>
            <a:r>
              <a:rPr lang="zh-TW" altLang="en-US" sz="1800" dirty="0"/>
              <a:t>有發生）</a:t>
            </a:r>
            <a:endParaRPr lang="en-US" altLang="zh-TW" sz="1800" dirty="0"/>
          </a:p>
          <a:p>
            <a:r>
              <a:rPr lang="en-US" altLang="zh-TW" sz="1800" dirty="0"/>
              <a:t> </a:t>
            </a:r>
            <a:endParaRPr lang="zh-TW" altLang="en-US" sz="1800" dirty="0"/>
          </a:p>
        </p:txBody>
      </p:sp>
      <p:pic>
        <p:nvPicPr>
          <p:cNvPr id="4" name="圖片 3"/>
          <p:cNvPicPr>
            <a:picLocks noChangeAspect="1"/>
          </p:cNvPicPr>
          <p:nvPr/>
        </p:nvPicPr>
        <p:blipFill>
          <a:blip r:embed="rId2"/>
          <a:stretch>
            <a:fillRect/>
          </a:stretch>
        </p:blipFill>
        <p:spPr>
          <a:xfrm>
            <a:off x="2135560" y="3068960"/>
            <a:ext cx="7233114" cy="3531820"/>
          </a:xfrm>
          <a:prstGeom prst="rect">
            <a:avLst/>
          </a:prstGeom>
        </p:spPr>
      </p:pic>
      <p:pic>
        <p:nvPicPr>
          <p:cNvPr id="5" name="圖片 4"/>
          <p:cNvPicPr>
            <a:picLocks noChangeAspect="1"/>
          </p:cNvPicPr>
          <p:nvPr/>
        </p:nvPicPr>
        <p:blipFill>
          <a:blip r:embed="rId3"/>
          <a:stretch>
            <a:fillRect/>
          </a:stretch>
        </p:blipFill>
        <p:spPr>
          <a:xfrm>
            <a:off x="7565462" y="71292"/>
            <a:ext cx="2712983" cy="2475133"/>
          </a:xfrm>
          <a:prstGeom prst="rect">
            <a:avLst/>
          </a:prstGeom>
        </p:spPr>
      </p:pic>
    </p:spTree>
    <p:extLst>
      <p:ext uri="{BB962C8B-B14F-4D97-AF65-F5344CB8AC3E}">
        <p14:creationId xmlns:p14="http://schemas.microsoft.com/office/powerpoint/2010/main" val="30650598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NCCN</a:t>
            </a:r>
            <a:endParaRPr lang="zh-TW" altLang="en-US" dirty="0"/>
          </a:p>
        </p:txBody>
      </p:sp>
      <p:sp>
        <p:nvSpPr>
          <p:cNvPr id="3" name="內容版面配置區 2"/>
          <p:cNvSpPr>
            <a:spLocks noGrp="1"/>
          </p:cNvSpPr>
          <p:nvPr>
            <p:ph idx="1"/>
          </p:nvPr>
        </p:nvSpPr>
        <p:spPr>
          <a:xfrm>
            <a:off x="1981200" y="1600200"/>
            <a:ext cx="8229600" cy="4997152"/>
          </a:xfrm>
        </p:spPr>
        <p:txBody>
          <a:bodyPr>
            <a:normAutofit fontScale="92500" lnSpcReduction="10000"/>
          </a:bodyPr>
          <a:lstStyle/>
          <a:p>
            <a:r>
              <a:rPr lang="en-US" altLang="zh-TW" dirty="0" smtClean="0"/>
              <a:t>Incidental nodule</a:t>
            </a:r>
            <a:r>
              <a:rPr lang="en-US" altLang="zh-TW" dirty="0" smtClean="0">
                <a:sym typeface="Wingdings" panose="05000000000000000000" pitchFamily="2" charset="2"/>
              </a:rPr>
              <a:t> </a:t>
            </a:r>
          </a:p>
          <a:p>
            <a:pPr lvl="1"/>
            <a:r>
              <a:rPr lang="zh-TW" altLang="en-US" dirty="0" smtClean="0">
                <a:sym typeface="Wingdings" panose="05000000000000000000" pitchFamily="2" charset="2"/>
              </a:rPr>
              <a:t>第一</a:t>
            </a:r>
            <a:r>
              <a:rPr lang="zh-TW" altLang="en-US" dirty="0">
                <a:sym typeface="Wingdings" panose="05000000000000000000" pitchFamily="2" charset="2"/>
              </a:rPr>
              <a:t>步</a:t>
            </a:r>
            <a:r>
              <a:rPr lang="zh-TW" altLang="en-US" dirty="0" smtClean="0">
                <a:sym typeface="Wingdings" panose="05000000000000000000" pitchFamily="2" charset="2"/>
              </a:rPr>
              <a:t> 評估 病人 </a:t>
            </a:r>
            <a:r>
              <a:rPr lang="en-US" altLang="zh-TW" dirty="0" smtClean="0">
                <a:sym typeface="Wingdings" panose="05000000000000000000" pitchFamily="2" charset="2"/>
              </a:rPr>
              <a:t>:</a:t>
            </a:r>
            <a:r>
              <a:rPr lang="zh-TW" altLang="en-US" dirty="0" smtClean="0">
                <a:sym typeface="Wingdings" panose="05000000000000000000" pitchFamily="2" charset="2"/>
              </a:rPr>
              <a:t> </a:t>
            </a:r>
            <a:r>
              <a:rPr lang="en-US" altLang="zh-TW" dirty="0" smtClean="0">
                <a:sym typeface="Wingdings" panose="05000000000000000000" pitchFamily="2" charset="2"/>
              </a:rPr>
              <a:t>age, smoking </a:t>
            </a:r>
            <a:r>
              <a:rPr lang="en-US" altLang="zh-TW" dirty="0" err="1" smtClean="0">
                <a:sym typeface="Wingdings" panose="05000000000000000000" pitchFamily="2" charset="2"/>
              </a:rPr>
              <a:t>hx</a:t>
            </a:r>
            <a:r>
              <a:rPr lang="en-US" altLang="zh-TW" dirty="0" smtClean="0">
                <a:sym typeface="Wingdings" panose="05000000000000000000" pitchFamily="2" charset="2"/>
              </a:rPr>
              <a:t>, cancer </a:t>
            </a:r>
            <a:r>
              <a:rPr lang="en-US" altLang="zh-TW" dirty="0" err="1" smtClean="0">
                <a:sym typeface="Wingdings" panose="05000000000000000000" pitchFamily="2" charset="2"/>
              </a:rPr>
              <a:t>hx</a:t>
            </a:r>
            <a:r>
              <a:rPr lang="en-US" altLang="zh-TW" dirty="0" smtClean="0">
                <a:sym typeface="Wingdings" panose="05000000000000000000" pitchFamily="2" charset="2"/>
              </a:rPr>
              <a:t> family </a:t>
            </a:r>
            <a:r>
              <a:rPr lang="en-US" altLang="zh-TW" dirty="0" err="1" smtClean="0">
                <a:sym typeface="Wingdings" panose="05000000000000000000" pitchFamily="2" charset="2"/>
              </a:rPr>
              <a:t>hx</a:t>
            </a:r>
            <a:r>
              <a:rPr lang="en-US" altLang="zh-TW" dirty="0" smtClean="0">
                <a:sym typeface="Wingdings" panose="05000000000000000000" pitchFamily="2" charset="2"/>
              </a:rPr>
              <a:t>, work, COPD, TB</a:t>
            </a:r>
          </a:p>
          <a:p>
            <a:pPr lvl="1"/>
            <a:r>
              <a:rPr lang="zh-TW" altLang="en-US" dirty="0" smtClean="0">
                <a:sym typeface="Wingdings" panose="05000000000000000000" pitchFamily="2" charset="2"/>
              </a:rPr>
              <a:t>評估 影像</a:t>
            </a:r>
            <a:r>
              <a:rPr lang="en-US" altLang="zh-TW" dirty="0" smtClean="0">
                <a:sym typeface="Wingdings" panose="05000000000000000000" pitchFamily="2" charset="2"/>
              </a:rPr>
              <a:t>:</a:t>
            </a:r>
            <a:r>
              <a:rPr lang="zh-TW" altLang="en-US" dirty="0" smtClean="0">
                <a:sym typeface="Wingdings" panose="05000000000000000000" pitchFamily="2" charset="2"/>
              </a:rPr>
              <a:t> </a:t>
            </a:r>
            <a:r>
              <a:rPr lang="en-US" altLang="zh-TW" dirty="0" smtClean="0">
                <a:sym typeface="Wingdings" panose="05000000000000000000" pitchFamily="2" charset="2"/>
              </a:rPr>
              <a:t>size shape density, inflammation, scarring</a:t>
            </a:r>
          </a:p>
          <a:p>
            <a:r>
              <a:rPr lang="en-US" altLang="zh-TW" dirty="0" smtClean="0">
                <a:sym typeface="Wingdings" panose="05000000000000000000" pitchFamily="2" charset="2"/>
              </a:rPr>
              <a:t>Low dose CT </a:t>
            </a:r>
          </a:p>
          <a:p>
            <a:pPr lvl="1"/>
            <a:r>
              <a:rPr lang="en-US" altLang="zh-TW" dirty="0" smtClean="0">
                <a:sym typeface="Wingdings" panose="05000000000000000000" pitchFamily="2" charset="2"/>
              </a:rPr>
              <a:t>Low risk: </a:t>
            </a:r>
          </a:p>
          <a:p>
            <a:pPr lvl="1"/>
            <a:r>
              <a:rPr lang="en-US" altLang="zh-TW" dirty="0" smtClean="0">
                <a:sym typeface="Wingdings" panose="05000000000000000000" pitchFamily="2" charset="2"/>
              </a:rPr>
              <a:t>High risk:</a:t>
            </a:r>
          </a:p>
          <a:p>
            <a:pPr lvl="2"/>
            <a:r>
              <a:rPr lang="en-US" altLang="zh-TW" dirty="0" smtClean="0">
                <a:sym typeface="Wingdings" panose="05000000000000000000" pitchFamily="2" charset="2"/>
              </a:rPr>
              <a:t>Smoker, family </a:t>
            </a:r>
            <a:r>
              <a:rPr lang="en-US" altLang="zh-TW" dirty="0" err="1" smtClean="0">
                <a:sym typeface="Wingdings" panose="05000000000000000000" pitchFamily="2" charset="2"/>
              </a:rPr>
              <a:t>hx</a:t>
            </a:r>
            <a:r>
              <a:rPr lang="en-US" altLang="zh-TW" dirty="0" smtClean="0">
                <a:sym typeface="Wingdings" panose="05000000000000000000" pitchFamily="2" charset="2"/>
              </a:rPr>
              <a:t>, exposure: asbestos, radon, uranium</a:t>
            </a:r>
          </a:p>
          <a:p>
            <a:pPr lvl="1"/>
            <a:r>
              <a:rPr lang="en-US" altLang="zh-TW" dirty="0" smtClean="0">
                <a:sym typeface="Wingdings" panose="05000000000000000000" pitchFamily="2" charset="2"/>
              </a:rPr>
              <a:t>&lt;6mm: OBS or follow CT 12mo if high risk</a:t>
            </a:r>
          </a:p>
          <a:p>
            <a:pPr lvl="1"/>
            <a:r>
              <a:rPr lang="en-US" altLang="zh-TW" dirty="0" smtClean="0">
                <a:sym typeface="Wingdings" panose="05000000000000000000" pitchFamily="2" charset="2"/>
              </a:rPr>
              <a:t>6-12mm: CT @ 6-12mo</a:t>
            </a:r>
          </a:p>
          <a:p>
            <a:pPr lvl="1"/>
            <a:r>
              <a:rPr lang="en-US" altLang="zh-TW" dirty="0" smtClean="0">
                <a:sym typeface="Wingdings" panose="05000000000000000000" pitchFamily="2" charset="2"/>
              </a:rPr>
              <a:t>8mm: CT @ 3mo, PET, or biopsy</a:t>
            </a:r>
          </a:p>
        </p:txBody>
      </p:sp>
      <p:pic>
        <p:nvPicPr>
          <p:cNvPr id="4" name="圖片 3"/>
          <p:cNvPicPr>
            <a:picLocks noChangeAspect="1"/>
          </p:cNvPicPr>
          <p:nvPr/>
        </p:nvPicPr>
        <p:blipFill>
          <a:blip r:embed="rId2"/>
          <a:stretch>
            <a:fillRect/>
          </a:stretch>
        </p:blipFill>
        <p:spPr>
          <a:xfrm>
            <a:off x="4223792" y="3861048"/>
            <a:ext cx="6351936" cy="792088"/>
          </a:xfrm>
          <a:prstGeom prst="rect">
            <a:avLst/>
          </a:prstGeom>
        </p:spPr>
      </p:pic>
    </p:spTree>
    <p:extLst>
      <p:ext uri="{BB962C8B-B14F-4D97-AF65-F5344CB8AC3E}">
        <p14:creationId xmlns:p14="http://schemas.microsoft.com/office/powerpoint/2010/main" val="16559180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81200" y="274638"/>
            <a:ext cx="1810544" cy="1143000"/>
          </a:xfrm>
        </p:spPr>
        <p:txBody>
          <a:bodyPr/>
          <a:lstStyle/>
          <a:p>
            <a:r>
              <a:rPr lang="en-US" altLang="zh-TW" dirty="0" smtClean="0"/>
              <a:t>2010</a:t>
            </a:r>
            <a:endParaRPr lang="zh-TW" altLang="en-US" dirty="0"/>
          </a:p>
        </p:txBody>
      </p:sp>
      <p:sp>
        <p:nvSpPr>
          <p:cNvPr id="3" name="內容版面配置區 2"/>
          <p:cNvSpPr>
            <a:spLocks noGrp="1"/>
          </p:cNvSpPr>
          <p:nvPr>
            <p:ph idx="1"/>
          </p:nvPr>
        </p:nvSpPr>
        <p:spPr>
          <a:xfrm>
            <a:off x="1703512" y="1916832"/>
            <a:ext cx="8786192" cy="4824536"/>
          </a:xfrm>
        </p:spPr>
        <p:txBody>
          <a:bodyPr>
            <a:normAutofit fontScale="47500" lnSpcReduction="20000"/>
          </a:bodyPr>
          <a:lstStyle/>
          <a:p>
            <a:r>
              <a:rPr lang="zh-TW" altLang="en-US" dirty="0"/>
              <a:t>梁基安</a:t>
            </a:r>
          </a:p>
          <a:p>
            <a:r>
              <a:rPr lang="en-US" altLang="zh-TW" dirty="0" smtClean="0"/>
              <a:t>Q1: NSCLC </a:t>
            </a:r>
            <a:r>
              <a:rPr lang="zh-TW" altLang="en-US" dirty="0"/>
              <a:t>的 </a:t>
            </a:r>
            <a:r>
              <a:rPr lang="en-US" altLang="zh-TW" dirty="0" smtClean="0"/>
              <a:t>dose</a:t>
            </a:r>
          </a:p>
          <a:p>
            <a:r>
              <a:rPr lang="en-US" altLang="zh-TW" dirty="0" smtClean="0"/>
              <a:t>A: Pre-OP 45Gy, CRT: 60Gy, Post-OP R0: 50-54 , R1R2 54-60Gy</a:t>
            </a:r>
            <a:endParaRPr lang="en-US" altLang="zh-TW" dirty="0"/>
          </a:p>
          <a:p>
            <a:endParaRPr lang="en-US" altLang="zh-TW" dirty="0" smtClean="0"/>
          </a:p>
          <a:p>
            <a:r>
              <a:rPr lang="en-US" altLang="zh-TW" dirty="0" smtClean="0"/>
              <a:t>Q2: SCLC </a:t>
            </a:r>
            <a:r>
              <a:rPr lang="zh-TW" altLang="en-US" dirty="0"/>
              <a:t>的</a:t>
            </a:r>
            <a:r>
              <a:rPr lang="en-US" altLang="zh-TW" dirty="0" smtClean="0"/>
              <a:t>RT</a:t>
            </a:r>
            <a:r>
              <a:rPr lang="zh-TW" altLang="en-US" dirty="0" smtClean="0"/>
              <a:t>：</a:t>
            </a:r>
            <a:r>
              <a:rPr lang="en-US" altLang="zh-TW" dirty="0" smtClean="0"/>
              <a:t>CRT, early better than late, CRT : 45Gy BID (INT 0096) or 66Gy QD (Convert) , Consolidative : 30Gy/10fx (Crest </a:t>
            </a:r>
            <a:r>
              <a:rPr lang="en-US" altLang="zh-TW" dirty="0" err="1" smtClean="0"/>
              <a:t>Slotman</a:t>
            </a:r>
            <a:r>
              <a:rPr lang="en-US" altLang="zh-TW" dirty="0" smtClean="0"/>
              <a:t>)</a:t>
            </a:r>
            <a:endParaRPr lang="en-US" altLang="zh-TW" dirty="0"/>
          </a:p>
          <a:p>
            <a:endParaRPr lang="en-US" altLang="zh-TW" dirty="0" smtClean="0"/>
          </a:p>
          <a:p>
            <a:r>
              <a:rPr lang="en-US" altLang="zh-TW" dirty="0" smtClean="0"/>
              <a:t>Q3: SBRT </a:t>
            </a:r>
            <a:r>
              <a:rPr lang="zh-TW" altLang="en-US" dirty="0"/>
              <a:t>在 </a:t>
            </a:r>
            <a:r>
              <a:rPr lang="en-US" altLang="zh-TW" dirty="0"/>
              <a:t>lung </a:t>
            </a:r>
            <a:r>
              <a:rPr lang="en-US" altLang="zh-TW" dirty="0" smtClean="0"/>
              <a:t>cancer:  </a:t>
            </a:r>
            <a:r>
              <a:rPr lang="zh-TW" altLang="en-US" dirty="0" smtClean="0"/>
              <a:t>前面以回答</a:t>
            </a:r>
            <a:endParaRPr lang="en-US" altLang="zh-TW" dirty="0"/>
          </a:p>
          <a:p>
            <a:endParaRPr lang="en-US" altLang="zh-TW" dirty="0" smtClean="0"/>
          </a:p>
          <a:p>
            <a:r>
              <a:rPr lang="en-US" altLang="zh-TW" dirty="0" smtClean="0"/>
              <a:t>Q4: </a:t>
            </a:r>
            <a:r>
              <a:rPr lang="en-US" altLang="zh-TW" dirty="0" err="1" smtClean="0"/>
              <a:t>Thymoma</a:t>
            </a:r>
            <a:r>
              <a:rPr lang="en-US" altLang="zh-TW" dirty="0" smtClean="0"/>
              <a:t> </a:t>
            </a:r>
            <a:r>
              <a:rPr lang="en-US" altLang="zh-TW" dirty="0"/>
              <a:t>stage</a:t>
            </a:r>
            <a:r>
              <a:rPr lang="zh-TW" altLang="en-US" dirty="0"/>
              <a:t>是</a:t>
            </a:r>
            <a:r>
              <a:rPr lang="en-US" altLang="zh-TW" dirty="0" smtClean="0"/>
              <a:t>?? </a:t>
            </a:r>
            <a:r>
              <a:rPr lang="zh-TW" altLang="en-US" dirty="0" smtClean="0"/>
              <a:t>背</a:t>
            </a:r>
            <a:r>
              <a:rPr lang="zh-TW" altLang="en-US" dirty="0"/>
              <a:t>全部</a:t>
            </a:r>
            <a:r>
              <a:rPr lang="en-US" altLang="zh-TW" dirty="0" err="1"/>
              <a:t>Masaoka</a:t>
            </a:r>
            <a:endParaRPr lang="en-US" altLang="zh-TW" dirty="0"/>
          </a:p>
          <a:p>
            <a:endParaRPr lang="en-US" altLang="zh-TW" dirty="0"/>
          </a:p>
          <a:p>
            <a:r>
              <a:rPr lang="en-US" altLang="zh-TW" dirty="0" smtClean="0"/>
              <a:t>Q5:  </a:t>
            </a:r>
            <a:r>
              <a:rPr lang="en-US" altLang="zh-TW" dirty="0"/>
              <a:t>Anterior </a:t>
            </a:r>
            <a:r>
              <a:rPr lang="en-US" altLang="zh-TW" dirty="0" err="1"/>
              <a:t>mediastiastinal</a:t>
            </a:r>
            <a:r>
              <a:rPr lang="en-US" altLang="zh-TW" dirty="0"/>
              <a:t> tumor</a:t>
            </a:r>
            <a:r>
              <a:rPr lang="zh-TW" altLang="zh-TW" dirty="0"/>
              <a:t>常見</a:t>
            </a:r>
            <a:r>
              <a:rPr lang="en-US" altLang="zh-TW" dirty="0"/>
              <a:t>tumor</a:t>
            </a:r>
            <a:r>
              <a:rPr lang="zh-TW" altLang="zh-TW" dirty="0"/>
              <a:t>，如何</a:t>
            </a:r>
            <a:r>
              <a:rPr lang="en-US" altLang="zh-TW" dirty="0"/>
              <a:t>approach</a:t>
            </a:r>
            <a:r>
              <a:rPr lang="zh-TW" altLang="zh-TW" dirty="0"/>
              <a:t>，如何</a:t>
            </a:r>
            <a:r>
              <a:rPr lang="en-US" altLang="zh-TW" dirty="0"/>
              <a:t>DD (image, lab</a:t>
            </a:r>
            <a:r>
              <a:rPr lang="en-US" altLang="zh-TW" dirty="0" smtClean="0"/>
              <a:t>)</a:t>
            </a:r>
          </a:p>
          <a:p>
            <a:r>
              <a:rPr lang="en-US" altLang="zh-TW" dirty="0" smtClean="0"/>
              <a:t>A: </a:t>
            </a:r>
            <a:r>
              <a:rPr lang="en-US" altLang="zh-TW" dirty="0" err="1" smtClean="0"/>
              <a:t>Anterimor</a:t>
            </a:r>
            <a:r>
              <a:rPr lang="en-US" altLang="zh-TW" dirty="0" smtClean="0"/>
              <a:t> 3T1L: </a:t>
            </a:r>
            <a:r>
              <a:rPr lang="en-US" altLang="zh-TW" dirty="0" err="1" smtClean="0"/>
              <a:t>thymoma</a:t>
            </a:r>
            <a:r>
              <a:rPr lang="en-US" altLang="zh-TW" dirty="0" smtClean="0"/>
              <a:t>., </a:t>
            </a:r>
            <a:r>
              <a:rPr lang="en-US" altLang="zh-TW" dirty="0" err="1" smtClean="0"/>
              <a:t>teratoma</a:t>
            </a:r>
            <a:r>
              <a:rPr lang="en-US" altLang="zh-TW" dirty="0" smtClean="0"/>
              <a:t>, thyroid, lymphoma</a:t>
            </a:r>
          </a:p>
          <a:p>
            <a:r>
              <a:rPr lang="en-US" altLang="zh-TW" dirty="0" smtClean="0"/>
              <a:t>A: HL: B symptoms, Nodular </a:t>
            </a:r>
            <a:r>
              <a:rPr lang="en-US" altLang="zh-TW" dirty="0" err="1" smtClean="0"/>
              <a:t>sclerosing</a:t>
            </a:r>
            <a:r>
              <a:rPr lang="en-US" altLang="zh-TW" dirty="0" smtClean="0"/>
              <a:t> classic HL 70% most common in </a:t>
            </a:r>
            <a:r>
              <a:rPr lang="en-US" altLang="zh-TW" dirty="0" err="1" smtClean="0"/>
              <a:t>mediastimum</a:t>
            </a:r>
            <a:r>
              <a:rPr lang="en-US" altLang="zh-TW" dirty="0" smtClean="0"/>
              <a:t>. </a:t>
            </a:r>
          </a:p>
          <a:p>
            <a:r>
              <a:rPr lang="en-US" altLang="zh-TW" dirty="0" smtClean="0"/>
              <a:t>NHL: LDH elevated</a:t>
            </a:r>
          </a:p>
          <a:p>
            <a:r>
              <a:rPr lang="en-US" altLang="zh-TW" dirty="0" err="1" smtClean="0"/>
              <a:t>Tertoma</a:t>
            </a:r>
            <a:r>
              <a:rPr lang="en-US" altLang="zh-TW" dirty="0" smtClean="0"/>
              <a:t>:  fat and cystic component </a:t>
            </a:r>
          </a:p>
          <a:p>
            <a:r>
              <a:rPr lang="en-US" altLang="zh-TW" dirty="0" smtClean="0"/>
              <a:t>Germ cell: elevated B-HCG, AFP</a:t>
            </a:r>
            <a:endParaRPr lang="en-US" altLang="zh-TW" dirty="0"/>
          </a:p>
          <a:p>
            <a:r>
              <a:rPr lang="en-US" altLang="zh-TW" dirty="0" smtClean="0"/>
              <a:t>35-50% </a:t>
            </a:r>
            <a:r>
              <a:rPr lang="en-US" altLang="zh-TW" dirty="0" err="1" smtClean="0"/>
              <a:t>thmoma</a:t>
            </a:r>
            <a:r>
              <a:rPr lang="en-US" altLang="zh-TW" dirty="0" smtClean="0"/>
              <a:t> has MG, 10~15% MG has </a:t>
            </a:r>
            <a:r>
              <a:rPr lang="en-US" altLang="zh-TW" dirty="0" err="1" smtClean="0"/>
              <a:t>thymoma</a:t>
            </a:r>
            <a:endParaRPr lang="en-US" altLang="zh-TW" dirty="0" smtClean="0"/>
          </a:p>
          <a:p>
            <a:r>
              <a:rPr lang="en-US" altLang="zh-TW" dirty="0" err="1" smtClean="0"/>
              <a:t>Thymoma</a:t>
            </a:r>
            <a:r>
              <a:rPr lang="en-US" altLang="zh-TW" dirty="0" smtClean="0"/>
              <a:t> symptom: stridor. Chest pain, phrenic nerve palsy. MG. SCV syndrome</a:t>
            </a:r>
            <a:endParaRPr lang="zh-TW" altLang="zh-TW" dirty="0"/>
          </a:p>
          <a:p>
            <a:endParaRPr lang="zh-TW" altLang="en-US" dirty="0"/>
          </a:p>
        </p:txBody>
      </p:sp>
      <p:pic>
        <p:nvPicPr>
          <p:cNvPr id="4" name="圖片 3"/>
          <p:cNvPicPr>
            <a:picLocks noChangeAspect="1"/>
          </p:cNvPicPr>
          <p:nvPr/>
        </p:nvPicPr>
        <p:blipFill>
          <a:blip r:embed="rId2"/>
          <a:stretch>
            <a:fillRect/>
          </a:stretch>
        </p:blipFill>
        <p:spPr>
          <a:xfrm>
            <a:off x="5231904" y="188641"/>
            <a:ext cx="5257800" cy="1895475"/>
          </a:xfrm>
          <a:prstGeom prst="rect">
            <a:avLst/>
          </a:prstGeom>
        </p:spPr>
      </p:pic>
    </p:spTree>
    <p:extLst>
      <p:ext uri="{BB962C8B-B14F-4D97-AF65-F5344CB8AC3E}">
        <p14:creationId xmlns:p14="http://schemas.microsoft.com/office/powerpoint/2010/main" val="6683722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847528" y="125760"/>
            <a:ext cx="1522512" cy="1143000"/>
          </a:xfrm>
        </p:spPr>
        <p:txBody>
          <a:bodyPr/>
          <a:lstStyle/>
          <a:p>
            <a:r>
              <a:rPr lang="en-US" altLang="zh-TW" dirty="0" smtClean="0"/>
              <a:t>2011</a:t>
            </a:r>
            <a:endParaRPr lang="zh-TW" altLang="en-US" dirty="0"/>
          </a:p>
        </p:txBody>
      </p:sp>
      <p:sp>
        <p:nvSpPr>
          <p:cNvPr id="3" name="內容版面配置區 2"/>
          <p:cNvSpPr>
            <a:spLocks noGrp="1"/>
          </p:cNvSpPr>
          <p:nvPr>
            <p:ph idx="1"/>
          </p:nvPr>
        </p:nvSpPr>
        <p:spPr>
          <a:xfrm>
            <a:off x="1981200" y="1052736"/>
            <a:ext cx="8579296" cy="5688632"/>
          </a:xfrm>
        </p:spPr>
        <p:txBody>
          <a:bodyPr>
            <a:noAutofit/>
          </a:bodyPr>
          <a:lstStyle/>
          <a:p>
            <a:r>
              <a:rPr lang="fr-FR" altLang="zh-TW" sz="1600" dirty="0"/>
              <a:t>Q1.</a:t>
            </a:r>
            <a:r>
              <a:rPr lang="zh-TW" altLang="zh-TW" sz="1600" dirty="0"/>
              <a:t>台灣一年有多少位</a:t>
            </a:r>
            <a:r>
              <a:rPr lang="fr-FR" altLang="zh-TW" sz="1600" dirty="0"/>
              <a:t>lung cancer</a:t>
            </a:r>
            <a:r>
              <a:rPr lang="zh-TW" altLang="zh-TW" sz="1600" dirty="0"/>
              <a:t>病人，男女比是多少</a:t>
            </a:r>
            <a:r>
              <a:rPr lang="fr-FR" altLang="zh-TW" sz="1600" dirty="0"/>
              <a:t>?</a:t>
            </a:r>
            <a:r>
              <a:rPr lang="zh-TW" altLang="zh-TW" sz="1600" dirty="0"/>
              <a:t>其中</a:t>
            </a:r>
            <a:r>
              <a:rPr lang="fr-FR" altLang="zh-TW" sz="1600" dirty="0"/>
              <a:t>adenocarcinoma</a:t>
            </a:r>
            <a:r>
              <a:rPr lang="zh-TW" altLang="zh-TW" sz="1600" dirty="0"/>
              <a:t>所佔的比例</a:t>
            </a:r>
            <a:r>
              <a:rPr lang="fr-FR" altLang="zh-TW" sz="1600" dirty="0"/>
              <a:t>?</a:t>
            </a:r>
            <a:endParaRPr lang="zh-TW" altLang="zh-TW" sz="1600" dirty="0"/>
          </a:p>
          <a:p>
            <a:r>
              <a:rPr lang="en-US" altLang="zh-TW" sz="1600" b="1" dirty="0"/>
              <a:t>A: </a:t>
            </a:r>
            <a:r>
              <a:rPr lang="zh-TW" altLang="zh-TW" sz="1600" b="1" dirty="0"/>
              <a:t>約</a:t>
            </a:r>
            <a:r>
              <a:rPr lang="fr-FR" altLang="zh-TW" sz="1600" b="1" dirty="0"/>
              <a:t>13000</a:t>
            </a:r>
            <a:r>
              <a:rPr lang="zh-TW" altLang="zh-TW" sz="1600" b="1" dirty="0"/>
              <a:t>人</a:t>
            </a:r>
            <a:r>
              <a:rPr lang="en-US" altLang="zh-TW" sz="1600" b="1" dirty="0"/>
              <a:t>~14000</a:t>
            </a:r>
            <a:r>
              <a:rPr lang="zh-TW" altLang="zh-TW" sz="1600" b="1" dirty="0"/>
              <a:t>，男女比</a:t>
            </a:r>
            <a:r>
              <a:rPr lang="fr-FR" altLang="zh-TW" sz="1600" b="1" dirty="0"/>
              <a:t>1.6 :1, adeno </a:t>
            </a:r>
            <a:r>
              <a:rPr lang="zh-TW" altLang="zh-TW" sz="1600" b="1" dirty="0"/>
              <a:t>約</a:t>
            </a:r>
            <a:r>
              <a:rPr lang="fr-FR" altLang="zh-TW" sz="1600" b="1" dirty="0"/>
              <a:t>6</a:t>
            </a:r>
            <a:r>
              <a:rPr lang="zh-TW" altLang="zh-TW" sz="1600" b="1" dirty="0"/>
              <a:t>成，男佔</a:t>
            </a:r>
            <a:r>
              <a:rPr lang="fr-FR" altLang="zh-TW" sz="1600" b="1" dirty="0"/>
              <a:t>5</a:t>
            </a:r>
            <a:r>
              <a:rPr lang="zh-TW" altLang="zh-TW" sz="1600" b="1" dirty="0"/>
              <a:t>成女佔</a:t>
            </a:r>
            <a:r>
              <a:rPr lang="fr-FR" altLang="zh-TW" sz="1600" b="1" dirty="0"/>
              <a:t>8</a:t>
            </a:r>
            <a:r>
              <a:rPr lang="zh-TW" altLang="zh-TW" sz="1600" b="1" dirty="0"/>
              <a:t>成</a:t>
            </a:r>
            <a:endParaRPr lang="fr-FR" altLang="zh-TW" sz="1600" dirty="0"/>
          </a:p>
          <a:p>
            <a:r>
              <a:rPr lang="fr-FR" altLang="zh-TW" sz="1600" dirty="0"/>
              <a:t>Q2. Non-small cell lung cancer T1, T2</a:t>
            </a:r>
            <a:r>
              <a:rPr lang="zh-TW" altLang="zh-TW" sz="1600" dirty="0"/>
              <a:t>如何治療</a:t>
            </a:r>
            <a:r>
              <a:rPr lang="fr-FR" altLang="zh-TW" sz="1600" dirty="0"/>
              <a:t>?</a:t>
            </a:r>
            <a:r>
              <a:rPr lang="zh-TW" altLang="zh-TW" sz="1600" dirty="0"/>
              <a:t>何時需要使用到</a:t>
            </a:r>
            <a:r>
              <a:rPr lang="fr-FR" altLang="zh-TW" sz="1600" dirty="0"/>
              <a:t>RT? </a:t>
            </a:r>
            <a:r>
              <a:rPr lang="zh-TW" altLang="zh-TW" sz="1600" dirty="0"/>
              <a:t>問</a:t>
            </a:r>
            <a:r>
              <a:rPr lang="fr-FR" altLang="zh-TW" sz="1600" dirty="0"/>
              <a:t>NSCL stage I-II</a:t>
            </a:r>
            <a:r>
              <a:rPr lang="zh-TW" altLang="zh-TW" sz="1600" dirty="0"/>
              <a:t>何時作</a:t>
            </a:r>
            <a:r>
              <a:rPr lang="fr-FR" altLang="zh-TW" sz="1600" dirty="0"/>
              <a:t>adjuvant Tx</a:t>
            </a:r>
            <a:endParaRPr lang="zh-TW" altLang="zh-TW" sz="1600" dirty="0"/>
          </a:p>
          <a:p>
            <a:r>
              <a:rPr lang="en-US" altLang="zh-TW" sz="1600" dirty="0"/>
              <a:t>A: </a:t>
            </a:r>
            <a:r>
              <a:rPr lang="zh-TW" altLang="zh-TW" sz="1600" dirty="0"/>
              <a:t>術前看</a:t>
            </a:r>
            <a:r>
              <a:rPr lang="fr-FR" altLang="zh-TW" sz="1600" dirty="0"/>
              <a:t>mediastinal LN (-) : Surgery, if inoperable -&gt; SBRT</a:t>
            </a:r>
          </a:p>
          <a:p>
            <a:r>
              <a:rPr lang="fr-FR" altLang="zh-TW" sz="1600" dirty="0"/>
              <a:t>A: </a:t>
            </a:r>
            <a:r>
              <a:rPr lang="en-US" altLang="zh-TW" sz="1600" kern="1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adjuvant </a:t>
            </a:r>
            <a:r>
              <a:rPr lang="en-US" altLang="zh-TW" sz="1600" kern="100" dirty="0" err="1">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Tx</a:t>
            </a:r>
            <a:r>
              <a:rPr lang="en-US" altLang="zh-TW" sz="1600" kern="1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(IB</a:t>
            </a:r>
            <a:r>
              <a:rPr lang="zh-TW" altLang="zh-TW" sz="1600" kern="1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以上</a:t>
            </a:r>
            <a:r>
              <a:rPr lang="en-US" altLang="zh-TW" sz="1600" kern="1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C/T, N2, margin +</a:t>
            </a:r>
            <a:r>
              <a:rPr lang="en-US" altLang="zh-TW" sz="1600" kern="1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sym typeface="Wingdings" panose="05000000000000000000" pitchFamily="2" charset="2"/>
              </a:rPr>
              <a:t></a:t>
            </a:r>
            <a:r>
              <a:rPr lang="en-US" altLang="zh-TW" sz="1600" kern="1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post-OP R/T)</a:t>
            </a:r>
            <a:endParaRPr lang="fr-FR" altLang="zh-TW" sz="1600" dirty="0"/>
          </a:p>
          <a:p>
            <a:r>
              <a:rPr lang="fr-FR" altLang="zh-TW" sz="1600" dirty="0"/>
              <a:t>Q3. Stage I</a:t>
            </a:r>
            <a:r>
              <a:rPr lang="zh-TW" altLang="zh-TW" sz="1600" dirty="0"/>
              <a:t>的病人如果不開刀的話，病人有何治療選擇</a:t>
            </a:r>
            <a:r>
              <a:rPr lang="fr-FR" altLang="zh-TW" sz="1600" dirty="0"/>
              <a:t>? </a:t>
            </a:r>
          </a:p>
          <a:p>
            <a:r>
              <a:rPr lang="fr-FR" altLang="zh-TW" sz="1600" b="1" dirty="0"/>
              <a:t>A: SBRT</a:t>
            </a:r>
            <a:endParaRPr lang="fr-FR" altLang="zh-TW" sz="1600" dirty="0"/>
          </a:p>
          <a:p>
            <a:r>
              <a:rPr lang="fr-FR" altLang="zh-TW" sz="1600" dirty="0"/>
              <a:t>Q4. Stage II</a:t>
            </a:r>
            <a:r>
              <a:rPr lang="zh-TW" altLang="zh-TW" sz="1600" dirty="0"/>
              <a:t>的病人，要選擇甚麼樣的治療方式</a:t>
            </a:r>
            <a:r>
              <a:rPr lang="fr-FR" altLang="zh-TW" sz="1600" dirty="0"/>
              <a:t>?</a:t>
            </a:r>
            <a:r>
              <a:rPr lang="fr-FR" altLang="zh-TW" sz="1600" b="1" dirty="0"/>
              <a:t> </a:t>
            </a:r>
          </a:p>
          <a:p>
            <a:r>
              <a:rPr lang="fr-FR" altLang="zh-TW" sz="1600" b="1" dirty="0"/>
              <a:t>A: CCRT, sequential RT or RT alon. </a:t>
            </a:r>
            <a:r>
              <a:rPr lang="zh-TW" altLang="zh-TW" sz="1600" b="1" dirty="0"/>
              <a:t>當然如果是</a:t>
            </a:r>
            <a:r>
              <a:rPr lang="fr-FR" altLang="zh-TW" sz="1600" b="1" dirty="0"/>
              <a:t>N- stage II</a:t>
            </a:r>
            <a:r>
              <a:rPr lang="zh-TW" altLang="zh-TW" sz="1600" b="1" dirty="0"/>
              <a:t>有部分病人可以考慮做</a:t>
            </a:r>
            <a:r>
              <a:rPr lang="fr-FR" altLang="zh-TW" sz="1600" b="1" dirty="0"/>
              <a:t>SBRT</a:t>
            </a:r>
          </a:p>
          <a:p>
            <a:r>
              <a:rPr lang="zh-TW" altLang="zh-TW" sz="1600" dirty="0"/>
              <a:t>果手術後發現有</a:t>
            </a:r>
            <a:r>
              <a:rPr lang="fr-FR" altLang="zh-TW" sz="1600" dirty="0"/>
              <a:t>N1</a:t>
            </a:r>
            <a:r>
              <a:rPr lang="zh-TW" altLang="zh-TW" sz="1600" dirty="0"/>
              <a:t>，需不需要做</a:t>
            </a:r>
            <a:r>
              <a:rPr lang="fr-FR" altLang="zh-TW" sz="1600" dirty="0"/>
              <a:t>RT? </a:t>
            </a:r>
          </a:p>
          <a:p>
            <a:r>
              <a:rPr lang="fr-FR" altLang="zh-TW" sz="1600" b="1" dirty="0"/>
              <a:t>A: </a:t>
            </a:r>
            <a:r>
              <a:rPr lang="zh-TW" altLang="zh-TW" sz="1600" b="1" dirty="0"/>
              <a:t>不用</a:t>
            </a:r>
            <a:r>
              <a:rPr lang="en-US" altLang="zh-TW" sz="1600" b="1" dirty="0"/>
              <a:t>, adjuvant chemotherapy for N+ : LACE (</a:t>
            </a:r>
            <a:r>
              <a:rPr lang="en-US" altLang="zh-TW" sz="1600" b="1" dirty="0" err="1"/>
              <a:t>Pignon</a:t>
            </a:r>
            <a:r>
              <a:rPr lang="en-US" altLang="zh-TW" sz="1600" b="1" dirty="0"/>
              <a:t>) increase 5 % overall survival </a:t>
            </a:r>
            <a:endParaRPr lang="fr-FR" altLang="zh-TW" sz="1600" dirty="0"/>
          </a:p>
          <a:p>
            <a:r>
              <a:rPr lang="fr-FR" altLang="zh-TW" sz="1600" dirty="0"/>
              <a:t>Q5. Stage III</a:t>
            </a:r>
            <a:r>
              <a:rPr lang="zh-TW" altLang="zh-TW" sz="1600" dirty="0"/>
              <a:t>的病人要怎麼要去治療，治療的劑量要給多少</a:t>
            </a:r>
            <a:r>
              <a:rPr lang="fr-FR" altLang="zh-TW" sz="1600" dirty="0"/>
              <a:t>?RT</a:t>
            </a:r>
            <a:r>
              <a:rPr lang="zh-TW" altLang="zh-TW" sz="1600" dirty="0"/>
              <a:t>有沒有需要</a:t>
            </a:r>
            <a:r>
              <a:rPr lang="fr-FR" altLang="zh-TW" sz="1600" dirty="0"/>
              <a:t>elective nodal irradiation? Evidence? </a:t>
            </a:r>
          </a:p>
          <a:p>
            <a:r>
              <a:rPr lang="fr-FR" altLang="zh-TW" sz="1600" b="1" dirty="0"/>
              <a:t>A: CCRT, </a:t>
            </a:r>
            <a:r>
              <a:rPr lang="zh-TW" altLang="zh-TW" sz="1600" b="1" dirty="0"/>
              <a:t>但是如果是</a:t>
            </a:r>
            <a:r>
              <a:rPr lang="fr-FR" altLang="zh-TW" sz="1600" b="1" dirty="0"/>
              <a:t>resectable stage III</a:t>
            </a:r>
            <a:r>
              <a:rPr lang="zh-TW" altLang="zh-TW" sz="1600" b="1" dirty="0"/>
              <a:t>可以做</a:t>
            </a:r>
            <a:r>
              <a:rPr lang="fr-FR" altLang="zh-TW" sz="1600" b="1" dirty="0"/>
              <a:t> pre-op chemo</a:t>
            </a:r>
            <a:r>
              <a:rPr lang="zh-TW" altLang="zh-TW" sz="1600" b="1" dirty="0"/>
              <a:t>或</a:t>
            </a:r>
            <a:r>
              <a:rPr lang="fr-FR" altLang="zh-TW" sz="1600" b="1" dirty="0"/>
              <a:t>post-op RT.  No ENI Evidence MSKCC (Rosenzweig 2007 JCO) (Yuan ASCO 2007 phase III better LC with IFRT vs ENI</a:t>
            </a:r>
            <a:endParaRPr lang="fr-FR" altLang="zh-TW" sz="1600" dirty="0"/>
          </a:p>
          <a:p>
            <a:r>
              <a:rPr lang="fr-FR" altLang="zh-TW" sz="1600" dirty="0"/>
              <a:t>Q6. NSCLC</a:t>
            </a:r>
            <a:r>
              <a:rPr lang="zh-TW" altLang="zh-TW" sz="1600" dirty="0"/>
              <a:t>的</a:t>
            </a:r>
            <a:r>
              <a:rPr lang="fr-FR" altLang="zh-TW" sz="1600" dirty="0"/>
              <a:t>dose escalation</a:t>
            </a:r>
            <a:r>
              <a:rPr lang="zh-TW" altLang="zh-TW" sz="1600" dirty="0"/>
              <a:t>有沒有</a:t>
            </a:r>
            <a:r>
              <a:rPr lang="fr-FR" altLang="zh-TW" sz="1600" dirty="0"/>
              <a:t>evidence? </a:t>
            </a:r>
            <a:endParaRPr lang="zh-TW" altLang="zh-TW" sz="1600" dirty="0"/>
          </a:p>
          <a:p>
            <a:r>
              <a:rPr lang="fr-FR" altLang="zh-TW" sz="1600" b="1" dirty="0"/>
              <a:t>RTOG0617 for stage IIIA-B NSCLC dose escalation </a:t>
            </a:r>
            <a:r>
              <a:rPr lang="zh-TW" altLang="zh-TW" sz="1600" b="1" dirty="0"/>
              <a:t>沒好處</a:t>
            </a:r>
            <a:endParaRPr lang="zh-TW" altLang="zh-TW" sz="1600" dirty="0"/>
          </a:p>
        </p:txBody>
      </p:sp>
      <p:sp>
        <p:nvSpPr>
          <p:cNvPr id="4" name="矩形 3"/>
          <p:cNvSpPr/>
          <p:nvPr/>
        </p:nvSpPr>
        <p:spPr>
          <a:xfrm>
            <a:off x="3647728" y="333382"/>
            <a:ext cx="1338828" cy="369332"/>
          </a:xfrm>
          <a:prstGeom prst="rect">
            <a:avLst/>
          </a:prstGeom>
        </p:spPr>
        <p:txBody>
          <a:bodyPr wrap="none">
            <a:spAutoFit/>
          </a:bodyPr>
          <a:lstStyle/>
          <a:p>
            <a:r>
              <a:rPr lang="zh-TW" altLang="en-US" dirty="0">
                <a:solidFill>
                  <a:prstClr val="black"/>
                </a:solidFill>
              </a:rPr>
              <a:t>顏上惠主任</a:t>
            </a:r>
          </a:p>
        </p:txBody>
      </p:sp>
      <p:pic>
        <p:nvPicPr>
          <p:cNvPr id="5" name="圖片 4"/>
          <p:cNvPicPr>
            <a:picLocks noChangeAspect="1"/>
          </p:cNvPicPr>
          <p:nvPr/>
        </p:nvPicPr>
        <p:blipFill>
          <a:blip r:embed="rId2"/>
          <a:stretch>
            <a:fillRect/>
          </a:stretch>
        </p:blipFill>
        <p:spPr>
          <a:xfrm>
            <a:off x="7320137" y="2636912"/>
            <a:ext cx="3347864" cy="666750"/>
          </a:xfrm>
          <a:prstGeom prst="rect">
            <a:avLst/>
          </a:prstGeom>
        </p:spPr>
      </p:pic>
    </p:spTree>
    <p:extLst>
      <p:ext uri="{BB962C8B-B14F-4D97-AF65-F5344CB8AC3E}">
        <p14:creationId xmlns:p14="http://schemas.microsoft.com/office/powerpoint/2010/main" val="275749773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2011 continue</a:t>
            </a:r>
            <a:endParaRPr lang="zh-TW" altLang="en-US" dirty="0"/>
          </a:p>
        </p:txBody>
      </p:sp>
      <p:sp>
        <p:nvSpPr>
          <p:cNvPr id="3" name="內容版面配置區 2"/>
          <p:cNvSpPr>
            <a:spLocks noGrp="1"/>
          </p:cNvSpPr>
          <p:nvPr>
            <p:ph idx="1"/>
          </p:nvPr>
        </p:nvSpPr>
        <p:spPr>
          <a:xfrm>
            <a:off x="1981200" y="1196752"/>
            <a:ext cx="8229600" cy="5661248"/>
          </a:xfrm>
        </p:spPr>
        <p:txBody>
          <a:bodyPr>
            <a:normAutofit fontScale="47500" lnSpcReduction="20000"/>
          </a:bodyPr>
          <a:lstStyle/>
          <a:p>
            <a:r>
              <a:rPr lang="fr-FR" altLang="zh-TW" sz="3400" dirty="0"/>
              <a:t>Q7: SCLC limited stage</a:t>
            </a:r>
            <a:r>
              <a:rPr lang="zh-TW" altLang="zh-TW" sz="3400" dirty="0"/>
              <a:t>要怎麼去治療</a:t>
            </a:r>
            <a:r>
              <a:rPr lang="fr-FR" altLang="zh-TW" sz="3400" dirty="0"/>
              <a:t>? SCLC limited, R/T role</a:t>
            </a:r>
          </a:p>
          <a:p>
            <a:r>
              <a:rPr lang="fr-FR" altLang="zh-TW" sz="3400" dirty="0"/>
              <a:t>A:  stage i-IIA: OP +  MLND , limited can’t OP:  CRT, sequential if poor PFS</a:t>
            </a:r>
            <a:endParaRPr lang="zh-TW" altLang="zh-TW" sz="3400" dirty="0"/>
          </a:p>
          <a:p>
            <a:r>
              <a:rPr lang="fr-FR" altLang="zh-TW" sz="3400" dirty="0"/>
              <a:t>A: </a:t>
            </a:r>
            <a:r>
              <a:rPr lang="zh-TW" altLang="zh-TW" sz="3400" b="1" dirty="0"/>
              <a:t>根據</a:t>
            </a:r>
            <a:r>
              <a:rPr lang="en-US" altLang="zh-TW" sz="3400" b="1" dirty="0"/>
              <a:t>JCOG Takada 2002 JCO</a:t>
            </a:r>
            <a:r>
              <a:rPr lang="fr-FR" altLang="zh-TW" sz="3400" b="1" dirty="0"/>
              <a:t> : CCRT</a:t>
            </a:r>
            <a:r>
              <a:rPr lang="zh-TW" altLang="zh-TW" sz="3400" b="1" dirty="0"/>
              <a:t>比</a:t>
            </a:r>
            <a:r>
              <a:rPr lang="fr-FR" altLang="zh-TW" sz="3400" b="1" dirty="0"/>
              <a:t>sequential ChemoRT</a:t>
            </a:r>
            <a:r>
              <a:rPr lang="zh-TW" altLang="zh-TW" sz="3400" b="1" dirty="0"/>
              <a:t>好</a:t>
            </a:r>
            <a:r>
              <a:rPr lang="fr-FR" altLang="zh-TW" sz="3400" b="1" dirty="0"/>
              <a:t>, 30vs 20% 10% OS benefit </a:t>
            </a:r>
          </a:p>
          <a:p>
            <a:r>
              <a:rPr lang="fr-FR" altLang="zh-TW" sz="3400" b="1" dirty="0"/>
              <a:t>Metanalysis Fried JCO 2004 &lt;9 weeks vs 9 weeks after chemo, 5.5% better 2 year OS with early RT.</a:t>
            </a:r>
          </a:p>
          <a:p>
            <a:r>
              <a:rPr lang="fr-FR" altLang="zh-TW" sz="3400" b="1" dirty="0"/>
              <a:t>RT</a:t>
            </a:r>
            <a:r>
              <a:rPr lang="zh-TW" altLang="zh-TW" sz="3400" b="1" dirty="0"/>
              <a:t>開始的時機為第一次到第二次化療之間。治療期間的長短會影響存活率。</a:t>
            </a:r>
            <a:endParaRPr lang="zh-TW" altLang="zh-TW" sz="3400" dirty="0"/>
          </a:p>
          <a:p>
            <a:r>
              <a:rPr lang="en-US" altLang="zh-TW" sz="3400" dirty="0"/>
              <a:t>Q8: </a:t>
            </a:r>
            <a:r>
              <a:rPr lang="zh-TW" altLang="zh-TW" sz="3400" dirty="0"/>
              <a:t></a:t>
            </a:r>
            <a:r>
              <a:rPr lang="fr-FR" altLang="zh-TW" sz="3400" dirty="0"/>
              <a:t>SCLC limited CCRT</a:t>
            </a:r>
            <a:r>
              <a:rPr lang="zh-TW" altLang="zh-TW" sz="3400" dirty="0"/>
              <a:t>做完之後要做什麼</a:t>
            </a:r>
            <a:r>
              <a:rPr lang="fr-FR" altLang="zh-TW" sz="3400" dirty="0"/>
              <a:t>? </a:t>
            </a:r>
            <a:r>
              <a:rPr lang="fr-FR" altLang="zh-TW" sz="3400" b="1" dirty="0"/>
              <a:t> </a:t>
            </a:r>
          </a:p>
          <a:p>
            <a:r>
              <a:rPr lang="fr-FR" altLang="zh-TW" sz="3400" b="1" dirty="0"/>
              <a:t>A: </a:t>
            </a:r>
            <a:r>
              <a:rPr lang="zh-TW" altLang="zh-TW" sz="3400" b="1" dirty="0"/>
              <a:t>如果是</a:t>
            </a:r>
            <a:r>
              <a:rPr lang="fr-FR" altLang="zh-TW" sz="3400" b="1" dirty="0"/>
              <a:t>responder</a:t>
            </a:r>
            <a:r>
              <a:rPr lang="zh-TW" altLang="zh-TW" sz="3400" b="1" dirty="0"/>
              <a:t>可以做</a:t>
            </a:r>
            <a:r>
              <a:rPr lang="fr-FR" altLang="zh-TW" sz="3400" b="1" dirty="0"/>
              <a:t>PCI</a:t>
            </a:r>
            <a:r>
              <a:rPr lang="zh-TW" altLang="zh-TW" sz="3400" b="1" dirty="0"/>
              <a:t>來降低腦部轉移的機率與存活率</a:t>
            </a:r>
            <a:endParaRPr lang="fr-FR" altLang="zh-TW" sz="3400" b="1" dirty="0"/>
          </a:p>
          <a:p>
            <a:endParaRPr lang="en-US" altLang="zh-TW" sz="3400" dirty="0"/>
          </a:p>
          <a:p>
            <a:r>
              <a:rPr lang="en-US" altLang="zh-TW" sz="3400" dirty="0"/>
              <a:t>Q9:</a:t>
            </a:r>
            <a:r>
              <a:rPr lang="fr-FR" altLang="zh-TW" sz="3400" dirty="0"/>
              <a:t>PCI 2.5 x 10 Gy</a:t>
            </a:r>
            <a:r>
              <a:rPr lang="zh-TW" altLang="zh-TW" sz="3400" dirty="0"/>
              <a:t>你覺得</a:t>
            </a:r>
            <a:r>
              <a:rPr lang="fr-FR" altLang="zh-TW" sz="3400" dirty="0"/>
              <a:t>late toxicity? </a:t>
            </a:r>
            <a:r>
              <a:rPr lang="zh-TW" altLang="zh-TW" sz="3400" dirty="0"/>
              <a:t>要加更高嗎 </a:t>
            </a:r>
            <a:endParaRPr lang="en-US" altLang="zh-TW" sz="3400" dirty="0"/>
          </a:p>
          <a:p>
            <a:r>
              <a:rPr lang="fr-FR" altLang="zh-TW" sz="3400" b="1" dirty="0"/>
              <a:t>A: PCI</a:t>
            </a:r>
            <a:r>
              <a:rPr lang="zh-TW" altLang="zh-TW" sz="3400" b="1" dirty="0"/>
              <a:t>會造成病人的神經認知功能下降，根據</a:t>
            </a:r>
            <a:r>
              <a:rPr lang="fr-FR" altLang="zh-TW" sz="3400" b="1" dirty="0"/>
              <a:t>RTOG0212</a:t>
            </a:r>
            <a:r>
              <a:rPr lang="zh-TW" altLang="zh-TW" sz="3400" b="1" dirty="0"/>
              <a:t>的結果，對於超過</a:t>
            </a:r>
            <a:r>
              <a:rPr lang="fr-FR" altLang="zh-TW" sz="3400" b="1" dirty="0"/>
              <a:t>60</a:t>
            </a:r>
            <a:r>
              <a:rPr lang="zh-TW" altLang="zh-TW" sz="3400" b="1" dirty="0"/>
              <a:t>歲的病人</a:t>
            </a:r>
            <a:r>
              <a:rPr lang="fr-FR" altLang="zh-TW" sz="3400" b="1" dirty="0"/>
              <a:t>PCI</a:t>
            </a:r>
            <a:r>
              <a:rPr lang="zh-TW" altLang="zh-TW" sz="3400" b="1" dirty="0"/>
              <a:t>治療後</a:t>
            </a:r>
            <a:r>
              <a:rPr lang="fr-FR" altLang="zh-TW" sz="3400" b="1" dirty="0"/>
              <a:t>1</a:t>
            </a:r>
            <a:r>
              <a:rPr lang="zh-TW" altLang="zh-TW" sz="3400" b="1" dirty="0"/>
              <a:t>年的神經認知功能高達</a:t>
            </a:r>
            <a:r>
              <a:rPr lang="fr-FR" altLang="zh-TW" sz="3400" b="1" dirty="0"/>
              <a:t>8</a:t>
            </a:r>
            <a:r>
              <a:rPr lang="zh-TW" altLang="zh-TW" sz="3400" b="1" dirty="0"/>
              <a:t>成，但小於</a:t>
            </a:r>
            <a:r>
              <a:rPr lang="fr-FR" altLang="zh-TW" sz="3400" b="1" dirty="0"/>
              <a:t>60</a:t>
            </a:r>
            <a:r>
              <a:rPr lang="zh-TW" altLang="zh-TW" sz="3400" b="1" dirty="0"/>
              <a:t>歲有問題的約</a:t>
            </a:r>
            <a:r>
              <a:rPr lang="fr-FR" altLang="zh-TW" sz="3400" b="1" dirty="0"/>
              <a:t>6</a:t>
            </a:r>
            <a:r>
              <a:rPr lang="zh-TW" altLang="zh-TW" sz="3400" b="1" dirty="0"/>
              <a:t>成，</a:t>
            </a:r>
            <a:r>
              <a:rPr lang="fr-FR" altLang="zh-TW" sz="3400" b="1" dirty="0"/>
              <a:t>PCI</a:t>
            </a:r>
            <a:r>
              <a:rPr lang="zh-TW" altLang="zh-TW" sz="3400" b="1" dirty="0"/>
              <a:t>超過</a:t>
            </a:r>
            <a:r>
              <a:rPr lang="fr-FR" altLang="zh-TW" sz="3400" b="1" dirty="0"/>
              <a:t>30Gy</a:t>
            </a:r>
            <a:r>
              <a:rPr lang="zh-TW" altLang="zh-TW" sz="3400" b="1" dirty="0"/>
              <a:t>也會傷害神經認知功能。所以劑量</a:t>
            </a:r>
            <a:r>
              <a:rPr lang="fr-FR" altLang="zh-TW" sz="3400" b="1" dirty="0"/>
              <a:t>2500cGy/10Fx</a:t>
            </a:r>
            <a:r>
              <a:rPr lang="zh-TW" altLang="zh-TW" sz="3400" b="1" dirty="0"/>
              <a:t>就足夠了。</a:t>
            </a:r>
            <a:r>
              <a:rPr lang="en-US" altLang="zh-TW" sz="3400" b="1" dirty="0"/>
              <a:t> 36Gy greater </a:t>
            </a:r>
            <a:r>
              <a:rPr lang="en-US" altLang="zh-TW" sz="3400" b="1" dirty="0" err="1"/>
              <a:t>motrality</a:t>
            </a:r>
            <a:r>
              <a:rPr lang="en-US" altLang="zh-TW" sz="3400" b="1" dirty="0"/>
              <a:t>, </a:t>
            </a:r>
          </a:p>
          <a:p>
            <a:r>
              <a:rPr lang="en-US" altLang="zh-TW" sz="3400" b="1" dirty="0"/>
              <a:t>Extensive stage: </a:t>
            </a:r>
            <a:r>
              <a:rPr lang="en-US" altLang="zh-TW" sz="3400" b="1" dirty="0" err="1"/>
              <a:t>Slotman</a:t>
            </a:r>
            <a:r>
              <a:rPr lang="en-US" altLang="zh-TW" sz="3400" b="1" dirty="0"/>
              <a:t> 2007 </a:t>
            </a:r>
            <a:r>
              <a:rPr lang="en-US" altLang="zh-TW" sz="3400" b="1" dirty="0" err="1"/>
              <a:t>Eortc</a:t>
            </a:r>
            <a:r>
              <a:rPr lang="en-US" altLang="zh-TW" sz="3400" b="1" dirty="0"/>
              <a:t> 08993 PCI increased OS but Japan negative staging brain MRI, PCI no improvement of OS for PCI</a:t>
            </a:r>
            <a:endParaRPr lang="zh-TW" altLang="zh-TW" sz="3400" dirty="0"/>
          </a:p>
          <a:p>
            <a:endParaRPr lang="en-US" altLang="zh-TW" sz="3400" dirty="0"/>
          </a:p>
          <a:p>
            <a:r>
              <a:rPr lang="en-US" altLang="zh-TW" sz="3400" dirty="0"/>
              <a:t>Q10: </a:t>
            </a:r>
            <a:r>
              <a:rPr lang="fr-FR" altLang="zh-TW" sz="3400" dirty="0"/>
              <a:t>NSCLC</a:t>
            </a:r>
            <a:r>
              <a:rPr lang="zh-TW" altLang="zh-TW" sz="3400" dirty="0"/>
              <a:t>有</a:t>
            </a:r>
            <a:r>
              <a:rPr lang="fr-FR" altLang="zh-TW" sz="3400" dirty="0"/>
              <a:t>2-3 </a:t>
            </a:r>
            <a:r>
              <a:rPr lang="zh-TW" altLang="zh-TW" sz="3400" dirty="0"/>
              <a:t>顆</a:t>
            </a:r>
            <a:r>
              <a:rPr lang="fr-FR" altLang="zh-TW" sz="3400" dirty="0"/>
              <a:t>brian mets,</a:t>
            </a:r>
            <a:r>
              <a:rPr lang="zh-TW" altLang="zh-TW" sz="3400" dirty="0"/>
              <a:t>如何處理</a:t>
            </a:r>
            <a:r>
              <a:rPr lang="fr-FR" altLang="zh-TW" sz="3400" dirty="0"/>
              <a:t>? </a:t>
            </a:r>
          </a:p>
          <a:p>
            <a:r>
              <a:rPr lang="fr-FR" altLang="zh-TW" sz="3400" b="1" dirty="0"/>
              <a:t>A: </a:t>
            </a:r>
            <a:r>
              <a:rPr lang="zh-TW" altLang="zh-TW" sz="3400" b="1" dirty="0"/>
              <a:t>如果身體狀況許可就</a:t>
            </a:r>
            <a:r>
              <a:rPr lang="fr-FR" altLang="zh-TW" sz="3400" b="1" dirty="0"/>
              <a:t>SBRT or Surgery</a:t>
            </a:r>
            <a:endParaRPr lang="en-US" altLang="zh-TW" sz="3400" dirty="0"/>
          </a:p>
          <a:p>
            <a:r>
              <a:rPr lang="fr-FR" altLang="zh-TW" sz="3400" dirty="0"/>
              <a:t>A: or </a:t>
            </a:r>
            <a:r>
              <a:rPr lang="zh-TW" altLang="zh-TW" dirty="0" smtClean="0"/>
              <a:t>區分</a:t>
            </a:r>
            <a:r>
              <a:rPr lang="zh-TW" altLang="zh-TW" dirty="0"/>
              <a:t>是</a:t>
            </a:r>
            <a:r>
              <a:rPr lang="en-US" altLang="zh-TW" dirty="0"/>
              <a:t>non-SCC (adeno/large cell)</a:t>
            </a:r>
            <a:r>
              <a:rPr lang="zh-TW" altLang="zh-TW" dirty="0"/>
              <a:t>或</a:t>
            </a:r>
            <a:r>
              <a:rPr lang="en-US" altLang="zh-TW" dirty="0"/>
              <a:t>SCC</a:t>
            </a:r>
            <a:r>
              <a:rPr lang="zh-TW" altLang="zh-TW" dirty="0" smtClean="0"/>
              <a:t>，</a:t>
            </a:r>
            <a:endParaRPr lang="en-US" altLang="zh-TW" dirty="0" smtClean="0"/>
          </a:p>
          <a:p>
            <a:pPr lvl="1"/>
            <a:r>
              <a:rPr lang="zh-TW" altLang="zh-TW" dirty="0" smtClean="0"/>
              <a:t>若是</a:t>
            </a:r>
            <a:r>
              <a:rPr lang="en-US" altLang="zh-TW" dirty="0" smtClean="0"/>
              <a:t> </a:t>
            </a:r>
            <a:r>
              <a:rPr lang="en-US" altLang="zh-TW" dirty="0"/>
              <a:t>adeno/large cell</a:t>
            </a:r>
            <a:r>
              <a:rPr lang="zh-TW" altLang="zh-TW" dirty="0"/>
              <a:t>，要驗</a:t>
            </a:r>
            <a:r>
              <a:rPr lang="en-US" altLang="zh-TW" dirty="0"/>
              <a:t> EGFR mutation </a:t>
            </a:r>
            <a:r>
              <a:rPr lang="zh-TW" altLang="zh-TW" dirty="0"/>
              <a:t>及 </a:t>
            </a:r>
            <a:r>
              <a:rPr lang="en-US" altLang="zh-TW" dirty="0"/>
              <a:t>ALK testing</a:t>
            </a:r>
            <a:endParaRPr lang="zh-TW" altLang="zh-TW" dirty="0"/>
          </a:p>
          <a:p>
            <a:pPr lvl="1"/>
            <a:r>
              <a:rPr lang="en-US" altLang="zh-TW" dirty="0"/>
              <a:t>EGFR </a:t>
            </a:r>
            <a:r>
              <a:rPr lang="zh-TW" altLang="zh-TW" dirty="0"/>
              <a:t>有</a:t>
            </a:r>
            <a:r>
              <a:rPr lang="en-US" altLang="zh-TW" dirty="0"/>
              <a:t>mutation </a:t>
            </a:r>
            <a:r>
              <a:rPr lang="en-US" altLang="zh-TW" dirty="0">
                <a:sym typeface="Wingdings" panose="05000000000000000000" pitchFamily="2" charset="2"/>
              </a:rPr>
              <a:t></a:t>
            </a:r>
            <a:r>
              <a:rPr lang="en-US" altLang="zh-TW" dirty="0"/>
              <a:t> </a:t>
            </a:r>
            <a:r>
              <a:rPr lang="en-US" altLang="zh-TW" dirty="0" smtClean="0"/>
              <a:t>brain progression</a:t>
            </a:r>
            <a:r>
              <a:rPr lang="en-US" altLang="zh-TW" dirty="0" smtClean="0">
                <a:sym typeface="Wingdings" panose="05000000000000000000" pitchFamily="2" charset="2"/>
              </a:rPr>
              <a:t> </a:t>
            </a:r>
            <a:r>
              <a:rPr lang="en-US" altLang="zh-TW" dirty="0" err="1" smtClean="0">
                <a:sym typeface="Wingdings" panose="05000000000000000000" pitchFamily="2" charset="2"/>
              </a:rPr>
              <a:t>Osimertinib</a:t>
            </a:r>
            <a:r>
              <a:rPr lang="en-US" altLang="zh-TW" dirty="0" smtClean="0">
                <a:sym typeface="Wingdings" panose="05000000000000000000" pitchFamily="2" charset="2"/>
              </a:rPr>
              <a:t> (categorgy1)</a:t>
            </a:r>
          </a:p>
          <a:p>
            <a:pPr lvl="1"/>
            <a:endParaRPr lang="fr-FR" altLang="zh-TW" sz="3400" dirty="0"/>
          </a:p>
          <a:p>
            <a:r>
              <a:rPr lang="fr-FR" altLang="zh-TW" sz="3400" dirty="0"/>
              <a:t>Q11: 	PCI</a:t>
            </a:r>
            <a:r>
              <a:rPr lang="zh-TW" altLang="zh-TW" sz="3400" dirty="0"/>
              <a:t>在</a:t>
            </a:r>
            <a:r>
              <a:rPr lang="fr-FR" altLang="zh-TW" sz="3400" dirty="0"/>
              <a:t>non-small cell lung cancer</a:t>
            </a:r>
            <a:r>
              <a:rPr lang="zh-TW" altLang="zh-TW" sz="3400" dirty="0"/>
              <a:t>的角色為何</a:t>
            </a:r>
            <a:r>
              <a:rPr lang="fr-FR" altLang="zh-TW" sz="3400" dirty="0"/>
              <a:t>? </a:t>
            </a:r>
          </a:p>
          <a:p>
            <a:r>
              <a:rPr lang="fr-FR" altLang="zh-TW" sz="3400" dirty="0"/>
              <a:t>A: n</a:t>
            </a:r>
            <a:r>
              <a:rPr lang="fr-FR" altLang="zh-TW" sz="3400" b="1" dirty="0"/>
              <a:t>o survival benefit, RTOG 0214</a:t>
            </a:r>
            <a:endParaRPr lang="zh-TW" altLang="zh-TW" sz="3400" dirty="0"/>
          </a:p>
          <a:p>
            <a:endParaRPr lang="en-US" altLang="zh-TW" dirty="0" smtClean="0"/>
          </a:p>
        </p:txBody>
      </p:sp>
      <p:pic>
        <p:nvPicPr>
          <p:cNvPr id="4" name="圖片 3"/>
          <p:cNvPicPr>
            <a:picLocks noChangeAspect="1"/>
          </p:cNvPicPr>
          <p:nvPr/>
        </p:nvPicPr>
        <p:blipFill>
          <a:blip r:embed="rId2"/>
          <a:stretch>
            <a:fillRect/>
          </a:stretch>
        </p:blipFill>
        <p:spPr>
          <a:xfrm>
            <a:off x="6456040" y="4581128"/>
            <a:ext cx="3515494" cy="991336"/>
          </a:xfrm>
          <a:prstGeom prst="rect">
            <a:avLst/>
          </a:prstGeom>
        </p:spPr>
      </p:pic>
      <p:pic>
        <p:nvPicPr>
          <p:cNvPr id="5" name="圖片 4"/>
          <p:cNvPicPr>
            <a:picLocks noChangeAspect="1"/>
          </p:cNvPicPr>
          <p:nvPr/>
        </p:nvPicPr>
        <p:blipFill>
          <a:blip r:embed="rId3"/>
          <a:stretch>
            <a:fillRect/>
          </a:stretch>
        </p:blipFill>
        <p:spPr>
          <a:xfrm>
            <a:off x="2495600" y="6043782"/>
            <a:ext cx="5486400" cy="171450"/>
          </a:xfrm>
          <a:prstGeom prst="rect">
            <a:avLst/>
          </a:prstGeom>
        </p:spPr>
      </p:pic>
    </p:spTree>
    <p:extLst>
      <p:ext uri="{BB962C8B-B14F-4D97-AF65-F5344CB8AC3E}">
        <p14:creationId xmlns:p14="http://schemas.microsoft.com/office/powerpoint/2010/main" val="42204839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 2011 Continue</a:t>
            </a:r>
            <a:endParaRPr lang="zh-TW" altLang="en-US" dirty="0"/>
          </a:p>
        </p:txBody>
      </p:sp>
      <p:sp>
        <p:nvSpPr>
          <p:cNvPr id="3" name="內容版面配置區 2"/>
          <p:cNvSpPr>
            <a:spLocks noGrp="1"/>
          </p:cNvSpPr>
          <p:nvPr>
            <p:ph idx="1"/>
          </p:nvPr>
        </p:nvSpPr>
        <p:spPr>
          <a:xfrm>
            <a:off x="1981200" y="1600200"/>
            <a:ext cx="8229600" cy="4997152"/>
          </a:xfrm>
        </p:spPr>
        <p:txBody>
          <a:bodyPr>
            <a:normAutofit fontScale="55000" lnSpcReduction="20000"/>
          </a:bodyPr>
          <a:lstStyle/>
          <a:p>
            <a:r>
              <a:rPr lang="en-US" altLang="zh-TW" dirty="0"/>
              <a:t>Q12: </a:t>
            </a:r>
            <a:r>
              <a:rPr lang="zh-TW" altLang="zh-TW" dirty="0"/>
              <a:t>現在醫療技術進步，如果病人腦部有轉移，那病人要去選擇手術或者放射治療</a:t>
            </a:r>
            <a:r>
              <a:rPr lang="fr-FR" altLang="zh-TW" dirty="0"/>
              <a:t>?</a:t>
            </a:r>
            <a:r>
              <a:rPr lang="zh-TW" altLang="zh-TW" dirty="0"/>
              <a:t>這是</a:t>
            </a:r>
            <a:r>
              <a:rPr lang="fr-FR" altLang="zh-TW" dirty="0"/>
              <a:t>curative</a:t>
            </a:r>
            <a:r>
              <a:rPr lang="zh-TW" altLang="zh-TW" dirty="0"/>
              <a:t>還是</a:t>
            </a:r>
            <a:r>
              <a:rPr lang="fr-FR" altLang="zh-TW" dirty="0"/>
              <a:t>palliative intent?</a:t>
            </a:r>
          </a:p>
          <a:p>
            <a:r>
              <a:rPr lang="en-US" altLang="zh-TW" dirty="0"/>
              <a:t>A: OP if single lesion amenable to resection, controlled or absent </a:t>
            </a:r>
            <a:r>
              <a:rPr lang="en-US" altLang="zh-TW" dirty="0" err="1"/>
              <a:t>extracranial</a:t>
            </a:r>
            <a:r>
              <a:rPr lang="en-US" altLang="zh-TW" dirty="0"/>
              <a:t> disease, KPS&gt; 70, age &lt;60, life expectancy &gt;2 </a:t>
            </a:r>
            <a:r>
              <a:rPr lang="en-US" altLang="zh-TW" dirty="0" err="1"/>
              <a:t>mo</a:t>
            </a:r>
            <a:r>
              <a:rPr lang="en-US" altLang="zh-TW" dirty="0"/>
              <a:t>, secondary to mass effect emergent relief, need tissue </a:t>
            </a:r>
            <a:r>
              <a:rPr lang="en-US" altLang="zh-TW" dirty="0" err="1"/>
              <a:t>Dx</a:t>
            </a:r>
            <a:r>
              <a:rPr lang="en-US" altLang="zh-TW" dirty="0"/>
              <a:t>.</a:t>
            </a:r>
            <a:br>
              <a:rPr lang="en-US" altLang="zh-TW" dirty="0"/>
            </a:br>
            <a:r>
              <a:rPr lang="en-US" altLang="zh-TW" dirty="0"/>
              <a:t>A: SRS: patients ≤50 years of age, SRS alone favored survival, in addition, the initial omission of WBRT did not impact distant brain relapse rates. SRS alone may be the preferred treatment for this age group. (</a:t>
            </a:r>
            <a:r>
              <a:rPr lang="en-US" altLang="zh-TW" dirty="0" err="1"/>
              <a:t>Saghal</a:t>
            </a:r>
            <a:r>
              <a:rPr lang="en-US" altLang="zh-TW" dirty="0"/>
              <a:t> </a:t>
            </a:r>
            <a:r>
              <a:rPr lang="en-US" altLang="zh-TW" dirty="0" err="1"/>
              <a:t>metaanalysis</a:t>
            </a:r>
            <a:r>
              <a:rPr lang="en-US" altLang="zh-TW" dirty="0"/>
              <a:t> Red journal 2015)</a:t>
            </a:r>
          </a:p>
          <a:p>
            <a:endParaRPr lang="fr-FR" altLang="zh-TW" dirty="0" smtClean="0"/>
          </a:p>
          <a:p>
            <a:r>
              <a:rPr lang="fr-FR" altLang="zh-TW" dirty="0" smtClean="0"/>
              <a:t>Q </a:t>
            </a:r>
            <a:r>
              <a:rPr lang="fr-FR" altLang="zh-TW" dirty="0"/>
              <a:t>13.	</a:t>
            </a:r>
            <a:r>
              <a:rPr lang="zh-TW" altLang="zh-TW" dirty="0"/>
              <a:t>治療前有哪些驗證工具</a:t>
            </a:r>
            <a:r>
              <a:rPr lang="fr-FR" altLang="zh-TW" dirty="0"/>
              <a:t>? </a:t>
            </a:r>
            <a:endParaRPr lang="fr-FR" altLang="zh-TW" dirty="0" smtClean="0"/>
          </a:p>
          <a:p>
            <a:r>
              <a:rPr lang="fr-FR" altLang="zh-TW" b="1" dirty="0" smtClean="0"/>
              <a:t>A: 4DCT</a:t>
            </a:r>
            <a:r>
              <a:rPr lang="fr-FR" altLang="zh-TW" b="1" dirty="0"/>
              <a:t>, PET/Simulation, IMRT/VMAT, IGRT, motion management </a:t>
            </a:r>
            <a:r>
              <a:rPr lang="fr-FR" altLang="zh-TW" b="1" dirty="0" smtClean="0"/>
              <a:t>, EPID ,Cone Beam</a:t>
            </a:r>
          </a:p>
          <a:p>
            <a:endParaRPr lang="fr-FR" altLang="zh-TW" b="1" dirty="0"/>
          </a:p>
          <a:p>
            <a:r>
              <a:rPr lang="en-US" altLang="zh-TW" dirty="0" smtClean="0"/>
              <a:t>Q14:</a:t>
            </a:r>
            <a:r>
              <a:rPr lang="zh-TW" altLang="en-US" dirty="0" smtClean="0"/>
              <a:t> </a:t>
            </a:r>
            <a:r>
              <a:rPr lang="zh-TW" altLang="zh-TW" dirty="0" smtClean="0"/>
              <a:t>肺癌</a:t>
            </a:r>
            <a:r>
              <a:rPr lang="zh-TW" altLang="zh-TW" dirty="0"/>
              <a:t>的哪些病人適合用</a:t>
            </a:r>
            <a:r>
              <a:rPr lang="fr-FR" altLang="zh-TW" dirty="0"/>
              <a:t>VMAT ? </a:t>
            </a:r>
            <a:r>
              <a:rPr lang="zh-TW" altLang="zh-TW" dirty="0"/>
              <a:t>那些病人適合使用</a:t>
            </a:r>
            <a:r>
              <a:rPr lang="fr-FR" altLang="zh-TW" dirty="0"/>
              <a:t>SBRT </a:t>
            </a:r>
            <a:r>
              <a:rPr lang="fr-FR" altLang="zh-TW" dirty="0" smtClean="0"/>
              <a:t>?</a:t>
            </a:r>
          </a:p>
          <a:p>
            <a:r>
              <a:rPr lang="en-US" altLang="zh-TW" dirty="0" smtClean="0"/>
              <a:t>A: &lt;5cm, peripheral, N0 </a:t>
            </a:r>
            <a:r>
              <a:rPr lang="en-US" altLang="zh-TW" dirty="0" err="1" smtClean="0"/>
              <a:t>unresectable</a:t>
            </a:r>
            <a:r>
              <a:rPr lang="en-US" altLang="zh-TW" dirty="0" smtClean="0"/>
              <a:t>, unsuitable for surgery &gt;75 poor PFT</a:t>
            </a:r>
          </a:p>
          <a:p>
            <a:r>
              <a:rPr lang="en-US" altLang="zh-TW" dirty="0" smtClean="0"/>
              <a:t> </a:t>
            </a:r>
            <a:endParaRPr lang="zh-TW" altLang="zh-TW" dirty="0"/>
          </a:p>
          <a:p>
            <a:r>
              <a:rPr lang="fr-FR" altLang="zh-TW" dirty="0" smtClean="0"/>
              <a:t>Q1</a:t>
            </a:r>
            <a:r>
              <a:rPr lang="en-US" altLang="zh-TW" dirty="0" smtClean="0"/>
              <a:t>5; </a:t>
            </a:r>
            <a:r>
              <a:rPr lang="fr-FR" altLang="zh-TW" dirty="0" smtClean="0"/>
              <a:t> </a:t>
            </a:r>
            <a:r>
              <a:rPr lang="zh-TW" altLang="zh-TW" dirty="0"/>
              <a:t>那一些化療藥物不適合與</a:t>
            </a:r>
            <a:r>
              <a:rPr lang="fr-FR" altLang="zh-TW" dirty="0"/>
              <a:t>RT</a:t>
            </a:r>
            <a:r>
              <a:rPr lang="zh-TW" altLang="zh-TW" dirty="0"/>
              <a:t>併用在肺癌治療</a:t>
            </a:r>
            <a:r>
              <a:rPr lang="fr-FR" altLang="zh-TW" dirty="0"/>
              <a:t>(</a:t>
            </a:r>
            <a:r>
              <a:rPr lang="zh-TW" altLang="zh-TW" dirty="0"/>
              <a:t>除了</a:t>
            </a:r>
            <a:r>
              <a:rPr lang="fr-FR" altLang="zh-TW" dirty="0"/>
              <a:t>Gemzar</a:t>
            </a:r>
            <a:r>
              <a:rPr lang="zh-TW" altLang="zh-TW" dirty="0"/>
              <a:t>以外</a:t>
            </a:r>
            <a:r>
              <a:rPr lang="fr-FR" altLang="zh-TW" dirty="0"/>
              <a:t>)? </a:t>
            </a:r>
            <a:endParaRPr lang="fr-FR" altLang="zh-TW" dirty="0" smtClean="0"/>
          </a:p>
          <a:p>
            <a:r>
              <a:rPr lang="fr-FR" altLang="zh-TW" dirty="0" smtClean="0"/>
              <a:t>A: Target Therapy???</a:t>
            </a:r>
            <a:endParaRPr lang="zh-TW" altLang="zh-TW" dirty="0"/>
          </a:p>
          <a:p>
            <a:endParaRPr lang="zh-TW" altLang="en-US" dirty="0"/>
          </a:p>
          <a:p>
            <a:endParaRPr lang="zh-TW" altLang="en-US" dirty="0"/>
          </a:p>
          <a:p>
            <a:endParaRPr lang="zh-TW" altLang="en-US" dirty="0"/>
          </a:p>
        </p:txBody>
      </p:sp>
    </p:spTree>
    <p:extLst>
      <p:ext uri="{BB962C8B-B14F-4D97-AF65-F5344CB8AC3E}">
        <p14:creationId xmlns:p14="http://schemas.microsoft.com/office/powerpoint/2010/main" val="784878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2011</a:t>
            </a:r>
            <a:endParaRPr lang="zh-TW" altLang="en-US" dirty="0"/>
          </a:p>
        </p:txBody>
      </p:sp>
      <p:sp>
        <p:nvSpPr>
          <p:cNvPr id="3" name="內容版面配置區 2"/>
          <p:cNvSpPr>
            <a:spLocks noGrp="1"/>
          </p:cNvSpPr>
          <p:nvPr>
            <p:ph idx="1"/>
          </p:nvPr>
        </p:nvSpPr>
        <p:spPr>
          <a:xfrm>
            <a:off x="1981200" y="1600200"/>
            <a:ext cx="8229600" cy="5257800"/>
          </a:xfrm>
        </p:spPr>
        <p:txBody>
          <a:bodyPr>
            <a:normAutofit fontScale="47500" lnSpcReduction="20000"/>
          </a:bodyPr>
          <a:lstStyle/>
          <a:p>
            <a:pPr lvl="0"/>
            <a:r>
              <a:rPr lang="en-US" altLang="zh-TW" dirty="0" smtClean="0"/>
              <a:t>Q16: </a:t>
            </a:r>
            <a:r>
              <a:rPr lang="en-US" altLang="zh-TW" dirty="0" err="1" smtClean="0"/>
              <a:t>Thymoma</a:t>
            </a:r>
            <a:r>
              <a:rPr lang="zh-TW" altLang="zh-TW" dirty="0"/>
              <a:t>有哪些</a:t>
            </a:r>
            <a:r>
              <a:rPr lang="en-US" altLang="zh-TW" dirty="0"/>
              <a:t>RT</a:t>
            </a:r>
            <a:r>
              <a:rPr lang="zh-TW" altLang="zh-TW" dirty="0"/>
              <a:t>治療的</a:t>
            </a:r>
            <a:r>
              <a:rPr lang="en-US" altLang="zh-TW" dirty="0"/>
              <a:t>indication</a:t>
            </a:r>
            <a:r>
              <a:rPr lang="en-US" altLang="zh-TW" dirty="0" smtClean="0"/>
              <a:t>?</a:t>
            </a:r>
          </a:p>
          <a:p>
            <a:pPr lvl="0"/>
            <a:r>
              <a:rPr lang="en-US" altLang="zh-TW" dirty="0" smtClean="0"/>
              <a:t>A: Stage </a:t>
            </a:r>
            <a:r>
              <a:rPr lang="en-US" altLang="zh-TW" dirty="0"/>
              <a:t>II</a:t>
            </a:r>
            <a:r>
              <a:rPr lang="zh-TW" altLang="en-US" dirty="0"/>
              <a:t>證據不是很夠</a:t>
            </a:r>
            <a:r>
              <a:rPr lang="en-US" altLang="zh-TW" dirty="0"/>
              <a:t>, stage III</a:t>
            </a:r>
            <a:r>
              <a:rPr lang="zh-TW" altLang="en-US" dirty="0"/>
              <a:t>以上就很適合，也講了</a:t>
            </a:r>
            <a:r>
              <a:rPr lang="en-US" altLang="zh-TW" dirty="0"/>
              <a:t>NCCN stage II</a:t>
            </a:r>
            <a:r>
              <a:rPr lang="zh-TW" altLang="en-US" dirty="0"/>
              <a:t>以上建議都做，還有</a:t>
            </a:r>
            <a:r>
              <a:rPr lang="en-US" altLang="zh-TW" dirty="0"/>
              <a:t>margin(+)</a:t>
            </a:r>
            <a:r>
              <a:rPr lang="zh-TW" altLang="en-US" dirty="0"/>
              <a:t>也建議</a:t>
            </a:r>
            <a:r>
              <a:rPr lang="zh-TW" altLang="en-US" dirty="0" smtClean="0"/>
              <a:t>做 </a:t>
            </a:r>
            <a:r>
              <a:rPr lang="en-US" altLang="zh-TW" dirty="0" smtClean="0"/>
              <a:t>R2: CT+ RT</a:t>
            </a:r>
            <a:endParaRPr lang="zh-TW" altLang="en-US" dirty="0"/>
          </a:p>
          <a:p>
            <a:pPr lvl="0"/>
            <a:r>
              <a:rPr lang="en-US" altLang="zh-TW" dirty="0" smtClean="0"/>
              <a:t>A: </a:t>
            </a:r>
            <a:r>
              <a:rPr lang="en-US" altLang="zh-TW" dirty="0" err="1" smtClean="0"/>
              <a:t>Adj</a:t>
            </a:r>
            <a:r>
              <a:rPr lang="en-US" altLang="zh-TW" dirty="0" smtClean="0"/>
              <a:t> RT: AJCC stage II-III (</a:t>
            </a:r>
            <a:r>
              <a:rPr lang="en-US" altLang="zh-TW" dirty="0" err="1" smtClean="0"/>
              <a:t>Mastsoka</a:t>
            </a:r>
            <a:r>
              <a:rPr lang="en-US" altLang="zh-TW" dirty="0" smtClean="0"/>
              <a:t> III), R1 resection, or any </a:t>
            </a:r>
            <a:r>
              <a:rPr lang="en-US" altLang="zh-TW" dirty="0" err="1" smtClean="0"/>
              <a:t>thymic</a:t>
            </a:r>
            <a:r>
              <a:rPr lang="en-US" altLang="zh-TW" dirty="0" smtClean="0"/>
              <a:t> carcinoma</a:t>
            </a:r>
          </a:p>
          <a:p>
            <a:pPr lvl="1"/>
            <a:r>
              <a:rPr lang="en-US" altLang="zh-TW" dirty="0" smtClean="0"/>
              <a:t>1) Meta-analysis </a:t>
            </a:r>
            <a:r>
              <a:rPr lang="en-US" altLang="zh-TW" dirty="0" err="1" smtClean="0"/>
              <a:t>Korst</a:t>
            </a:r>
            <a:r>
              <a:rPr lang="en-US" altLang="zh-TW" dirty="0" smtClean="0"/>
              <a:t> 2009: no benefit of LR in PORT for stage </a:t>
            </a:r>
            <a:r>
              <a:rPr lang="en-US" altLang="zh-TW" dirty="0" err="1" smtClean="0"/>
              <a:t>aII</a:t>
            </a:r>
            <a:r>
              <a:rPr lang="en-US" altLang="zh-TW" dirty="0" smtClean="0"/>
              <a:t>-III</a:t>
            </a:r>
          </a:p>
          <a:p>
            <a:pPr lvl="1"/>
            <a:r>
              <a:rPr lang="en-US" altLang="zh-TW" dirty="0" smtClean="0"/>
              <a:t>2) JART Omasa 2015: for </a:t>
            </a:r>
            <a:r>
              <a:rPr lang="en-US" altLang="zh-TW" dirty="0" err="1" smtClean="0"/>
              <a:t>Mastsoka</a:t>
            </a:r>
            <a:r>
              <a:rPr lang="en-US" altLang="zh-TW" dirty="0" smtClean="0"/>
              <a:t> II-III no RFS or OS, for Stage II-III better RFS no OS</a:t>
            </a:r>
          </a:p>
          <a:p>
            <a:pPr lvl="1"/>
            <a:r>
              <a:rPr lang="en-US" altLang="zh-TW" dirty="0" smtClean="0"/>
              <a:t>3) NCDB Jackson 2017: PORT improved OS in </a:t>
            </a:r>
            <a:r>
              <a:rPr lang="en-US" altLang="zh-TW" dirty="0" err="1" smtClean="0"/>
              <a:t>Masaoka</a:t>
            </a:r>
            <a:r>
              <a:rPr lang="en-US" altLang="zh-TW" dirty="0" smtClean="0"/>
              <a:t> stage IIB or positive margin R1 or R2</a:t>
            </a:r>
          </a:p>
          <a:p>
            <a:pPr lvl="1"/>
            <a:r>
              <a:rPr lang="en-US" altLang="zh-TW" dirty="0" err="1" smtClean="0"/>
              <a:t>Adj</a:t>
            </a:r>
            <a:r>
              <a:rPr lang="en-US" altLang="zh-TW" dirty="0" smtClean="0"/>
              <a:t> chemo in R2 for </a:t>
            </a:r>
            <a:r>
              <a:rPr lang="en-US" altLang="zh-TW" dirty="0" err="1" smtClean="0"/>
              <a:t>thymoma</a:t>
            </a:r>
            <a:r>
              <a:rPr lang="en-US" altLang="zh-TW" dirty="0" smtClean="0"/>
              <a:t>, in R1 and R2 for </a:t>
            </a:r>
            <a:r>
              <a:rPr lang="en-US" altLang="zh-TW" dirty="0" err="1" smtClean="0"/>
              <a:t>thymic</a:t>
            </a:r>
            <a:r>
              <a:rPr lang="en-US" altLang="zh-TW" dirty="0" smtClean="0"/>
              <a:t> carcinoma</a:t>
            </a:r>
          </a:p>
          <a:p>
            <a:pPr lvl="1"/>
            <a:r>
              <a:rPr lang="en-US" altLang="zh-TW" dirty="0" smtClean="0"/>
              <a:t>R0: 45-54Gy, R1 55-60Gy R2: 60-70Gy</a:t>
            </a:r>
          </a:p>
          <a:p>
            <a:pPr lvl="1"/>
            <a:r>
              <a:rPr lang="en-US" altLang="zh-TW" dirty="0" smtClean="0"/>
              <a:t>Chemo: CAP+ steroid, VIP, </a:t>
            </a:r>
          </a:p>
          <a:p>
            <a:pPr lvl="1"/>
            <a:endParaRPr lang="zh-TW" altLang="zh-TW" dirty="0"/>
          </a:p>
          <a:p>
            <a:pPr lvl="0"/>
            <a:r>
              <a:rPr lang="en-US" altLang="zh-TW" dirty="0" smtClean="0"/>
              <a:t>Q17: </a:t>
            </a:r>
            <a:r>
              <a:rPr lang="en-US" altLang="zh-TW" dirty="0" err="1" smtClean="0"/>
              <a:t>Methothelioma</a:t>
            </a:r>
            <a:r>
              <a:rPr lang="zh-TW" altLang="zh-TW" dirty="0"/>
              <a:t>要如何去治療</a:t>
            </a:r>
            <a:r>
              <a:rPr lang="en-US" altLang="zh-TW" dirty="0"/>
              <a:t>?</a:t>
            </a:r>
            <a:r>
              <a:rPr lang="zh-TW" altLang="zh-TW" dirty="0"/>
              <a:t>病人是</a:t>
            </a:r>
            <a:r>
              <a:rPr lang="en-US" altLang="zh-TW" dirty="0"/>
              <a:t>curative</a:t>
            </a:r>
            <a:r>
              <a:rPr lang="zh-TW" altLang="zh-TW" dirty="0"/>
              <a:t>還是</a:t>
            </a:r>
            <a:r>
              <a:rPr lang="en-US" altLang="zh-TW" dirty="0"/>
              <a:t>palliative intent</a:t>
            </a:r>
            <a:r>
              <a:rPr lang="en-US" altLang="zh-TW" dirty="0" smtClean="0"/>
              <a:t>?</a:t>
            </a:r>
          </a:p>
          <a:p>
            <a:pPr lvl="0"/>
            <a:r>
              <a:rPr lang="en-US" altLang="zh-TW" dirty="0" smtClean="0"/>
              <a:t>A:  Stage I-III </a:t>
            </a:r>
            <a:r>
              <a:rPr lang="en-US" altLang="zh-TW" dirty="0" err="1" smtClean="0"/>
              <a:t>resectable</a:t>
            </a:r>
            <a:r>
              <a:rPr lang="en-US" altLang="zh-TW" dirty="0" smtClean="0"/>
              <a:t>: 1. EPP or P/D </a:t>
            </a:r>
            <a:r>
              <a:rPr lang="en-US" altLang="zh-TW" dirty="0" smtClean="0">
                <a:sym typeface="Wingdings" panose="05000000000000000000" pitchFamily="2" charset="2"/>
              </a:rPr>
              <a:t> chemo  </a:t>
            </a:r>
            <a:r>
              <a:rPr lang="en-US" altLang="zh-TW" dirty="0" err="1" smtClean="0">
                <a:sym typeface="Wingdings" panose="05000000000000000000" pitchFamily="2" charset="2"/>
              </a:rPr>
              <a:t>hemithroax</a:t>
            </a:r>
            <a:r>
              <a:rPr lang="en-US" altLang="zh-TW" dirty="0" smtClean="0">
                <a:sym typeface="Wingdings" panose="05000000000000000000" pitchFamily="2" charset="2"/>
              </a:rPr>
              <a:t> radiation</a:t>
            </a:r>
          </a:p>
          <a:p>
            <a:pPr lvl="0"/>
            <a:r>
              <a:rPr lang="en-US" altLang="zh-TW" dirty="0" smtClean="0">
                <a:sym typeface="Wingdings" panose="05000000000000000000" pitchFamily="2" charset="2"/>
              </a:rPr>
              <a:t>2: </a:t>
            </a:r>
            <a:r>
              <a:rPr lang="en-US" altLang="zh-TW" dirty="0" err="1" smtClean="0">
                <a:sym typeface="Wingdings" panose="05000000000000000000" pitchFamily="2" charset="2"/>
              </a:rPr>
              <a:t>Neoadj</a:t>
            </a:r>
            <a:r>
              <a:rPr lang="en-US" altLang="zh-TW" dirty="0" smtClean="0">
                <a:sym typeface="Wingdings" panose="05000000000000000000" pitchFamily="2" charset="2"/>
              </a:rPr>
              <a:t> chemo  EPP or P/D  hemi RT 45-54Gy</a:t>
            </a:r>
          </a:p>
          <a:p>
            <a:pPr lvl="0"/>
            <a:r>
              <a:rPr lang="en-US" altLang="zh-TW" dirty="0" smtClean="0">
                <a:sym typeface="Wingdings" panose="05000000000000000000" pitchFamily="2" charset="2"/>
              </a:rPr>
              <a:t>A: Palliative  or curative I don’t know. </a:t>
            </a:r>
            <a:r>
              <a:rPr lang="zh-TW" altLang="en-US" dirty="0" smtClean="0">
                <a:sym typeface="Wingdings" panose="05000000000000000000" pitchFamily="2" charset="2"/>
              </a:rPr>
              <a:t>基本上活不過</a:t>
            </a:r>
            <a:r>
              <a:rPr lang="en-US" altLang="zh-TW" dirty="0" smtClean="0">
                <a:sym typeface="Wingdings" panose="05000000000000000000" pitchFamily="2" charset="2"/>
              </a:rPr>
              <a:t>2</a:t>
            </a:r>
            <a:r>
              <a:rPr lang="zh-TW" altLang="en-US" dirty="0" smtClean="0">
                <a:sym typeface="Wingdings" panose="05000000000000000000" pitchFamily="2" charset="2"/>
              </a:rPr>
              <a:t>年</a:t>
            </a:r>
            <a:r>
              <a:rPr lang="en-US" altLang="zh-TW" dirty="0" smtClean="0">
                <a:sym typeface="Wingdings" panose="05000000000000000000" pitchFamily="2" charset="2"/>
              </a:rPr>
              <a:t>,</a:t>
            </a:r>
            <a:r>
              <a:rPr lang="zh-TW" altLang="en-US" dirty="0" smtClean="0">
                <a:sym typeface="Wingdings" panose="05000000000000000000" pitchFamily="2" charset="2"/>
              </a:rPr>
              <a:t> </a:t>
            </a:r>
            <a:r>
              <a:rPr lang="en-US" altLang="zh-TW" dirty="0" smtClean="0">
                <a:sym typeface="Wingdings" panose="05000000000000000000" pitchFamily="2" charset="2"/>
              </a:rPr>
              <a:t>low risk 1 year 40%, high risk: 12 %</a:t>
            </a:r>
            <a:endParaRPr lang="zh-TW" altLang="zh-TW" dirty="0"/>
          </a:p>
          <a:p>
            <a:endParaRPr lang="en-US" altLang="zh-TW" dirty="0" smtClean="0"/>
          </a:p>
          <a:p>
            <a:r>
              <a:rPr lang="en-US" altLang="zh-TW" dirty="0" smtClean="0"/>
              <a:t>Q18: RT</a:t>
            </a:r>
            <a:r>
              <a:rPr lang="zh-TW" altLang="zh-TW" dirty="0"/>
              <a:t>要注意什麼</a:t>
            </a:r>
            <a:r>
              <a:rPr lang="en-US" altLang="zh-TW" dirty="0"/>
              <a:t>organ…</a:t>
            </a:r>
            <a:r>
              <a:rPr lang="zh-TW" altLang="zh-TW" dirty="0"/>
              <a:t>有裝</a:t>
            </a:r>
            <a:r>
              <a:rPr lang="en-US" altLang="zh-TW" dirty="0"/>
              <a:t>pace maker</a:t>
            </a:r>
            <a:r>
              <a:rPr lang="zh-TW" altLang="zh-TW" dirty="0"/>
              <a:t>的怎麼辦</a:t>
            </a:r>
            <a:r>
              <a:rPr lang="en-US" altLang="zh-TW" dirty="0"/>
              <a:t>…</a:t>
            </a:r>
            <a:r>
              <a:rPr lang="zh-TW" altLang="zh-TW" dirty="0"/>
              <a:t>就講說我以前看</a:t>
            </a:r>
            <a:r>
              <a:rPr lang="en-US" altLang="zh-TW" dirty="0"/>
              <a:t>paper</a:t>
            </a:r>
            <a:r>
              <a:rPr lang="zh-TW" altLang="zh-TW" dirty="0"/>
              <a:t>好像影響不會太大</a:t>
            </a:r>
            <a:r>
              <a:rPr lang="en-US" altLang="zh-TW" dirty="0"/>
              <a:t>, </a:t>
            </a:r>
            <a:r>
              <a:rPr lang="zh-TW" altLang="zh-TW" dirty="0"/>
              <a:t>只是要避開</a:t>
            </a:r>
            <a:r>
              <a:rPr lang="en-US" altLang="zh-TW" dirty="0"/>
              <a:t>field, </a:t>
            </a:r>
            <a:r>
              <a:rPr lang="zh-TW" altLang="zh-TW" dirty="0"/>
              <a:t>最後主任揭曉答案</a:t>
            </a:r>
            <a:r>
              <a:rPr lang="en-US" altLang="zh-TW" dirty="0"/>
              <a:t>, RT</a:t>
            </a:r>
            <a:r>
              <a:rPr lang="zh-TW" altLang="zh-TW" dirty="0"/>
              <a:t>因為電磁波可能會干擾到</a:t>
            </a:r>
            <a:r>
              <a:rPr lang="en-US" altLang="zh-TW" dirty="0"/>
              <a:t>, </a:t>
            </a:r>
            <a:r>
              <a:rPr lang="zh-TW" altLang="zh-TW" dirty="0"/>
              <a:t>但若不在</a:t>
            </a:r>
            <a:r>
              <a:rPr lang="en-US" altLang="zh-TW" dirty="0"/>
              <a:t>field</a:t>
            </a:r>
            <a:r>
              <a:rPr lang="zh-TW" altLang="zh-TW" dirty="0"/>
              <a:t>內</a:t>
            </a:r>
            <a:r>
              <a:rPr lang="en-US" altLang="zh-TW" dirty="0"/>
              <a:t>, </a:t>
            </a:r>
            <a:r>
              <a:rPr lang="zh-TW" altLang="zh-TW" dirty="0"/>
              <a:t>影響沒那麼大</a:t>
            </a:r>
            <a:r>
              <a:rPr lang="en-US" altLang="zh-TW" dirty="0"/>
              <a:t>, </a:t>
            </a:r>
            <a:r>
              <a:rPr lang="zh-TW" altLang="zh-TW" dirty="0"/>
              <a:t>最後說那要怎麼降低</a:t>
            </a:r>
            <a:r>
              <a:rPr lang="en-US" altLang="zh-TW" dirty="0"/>
              <a:t>risk</a:t>
            </a:r>
            <a:r>
              <a:rPr lang="zh-TW" altLang="zh-TW" dirty="0"/>
              <a:t>及現場處理</a:t>
            </a:r>
            <a:r>
              <a:rPr lang="en-US" altLang="zh-TW" dirty="0"/>
              <a:t>, </a:t>
            </a:r>
            <a:r>
              <a:rPr lang="zh-TW" altLang="zh-TW" dirty="0"/>
              <a:t>我就說要放</a:t>
            </a:r>
            <a:r>
              <a:rPr lang="en-US" altLang="zh-TW" dirty="0"/>
              <a:t>DC shock, </a:t>
            </a:r>
            <a:r>
              <a:rPr lang="zh-TW" altLang="zh-TW" dirty="0"/>
              <a:t>主任說</a:t>
            </a:r>
            <a:r>
              <a:rPr lang="en-US" altLang="zh-TW" dirty="0"/>
              <a:t>: </a:t>
            </a:r>
            <a:r>
              <a:rPr lang="zh-TW" altLang="zh-TW" dirty="0"/>
              <a:t>要</a:t>
            </a:r>
            <a:r>
              <a:rPr lang="en-US" altLang="zh-TW" dirty="0"/>
              <a:t>refer</a:t>
            </a:r>
            <a:r>
              <a:rPr lang="zh-TW" altLang="zh-TW" dirty="0"/>
              <a:t>給心臟科啊</a:t>
            </a:r>
            <a:r>
              <a:rPr lang="en-US" altLang="zh-TW" dirty="0"/>
              <a:t>…</a:t>
            </a:r>
            <a:endParaRPr lang="zh-TW" altLang="zh-TW" dirty="0"/>
          </a:p>
          <a:p>
            <a:endParaRPr lang="en-US" altLang="zh-TW" kern="100" dirty="0" smtClean="0">
              <a:solidFill>
                <a:srgbClr val="0000FF"/>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kern="100" dirty="0" smtClean="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Q19: NSCLC</a:t>
            </a:r>
            <a:r>
              <a:rPr lang="zh-TW" altLang="zh-TW" kern="100" dirty="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的</a:t>
            </a:r>
            <a:r>
              <a:rPr lang="en-US" altLang="zh-TW" kern="100" dirty="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dose escalation</a:t>
            </a:r>
            <a:r>
              <a:rPr lang="zh-TW" altLang="zh-TW" kern="100" dirty="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有沒有</a:t>
            </a:r>
            <a:r>
              <a:rPr lang="en-US" altLang="zh-TW" kern="100" dirty="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evidence</a:t>
            </a:r>
            <a:r>
              <a:rPr lang="en-US" altLang="zh-TW" kern="100" dirty="0" smtClean="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a:t>
            </a:r>
          </a:p>
          <a:p>
            <a:r>
              <a:rPr lang="en-US" altLang="zh-TW" kern="100" dirty="0" smtClean="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A: RTOG 9311 90.3GY too toxic, RTOG 7301: 40 vs 50 vs 60, 60 </a:t>
            </a:r>
            <a:r>
              <a:rPr lang="en-US" altLang="zh-TW" kern="100" dirty="0" err="1" smtClean="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Gy</a:t>
            </a:r>
            <a:r>
              <a:rPr lang="en-US" altLang="zh-TW" kern="100" dirty="0" smtClean="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 became standard, Altered </a:t>
            </a:r>
            <a:r>
              <a:rPr lang="en-US" altLang="zh-TW" kern="100" dirty="0" err="1" smtClean="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Fx</a:t>
            </a:r>
            <a:r>
              <a:rPr lang="en-US" altLang="zh-TW" kern="100" dirty="0" smtClean="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 RTOG 8311: 69.6Gy BID</a:t>
            </a:r>
          </a:p>
          <a:p>
            <a:r>
              <a:rPr lang="en-US" altLang="zh-TW" kern="100" dirty="0" smtClean="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A; RTOG 1106 ongoing </a:t>
            </a:r>
            <a:r>
              <a:rPr lang="en-US" altLang="zh-TW" kern="100" dirty="0" err="1" smtClean="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crt</a:t>
            </a:r>
            <a:r>
              <a:rPr lang="en-US" altLang="zh-TW" kern="100" dirty="0" smtClean="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 60Gy vs 66-80.4Gy CRT dose escalation</a:t>
            </a:r>
            <a:endParaRPr lang="zh-TW" altLang="zh-TW" kern="100" dirty="0">
              <a:latin typeface="Calibri" panose="020F0502020204030204" pitchFamily="34" charset="0"/>
              <a:cs typeface="Times New Roman" panose="02020603050405020304" pitchFamily="18" charset="0"/>
            </a:endParaRPr>
          </a:p>
          <a:p>
            <a:endParaRPr lang="zh-TW" altLang="en-US" dirty="0"/>
          </a:p>
        </p:txBody>
      </p:sp>
    </p:spTree>
    <p:extLst>
      <p:ext uri="{BB962C8B-B14F-4D97-AF65-F5344CB8AC3E}">
        <p14:creationId xmlns:p14="http://schemas.microsoft.com/office/powerpoint/2010/main" val="14598744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73512" y="0"/>
            <a:ext cx="3178696" cy="692696"/>
          </a:xfrm>
        </p:spPr>
        <p:txBody>
          <a:bodyPr>
            <a:normAutofit fontScale="90000"/>
          </a:bodyPr>
          <a:lstStyle/>
          <a:p>
            <a:r>
              <a:rPr lang="en-US" altLang="zh-TW" dirty="0" smtClean="0">
                <a:solidFill>
                  <a:srgbClr val="FF0000"/>
                </a:solidFill>
              </a:rPr>
              <a:t>2012 </a:t>
            </a:r>
            <a:r>
              <a:rPr lang="zh-TW" altLang="zh-TW" dirty="0" smtClean="0">
                <a:solidFill>
                  <a:srgbClr val="FF0000"/>
                </a:solidFill>
              </a:rPr>
              <a:t>許文林</a:t>
            </a:r>
            <a:r>
              <a:rPr lang="en-US" altLang="zh-TW" dirty="0" smtClean="0">
                <a:solidFill>
                  <a:srgbClr val="FF0000"/>
                </a:solidFill>
              </a:rPr>
              <a:t> </a:t>
            </a:r>
            <a:endParaRPr lang="zh-TW" altLang="en-US" dirty="0">
              <a:solidFill>
                <a:srgbClr val="FF0000"/>
              </a:solidFill>
            </a:endParaRPr>
          </a:p>
        </p:txBody>
      </p:sp>
      <p:sp>
        <p:nvSpPr>
          <p:cNvPr id="3" name="內容版面配置區 2"/>
          <p:cNvSpPr>
            <a:spLocks noGrp="1"/>
          </p:cNvSpPr>
          <p:nvPr>
            <p:ph idx="1"/>
          </p:nvPr>
        </p:nvSpPr>
        <p:spPr>
          <a:xfrm>
            <a:off x="1981200" y="620688"/>
            <a:ext cx="8689848" cy="6237312"/>
          </a:xfrm>
        </p:spPr>
        <p:txBody>
          <a:bodyPr>
            <a:normAutofit lnSpcReduction="10000"/>
          </a:bodyPr>
          <a:lstStyle/>
          <a:p>
            <a:r>
              <a:rPr lang="en-US" altLang="zh-TW" dirty="0" smtClean="0"/>
              <a:t>Q: NSCLC</a:t>
            </a:r>
            <a:r>
              <a:rPr lang="zh-TW" altLang="zh-TW" dirty="0"/>
              <a:t>什麼時候會建議使用</a:t>
            </a:r>
            <a:r>
              <a:rPr lang="en-US" altLang="zh-TW" dirty="0" smtClean="0"/>
              <a:t>RT?</a:t>
            </a:r>
          </a:p>
          <a:p>
            <a:r>
              <a:rPr lang="en-US" altLang="zh-TW" dirty="0" smtClean="0"/>
              <a:t>A: </a:t>
            </a:r>
            <a:r>
              <a:rPr lang="en-US" altLang="zh-TW" dirty="0" err="1" smtClean="0"/>
              <a:t>Unresectable</a:t>
            </a:r>
            <a:r>
              <a:rPr lang="en-US" altLang="zh-TW" dirty="0" smtClean="0"/>
              <a:t> early stage, </a:t>
            </a:r>
            <a:r>
              <a:rPr lang="en-US" altLang="zh-TW" dirty="0" err="1" smtClean="0"/>
              <a:t>Resectable</a:t>
            </a:r>
            <a:r>
              <a:rPr lang="en-US" altLang="zh-TW" dirty="0" smtClean="0"/>
              <a:t> margin + ENE, N2, </a:t>
            </a:r>
            <a:endParaRPr lang="zh-TW" altLang="zh-TW" dirty="0"/>
          </a:p>
          <a:p>
            <a:r>
              <a:rPr lang="en-US" altLang="zh-TW" dirty="0" smtClean="0"/>
              <a:t>Q: Lung </a:t>
            </a:r>
            <a:r>
              <a:rPr lang="en-US" altLang="zh-TW" dirty="0"/>
              <a:t>CA brain meta </a:t>
            </a:r>
            <a:r>
              <a:rPr lang="zh-TW" altLang="zh-TW" dirty="0"/>
              <a:t>三顆怎麼</a:t>
            </a:r>
            <a:r>
              <a:rPr lang="zh-TW" altLang="zh-TW" dirty="0" smtClean="0"/>
              <a:t>處理</a:t>
            </a:r>
            <a:r>
              <a:rPr lang="en-US" altLang="zh-TW" dirty="0" smtClean="0"/>
              <a:t>? </a:t>
            </a:r>
          </a:p>
          <a:p>
            <a:r>
              <a:rPr lang="en-US" altLang="zh-TW" dirty="0" smtClean="0"/>
              <a:t>A: Molecular test first if EGFR or ALK , use </a:t>
            </a:r>
            <a:r>
              <a:rPr lang="en-US" altLang="zh-TW" dirty="0" err="1" smtClean="0"/>
              <a:t>osimertinib</a:t>
            </a:r>
            <a:r>
              <a:rPr lang="en-US" altLang="zh-TW" dirty="0" smtClean="0"/>
              <a:t> (FLAURA trial) </a:t>
            </a:r>
            <a:r>
              <a:rPr lang="en-US" altLang="zh-TW" dirty="0" err="1" smtClean="0"/>
              <a:t>Alectinib</a:t>
            </a:r>
            <a:r>
              <a:rPr lang="en-US" altLang="zh-TW" dirty="0" smtClean="0"/>
              <a:t> (AEEX trial) , reserve RT if symptom, 3 </a:t>
            </a:r>
            <a:r>
              <a:rPr lang="zh-TW" altLang="en-US" dirty="0" smtClean="0"/>
              <a:t>顆 小於 </a:t>
            </a:r>
            <a:r>
              <a:rPr lang="en-US" altLang="zh-TW" dirty="0" smtClean="0"/>
              <a:t>3</a:t>
            </a:r>
            <a:r>
              <a:rPr lang="zh-TW" altLang="en-US" dirty="0" smtClean="0"/>
              <a:t> </a:t>
            </a:r>
            <a:r>
              <a:rPr lang="en-US" altLang="zh-TW" dirty="0" smtClean="0"/>
              <a:t>cm, </a:t>
            </a:r>
            <a:r>
              <a:rPr lang="zh-TW" altLang="en-US" dirty="0" smtClean="0"/>
              <a:t>可 </a:t>
            </a:r>
            <a:r>
              <a:rPr lang="en-US" altLang="zh-TW" dirty="0" smtClean="0"/>
              <a:t>SRS, or SRS+ WBRT, or molecular test </a:t>
            </a:r>
            <a:r>
              <a:rPr lang="en-US" altLang="zh-TW" dirty="0" smtClean="0"/>
              <a:t>first  (</a:t>
            </a:r>
            <a:r>
              <a:rPr lang="zh-TW" altLang="en-US" dirty="0" smtClean="0"/>
              <a:t>我覺得應該要給</a:t>
            </a:r>
            <a:r>
              <a:rPr lang="en-US" altLang="zh-TW" dirty="0" smtClean="0"/>
              <a:t>l</a:t>
            </a:r>
            <a:r>
              <a:rPr lang="en-US" altLang="zh-TW" dirty="0" smtClean="0"/>
              <a:t>ocal treatment )- &gt; </a:t>
            </a:r>
            <a:r>
              <a:rPr lang="zh-TW" altLang="en-US" dirty="0" smtClean="0"/>
              <a:t>根據</a:t>
            </a:r>
            <a:r>
              <a:rPr lang="en-US" altLang="zh-TW" dirty="0" smtClean="0"/>
              <a:t>SABR</a:t>
            </a:r>
            <a:r>
              <a:rPr lang="zh-TW" altLang="en-US" dirty="0" smtClean="0"/>
              <a:t> </a:t>
            </a:r>
            <a:r>
              <a:rPr lang="en-US" altLang="zh-TW" dirty="0" smtClean="0"/>
              <a:t>COMET, </a:t>
            </a:r>
            <a:r>
              <a:rPr lang="zh-TW" altLang="en-US" dirty="0" smtClean="0"/>
              <a:t>可以增加</a:t>
            </a:r>
            <a:r>
              <a:rPr lang="en-US" altLang="zh-TW" dirty="0" smtClean="0"/>
              <a:t>overall</a:t>
            </a:r>
            <a:r>
              <a:rPr lang="zh-TW" altLang="en-US" dirty="0" smtClean="0"/>
              <a:t> </a:t>
            </a:r>
            <a:r>
              <a:rPr lang="en-US" altLang="zh-TW" dirty="0" smtClean="0"/>
              <a:t>survival</a:t>
            </a:r>
            <a:r>
              <a:rPr lang="zh-TW" altLang="en-US" dirty="0" smtClean="0"/>
              <a:t> </a:t>
            </a:r>
            <a:endParaRPr lang="zh-TW" altLang="zh-TW" dirty="0"/>
          </a:p>
          <a:p>
            <a:r>
              <a:rPr lang="en-US" altLang="zh-TW" dirty="0" smtClean="0"/>
              <a:t>Q: Lung </a:t>
            </a:r>
            <a:r>
              <a:rPr lang="en-US" altLang="zh-TW" dirty="0"/>
              <a:t>cancer SRS</a:t>
            </a:r>
            <a:r>
              <a:rPr lang="zh-TW" altLang="zh-TW" dirty="0"/>
              <a:t>的給法</a:t>
            </a:r>
          </a:p>
          <a:p>
            <a:r>
              <a:rPr lang="en-US" altLang="zh-TW" dirty="0" smtClean="0"/>
              <a:t>A: NCCN </a:t>
            </a:r>
            <a:r>
              <a:rPr lang="en-US" altLang="zh-TW" dirty="0" err="1" smtClean="0"/>
              <a:t>guidline</a:t>
            </a:r>
            <a:r>
              <a:rPr lang="en-US" altLang="zh-TW" dirty="0" smtClean="0"/>
              <a:t> </a:t>
            </a:r>
          </a:p>
          <a:p>
            <a:endParaRPr lang="zh-TW" altLang="zh-TW" dirty="0"/>
          </a:p>
          <a:p>
            <a:endParaRPr lang="zh-TW" altLang="en-US" dirty="0"/>
          </a:p>
        </p:txBody>
      </p:sp>
    </p:spTree>
    <p:extLst>
      <p:ext uri="{BB962C8B-B14F-4D97-AF65-F5344CB8AC3E}">
        <p14:creationId xmlns:p14="http://schemas.microsoft.com/office/powerpoint/2010/main" val="1870675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609600" y="1600201"/>
            <a:ext cx="10972800" cy="4927599"/>
          </a:xfrm>
        </p:spPr>
        <p:txBody>
          <a:bodyPr>
            <a:normAutofit fontScale="62500" lnSpcReduction="20000"/>
          </a:bodyPr>
          <a:lstStyle/>
          <a:p>
            <a:r>
              <a:rPr lang="en-US" altLang="zh-TW" dirty="0"/>
              <a:t>Q: </a:t>
            </a:r>
            <a:r>
              <a:rPr lang="zh-TW" altLang="en-US" dirty="0"/>
              <a:t>呼吸</a:t>
            </a:r>
            <a:r>
              <a:rPr lang="en-US" altLang="zh-TW" dirty="0"/>
              <a:t>gating</a:t>
            </a:r>
            <a:r>
              <a:rPr lang="zh-TW" altLang="en-US" dirty="0"/>
              <a:t>的方式有哪</a:t>
            </a:r>
            <a:r>
              <a:rPr lang="zh-TW" altLang="en-US" dirty="0" smtClean="0"/>
              <a:t>些 </a:t>
            </a:r>
            <a:r>
              <a:rPr lang="en-US" altLang="zh-TW" dirty="0" smtClean="0"/>
              <a:t>(active breathing control and passive breathing gating)</a:t>
            </a:r>
            <a:endParaRPr lang="zh-TW" altLang="en-US" dirty="0"/>
          </a:p>
          <a:p>
            <a:r>
              <a:rPr lang="en-US" altLang="zh-TW" dirty="0"/>
              <a:t>A: 4DCT with belt, Tracking: </a:t>
            </a:r>
            <a:r>
              <a:rPr lang="en-US" altLang="zh-TW" dirty="0" err="1"/>
              <a:t>Brainlab</a:t>
            </a:r>
            <a:r>
              <a:rPr lang="en-US" altLang="zh-TW" dirty="0"/>
              <a:t> </a:t>
            </a:r>
            <a:r>
              <a:rPr lang="en-US" altLang="zh-TW" dirty="0" err="1"/>
              <a:t>Exactrac</a:t>
            </a:r>
            <a:r>
              <a:rPr lang="en-US" altLang="zh-TW" dirty="0"/>
              <a:t>,</a:t>
            </a:r>
          </a:p>
          <a:p>
            <a:r>
              <a:rPr lang="en-US" altLang="zh-TW" dirty="0"/>
              <a:t>A: Respiratory gating (a) phase gating: beam on when respirator signal within gating window  defined by respiratory signal</a:t>
            </a:r>
          </a:p>
          <a:p>
            <a:r>
              <a:rPr lang="en-US" altLang="zh-TW" dirty="0"/>
              <a:t>(b) amplitude gating: beam on when respiratory signal is within gating window defined based on amplitude/ </a:t>
            </a:r>
            <a:r>
              <a:rPr lang="en-US" altLang="zh-TW" dirty="0" err="1"/>
              <a:t>discplacement</a:t>
            </a:r>
            <a:r>
              <a:rPr lang="en-US" altLang="zh-TW" dirty="0"/>
              <a:t> of respiratory signal</a:t>
            </a:r>
          </a:p>
          <a:p>
            <a:r>
              <a:rPr lang="en-US" altLang="zh-TW" dirty="0"/>
              <a:t>ANZAI </a:t>
            </a:r>
            <a:r>
              <a:rPr lang="en-US" altLang="zh-TW" dirty="0" err="1"/>
              <a:t>repiratory</a:t>
            </a:r>
            <a:r>
              <a:rPr lang="en-US" altLang="zh-TW" dirty="0"/>
              <a:t> gating system (measuring </a:t>
            </a:r>
            <a:r>
              <a:rPr lang="en-US" altLang="zh-TW" dirty="0">
                <a:solidFill>
                  <a:srgbClr val="FF0000"/>
                </a:solidFill>
              </a:rPr>
              <a:t>abdominal pressure</a:t>
            </a:r>
            <a:r>
              <a:rPr lang="en-US" altLang="zh-TW" dirty="0"/>
              <a:t>), Varian </a:t>
            </a:r>
            <a:r>
              <a:rPr lang="en-US" altLang="zh-TW" dirty="0" smtClean="0">
                <a:solidFill>
                  <a:srgbClr val="FF0000"/>
                </a:solidFill>
              </a:rPr>
              <a:t>RPM, Vision RT</a:t>
            </a:r>
            <a:r>
              <a:rPr lang="en-US" altLang="zh-TW" dirty="0" smtClean="0"/>
              <a:t>, </a:t>
            </a:r>
            <a:r>
              <a:rPr lang="en-US" altLang="zh-TW" dirty="0"/>
              <a:t>(measuring </a:t>
            </a:r>
            <a:r>
              <a:rPr lang="en-US" altLang="zh-TW" dirty="0">
                <a:solidFill>
                  <a:srgbClr val="FF0000"/>
                </a:solidFill>
              </a:rPr>
              <a:t>chest wall motion by optic system </a:t>
            </a:r>
            <a:r>
              <a:rPr lang="en-US" altLang="zh-TW" dirty="0"/>
              <a:t>with infrared camera or laser surface imaging) </a:t>
            </a:r>
            <a:r>
              <a:rPr lang="en-US" altLang="zh-TW" dirty="0" err="1"/>
              <a:t>Elekta</a:t>
            </a:r>
            <a:r>
              <a:rPr lang="en-US" altLang="zh-TW" dirty="0"/>
              <a:t> ABC system (measuring the inspiration and </a:t>
            </a:r>
            <a:r>
              <a:rPr lang="en-US" altLang="zh-TW" dirty="0" err="1"/>
              <a:t>expireation</a:t>
            </a:r>
            <a:r>
              <a:rPr lang="en-US" altLang="zh-TW" dirty="0"/>
              <a:t> </a:t>
            </a:r>
            <a:r>
              <a:rPr lang="en-US" altLang="zh-TW" dirty="0">
                <a:solidFill>
                  <a:srgbClr val="FF0000"/>
                </a:solidFill>
              </a:rPr>
              <a:t>air volume using spirometry or temperature change</a:t>
            </a:r>
            <a:r>
              <a:rPr lang="en-US" altLang="zh-TW" dirty="0"/>
              <a:t>) </a:t>
            </a:r>
          </a:p>
          <a:p>
            <a:r>
              <a:rPr lang="en-US" altLang="zh-TW" dirty="0"/>
              <a:t>Q: </a:t>
            </a:r>
            <a:r>
              <a:rPr lang="zh-TW" altLang="en-US" dirty="0"/>
              <a:t>若要選擇吸氣或是吐氣的</a:t>
            </a:r>
            <a:r>
              <a:rPr lang="en-US" altLang="zh-TW" dirty="0"/>
              <a:t>phase</a:t>
            </a:r>
            <a:r>
              <a:rPr lang="zh-TW" altLang="en-US" dirty="0"/>
              <a:t>進行治療你會選哪一個？原因是什麼？</a:t>
            </a:r>
          </a:p>
          <a:p>
            <a:r>
              <a:rPr lang="en-US" altLang="zh-TW" dirty="0"/>
              <a:t>A:   </a:t>
            </a:r>
            <a:r>
              <a:rPr lang="zh-TW" altLang="en-US" dirty="0"/>
              <a:t>吸氣，</a:t>
            </a:r>
            <a:r>
              <a:rPr lang="en-US" altLang="zh-TW" dirty="0"/>
              <a:t>lung volume</a:t>
            </a:r>
            <a:r>
              <a:rPr lang="zh-TW" altLang="en-US" dirty="0"/>
              <a:t>較</a:t>
            </a:r>
            <a:r>
              <a:rPr lang="zh-TW" altLang="en-US" dirty="0" smtClean="0"/>
              <a:t>大 </a:t>
            </a:r>
            <a:r>
              <a:rPr lang="en-US" altLang="zh-TW" dirty="0" smtClean="0"/>
              <a:t>( but </a:t>
            </a:r>
            <a:r>
              <a:rPr lang="zh-TW" altLang="en-US" dirty="0" smtClean="0"/>
              <a:t>不穩定度比較高</a:t>
            </a:r>
            <a:r>
              <a:rPr lang="en-US" altLang="zh-TW" dirty="0" smtClean="0"/>
              <a:t>)</a:t>
            </a:r>
            <a:r>
              <a:rPr lang="zh-TW" altLang="en-US" dirty="0" smtClean="0"/>
              <a:t> </a:t>
            </a:r>
            <a:endParaRPr lang="zh-TW" altLang="en-US" dirty="0"/>
          </a:p>
          <a:p>
            <a:r>
              <a:rPr lang="en-US" altLang="zh-TW" dirty="0"/>
              <a:t>Q:IMRT</a:t>
            </a:r>
            <a:r>
              <a:rPr lang="zh-TW" altLang="en-US" dirty="0"/>
              <a:t>好 還是</a:t>
            </a:r>
            <a:r>
              <a:rPr lang="en-US" altLang="zh-TW" dirty="0"/>
              <a:t>3D </a:t>
            </a:r>
            <a:r>
              <a:rPr lang="zh-TW" altLang="en-US" dirty="0"/>
              <a:t>好</a:t>
            </a:r>
            <a:r>
              <a:rPr lang="en-US" altLang="zh-TW" dirty="0"/>
              <a:t>? </a:t>
            </a:r>
          </a:p>
          <a:p>
            <a:r>
              <a:rPr lang="en-US" altLang="zh-TW" dirty="0"/>
              <a:t>A: IMRT similar local control and 2 year survival but </a:t>
            </a:r>
            <a:r>
              <a:rPr lang="en-US" altLang="zh-TW" dirty="0">
                <a:solidFill>
                  <a:srgbClr val="FF0000"/>
                </a:solidFill>
              </a:rPr>
              <a:t>lower rates of pneumonitis and cardia dose </a:t>
            </a:r>
            <a:r>
              <a:rPr lang="en-US" altLang="zh-TW" dirty="0"/>
              <a:t>( Chun JCO 2017)</a:t>
            </a:r>
          </a:p>
          <a:p>
            <a:r>
              <a:rPr lang="en-US" altLang="zh-TW" dirty="0"/>
              <a:t>Q: Normal tissue constraint </a:t>
            </a:r>
            <a:r>
              <a:rPr lang="zh-TW" altLang="en-US" dirty="0"/>
              <a:t>正常組織受傷最大的是什麼</a:t>
            </a:r>
            <a:r>
              <a:rPr lang="en-US" altLang="zh-TW" dirty="0"/>
              <a:t>? A: lung ????heart??</a:t>
            </a:r>
          </a:p>
          <a:p>
            <a:endParaRPr lang="zh-TW" altLang="en-US" dirty="0"/>
          </a:p>
        </p:txBody>
      </p:sp>
    </p:spTree>
    <p:extLst>
      <p:ext uri="{BB962C8B-B14F-4D97-AF65-F5344CB8AC3E}">
        <p14:creationId xmlns:p14="http://schemas.microsoft.com/office/powerpoint/2010/main" val="3313821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2012</a:t>
            </a:r>
            <a:endParaRPr lang="zh-TW" altLang="en-US" dirty="0"/>
          </a:p>
        </p:txBody>
      </p:sp>
      <p:sp>
        <p:nvSpPr>
          <p:cNvPr id="3" name="內容版面配置區 2"/>
          <p:cNvSpPr>
            <a:spLocks noGrp="1"/>
          </p:cNvSpPr>
          <p:nvPr>
            <p:ph idx="1"/>
          </p:nvPr>
        </p:nvSpPr>
        <p:spPr/>
        <p:txBody>
          <a:bodyPr>
            <a:normAutofit fontScale="62500" lnSpcReduction="20000"/>
          </a:bodyPr>
          <a:lstStyle/>
          <a:p>
            <a:r>
              <a:rPr lang="en-US" altLang="zh-TW" dirty="0"/>
              <a:t>Q: </a:t>
            </a:r>
            <a:r>
              <a:rPr lang="zh-TW" altLang="zh-TW" kern="100" dirty="0">
                <a:latin typeface="Times New Roman" panose="02020603050405020304" pitchFamily="18" charset="0"/>
              </a:rPr>
              <a:t>請問</a:t>
            </a:r>
            <a:r>
              <a:rPr lang="en-US" altLang="zh-TW" kern="100" dirty="0">
                <a:latin typeface="Times New Roman" panose="02020603050405020304" pitchFamily="18" charset="0"/>
              </a:rPr>
              <a:t>2009</a:t>
            </a:r>
            <a:r>
              <a:rPr lang="zh-TW" altLang="zh-TW" kern="100" dirty="0">
                <a:latin typeface="Times New Roman" panose="02020603050405020304" pitchFamily="18" charset="0"/>
              </a:rPr>
              <a:t>年台灣統計一年有幾個</a:t>
            </a:r>
            <a:r>
              <a:rPr lang="en-US" altLang="zh-TW" kern="100" dirty="0">
                <a:latin typeface="Times New Roman" panose="02020603050405020304" pitchFamily="18" charset="0"/>
              </a:rPr>
              <a:t>lung cancer</a:t>
            </a:r>
            <a:r>
              <a:rPr lang="zh-TW" altLang="zh-TW" kern="100" dirty="0">
                <a:latin typeface="Times New Roman" panose="02020603050405020304" pitchFamily="18" charset="0"/>
              </a:rPr>
              <a:t>被診斷、一年有幾個</a:t>
            </a:r>
            <a:r>
              <a:rPr lang="en-US" altLang="zh-TW" kern="100" dirty="0">
                <a:latin typeface="Times New Roman" panose="02020603050405020304" pitchFamily="18" charset="0"/>
              </a:rPr>
              <a:t>patients</a:t>
            </a:r>
            <a:r>
              <a:rPr lang="zh-TW" altLang="zh-TW" kern="100" dirty="0">
                <a:latin typeface="Times New Roman" panose="02020603050405020304" pitchFamily="18" charset="0"/>
              </a:rPr>
              <a:t>因為</a:t>
            </a:r>
            <a:r>
              <a:rPr lang="en-US" altLang="zh-TW" kern="100" dirty="0">
                <a:latin typeface="Times New Roman" panose="02020603050405020304" pitchFamily="18" charset="0"/>
              </a:rPr>
              <a:t>lung cancer</a:t>
            </a:r>
            <a:r>
              <a:rPr lang="zh-TW" altLang="zh-TW" kern="100" dirty="0">
                <a:latin typeface="Times New Roman" panose="02020603050405020304" pitchFamily="18" charset="0"/>
              </a:rPr>
              <a:t>死亡</a:t>
            </a:r>
            <a:r>
              <a:rPr lang="en-US" altLang="zh-TW" kern="100" dirty="0">
                <a:latin typeface="Times New Roman" panose="02020603050405020304" pitchFamily="18" charset="0"/>
              </a:rPr>
              <a:t>?</a:t>
            </a:r>
            <a:endParaRPr lang="zh-TW" altLang="zh-TW" kern="100" dirty="0">
              <a:latin typeface="Times New Roman" panose="02020603050405020304" pitchFamily="18" charset="0"/>
            </a:endParaRPr>
          </a:p>
          <a:p>
            <a:pPr>
              <a:buFont typeface="Wingdings" panose="05000000000000000000" pitchFamily="2" charset="2"/>
              <a:buChar char=""/>
              <a:tabLst>
                <a:tab pos="304800" algn="l"/>
              </a:tabLst>
            </a:pPr>
            <a:r>
              <a:rPr lang="en-US" altLang="zh-TW" kern="100" dirty="0">
                <a:latin typeface="Times New Roman" panose="02020603050405020304" pitchFamily="18" charset="0"/>
              </a:rPr>
              <a:t>A; 2016: 14000/ year, 9000 death/year</a:t>
            </a:r>
          </a:p>
          <a:p>
            <a:pPr>
              <a:buFont typeface="Wingdings" panose="05000000000000000000" pitchFamily="2" charset="2"/>
              <a:buChar char=""/>
              <a:tabLst>
                <a:tab pos="304800" algn="l"/>
              </a:tabLst>
            </a:pPr>
            <a:r>
              <a:rPr lang="en-US" altLang="zh-TW" kern="100" dirty="0">
                <a:latin typeface="Times New Roman" panose="02020603050405020304" pitchFamily="18" charset="0"/>
              </a:rPr>
              <a:t>Q: Lung cancer</a:t>
            </a:r>
            <a:r>
              <a:rPr lang="zh-TW" altLang="zh-TW" kern="100" dirty="0">
                <a:latin typeface="Times New Roman" panose="02020603050405020304" pitchFamily="18" charset="0"/>
              </a:rPr>
              <a:t>的</a:t>
            </a:r>
            <a:r>
              <a:rPr lang="en-US" altLang="zh-TW" kern="100" dirty="0">
                <a:latin typeface="Times New Roman" panose="02020603050405020304" pitchFamily="18" charset="0"/>
              </a:rPr>
              <a:t>risk factor? </a:t>
            </a:r>
          </a:p>
          <a:p>
            <a:pPr>
              <a:buFont typeface="Wingdings" panose="05000000000000000000" pitchFamily="2" charset="2"/>
              <a:buChar char=""/>
              <a:tabLst>
                <a:tab pos="304800" algn="l"/>
              </a:tabLst>
            </a:pPr>
            <a:r>
              <a:rPr lang="en-US" altLang="zh-TW" kern="100" dirty="0">
                <a:latin typeface="Times New Roman" panose="02020603050405020304" pitchFamily="18" charset="0"/>
              </a:rPr>
              <a:t>A: smoker, family history. </a:t>
            </a:r>
            <a:r>
              <a:rPr lang="en-US" altLang="zh-TW" kern="100" dirty="0" err="1">
                <a:latin typeface="Times New Roman" panose="02020603050405020304" pitchFamily="18" charset="0"/>
              </a:rPr>
              <a:t>Abesto</a:t>
            </a:r>
            <a:r>
              <a:rPr lang="en-US" altLang="zh-TW" kern="100" dirty="0">
                <a:latin typeface="Times New Roman" panose="02020603050405020304" pitchFamily="18" charset="0"/>
              </a:rPr>
              <a:t>, radon, uranium exposure, living with second hand increase 20~30% risk</a:t>
            </a:r>
            <a:endParaRPr lang="zh-TW" altLang="zh-TW" kern="100" dirty="0">
              <a:latin typeface="Times New Roman" panose="02020603050405020304" pitchFamily="18" charset="0"/>
            </a:endParaRPr>
          </a:p>
          <a:p>
            <a:pPr>
              <a:buFont typeface="Wingdings" panose="05000000000000000000" pitchFamily="2" charset="2"/>
              <a:buChar char=""/>
              <a:tabLst>
                <a:tab pos="304800" algn="l"/>
              </a:tabLst>
            </a:pPr>
            <a:r>
              <a:rPr lang="en-US" altLang="zh-TW" kern="100" dirty="0">
                <a:latin typeface="Times New Roman" panose="02020603050405020304" pitchFamily="18" charset="0"/>
              </a:rPr>
              <a:t>Q; </a:t>
            </a:r>
            <a:r>
              <a:rPr lang="zh-TW" altLang="zh-TW" kern="100" dirty="0">
                <a:latin typeface="Times New Roman" panose="02020603050405020304" pitchFamily="18" charset="0"/>
              </a:rPr>
              <a:t>和</a:t>
            </a:r>
            <a:r>
              <a:rPr lang="en-US" altLang="zh-TW" kern="100" dirty="0" err="1">
                <a:latin typeface="Times New Roman" panose="02020603050405020304" pitchFamily="18" charset="0"/>
              </a:rPr>
              <a:t>abestos</a:t>
            </a:r>
            <a:r>
              <a:rPr lang="zh-TW" altLang="zh-TW" kern="100" dirty="0">
                <a:latin typeface="Times New Roman" panose="02020603050405020304" pitchFamily="18" charset="0"/>
              </a:rPr>
              <a:t>最相關的惡性腫瘤</a:t>
            </a:r>
            <a:r>
              <a:rPr lang="en-US" altLang="zh-TW" kern="100" dirty="0">
                <a:latin typeface="Times New Roman" panose="02020603050405020304" pitchFamily="18" charset="0"/>
              </a:rPr>
              <a:t>?</a:t>
            </a:r>
          </a:p>
          <a:p>
            <a:pPr>
              <a:buFont typeface="Wingdings" panose="05000000000000000000" pitchFamily="2" charset="2"/>
              <a:buChar char=""/>
              <a:tabLst>
                <a:tab pos="304800" algn="l"/>
              </a:tabLst>
            </a:pPr>
            <a:r>
              <a:rPr lang="en-US" altLang="zh-TW" kern="100" dirty="0">
                <a:latin typeface="Times New Roman" panose="02020603050405020304" pitchFamily="18" charset="0"/>
              </a:rPr>
              <a:t>A: mesothelioma,  10% lifetime risk of Mesothelioma, latency20-40 years later</a:t>
            </a:r>
            <a:endParaRPr lang="zh-TW" altLang="zh-TW" kern="100" dirty="0">
              <a:latin typeface="Times New Roman" panose="02020603050405020304" pitchFamily="18" charset="0"/>
            </a:endParaRPr>
          </a:p>
          <a:p>
            <a:pPr>
              <a:buFont typeface="Wingdings" panose="05000000000000000000" pitchFamily="2" charset="2"/>
              <a:buChar char=""/>
              <a:tabLst>
                <a:tab pos="304800" algn="l"/>
              </a:tabLst>
            </a:pPr>
            <a:r>
              <a:rPr lang="en-US" altLang="zh-TW" kern="100" dirty="0">
                <a:latin typeface="Times New Roman" panose="02020603050405020304" pitchFamily="18" charset="0"/>
              </a:rPr>
              <a:t>Q: Lung cancer</a:t>
            </a:r>
            <a:r>
              <a:rPr lang="zh-TW" altLang="zh-TW" kern="100" dirty="0">
                <a:latin typeface="Times New Roman" panose="02020603050405020304" pitchFamily="18" charset="0"/>
              </a:rPr>
              <a:t>做</a:t>
            </a:r>
            <a:r>
              <a:rPr lang="en-US" altLang="zh-TW" kern="100" dirty="0">
                <a:latin typeface="Times New Roman" panose="02020603050405020304" pitchFamily="18" charset="0"/>
              </a:rPr>
              <a:t>definitive RT</a:t>
            </a:r>
            <a:r>
              <a:rPr lang="zh-TW" altLang="zh-TW" kern="100" dirty="0">
                <a:latin typeface="Times New Roman" panose="02020603050405020304" pitchFamily="18" charset="0"/>
              </a:rPr>
              <a:t>的</a:t>
            </a:r>
            <a:r>
              <a:rPr lang="en-US" altLang="zh-TW" kern="100" dirty="0">
                <a:latin typeface="Times New Roman" panose="02020603050405020304" pitchFamily="18" charset="0"/>
              </a:rPr>
              <a:t>target volume? </a:t>
            </a:r>
            <a:r>
              <a:rPr lang="zh-TW" altLang="zh-TW" kern="100" dirty="0">
                <a:latin typeface="Times New Roman" panose="02020603050405020304" pitchFamily="18" charset="0"/>
              </a:rPr>
              <a:t>照也會考慮如何安排</a:t>
            </a:r>
            <a:r>
              <a:rPr lang="en-US" altLang="zh-TW" kern="100" dirty="0" smtClean="0">
                <a:latin typeface="Times New Roman" panose="02020603050405020304" pitchFamily="18" charset="0"/>
              </a:rPr>
              <a:t>?</a:t>
            </a:r>
            <a:r>
              <a:rPr lang="zh-TW" altLang="en-US" kern="100" dirty="0" smtClean="0">
                <a:latin typeface="Times New Roman" panose="02020603050405020304" pitchFamily="18" charset="0"/>
              </a:rPr>
              <a:t> </a:t>
            </a:r>
            <a:endParaRPr lang="en-US" altLang="zh-TW" kern="100" dirty="0">
              <a:latin typeface="Times New Roman" panose="02020603050405020304" pitchFamily="18" charset="0"/>
            </a:endParaRPr>
          </a:p>
          <a:p>
            <a:pPr>
              <a:buFont typeface="Wingdings" panose="05000000000000000000" pitchFamily="2" charset="2"/>
              <a:buChar char=""/>
              <a:tabLst>
                <a:tab pos="304800" algn="l"/>
              </a:tabLst>
            </a:pPr>
            <a:r>
              <a:rPr lang="en-US" altLang="zh-TW" kern="100" dirty="0">
                <a:latin typeface="Times New Roman" panose="02020603050405020304" pitchFamily="18" charset="0"/>
              </a:rPr>
              <a:t>A: PET/CT delineate, IFRT, no ENI, post chemo tumor volume, pre-chemo nodal involve field</a:t>
            </a:r>
            <a:endParaRPr lang="zh-TW" altLang="zh-TW" kern="100" dirty="0">
              <a:latin typeface="Times New Roman" panose="02020603050405020304" pitchFamily="18" charset="0"/>
            </a:endParaRPr>
          </a:p>
          <a:p>
            <a:pPr>
              <a:buFont typeface="Wingdings" panose="05000000000000000000" pitchFamily="2" charset="2"/>
              <a:buChar char=""/>
              <a:tabLst>
                <a:tab pos="304800" algn="l"/>
              </a:tabLst>
            </a:pPr>
            <a:r>
              <a:rPr lang="en-US" altLang="zh-TW" kern="100" dirty="0">
                <a:latin typeface="Times New Roman" panose="02020603050405020304" pitchFamily="18" charset="0"/>
              </a:rPr>
              <a:t>Q: </a:t>
            </a:r>
            <a:r>
              <a:rPr lang="zh-TW" altLang="zh-TW" kern="100" dirty="0">
                <a:latin typeface="Times New Roman" panose="02020603050405020304" pitchFamily="18" charset="0"/>
              </a:rPr>
              <a:t>貴院是否有</a:t>
            </a:r>
            <a:r>
              <a:rPr lang="en-US" altLang="zh-TW" kern="100" dirty="0">
                <a:latin typeface="Times New Roman" panose="02020603050405020304" pitchFamily="18" charset="0"/>
              </a:rPr>
              <a:t>SBRT</a:t>
            </a:r>
            <a:r>
              <a:rPr lang="zh-TW" altLang="zh-TW" kern="100" dirty="0">
                <a:latin typeface="Times New Roman" panose="02020603050405020304" pitchFamily="18" charset="0"/>
              </a:rPr>
              <a:t>的經驗</a:t>
            </a:r>
            <a:r>
              <a:rPr lang="en-US" altLang="zh-TW" kern="100" dirty="0">
                <a:latin typeface="Times New Roman" panose="02020603050405020304" pitchFamily="18" charset="0"/>
              </a:rPr>
              <a:t>? </a:t>
            </a:r>
            <a:r>
              <a:rPr lang="zh-TW" altLang="zh-TW" kern="100" dirty="0">
                <a:latin typeface="Times New Roman" panose="02020603050405020304" pitchFamily="18" charset="0"/>
              </a:rPr>
              <a:t>試述對</a:t>
            </a:r>
            <a:r>
              <a:rPr lang="en-US" altLang="zh-TW" kern="100" dirty="0">
                <a:latin typeface="Times New Roman" panose="02020603050405020304" pitchFamily="18" charset="0"/>
              </a:rPr>
              <a:t>lung cancer</a:t>
            </a:r>
            <a:r>
              <a:rPr lang="zh-TW" altLang="zh-TW" kern="100" dirty="0">
                <a:latin typeface="Times New Roman" panose="02020603050405020304" pitchFamily="18" charset="0"/>
              </a:rPr>
              <a:t>做</a:t>
            </a:r>
            <a:r>
              <a:rPr lang="en-US" altLang="zh-TW" kern="100" dirty="0">
                <a:latin typeface="Times New Roman" panose="02020603050405020304" pitchFamily="18" charset="0"/>
              </a:rPr>
              <a:t>SBRT</a:t>
            </a:r>
            <a:r>
              <a:rPr lang="zh-TW" altLang="zh-TW" kern="100" dirty="0">
                <a:latin typeface="Times New Roman" panose="02020603050405020304" pitchFamily="18" charset="0"/>
              </a:rPr>
              <a:t>的所知所聞，包括療效和副作用</a:t>
            </a:r>
            <a:r>
              <a:rPr lang="en-US" altLang="zh-TW" kern="100" dirty="0" smtClean="0">
                <a:latin typeface="Times New Roman" panose="02020603050405020304" pitchFamily="18" charset="0"/>
              </a:rPr>
              <a:t>?</a:t>
            </a:r>
            <a:r>
              <a:rPr lang="zh-TW" altLang="en-US" kern="100" dirty="0" smtClean="0">
                <a:latin typeface="Times New Roman" panose="02020603050405020304" pitchFamily="18" charset="0"/>
              </a:rPr>
              <a:t> 常見的副作用 </a:t>
            </a:r>
            <a:r>
              <a:rPr lang="en-US" altLang="zh-TW" kern="100" dirty="0" smtClean="0">
                <a:latin typeface="Times New Roman" panose="02020603050405020304" pitchFamily="18" charset="0"/>
              </a:rPr>
              <a:t>:</a:t>
            </a:r>
            <a:r>
              <a:rPr lang="zh-TW" altLang="en-US" kern="100" dirty="0" smtClean="0">
                <a:latin typeface="Times New Roman" panose="02020603050405020304" pitchFamily="18" charset="0"/>
              </a:rPr>
              <a:t> </a:t>
            </a:r>
            <a:r>
              <a:rPr lang="en-US" altLang="zh-TW" kern="100" dirty="0" smtClean="0">
                <a:latin typeface="Times New Roman" panose="02020603050405020304" pitchFamily="18" charset="0"/>
              </a:rPr>
              <a:t>chest</a:t>
            </a:r>
            <a:r>
              <a:rPr lang="zh-TW" altLang="en-US" kern="100" dirty="0" smtClean="0">
                <a:latin typeface="Times New Roman" panose="02020603050405020304" pitchFamily="18" charset="0"/>
              </a:rPr>
              <a:t> </a:t>
            </a:r>
            <a:r>
              <a:rPr lang="en-US" altLang="zh-TW" kern="100" dirty="0" err="1" smtClean="0">
                <a:latin typeface="Times New Roman" panose="02020603050405020304" pitchFamily="18" charset="0"/>
              </a:rPr>
              <a:t>wll</a:t>
            </a:r>
            <a:r>
              <a:rPr lang="zh-TW" altLang="en-US" kern="100" dirty="0" smtClean="0">
                <a:latin typeface="Times New Roman" panose="02020603050405020304" pitchFamily="18" charset="0"/>
              </a:rPr>
              <a:t> </a:t>
            </a:r>
            <a:r>
              <a:rPr lang="en-US" altLang="zh-TW" kern="100" dirty="0" smtClean="0">
                <a:latin typeface="Times New Roman" panose="02020603050405020304" pitchFamily="18" charset="0"/>
              </a:rPr>
              <a:t>pain,</a:t>
            </a:r>
            <a:r>
              <a:rPr lang="zh-TW" altLang="en-US" kern="100" dirty="0" smtClean="0">
                <a:latin typeface="Times New Roman" panose="02020603050405020304" pitchFamily="18" charset="0"/>
              </a:rPr>
              <a:t> </a:t>
            </a:r>
            <a:r>
              <a:rPr lang="en-US" altLang="zh-TW" kern="100" dirty="0" smtClean="0">
                <a:latin typeface="Times New Roman" panose="02020603050405020304" pitchFamily="18" charset="0"/>
              </a:rPr>
              <a:t>dyspnea</a:t>
            </a:r>
            <a:r>
              <a:rPr lang="zh-TW" altLang="en-US" kern="100" dirty="0" smtClean="0">
                <a:latin typeface="Times New Roman" panose="02020603050405020304" pitchFamily="18" charset="0"/>
              </a:rPr>
              <a:t> </a:t>
            </a:r>
            <a:endParaRPr lang="zh-TW" altLang="zh-TW" kern="100" dirty="0">
              <a:latin typeface="Times New Roman" panose="02020603050405020304" pitchFamily="18" charset="0"/>
            </a:endParaRPr>
          </a:p>
          <a:p>
            <a:pPr>
              <a:buFont typeface="Wingdings" panose="05000000000000000000" pitchFamily="2" charset="2"/>
              <a:buChar char=""/>
              <a:tabLst>
                <a:tab pos="304800" algn="l"/>
              </a:tabLst>
            </a:pPr>
            <a:r>
              <a:rPr lang="en-US" altLang="zh-TW" kern="100" dirty="0">
                <a:latin typeface="Times New Roman" panose="02020603050405020304" pitchFamily="18" charset="0"/>
              </a:rPr>
              <a:t>Q: </a:t>
            </a:r>
            <a:r>
              <a:rPr lang="zh-TW" altLang="zh-TW" kern="100" dirty="0">
                <a:latin typeface="Times New Roman" panose="02020603050405020304" pitchFamily="18" charset="0"/>
              </a:rPr>
              <a:t>如何解決</a:t>
            </a:r>
            <a:r>
              <a:rPr lang="en-US" altLang="zh-TW" kern="100" dirty="0">
                <a:latin typeface="Times New Roman" panose="02020603050405020304" pitchFamily="18" charset="0"/>
              </a:rPr>
              <a:t>lung cancer</a:t>
            </a:r>
            <a:r>
              <a:rPr lang="zh-TW" altLang="zh-TW" kern="100" dirty="0">
                <a:latin typeface="Times New Roman" panose="02020603050405020304" pitchFamily="18" charset="0"/>
              </a:rPr>
              <a:t>病人接受</a:t>
            </a:r>
            <a:r>
              <a:rPr lang="en-US" altLang="zh-TW" kern="100" dirty="0">
                <a:latin typeface="Times New Roman" panose="02020603050405020304" pitchFamily="18" charset="0"/>
              </a:rPr>
              <a:t>RT</a:t>
            </a:r>
            <a:r>
              <a:rPr lang="zh-TW" altLang="zh-TW" kern="100" dirty="0">
                <a:latin typeface="Times New Roman" panose="02020603050405020304" pitchFamily="18" charset="0"/>
              </a:rPr>
              <a:t>時</a:t>
            </a:r>
            <a:r>
              <a:rPr lang="en-US" altLang="zh-TW" kern="100" dirty="0">
                <a:latin typeface="Times New Roman" panose="02020603050405020304" pitchFamily="18" charset="0"/>
              </a:rPr>
              <a:t>organ motion</a:t>
            </a:r>
            <a:r>
              <a:rPr lang="zh-TW" altLang="zh-TW" kern="100" dirty="0">
                <a:latin typeface="Times New Roman" panose="02020603050405020304" pitchFamily="18" charset="0"/>
              </a:rPr>
              <a:t>的問題</a:t>
            </a:r>
            <a:r>
              <a:rPr lang="en-US" altLang="zh-TW" kern="100" dirty="0" smtClean="0">
                <a:latin typeface="Times New Roman" panose="02020603050405020304" pitchFamily="18" charset="0"/>
              </a:rPr>
              <a:t>?  </a:t>
            </a:r>
            <a:r>
              <a:rPr lang="zh-TW" altLang="en-US" kern="100" dirty="0" smtClean="0">
                <a:latin typeface="Times New Roman" panose="02020603050405020304" pitchFamily="18" charset="0"/>
              </a:rPr>
              <a:t>壓腹限制呼吸</a:t>
            </a:r>
            <a:r>
              <a:rPr lang="en-US" altLang="zh-TW" kern="100" dirty="0" smtClean="0">
                <a:latin typeface="Times New Roman" panose="02020603050405020304" pitchFamily="18" charset="0"/>
              </a:rPr>
              <a:t>, </a:t>
            </a:r>
            <a:r>
              <a:rPr lang="zh-TW" altLang="en-US" kern="100" dirty="0" smtClean="0">
                <a:latin typeface="Times New Roman" panose="02020603050405020304" pitchFamily="18" charset="0"/>
              </a:rPr>
              <a:t>或是</a:t>
            </a:r>
            <a:r>
              <a:rPr lang="en-US" altLang="zh-TW" kern="100" dirty="0" smtClean="0">
                <a:latin typeface="Times New Roman" panose="02020603050405020304" pitchFamily="18" charset="0"/>
              </a:rPr>
              <a:t>active breathing control(</a:t>
            </a:r>
            <a:r>
              <a:rPr lang="zh-TW" altLang="en-US" kern="100" dirty="0" smtClean="0">
                <a:latin typeface="Times New Roman" panose="02020603050405020304" pitchFamily="18" charset="0"/>
              </a:rPr>
              <a:t>訓練病人的呼吸幅度</a:t>
            </a:r>
            <a:r>
              <a:rPr lang="en-US" altLang="zh-TW" kern="100" dirty="0" smtClean="0">
                <a:latin typeface="Times New Roman" panose="02020603050405020304" pitchFamily="18" charset="0"/>
              </a:rPr>
              <a:t>,</a:t>
            </a:r>
            <a:r>
              <a:rPr lang="zh-TW" altLang="en-US" kern="100" dirty="0" smtClean="0">
                <a:latin typeface="Times New Roman" panose="02020603050405020304" pitchFamily="18" charset="0"/>
              </a:rPr>
              <a:t>吸氣閉氣</a:t>
            </a:r>
            <a:r>
              <a:rPr lang="en-US" altLang="zh-TW" kern="100" dirty="0" smtClean="0">
                <a:latin typeface="Times New Roman" panose="02020603050405020304" pitchFamily="18" charset="0"/>
              </a:rPr>
              <a:t>)</a:t>
            </a:r>
            <a:r>
              <a:rPr lang="zh-TW" altLang="en-US" kern="100" dirty="0" smtClean="0">
                <a:latin typeface="Times New Roman" panose="02020603050405020304" pitchFamily="18" charset="0"/>
              </a:rPr>
              <a:t>並用</a:t>
            </a:r>
            <a:r>
              <a:rPr lang="en-US" altLang="zh-TW" kern="100" dirty="0" smtClean="0">
                <a:latin typeface="Times New Roman" panose="02020603050405020304" pitchFamily="18" charset="0"/>
              </a:rPr>
              <a:t>vision RT </a:t>
            </a:r>
            <a:r>
              <a:rPr lang="zh-TW" altLang="en-US" kern="100" dirty="0" smtClean="0">
                <a:latin typeface="Times New Roman" panose="02020603050405020304" pitchFamily="18" charset="0"/>
              </a:rPr>
              <a:t>等監測、或是呼吸的</a:t>
            </a:r>
            <a:r>
              <a:rPr lang="en-US" altLang="zh-TW" kern="100" dirty="0" smtClean="0">
                <a:latin typeface="Times New Roman" panose="02020603050405020304" pitchFamily="18" charset="0"/>
              </a:rPr>
              <a:t>g</a:t>
            </a:r>
            <a:r>
              <a:rPr lang="en-US" altLang="zh-TW" kern="100" dirty="0" smtClean="0">
                <a:latin typeface="Times New Roman" panose="02020603050405020304" pitchFamily="18" charset="0"/>
              </a:rPr>
              <a:t>ating</a:t>
            </a:r>
            <a:r>
              <a:rPr lang="zh-TW" altLang="en-US" kern="100" dirty="0">
                <a:latin typeface="Times New Roman" panose="02020603050405020304" pitchFamily="18" charset="0"/>
              </a:rPr>
              <a:t> </a:t>
            </a:r>
            <a:r>
              <a:rPr lang="en-US" altLang="zh-TW" kern="100" dirty="0" smtClean="0">
                <a:latin typeface="Times New Roman" panose="02020603050405020304" pitchFamily="18" charset="0"/>
              </a:rPr>
              <a:t>(</a:t>
            </a:r>
            <a:r>
              <a:rPr lang="zh-TW" altLang="en-US" kern="100" dirty="0" smtClean="0">
                <a:latin typeface="Times New Roman" panose="02020603050405020304" pitchFamily="18" charset="0"/>
              </a:rPr>
              <a:t>偵測呼吸的</a:t>
            </a:r>
            <a:r>
              <a:rPr lang="en-US" altLang="zh-TW" kern="100" dirty="0" smtClean="0">
                <a:latin typeface="Times New Roman" panose="02020603050405020304" pitchFamily="18" charset="0"/>
              </a:rPr>
              <a:t>phase</a:t>
            </a:r>
            <a:r>
              <a:rPr lang="zh-TW" altLang="en-US" kern="100" dirty="0" smtClean="0">
                <a:latin typeface="Times New Roman" panose="02020603050405020304" pitchFamily="18" charset="0"/>
              </a:rPr>
              <a:t> </a:t>
            </a:r>
            <a:r>
              <a:rPr lang="en-US" altLang="zh-TW" kern="100" dirty="0" smtClean="0">
                <a:latin typeface="Times New Roman" panose="02020603050405020304" pitchFamily="18" charset="0"/>
              </a:rPr>
              <a:t>or</a:t>
            </a:r>
            <a:r>
              <a:rPr lang="zh-TW" altLang="en-US" kern="100" dirty="0" smtClean="0">
                <a:latin typeface="Times New Roman" panose="02020603050405020304" pitchFamily="18" charset="0"/>
              </a:rPr>
              <a:t> </a:t>
            </a:r>
            <a:r>
              <a:rPr lang="en-US" altLang="zh-TW" kern="100" dirty="0" err="1" smtClean="0">
                <a:latin typeface="Times New Roman" panose="02020603050405020304" pitchFamily="18" charset="0"/>
              </a:rPr>
              <a:t>amplititude</a:t>
            </a:r>
            <a:r>
              <a:rPr lang="en-US" altLang="zh-TW" kern="100" dirty="0" smtClean="0">
                <a:latin typeface="Times New Roman" panose="02020603050405020304" pitchFamily="18" charset="0"/>
              </a:rPr>
              <a:t>)</a:t>
            </a:r>
            <a:r>
              <a:rPr lang="en-US" altLang="zh-TW" kern="100" dirty="0" smtClean="0">
                <a:latin typeface="Times New Roman" panose="02020603050405020304" pitchFamily="18" charset="0"/>
              </a:rPr>
              <a:t>,  </a:t>
            </a:r>
            <a:r>
              <a:rPr lang="zh-TW" altLang="en-US" kern="100" dirty="0" smtClean="0">
                <a:latin typeface="Times New Roman" panose="02020603050405020304" pitchFamily="18" charset="0"/>
              </a:rPr>
              <a:t>以及可以</a:t>
            </a:r>
            <a:r>
              <a:rPr lang="en-US" altLang="zh-TW" kern="100" dirty="0" smtClean="0">
                <a:latin typeface="Times New Roman" panose="02020603050405020304" pitchFamily="18" charset="0"/>
              </a:rPr>
              <a:t>tumor</a:t>
            </a:r>
            <a:r>
              <a:rPr lang="zh-TW" altLang="en-US" kern="100" dirty="0" smtClean="0">
                <a:latin typeface="Times New Roman" panose="02020603050405020304" pitchFamily="18" charset="0"/>
              </a:rPr>
              <a:t>放</a:t>
            </a:r>
            <a:r>
              <a:rPr lang="en-US" altLang="zh-TW" kern="100" dirty="0" err="1" smtClean="0">
                <a:latin typeface="Times New Roman" panose="02020603050405020304" pitchFamily="18" charset="0"/>
              </a:rPr>
              <a:t>fisidual</a:t>
            </a:r>
            <a:r>
              <a:rPr lang="zh-TW" altLang="en-US" kern="100" dirty="0" smtClean="0">
                <a:latin typeface="Times New Roman" panose="02020603050405020304" pitchFamily="18" charset="0"/>
              </a:rPr>
              <a:t> </a:t>
            </a:r>
            <a:r>
              <a:rPr lang="en-US" altLang="zh-TW" kern="100" dirty="0" smtClean="0">
                <a:latin typeface="Times New Roman" panose="02020603050405020304" pitchFamily="18" charset="0"/>
              </a:rPr>
              <a:t>marker</a:t>
            </a:r>
            <a:r>
              <a:rPr lang="zh-TW" altLang="en-US" kern="100" dirty="0" smtClean="0">
                <a:latin typeface="Times New Roman" panose="02020603050405020304" pitchFamily="18" charset="0"/>
              </a:rPr>
              <a:t> 做監測</a:t>
            </a:r>
            <a:endParaRPr lang="en-US" altLang="zh-TW" kern="100" dirty="0">
              <a:latin typeface="Times New Roman" panose="02020603050405020304" pitchFamily="18" charset="0"/>
            </a:endParaRPr>
          </a:p>
          <a:p>
            <a:pPr>
              <a:buFont typeface="Wingdings" panose="05000000000000000000" pitchFamily="2" charset="2"/>
              <a:buChar char=""/>
              <a:tabLst>
                <a:tab pos="304800" algn="l"/>
              </a:tabLst>
            </a:pPr>
            <a:r>
              <a:rPr lang="en-US" altLang="zh-TW" kern="100" dirty="0">
                <a:latin typeface="Times New Roman" panose="02020603050405020304" pitchFamily="18" charset="0"/>
              </a:rPr>
              <a:t>A: abdominal compression</a:t>
            </a:r>
            <a:endParaRPr lang="zh-TW" altLang="zh-TW" kern="100" dirty="0">
              <a:latin typeface="Times New Roman" panose="02020603050405020304" pitchFamily="18" charset="0"/>
            </a:endParaRPr>
          </a:p>
          <a:p>
            <a:endParaRPr lang="zh-TW" altLang="en-US" dirty="0"/>
          </a:p>
        </p:txBody>
      </p:sp>
    </p:spTree>
    <p:extLst>
      <p:ext uri="{BB962C8B-B14F-4D97-AF65-F5344CB8AC3E}">
        <p14:creationId xmlns:p14="http://schemas.microsoft.com/office/powerpoint/2010/main" val="29784591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2013</a:t>
            </a:r>
            <a:endParaRPr lang="zh-TW" altLang="en-US" dirty="0"/>
          </a:p>
        </p:txBody>
      </p:sp>
      <p:sp>
        <p:nvSpPr>
          <p:cNvPr id="3" name="內容版面配置區 2"/>
          <p:cNvSpPr>
            <a:spLocks noGrp="1"/>
          </p:cNvSpPr>
          <p:nvPr>
            <p:ph idx="1"/>
          </p:nvPr>
        </p:nvSpPr>
        <p:spPr/>
        <p:txBody>
          <a:bodyPr>
            <a:normAutofit fontScale="47500" lnSpcReduction="20000"/>
          </a:bodyPr>
          <a:lstStyle/>
          <a:p>
            <a:r>
              <a:rPr lang="en-US" altLang="zh-TW" dirty="0"/>
              <a:t>&lt;Lung&gt;</a:t>
            </a:r>
            <a:endParaRPr lang="zh-TW" altLang="zh-TW" dirty="0"/>
          </a:p>
          <a:p>
            <a:r>
              <a:rPr lang="en-US" altLang="zh-TW" dirty="0"/>
              <a:t>Lung-</a:t>
            </a:r>
            <a:r>
              <a:rPr lang="zh-TW" altLang="zh-TW" dirty="0"/>
              <a:t>呂志得</a:t>
            </a:r>
          </a:p>
          <a:p>
            <a:pPr lvl="0"/>
            <a:r>
              <a:rPr lang="en-US" altLang="zh-TW" dirty="0" smtClean="0"/>
              <a:t>Q1: 83</a:t>
            </a:r>
            <a:r>
              <a:rPr lang="zh-TW" altLang="zh-TW" dirty="0"/>
              <a:t>歲男性病人，在外面身體檢查</a:t>
            </a:r>
            <a:r>
              <a:rPr lang="en-US" altLang="zh-TW" dirty="0" err="1"/>
              <a:t>CxR</a:t>
            </a:r>
            <a:r>
              <a:rPr lang="zh-TW" altLang="zh-TW" dirty="0"/>
              <a:t>發現右上肺葉有一個</a:t>
            </a:r>
            <a:r>
              <a:rPr lang="en-US" altLang="zh-TW" dirty="0"/>
              <a:t>2</a:t>
            </a:r>
            <a:r>
              <a:rPr lang="zh-TW" altLang="zh-TW" dirty="0"/>
              <a:t>公分</a:t>
            </a:r>
            <a:r>
              <a:rPr lang="en-US" altLang="zh-TW" dirty="0"/>
              <a:t>nodule</a:t>
            </a:r>
            <a:r>
              <a:rPr lang="zh-TW" altLang="zh-TW" dirty="0"/>
              <a:t>，拿著影像來向你諮詢及如何處置。從病人的</a:t>
            </a:r>
            <a:r>
              <a:rPr lang="en-US" altLang="zh-TW" dirty="0"/>
              <a:t>history taking</a:t>
            </a:r>
            <a:r>
              <a:rPr lang="zh-TW" altLang="zh-TW" dirty="0"/>
              <a:t>開始，包括</a:t>
            </a:r>
            <a:r>
              <a:rPr lang="en-US" altLang="zh-TW" dirty="0"/>
              <a:t>present illness</a:t>
            </a:r>
            <a:r>
              <a:rPr lang="zh-TW" altLang="zh-TW" dirty="0"/>
              <a:t>、</a:t>
            </a:r>
            <a:r>
              <a:rPr lang="en-US" altLang="zh-TW" dirty="0"/>
              <a:t>past history</a:t>
            </a:r>
            <a:r>
              <a:rPr lang="zh-TW" altLang="zh-TW" dirty="0"/>
              <a:t>、</a:t>
            </a:r>
            <a:r>
              <a:rPr lang="en-US" altLang="zh-TW" dirty="0"/>
              <a:t>family history</a:t>
            </a:r>
            <a:r>
              <a:rPr lang="zh-TW" altLang="zh-TW" dirty="0"/>
              <a:t>、</a:t>
            </a:r>
            <a:r>
              <a:rPr lang="en-US" altLang="zh-TW" dirty="0"/>
              <a:t>life behavior</a:t>
            </a:r>
            <a:r>
              <a:rPr lang="zh-TW" altLang="zh-TW" dirty="0"/>
              <a:t>等等先問起，要先從良性疾病排除起。接著才考慮</a:t>
            </a:r>
            <a:r>
              <a:rPr lang="en-US" altLang="zh-TW" dirty="0"/>
              <a:t>biopsy</a:t>
            </a:r>
            <a:r>
              <a:rPr lang="zh-TW" altLang="zh-TW" dirty="0"/>
              <a:t>，結果</a:t>
            </a:r>
            <a:r>
              <a:rPr lang="en-US" altLang="zh-TW" dirty="0"/>
              <a:t>adenocarcinoma</a:t>
            </a:r>
            <a:r>
              <a:rPr lang="zh-TW" altLang="zh-TW" dirty="0"/>
              <a:t>，問後續檢查</a:t>
            </a:r>
            <a:r>
              <a:rPr lang="zh-TW" altLang="zh-TW" dirty="0" smtClean="0"/>
              <a:t>。</a:t>
            </a:r>
            <a:endParaRPr lang="en-US" altLang="zh-TW" dirty="0" smtClean="0"/>
          </a:p>
          <a:p>
            <a:r>
              <a:rPr lang="en-US" altLang="zh-TW" dirty="0" smtClean="0"/>
              <a:t>A: </a:t>
            </a:r>
            <a:r>
              <a:rPr lang="fr-FR" altLang="zh-TW" b="1" dirty="0" smtClean="0"/>
              <a:t>CT</a:t>
            </a:r>
            <a:r>
              <a:rPr lang="fr-FR" altLang="zh-TW" b="1" dirty="0"/>
              <a:t>, </a:t>
            </a:r>
            <a:r>
              <a:rPr lang="fr-FR" altLang="zh-TW" b="1" dirty="0" smtClean="0"/>
              <a:t> PET, brain MRI if &gt; stage II</a:t>
            </a:r>
            <a:endParaRPr lang="zh-TW" altLang="zh-TW" dirty="0"/>
          </a:p>
          <a:p>
            <a:pPr lvl="0"/>
            <a:r>
              <a:rPr lang="en-US" altLang="zh-TW" dirty="0" smtClean="0"/>
              <a:t>Q2: chest </a:t>
            </a:r>
            <a:r>
              <a:rPr lang="en-US" altLang="zh-TW" dirty="0"/>
              <a:t>CT</a:t>
            </a:r>
            <a:r>
              <a:rPr lang="zh-TW" altLang="zh-TW" dirty="0"/>
              <a:t>發現左下肺葉有兩個小小的</a:t>
            </a:r>
            <a:r>
              <a:rPr lang="en-US" altLang="zh-TW" dirty="0"/>
              <a:t>nodule</a:t>
            </a:r>
            <a:r>
              <a:rPr lang="zh-TW" altLang="zh-TW" dirty="0"/>
              <a:t>，問</a:t>
            </a:r>
            <a:r>
              <a:rPr lang="zh-TW" altLang="zh-TW" dirty="0" smtClean="0"/>
              <a:t>後續</a:t>
            </a:r>
            <a:endParaRPr lang="en-US" altLang="zh-TW" dirty="0" smtClean="0"/>
          </a:p>
          <a:p>
            <a:pPr lvl="0"/>
            <a:r>
              <a:rPr lang="en-US" altLang="zh-TW" dirty="0" smtClean="0"/>
              <a:t> </a:t>
            </a:r>
            <a:r>
              <a:rPr lang="zh-TW" altLang="zh-TW" dirty="0"/>
              <a:t>我答由於前面已知為</a:t>
            </a:r>
            <a:r>
              <a:rPr lang="en-US" altLang="zh-TW" dirty="0"/>
              <a:t>NSCLC</a:t>
            </a:r>
            <a:r>
              <a:rPr lang="zh-TW" altLang="zh-TW" dirty="0"/>
              <a:t>所以除了</a:t>
            </a:r>
            <a:r>
              <a:rPr lang="en-US" altLang="zh-TW" dirty="0"/>
              <a:t>chest CT</a:t>
            </a:r>
            <a:r>
              <a:rPr lang="zh-TW" altLang="zh-TW" dirty="0"/>
              <a:t>，我會同步安排</a:t>
            </a:r>
            <a:r>
              <a:rPr lang="en-US" altLang="zh-TW" dirty="0"/>
              <a:t>PET</a:t>
            </a:r>
            <a:r>
              <a:rPr lang="zh-TW" altLang="zh-TW" dirty="0"/>
              <a:t>，結果只發現左邊</a:t>
            </a:r>
            <a:r>
              <a:rPr lang="en-US" altLang="zh-TW" dirty="0" err="1"/>
              <a:t>hilar</a:t>
            </a:r>
            <a:r>
              <a:rPr lang="zh-TW" altLang="zh-TW" dirty="0"/>
              <a:t>一個亮點，但</a:t>
            </a:r>
            <a:r>
              <a:rPr lang="en-US" altLang="zh-TW" dirty="0"/>
              <a:t>LLL</a:t>
            </a:r>
            <a:r>
              <a:rPr lang="zh-TW" altLang="zh-TW" dirty="0"/>
              <a:t>的沒有亮，問我的判斷結果。 </a:t>
            </a:r>
            <a:r>
              <a:rPr lang="en-US" altLang="zh-TW" dirty="0">
                <a:sym typeface="Wingdings" panose="05000000000000000000" pitchFamily="2" charset="2"/>
              </a:rPr>
              <a:t></a:t>
            </a:r>
            <a:r>
              <a:rPr lang="en-US" altLang="zh-TW" dirty="0"/>
              <a:t> primary tumor LN </a:t>
            </a:r>
            <a:r>
              <a:rPr lang="en-US" altLang="zh-TW" dirty="0" err="1"/>
              <a:t>mets</a:t>
            </a:r>
            <a:r>
              <a:rPr lang="en-US" altLang="zh-TW" dirty="0"/>
              <a:t>(N3) or second primary? Left </a:t>
            </a:r>
            <a:r>
              <a:rPr lang="en-US" altLang="zh-TW" dirty="0" err="1"/>
              <a:t>hilar</a:t>
            </a:r>
            <a:r>
              <a:rPr lang="zh-TW" altLang="zh-TW" dirty="0"/>
              <a:t>也</a:t>
            </a:r>
            <a:r>
              <a:rPr lang="zh-TW" altLang="zh-TW" dirty="0" smtClean="0"/>
              <a:t>安排</a:t>
            </a:r>
            <a:r>
              <a:rPr lang="en-US" altLang="zh-TW" dirty="0" err="1" smtClean="0"/>
              <a:t>bronchoscopic</a:t>
            </a:r>
            <a:r>
              <a:rPr lang="en-US" altLang="zh-TW" dirty="0" smtClean="0"/>
              <a:t> </a:t>
            </a:r>
            <a:r>
              <a:rPr lang="en-US" altLang="zh-TW" dirty="0"/>
              <a:t>biopsy </a:t>
            </a:r>
            <a:r>
              <a:rPr lang="en-US" altLang="zh-TW" dirty="0">
                <a:sym typeface="Wingdings" panose="05000000000000000000" pitchFamily="2" charset="2"/>
              </a:rPr>
              <a:t></a:t>
            </a:r>
            <a:r>
              <a:rPr lang="en-US" altLang="zh-TW" dirty="0"/>
              <a:t> adenocarcinoma </a:t>
            </a:r>
            <a:r>
              <a:rPr lang="zh-TW" altLang="zh-TW" dirty="0"/>
              <a:t>若</a:t>
            </a:r>
            <a:r>
              <a:rPr lang="en-US" altLang="zh-TW" dirty="0"/>
              <a:t>scope</a:t>
            </a:r>
            <a:r>
              <a:rPr lang="zh-TW" altLang="zh-TW" dirty="0"/>
              <a:t>看不到就用</a:t>
            </a:r>
            <a:r>
              <a:rPr lang="en-US" altLang="zh-TW" dirty="0"/>
              <a:t>VATS</a:t>
            </a:r>
            <a:endParaRPr lang="zh-TW" altLang="zh-TW" dirty="0"/>
          </a:p>
          <a:p>
            <a:pPr lvl="0"/>
            <a:r>
              <a:rPr lang="en-US" altLang="zh-TW" dirty="0" smtClean="0"/>
              <a:t>Q3: </a:t>
            </a:r>
            <a:r>
              <a:rPr lang="zh-TW" altLang="zh-TW" dirty="0" smtClean="0"/>
              <a:t>呂</a:t>
            </a:r>
            <a:r>
              <a:rPr lang="zh-TW" altLang="zh-TW" dirty="0"/>
              <a:t>主任說那就把他當作</a:t>
            </a:r>
            <a:r>
              <a:rPr lang="en-US" altLang="zh-TW" dirty="0"/>
              <a:t>T1N3</a:t>
            </a:r>
            <a:r>
              <a:rPr lang="zh-TW" altLang="zh-TW" dirty="0"/>
              <a:t>好了，問治療</a:t>
            </a:r>
            <a:r>
              <a:rPr lang="en-US" altLang="zh-TW" dirty="0"/>
              <a:t>? </a:t>
            </a:r>
            <a:endParaRPr lang="zh-TW" altLang="zh-TW" dirty="0"/>
          </a:p>
          <a:p>
            <a:pPr lvl="0"/>
            <a:r>
              <a:rPr lang="en-US" altLang="zh-TW" dirty="0" smtClean="0"/>
              <a:t>T1N3 stage IIIB, </a:t>
            </a:r>
            <a:r>
              <a:rPr lang="en-US" altLang="zh-TW" dirty="0" err="1" smtClean="0"/>
              <a:t>unresectable</a:t>
            </a:r>
            <a:r>
              <a:rPr lang="en-US" altLang="zh-TW" dirty="0" smtClean="0"/>
              <a:t> CRT, </a:t>
            </a:r>
            <a:r>
              <a:rPr lang="fr-FR" altLang="zh-TW" b="1" dirty="0"/>
              <a:t>(</a:t>
            </a:r>
            <a:r>
              <a:rPr lang="zh-TW" altLang="zh-TW" b="1" dirty="0"/>
              <a:t>考量病人年齡可以考慮</a:t>
            </a:r>
            <a:r>
              <a:rPr lang="fr-FR" altLang="zh-TW" b="1" dirty="0"/>
              <a:t> sequential chemo-RT or RT alone)</a:t>
            </a:r>
            <a:r>
              <a:rPr lang="zh-TW" altLang="zh-TW" b="1" dirty="0"/>
              <a:t>。</a:t>
            </a:r>
            <a:endParaRPr lang="en-US" altLang="zh-TW" dirty="0" smtClean="0"/>
          </a:p>
          <a:p>
            <a:pPr lvl="0"/>
            <a:endParaRPr lang="en-US" altLang="zh-TW" dirty="0" smtClean="0"/>
          </a:p>
          <a:p>
            <a:r>
              <a:rPr lang="fr-FR" altLang="zh-TW" dirty="0" smtClean="0"/>
              <a:t>4</a:t>
            </a:r>
            <a:r>
              <a:rPr lang="fr-FR" altLang="zh-TW" dirty="0"/>
              <a:t>.	</a:t>
            </a:r>
            <a:r>
              <a:rPr lang="zh-TW" altLang="zh-TW" dirty="0"/>
              <a:t>那病人若是</a:t>
            </a:r>
            <a:r>
              <a:rPr lang="fr-FR" altLang="zh-TW" dirty="0"/>
              <a:t>Lt Hilar </a:t>
            </a:r>
            <a:r>
              <a:rPr lang="zh-TW" altLang="zh-TW" dirty="0"/>
              <a:t>那顆亮點只是一個</a:t>
            </a:r>
            <a:r>
              <a:rPr lang="fr-FR" altLang="zh-TW" dirty="0"/>
              <a:t> inflammation / infection </a:t>
            </a:r>
            <a:r>
              <a:rPr lang="zh-TW" altLang="zh-TW" dirty="0"/>
              <a:t>造成的，變成</a:t>
            </a:r>
            <a:r>
              <a:rPr lang="fr-FR" altLang="zh-TW" dirty="0"/>
              <a:t>T1N0</a:t>
            </a:r>
            <a:r>
              <a:rPr lang="zh-TW" altLang="zh-TW" dirty="0"/>
              <a:t>，年齡較大堅持不想手術，有沒有其他方法</a:t>
            </a:r>
            <a:r>
              <a:rPr lang="fr-FR" altLang="zh-TW" dirty="0"/>
              <a:t>? </a:t>
            </a:r>
            <a:endParaRPr lang="fr-FR" altLang="zh-TW" dirty="0" smtClean="0"/>
          </a:p>
          <a:p>
            <a:r>
              <a:rPr lang="fr-FR" altLang="zh-TW" b="1" dirty="0" smtClean="0"/>
              <a:t>A: SABR</a:t>
            </a:r>
            <a:r>
              <a:rPr lang="fr-FR" altLang="zh-TW" dirty="0" smtClean="0"/>
              <a:t> </a:t>
            </a:r>
            <a:r>
              <a:rPr lang="zh-TW" altLang="zh-TW" dirty="0"/>
              <a:t>請背出</a:t>
            </a:r>
            <a:r>
              <a:rPr lang="fr-FR" altLang="zh-TW" dirty="0"/>
              <a:t> RTOG 0236</a:t>
            </a:r>
            <a:r>
              <a:rPr lang="zh-TW" altLang="zh-TW" dirty="0"/>
              <a:t>的作法與結果與副作用。</a:t>
            </a:r>
          </a:p>
          <a:p>
            <a:r>
              <a:rPr lang="en-US" altLang="zh-TW" dirty="0" smtClean="0"/>
              <a:t>RTOG 0236 Timmerman 60Gy/3fx, inoperable &gt;2cm from bronchial tree, 5y LC : 93% 5year: OS40% </a:t>
            </a:r>
          </a:p>
          <a:p>
            <a:r>
              <a:rPr lang="en-US" altLang="zh-TW" dirty="0" smtClean="0"/>
              <a:t>16.3% grade 3-4 toxicity no grade 5</a:t>
            </a:r>
          </a:p>
          <a:p>
            <a:endParaRPr lang="zh-TW" altLang="en-US" dirty="0"/>
          </a:p>
        </p:txBody>
      </p:sp>
    </p:spTree>
    <p:extLst>
      <p:ext uri="{BB962C8B-B14F-4D97-AF65-F5344CB8AC3E}">
        <p14:creationId xmlns:p14="http://schemas.microsoft.com/office/powerpoint/2010/main" val="1593315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81200" y="274638"/>
            <a:ext cx="2962672" cy="1143000"/>
          </a:xfrm>
        </p:spPr>
        <p:txBody>
          <a:bodyPr>
            <a:normAutofit fontScale="90000"/>
          </a:bodyPr>
          <a:lstStyle/>
          <a:p>
            <a:r>
              <a:rPr lang="en-US" altLang="zh-TW" dirty="0" smtClean="0"/>
              <a:t>2014</a:t>
            </a:r>
            <a:r>
              <a:rPr lang="en-US" altLang="zh-TW" kern="0" dirty="0">
                <a:solidFill>
                  <a:srgbClr val="000000"/>
                </a:solidFill>
                <a:latin typeface="Arial" panose="020B0604020202020204" pitchFamily="34" charset="0"/>
                <a:cs typeface="Times New Roman" panose="02020603050405020304" pitchFamily="18" charset="0"/>
              </a:rPr>
              <a:t>[</a:t>
            </a:r>
            <a:r>
              <a:rPr lang="zh-TW" altLang="zh-TW" kern="0" dirty="0">
                <a:solidFill>
                  <a:srgbClr val="000000"/>
                </a:solidFill>
                <a:latin typeface="Arial" panose="020B0604020202020204" pitchFamily="34" charset="0"/>
                <a:cs typeface="Arial" panose="020B0604020202020204" pitchFamily="34" charset="0"/>
              </a:rPr>
              <a:t>梁雲</a:t>
            </a:r>
            <a:r>
              <a:rPr lang="en-US" altLang="zh-TW" kern="0" dirty="0">
                <a:solidFill>
                  <a:srgbClr val="000000"/>
                </a:solidFill>
                <a:latin typeface="Arial" panose="020B0604020202020204" pitchFamily="34" charset="0"/>
                <a:cs typeface="Times New Roman" panose="02020603050405020304" pitchFamily="18" charset="0"/>
              </a:rPr>
              <a:t>]</a:t>
            </a:r>
            <a:r>
              <a:rPr lang="zh-TW" altLang="zh-TW" kern="100" dirty="0">
                <a:latin typeface="Calibri" panose="020F0502020204030204" pitchFamily="34" charset="0"/>
                <a:cs typeface="Times New Roman" panose="02020603050405020304" pitchFamily="18" charset="0"/>
              </a:rPr>
              <a:t/>
            </a:r>
            <a:br>
              <a:rPr lang="zh-TW" altLang="zh-TW" kern="100" dirty="0">
                <a:latin typeface="Calibri" panose="020F0502020204030204" pitchFamily="34" charset="0"/>
                <a:cs typeface="Times New Roman" panose="02020603050405020304" pitchFamily="18" charset="0"/>
              </a:rPr>
            </a:br>
            <a:endParaRPr lang="zh-TW" altLang="en-US" dirty="0"/>
          </a:p>
        </p:txBody>
      </p:sp>
      <p:sp>
        <p:nvSpPr>
          <p:cNvPr id="3" name="內容版面配置區 2"/>
          <p:cNvSpPr>
            <a:spLocks noGrp="1"/>
          </p:cNvSpPr>
          <p:nvPr>
            <p:ph sz="half" idx="1"/>
          </p:nvPr>
        </p:nvSpPr>
        <p:spPr>
          <a:xfrm>
            <a:off x="1981200" y="908720"/>
            <a:ext cx="4038600" cy="5832648"/>
          </a:xfrm>
        </p:spPr>
        <p:txBody>
          <a:bodyPr>
            <a:normAutofit fontScale="55000" lnSpcReduction="20000"/>
          </a:bodyPr>
          <a:lstStyle/>
          <a:p>
            <a:r>
              <a:rPr lang="en-US" altLang="zh-TW" kern="0" dirty="0" smtClean="0">
                <a:solidFill>
                  <a:srgbClr val="000000"/>
                </a:solidFill>
                <a:latin typeface="Arial" panose="020B0604020202020204" pitchFamily="34" charset="0"/>
                <a:cs typeface="Arial" panose="020B0604020202020204" pitchFamily="34" charset="0"/>
              </a:rPr>
              <a:t>Q: </a:t>
            </a:r>
            <a:r>
              <a:rPr lang="zh-TW" altLang="zh-TW" kern="0" dirty="0" smtClean="0">
                <a:solidFill>
                  <a:srgbClr val="000000"/>
                </a:solidFill>
                <a:latin typeface="Arial" panose="020B0604020202020204" pitchFamily="34" charset="0"/>
                <a:cs typeface="Arial" panose="020B0604020202020204" pitchFamily="34" charset="0"/>
              </a:rPr>
              <a:t>病人</a:t>
            </a:r>
            <a:r>
              <a:rPr lang="zh-TW" altLang="zh-TW" kern="0" dirty="0">
                <a:solidFill>
                  <a:srgbClr val="000000"/>
                </a:solidFill>
                <a:latin typeface="Arial" panose="020B0604020202020204" pitchFamily="34" charset="0"/>
                <a:cs typeface="Arial" panose="020B0604020202020204" pitchFamily="34" charset="0"/>
              </a:rPr>
              <a:t>拿</a:t>
            </a:r>
            <a:r>
              <a:rPr lang="en-US" altLang="zh-TW" kern="0" dirty="0">
                <a:solidFill>
                  <a:srgbClr val="000000"/>
                </a:solidFill>
                <a:latin typeface="Arial" panose="020B0604020202020204" pitchFamily="34" charset="0"/>
                <a:cs typeface="Times New Roman" panose="02020603050405020304" pitchFamily="18" charset="0"/>
              </a:rPr>
              <a:t>X</a:t>
            </a:r>
            <a:r>
              <a:rPr lang="zh-TW" altLang="zh-TW" kern="0" dirty="0">
                <a:solidFill>
                  <a:srgbClr val="000000"/>
                </a:solidFill>
                <a:latin typeface="Arial" panose="020B0604020202020204" pitchFamily="34" charset="0"/>
                <a:cs typeface="Arial" panose="020B0604020202020204" pitchFamily="34" charset="0"/>
              </a:rPr>
              <a:t>光片說右下肺葉有個兩公分</a:t>
            </a:r>
            <a:r>
              <a:rPr lang="en-US" altLang="zh-TW" kern="0" dirty="0">
                <a:solidFill>
                  <a:srgbClr val="000000"/>
                </a:solidFill>
                <a:latin typeface="Arial" panose="020B0604020202020204" pitchFamily="34" charset="0"/>
                <a:cs typeface="Times New Roman" panose="02020603050405020304" pitchFamily="18" charset="0"/>
              </a:rPr>
              <a:t>nodule, </a:t>
            </a:r>
            <a:r>
              <a:rPr lang="zh-TW" altLang="zh-TW" kern="0" dirty="0">
                <a:solidFill>
                  <a:srgbClr val="000000"/>
                </a:solidFill>
                <a:latin typeface="Arial" panose="020B0604020202020204" pitchFamily="34" charset="0"/>
                <a:cs typeface="Arial" panose="020B0604020202020204" pitchFamily="34" charset="0"/>
              </a:rPr>
              <a:t>後續處理與如何評估</a:t>
            </a:r>
            <a:r>
              <a:rPr lang="en-US" altLang="zh-TW" kern="0" dirty="0" smtClean="0">
                <a:solidFill>
                  <a:srgbClr val="000000"/>
                </a:solidFill>
                <a:latin typeface="Arial" panose="020B0604020202020204" pitchFamily="34" charset="0"/>
                <a:cs typeface="Times New Roman" panose="02020603050405020304" pitchFamily="18" charset="0"/>
              </a:rPr>
              <a:t>?</a:t>
            </a:r>
            <a:endParaRPr lang="zh-TW" altLang="zh-TW" kern="100" dirty="0">
              <a:latin typeface="Calibri" panose="020F050202020403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Times New Roman" panose="02020603050405020304" pitchFamily="18" charset="0"/>
              </a:rPr>
              <a:t>A: </a:t>
            </a:r>
            <a:r>
              <a:rPr lang="en-US" altLang="zh-TW" kern="0" dirty="0">
                <a:solidFill>
                  <a:srgbClr val="000000"/>
                </a:solidFill>
                <a:latin typeface="Arial" panose="020B0604020202020204" pitchFamily="34" charset="0"/>
                <a:cs typeface="Times New Roman" panose="02020603050405020304" pitchFamily="18" charset="0"/>
              </a:rPr>
              <a:t>(</a:t>
            </a:r>
            <a:r>
              <a:rPr lang="zh-TW" altLang="zh-TW" kern="0" dirty="0">
                <a:solidFill>
                  <a:srgbClr val="000000"/>
                </a:solidFill>
                <a:latin typeface="Arial" panose="020B0604020202020204" pitchFamily="34" charset="0"/>
                <a:cs typeface="Arial" panose="020B0604020202020204" pitchFamily="34" charset="0"/>
              </a:rPr>
              <a:t>他要你回答問</a:t>
            </a:r>
            <a:r>
              <a:rPr lang="en-US" altLang="zh-TW" kern="0" dirty="0">
                <a:solidFill>
                  <a:srgbClr val="000000"/>
                </a:solidFill>
                <a:latin typeface="Arial" panose="020B0604020202020204" pitchFamily="34" charset="0"/>
                <a:cs typeface="Times New Roman" panose="02020603050405020304" pitchFamily="18" charset="0"/>
              </a:rPr>
              <a:t>history, history</a:t>
            </a:r>
            <a:r>
              <a:rPr lang="zh-TW" altLang="zh-TW" kern="0" dirty="0">
                <a:solidFill>
                  <a:srgbClr val="000000"/>
                </a:solidFill>
                <a:latin typeface="Arial" panose="020B0604020202020204" pitchFamily="34" charset="0"/>
                <a:cs typeface="Arial" panose="020B0604020202020204" pitchFamily="34" charset="0"/>
              </a:rPr>
              <a:t>很重要</a:t>
            </a:r>
            <a:r>
              <a:rPr lang="en-US" altLang="zh-TW" kern="0" dirty="0">
                <a:solidFill>
                  <a:srgbClr val="000000"/>
                </a:solidFill>
                <a:latin typeface="Arial" panose="020B0604020202020204" pitchFamily="34" charset="0"/>
                <a:cs typeface="Times New Roman" panose="02020603050405020304" pitchFamily="18" charset="0"/>
              </a:rPr>
              <a:t>!! TB &amp; smoking</a:t>
            </a:r>
            <a:r>
              <a:rPr lang="en-US" altLang="zh-TW" kern="0" dirty="0" smtClean="0">
                <a:solidFill>
                  <a:srgbClr val="000000"/>
                </a:solidFill>
                <a:latin typeface="Arial" panose="020B0604020202020204" pitchFamily="34" charset="0"/>
                <a:cs typeface="Times New Roman" panose="02020603050405020304" pitchFamily="18" charset="0"/>
              </a:rPr>
              <a:t>), </a:t>
            </a:r>
            <a:endParaRPr lang="zh-TW" altLang="zh-TW" kern="100" dirty="0">
              <a:latin typeface="Calibri" panose="020F0502020204030204" pitchFamily="34" charset="0"/>
              <a:cs typeface="Times New Roman" panose="02020603050405020304" pitchFamily="18" charset="0"/>
            </a:endParaRPr>
          </a:p>
          <a:p>
            <a:endParaRPr lang="en-US" altLang="zh-TW" kern="0" dirty="0" smtClean="0">
              <a:solidFill>
                <a:srgbClr val="000000"/>
              </a:solidFill>
              <a:latin typeface="Arial" panose="020B060402020202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Times New Roman" panose="02020603050405020304" pitchFamily="18" charset="0"/>
              </a:rPr>
              <a:t>Q: Lung </a:t>
            </a:r>
            <a:r>
              <a:rPr lang="en-US" altLang="zh-TW" kern="0" dirty="0" err="1">
                <a:solidFill>
                  <a:srgbClr val="000000"/>
                </a:solidFill>
                <a:latin typeface="Arial" panose="020B0604020202020204" pitchFamily="34" charset="0"/>
                <a:cs typeface="Times New Roman" panose="02020603050405020304" pitchFamily="18" charset="0"/>
              </a:rPr>
              <a:t>SqCC</a:t>
            </a:r>
            <a:r>
              <a:rPr lang="zh-TW" altLang="zh-TW" kern="0" dirty="0">
                <a:solidFill>
                  <a:srgbClr val="000000"/>
                </a:solidFill>
                <a:latin typeface="Arial" panose="020B0604020202020204" pitchFamily="34" charset="0"/>
                <a:cs typeface="Arial" panose="020B0604020202020204" pitchFamily="34" charset="0"/>
              </a:rPr>
              <a:t>與</a:t>
            </a:r>
            <a:r>
              <a:rPr lang="en-US" altLang="zh-TW" kern="0" dirty="0" err="1">
                <a:solidFill>
                  <a:srgbClr val="000000"/>
                </a:solidFill>
                <a:latin typeface="Arial" panose="020B0604020202020204" pitchFamily="34" charset="0"/>
                <a:cs typeface="Times New Roman" panose="02020603050405020304" pitchFamily="18" charset="0"/>
              </a:rPr>
              <a:t>AdenoCA</a:t>
            </a:r>
            <a:r>
              <a:rPr lang="zh-TW" altLang="zh-TW" kern="0" dirty="0">
                <a:solidFill>
                  <a:srgbClr val="000000"/>
                </a:solidFill>
                <a:latin typeface="Arial" panose="020B0604020202020204" pitchFamily="34" charset="0"/>
                <a:cs typeface="Arial" panose="020B0604020202020204" pitchFamily="34" charset="0"/>
              </a:rPr>
              <a:t>的影像特性有何不同</a:t>
            </a:r>
            <a:r>
              <a:rPr lang="en-US" altLang="zh-TW" kern="0" dirty="0">
                <a:solidFill>
                  <a:srgbClr val="000000"/>
                </a:solidFill>
                <a:latin typeface="Arial" panose="020B0604020202020204" pitchFamily="34" charset="0"/>
                <a:cs typeface="Times New Roman" panose="02020603050405020304" pitchFamily="18" charset="0"/>
              </a:rPr>
              <a:t>? (</a:t>
            </a:r>
            <a:r>
              <a:rPr lang="zh-TW" altLang="zh-TW" kern="0" dirty="0" smtClean="0">
                <a:solidFill>
                  <a:srgbClr val="000000"/>
                </a:solidFill>
                <a:latin typeface="Arial" panose="020B0604020202020204" pitchFamily="34" charset="0"/>
                <a:cs typeface="Arial" panose="020B0604020202020204" pitchFamily="34" charset="0"/>
              </a:rPr>
              <a:t>中央</a:t>
            </a:r>
            <a:r>
              <a:rPr lang="en-US" altLang="zh-TW" kern="0" dirty="0" smtClean="0">
                <a:solidFill>
                  <a:srgbClr val="000000"/>
                </a:solidFill>
                <a:latin typeface="Arial" panose="020B0604020202020204" pitchFamily="34" charset="0"/>
                <a:cs typeface="Arial" panose="020B0604020202020204" pitchFamily="34" charset="0"/>
              </a:rPr>
              <a:t> squamous</a:t>
            </a:r>
            <a:r>
              <a:rPr lang="en-US" altLang="zh-TW" kern="0" dirty="0" smtClean="0">
                <a:solidFill>
                  <a:srgbClr val="000000"/>
                </a:solidFill>
                <a:latin typeface="Arial" panose="020B0604020202020204" pitchFamily="34" charset="0"/>
                <a:cs typeface="Times New Roman" panose="02020603050405020304" pitchFamily="18" charset="0"/>
              </a:rPr>
              <a:t>/</a:t>
            </a:r>
            <a:r>
              <a:rPr lang="zh-TW" altLang="zh-TW" kern="0" dirty="0" smtClean="0">
                <a:solidFill>
                  <a:srgbClr val="000000"/>
                </a:solidFill>
                <a:latin typeface="Arial" panose="020B0604020202020204" pitchFamily="34" charset="0"/>
                <a:cs typeface="Arial" panose="020B0604020202020204" pitchFamily="34" charset="0"/>
              </a:rPr>
              <a:t>周邊</a:t>
            </a:r>
            <a:r>
              <a:rPr lang="en-US" altLang="zh-TW" kern="0" dirty="0" smtClean="0">
                <a:solidFill>
                  <a:srgbClr val="000000"/>
                </a:solidFill>
                <a:latin typeface="Arial" panose="020B0604020202020204" pitchFamily="34" charset="0"/>
                <a:cs typeface="Arial" panose="020B0604020202020204" pitchFamily="34" charset="0"/>
              </a:rPr>
              <a:t>peripheral</a:t>
            </a:r>
            <a:r>
              <a:rPr lang="en-US" altLang="zh-TW" kern="0" dirty="0" smtClean="0">
                <a:solidFill>
                  <a:srgbClr val="000000"/>
                </a:solidFill>
                <a:latin typeface="Arial" panose="020B0604020202020204" pitchFamily="34" charset="0"/>
                <a:cs typeface="Times New Roman" panose="02020603050405020304" pitchFamily="18" charset="0"/>
              </a:rPr>
              <a:t>)</a:t>
            </a:r>
            <a:endParaRPr lang="zh-TW" altLang="zh-TW" kern="100" dirty="0">
              <a:latin typeface="Calibri" panose="020F0502020204030204" pitchFamily="34" charset="0"/>
              <a:cs typeface="Times New Roman" panose="02020603050405020304" pitchFamily="18" charset="0"/>
            </a:endParaRPr>
          </a:p>
          <a:p>
            <a:endParaRPr lang="en-US" altLang="zh-TW" kern="0" dirty="0" smtClean="0">
              <a:solidFill>
                <a:srgbClr val="000000"/>
              </a:solidFill>
              <a:latin typeface="Arial" panose="020B060402020202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Times New Roman" panose="02020603050405020304" pitchFamily="18" charset="0"/>
              </a:rPr>
              <a:t>Q: </a:t>
            </a:r>
            <a:r>
              <a:rPr lang="en-US" altLang="zh-TW" kern="0" dirty="0" err="1" smtClean="0">
                <a:solidFill>
                  <a:srgbClr val="000000"/>
                </a:solidFill>
                <a:latin typeface="Arial" panose="020B0604020202020204" pitchFamily="34" charset="0"/>
                <a:cs typeface="Times New Roman" panose="02020603050405020304" pitchFamily="18" charset="0"/>
              </a:rPr>
              <a:t>Nsclc</a:t>
            </a:r>
            <a:r>
              <a:rPr lang="en-US" altLang="zh-TW" kern="0" dirty="0" smtClean="0">
                <a:solidFill>
                  <a:srgbClr val="000000"/>
                </a:solidFill>
                <a:latin typeface="Arial" panose="020B0604020202020204" pitchFamily="34" charset="0"/>
                <a:cs typeface="Times New Roman" panose="02020603050405020304" pitchFamily="18" charset="0"/>
              </a:rPr>
              <a:t> </a:t>
            </a:r>
            <a:r>
              <a:rPr lang="en-US" altLang="zh-TW" kern="0" dirty="0">
                <a:solidFill>
                  <a:srgbClr val="000000"/>
                </a:solidFill>
                <a:latin typeface="Arial" panose="020B0604020202020204" pitchFamily="34" charset="0"/>
                <a:cs typeface="Times New Roman" panose="02020603050405020304" pitchFamily="18" charset="0"/>
              </a:rPr>
              <a:t>RT dose </a:t>
            </a:r>
            <a:r>
              <a:rPr lang="zh-TW" altLang="zh-TW" kern="0" dirty="0" smtClean="0">
                <a:solidFill>
                  <a:srgbClr val="000000"/>
                </a:solidFill>
                <a:latin typeface="Arial" panose="020B0604020202020204" pitchFamily="34" charset="0"/>
                <a:cs typeface="Arial" panose="020B0604020202020204" pitchFamily="34" charset="0"/>
              </a:rPr>
              <a:t>？</a:t>
            </a:r>
            <a:r>
              <a:rPr lang="en-US" altLang="zh-TW" kern="0" dirty="0" smtClean="0">
                <a:solidFill>
                  <a:srgbClr val="000000"/>
                </a:solidFill>
                <a:latin typeface="Arial" panose="020B0604020202020204" pitchFamily="34" charset="0"/>
                <a:cs typeface="Arial" panose="020B0604020202020204" pitchFamily="34" charset="0"/>
              </a:rPr>
              <a:t> </a:t>
            </a:r>
            <a:r>
              <a:rPr lang="zh-TW" altLang="en-US" kern="0" dirty="0" smtClean="0">
                <a:solidFill>
                  <a:srgbClr val="000000"/>
                </a:solidFill>
                <a:latin typeface="Arial" panose="020B0604020202020204" pitchFamily="34" charset="0"/>
                <a:cs typeface="Arial" panose="020B0604020202020204" pitchFamily="34" charset="0"/>
              </a:rPr>
              <a:t>老題目</a:t>
            </a:r>
            <a:endParaRPr lang="en-US" altLang="zh-TW" kern="0" dirty="0" smtClean="0">
              <a:solidFill>
                <a:srgbClr val="000000"/>
              </a:solidFill>
              <a:latin typeface="Arial" panose="020B0604020202020204" pitchFamily="34" charset="0"/>
              <a:cs typeface="Arial" panose="020B0604020202020204" pitchFamily="34" charset="0"/>
            </a:endParaRPr>
          </a:p>
          <a:p>
            <a:r>
              <a:rPr lang="fr-FR" altLang="zh-TW" b="1" dirty="0" smtClean="0"/>
              <a:t>A: Pre-op</a:t>
            </a:r>
            <a:r>
              <a:rPr lang="fr-FR" altLang="zh-TW" b="1" dirty="0"/>
              <a:t> :45-54Gy ; Post-op : 50-54Gy ; definitive : 60-70Gy</a:t>
            </a:r>
            <a:endParaRPr lang="zh-TW" altLang="zh-TW" dirty="0"/>
          </a:p>
          <a:p>
            <a:endParaRPr lang="en-US" altLang="zh-TW" kern="0" dirty="0" smtClean="0">
              <a:solidFill>
                <a:srgbClr val="000000"/>
              </a:solidFill>
              <a:latin typeface="Arial" panose="020B060402020202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Times New Roman" panose="02020603050405020304" pitchFamily="18" charset="0"/>
              </a:rPr>
              <a:t>Q: SCLC</a:t>
            </a:r>
            <a:r>
              <a:rPr lang="zh-TW" altLang="zh-TW" kern="0" dirty="0">
                <a:solidFill>
                  <a:srgbClr val="000000"/>
                </a:solidFill>
                <a:latin typeface="Arial" panose="020B0604020202020204" pitchFamily="34" charset="0"/>
                <a:cs typeface="Arial" panose="020B0604020202020204" pitchFamily="34" charset="0"/>
              </a:rPr>
              <a:t>何時該照</a:t>
            </a:r>
            <a:r>
              <a:rPr lang="en-US" altLang="zh-TW" kern="0" dirty="0">
                <a:solidFill>
                  <a:srgbClr val="000000"/>
                </a:solidFill>
                <a:latin typeface="Arial" panose="020B0604020202020204" pitchFamily="34" charset="0"/>
                <a:cs typeface="Times New Roman" panose="02020603050405020304" pitchFamily="18" charset="0"/>
              </a:rPr>
              <a:t>RT</a:t>
            </a:r>
            <a:r>
              <a:rPr lang="en-US" altLang="zh-TW" kern="0" dirty="0" smtClean="0">
                <a:solidFill>
                  <a:srgbClr val="000000"/>
                </a:solidFill>
                <a:latin typeface="Arial" panose="020B0604020202020204" pitchFamily="34" charset="0"/>
                <a:cs typeface="Times New Roman" panose="02020603050405020304" pitchFamily="18" charset="0"/>
              </a:rPr>
              <a:t>? If Post –OP: N1 N2 CRT, if poor response sequential   </a:t>
            </a:r>
          </a:p>
          <a:p>
            <a:r>
              <a:rPr lang="fr-FR" altLang="zh-TW" b="1" dirty="0" smtClean="0"/>
              <a:t>A: limited </a:t>
            </a:r>
            <a:r>
              <a:rPr lang="fr-FR" altLang="zh-TW" b="1" dirty="0"/>
              <a:t>stage </a:t>
            </a:r>
            <a:r>
              <a:rPr lang="zh-TW" altLang="zh-TW" b="1" dirty="0"/>
              <a:t>配合化療做</a:t>
            </a:r>
            <a:r>
              <a:rPr lang="fr-FR" altLang="zh-TW" b="1" dirty="0"/>
              <a:t>CCRT, extensive stage</a:t>
            </a:r>
            <a:r>
              <a:rPr lang="zh-TW" altLang="zh-TW" b="1" dirty="0"/>
              <a:t>放療的腳色是</a:t>
            </a:r>
            <a:r>
              <a:rPr lang="fr-FR" altLang="zh-TW" b="1" dirty="0"/>
              <a:t>consolidative tx, </a:t>
            </a:r>
            <a:r>
              <a:rPr lang="zh-TW" altLang="zh-TW" b="1" dirty="0"/>
              <a:t>還有就是</a:t>
            </a:r>
            <a:r>
              <a:rPr lang="fr-FR" altLang="zh-TW" b="1" dirty="0"/>
              <a:t>PCI</a:t>
            </a:r>
            <a:r>
              <a:rPr lang="zh-TW" altLang="zh-TW" b="1" dirty="0"/>
              <a:t>，如果一開始治療有反應，就可以加上</a:t>
            </a:r>
            <a:r>
              <a:rPr lang="fr-FR" altLang="zh-TW" b="1" dirty="0"/>
              <a:t>PCI</a:t>
            </a:r>
            <a:r>
              <a:rPr lang="zh-TW" altLang="zh-TW" b="1" dirty="0"/>
              <a:t>來降低腦部轉移的機會。</a:t>
            </a:r>
            <a:endParaRPr lang="zh-TW" altLang="zh-TW" dirty="0"/>
          </a:p>
          <a:p>
            <a:endParaRPr lang="zh-TW" altLang="zh-TW" kern="100" dirty="0">
              <a:latin typeface="Calibri" panose="020F050202020403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Arial" panose="020B0604020202020204" pitchFamily="34" charset="0"/>
              </a:rPr>
              <a:t>Q: </a:t>
            </a:r>
            <a:r>
              <a:rPr lang="zh-TW" altLang="zh-TW" kern="0" dirty="0" smtClean="0">
                <a:solidFill>
                  <a:srgbClr val="000000"/>
                </a:solidFill>
                <a:latin typeface="Arial" panose="020B0604020202020204" pitchFamily="34" charset="0"/>
                <a:cs typeface="Arial" panose="020B0604020202020204" pitchFamily="34" charset="0"/>
              </a:rPr>
              <a:t>何時</a:t>
            </a:r>
            <a:r>
              <a:rPr lang="zh-TW" altLang="zh-TW" kern="0" dirty="0">
                <a:solidFill>
                  <a:srgbClr val="000000"/>
                </a:solidFill>
                <a:latin typeface="Arial" panose="020B0604020202020204" pitchFamily="34" charset="0"/>
                <a:cs typeface="Arial" panose="020B0604020202020204" pitchFamily="34" charset="0"/>
              </a:rPr>
              <a:t>照</a:t>
            </a:r>
            <a:r>
              <a:rPr lang="en-US" altLang="zh-TW" kern="0" dirty="0">
                <a:solidFill>
                  <a:srgbClr val="000000"/>
                </a:solidFill>
                <a:latin typeface="Arial" panose="020B0604020202020204" pitchFamily="34" charset="0"/>
                <a:cs typeface="Times New Roman" panose="02020603050405020304" pitchFamily="18" charset="0"/>
              </a:rPr>
              <a:t>PCI? </a:t>
            </a:r>
            <a:r>
              <a:rPr lang="zh-TW" altLang="zh-TW" kern="0" dirty="0">
                <a:solidFill>
                  <a:srgbClr val="000000"/>
                </a:solidFill>
                <a:latin typeface="Arial" panose="020B0604020202020204" pitchFamily="34" charset="0"/>
                <a:cs typeface="Arial" panose="020B0604020202020204" pitchFamily="34" charset="0"/>
              </a:rPr>
              <a:t>劑量</a:t>
            </a:r>
            <a:r>
              <a:rPr lang="en-US" altLang="zh-TW" kern="0" dirty="0" smtClean="0">
                <a:solidFill>
                  <a:srgbClr val="000000"/>
                </a:solidFill>
                <a:latin typeface="Arial" panose="020B0604020202020204" pitchFamily="34" charset="0"/>
                <a:cs typeface="Times New Roman" panose="02020603050405020304" pitchFamily="18" charset="0"/>
              </a:rPr>
              <a:t>? CR or </a:t>
            </a:r>
            <a:r>
              <a:rPr lang="en-US" altLang="zh-TW" kern="0" dirty="0" err="1" smtClean="0">
                <a:solidFill>
                  <a:srgbClr val="000000"/>
                </a:solidFill>
                <a:latin typeface="Arial" panose="020B0604020202020204" pitchFamily="34" charset="0"/>
                <a:cs typeface="Times New Roman" panose="02020603050405020304" pitchFamily="18" charset="0"/>
              </a:rPr>
              <a:t>pR</a:t>
            </a:r>
            <a:r>
              <a:rPr lang="en-US" altLang="zh-TW" kern="0" dirty="0" smtClean="0">
                <a:solidFill>
                  <a:srgbClr val="000000"/>
                </a:solidFill>
                <a:latin typeface="Arial" panose="020B0604020202020204" pitchFamily="34" charset="0"/>
                <a:cs typeface="Times New Roman" panose="02020603050405020304" pitchFamily="18" charset="0"/>
              </a:rPr>
              <a:t> or post –OP, 25Gy/10fx</a:t>
            </a:r>
            <a:endParaRPr lang="zh-TW" altLang="zh-TW" kern="100" dirty="0">
              <a:latin typeface="Calibri" panose="020F050202020403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Times New Roman" panose="02020603050405020304" pitchFamily="18" charset="0"/>
              </a:rPr>
              <a:t>Q: SBRT</a:t>
            </a:r>
            <a:r>
              <a:rPr lang="zh-TW" altLang="zh-TW" kern="0" dirty="0">
                <a:solidFill>
                  <a:srgbClr val="000000"/>
                </a:solidFill>
                <a:latin typeface="Arial" panose="020B0604020202020204" pitchFamily="34" charset="0"/>
                <a:cs typeface="Arial" panose="020B0604020202020204" pitchFamily="34" charset="0"/>
              </a:rPr>
              <a:t>的機器有哪些條件</a:t>
            </a:r>
            <a:r>
              <a:rPr lang="en-US" altLang="zh-TW" kern="0" dirty="0">
                <a:solidFill>
                  <a:srgbClr val="000000"/>
                </a:solidFill>
                <a:latin typeface="Arial" panose="020B0604020202020204" pitchFamily="34" charset="0"/>
                <a:cs typeface="Times New Roman" panose="02020603050405020304" pitchFamily="18" charset="0"/>
              </a:rPr>
              <a:t>? (immobilization, IGRT, </a:t>
            </a:r>
            <a:r>
              <a:rPr lang="zh-TW" altLang="zh-TW" kern="0" dirty="0">
                <a:solidFill>
                  <a:srgbClr val="000000"/>
                </a:solidFill>
                <a:latin typeface="Arial" panose="020B0604020202020204" pitchFamily="34" charset="0"/>
                <a:cs typeface="Arial" panose="020B0604020202020204" pitchFamily="34" charset="0"/>
              </a:rPr>
              <a:t>呼吸調控</a:t>
            </a:r>
            <a:r>
              <a:rPr lang="en-US" altLang="zh-TW" kern="0" dirty="0">
                <a:solidFill>
                  <a:srgbClr val="000000"/>
                </a:solidFill>
                <a:latin typeface="Arial" panose="020B0604020202020204" pitchFamily="34" charset="0"/>
                <a:cs typeface="Times New Roman" panose="02020603050405020304" pitchFamily="18" charset="0"/>
              </a:rPr>
              <a:t>, leaf</a:t>
            </a:r>
            <a:r>
              <a:rPr lang="zh-TW" altLang="zh-TW" kern="0" dirty="0">
                <a:solidFill>
                  <a:srgbClr val="000000"/>
                </a:solidFill>
                <a:latin typeface="Arial" panose="020B0604020202020204" pitchFamily="34" charset="0"/>
                <a:cs typeface="Arial" panose="020B0604020202020204" pitchFamily="34" charset="0"/>
              </a:rPr>
              <a:t>寬度</a:t>
            </a:r>
            <a:r>
              <a:rPr lang="en-US" altLang="zh-TW" kern="0" dirty="0">
                <a:solidFill>
                  <a:srgbClr val="000000"/>
                </a:solidFill>
                <a:latin typeface="Arial" panose="020B0604020202020204" pitchFamily="34" charset="0"/>
                <a:cs typeface="Times New Roman" panose="02020603050405020304" pitchFamily="18" charset="0"/>
              </a:rPr>
              <a:t>...</a:t>
            </a:r>
            <a:r>
              <a:rPr lang="zh-TW" altLang="zh-TW" kern="0" dirty="0">
                <a:solidFill>
                  <a:srgbClr val="000000"/>
                </a:solidFill>
                <a:latin typeface="Arial" panose="020B0604020202020204" pitchFamily="34" charset="0"/>
                <a:cs typeface="Arial" panose="020B0604020202020204" pitchFamily="34" charset="0"/>
              </a:rPr>
              <a:t>等等</a:t>
            </a:r>
            <a:r>
              <a:rPr lang="en-US" altLang="zh-TW" kern="0" dirty="0" smtClean="0">
                <a:solidFill>
                  <a:srgbClr val="000000"/>
                </a:solidFill>
                <a:latin typeface="Arial" panose="020B0604020202020204" pitchFamily="34" charset="0"/>
                <a:cs typeface="Times New Roman" panose="02020603050405020304" pitchFamily="18" charset="0"/>
              </a:rPr>
              <a:t>)</a:t>
            </a:r>
          </a:p>
          <a:p>
            <a:endParaRPr lang="zh-TW" altLang="zh-TW" kern="100" dirty="0">
              <a:latin typeface="Calibri" panose="020F050202020403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Times New Roman" panose="02020603050405020304" pitchFamily="18" charset="0"/>
              </a:rPr>
              <a:t>Q: Lung </a:t>
            </a:r>
            <a:r>
              <a:rPr lang="en-US" altLang="zh-TW" kern="0" dirty="0">
                <a:solidFill>
                  <a:srgbClr val="000000"/>
                </a:solidFill>
                <a:latin typeface="Arial" panose="020B0604020202020204" pitchFamily="34" charset="0"/>
                <a:cs typeface="Times New Roman" panose="02020603050405020304" pitchFamily="18" charset="0"/>
              </a:rPr>
              <a:t>CA</a:t>
            </a:r>
            <a:r>
              <a:rPr lang="zh-TW" altLang="zh-TW" kern="0" dirty="0">
                <a:solidFill>
                  <a:srgbClr val="000000"/>
                </a:solidFill>
                <a:latin typeface="Arial" panose="020B0604020202020204" pitchFamily="34" charset="0"/>
                <a:cs typeface="Arial" panose="020B0604020202020204" pitchFamily="34" charset="0"/>
              </a:rPr>
              <a:t>照</a:t>
            </a:r>
            <a:r>
              <a:rPr lang="en-US" altLang="zh-TW" kern="0" dirty="0">
                <a:solidFill>
                  <a:srgbClr val="000000"/>
                </a:solidFill>
                <a:latin typeface="Arial" panose="020B0604020202020204" pitchFamily="34" charset="0"/>
                <a:cs typeface="Times New Roman" panose="02020603050405020304" pitchFamily="18" charset="0"/>
              </a:rPr>
              <a:t>SBRT</a:t>
            </a:r>
            <a:r>
              <a:rPr lang="zh-TW" altLang="zh-TW" kern="0" dirty="0">
                <a:solidFill>
                  <a:srgbClr val="000000"/>
                </a:solidFill>
                <a:latin typeface="Arial" panose="020B0604020202020204" pitchFamily="34" charset="0"/>
                <a:cs typeface="Arial" panose="020B0604020202020204" pitchFamily="34" charset="0"/>
              </a:rPr>
              <a:t>的</a:t>
            </a:r>
            <a:r>
              <a:rPr lang="en-US" altLang="zh-TW" kern="0" dirty="0">
                <a:solidFill>
                  <a:srgbClr val="000000"/>
                </a:solidFill>
                <a:latin typeface="Arial" panose="020B0604020202020204" pitchFamily="34" charset="0"/>
                <a:cs typeface="Times New Roman" panose="02020603050405020304" pitchFamily="18" charset="0"/>
              </a:rPr>
              <a:t>indication</a:t>
            </a:r>
            <a:r>
              <a:rPr lang="en-US" altLang="zh-TW" kern="0" dirty="0" smtClean="0">
                <a:solidFill>
                  <a:srgbClr val="000000"/>
                </a:solidFill>
                <a:latin typeface="Arial" panose="020B0604020202020204" pitchFamily="34" charset="0"/>
                <a:cs typeface="Times New Roman" panose="02020603050405020304" pitchFamily="18" charset="0"/>
              </a:rPr>
              <a:t>?</a:t>
            </a:r>
          </a:p>
          <a:p>
            <a:r>
              <a:rPr lang="fr-FR" altLang="zh-TW" b="1" dirty="0" smtClean="0"/>
              <a:t>A: T1</a:t>
            </a:r>
            <a:r>
              <a:rPr lang="fr-FR" altLang="zh-TW" b="1" dirty="0"/>
              <a:t>, early T2. </a:t>
            </a:r>
            <a:endParaRPr lang="zh-TW" altLang="zh-TW" dirty="0"/>
          </a:p>
          <a:p>
            <a:endParaRPr lang="zh-TW" altLang="zh-TW" kern="100" dirty="0">
              <a:latin typeface="Calibri" panose="020F0502020204030204" pitchFamily="34" charset="0"/>
              <a:cs typeface="Times New Roman" panose="02020603050405020304" pitchFamily="18" charset="0"/>
            </a:endParaRPr>
          </a:p>
          <a:p>
            <a:pPr>
              <a:spcAft>
                <a:spcPts val="1200"/>
              </a:spcAft>
            </a:pPr>
            <a:endParaRPr lang="zh-TW" altLang="en-US" dirty="0"/>
          </a:p>
        </p:txBody>
      </p:sp>
      <p:sp>
        <p:nvSpPr>
          <p:cNvPr id="4" name="內容版面配置區 3"/>
          <p:cNvSpPr>
            <a:spLocks noGrp="1"/>
          </p:cNvSpPr>
          <p:nvPr>
            <p:ph sz="half" idx="2"/>
          </p:nvPr>
        </p:nvSpPr>
        <p:spPr/>
        <p:txBody>
          <a:bodyPr>
            <a:normAutofit fontScale="55000" lnSpcReduction="20000"/>
          </a:bodyPr>
          <a:lstStyle/>
          <a:p>
            <a:endParaRPr lang="zh-TW" altLang="en-US" dirty="0"/>
          </a:p>
        </p:txBody>
      </p:sp>
      <p:pic>
        <p:nvPicPr>
          <p:cNvPr id="5" name="圖片 4"/>
          <p:cNvPicPr>
            <a:picLocks noChangeAspect="1"/>
          </p:cNvPicPr>
          <p:nvPr/>
        </p:nvPicPr>
        <p:blipFill>
          <a:blip r:embed="rId2"/>
          <a:stretch>
            <a:fillRect/>
          </a:stretch>
        </p:blipFill>
        <p:spPr>
          <a:xfrm>
            <a:off x="6456040" y="933093"/>
            <a:ext cx="3306612" cy="3009131"/>
          </a:xfrm>
          <a:prstGeom prst="rect">
            <a:avLst/>
          </a:prstGeom>
        </p:spPr>
      </p:pic>
      <p:pic>
        <p:nvPicPr>
          <p:cNvPr id="6" name="圖片 5"/>
          <p:cNvPicPr>
            <a:picLocks noChangeAspect="1"/>
          </p:cNvPicPr>
          <p:nvPr/>
        </p:nvPicPr>
        <p:blipFill>
          <a:blip r:embed="rId3"/>
          <a:stretch>
            <a:fillRect/>
          </a:stretch>
        </p:blipFill>
        <p:spPr>
          <a:xfrm>
            <a:off x="5915816" y="5229200"/>
            <a:ext cx="4551369" cy="1047648"/>
          </a:xfrm>
          <a:prstGeom prst="rect">
            <a:avLst/>
          </a:prstGeom>
        </p:spPr>
      </p:pic>
    </p:spTree>
    <p:extLst>
      <p:ext uri="{BB962C8B-B14F-4D97-AF65-F5344CB8AC3E}">
        <p14:creationId xmlns:p14="http://schemas.microsoft.com/office/powerpoint/2010/main" val="2264040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2014</a:t>
            </a:r>
            <a:endParaRPr lang="zh-TW" altLang="en-US" dirty="0"/>
          </a:p>
        </p:txBody>
      </p:sp>
      <p:sp>
        <p:nvSpPr>
          <p:cNvPr id="3" name="內容版面配置區 2"/>
          <p:cNvSpPr>
            <a:spLocks noGrp="1"/>
          </p:cNvSpPr>
          <p:nvPr>
            <p:ph sz="half" idx="1"/>
          </p:nvPr>
        </p:nvSpPr>
        <p:spPr>
          <a:xfrm>
            <a:off x="1981199" y="1600201"/>
            <a:ext cx="9500483" cy="4525963"/>
          </a:xfrm>
        </p:spPr>
        <p:txBody>
          <a:bodyPr>
            <a:normAutofit fontScale="55000" lnSpcReduction="20000"/>
          </a:bodyPr>
          <a:lstStyle/>
          <a:p>
            <a:endParaRPr lang="zh-TW" altLang="zh-TW" kern="100" dirty="0">
              <a:latin typeface="Calibri" panose="020F0502020204030204" pitchFamily="34" charset="0"/>
              <a:cs typeface="Times New Roman" panose="02020603050405020304" pitchFamily="18" charset="0"/>
            </a:endParaRPr>
          </a:p>
          <a:p>
            <a:r>
              <a:rPr lang="en-US" altLang="zh-TW" kern="0" dirty="0" err="1">
                <a:solidFill>
                  <a:srgbClr val="000000"/>
                </a:solidFill>
                <a:latin typeface="Arial" panose="020B0604020202020204" pitchFamily="34" charset="0"/>
                <a:cs typeface="Times New Roman" panose="02020603050405020304" pitchFamily="18" charset="0"/>
              </a:rPr>
              <a:t>Thymoma</a:t>
            </a:r>
            <a:r>
              <a:rPr lang="en-US" altLang="zh-TW" kern="0" dirty="0">
                <a:solidFill>
                  <a:srgbClr val="000000"/>
                </a:solidFill>
                <a:latin typeface="Arial" panose="020B0604020202020204" pitchFamily="34" charset="0"/>
                <a:cs typeface="Times New Roman" panose="02020603050405020304" pitchFamily="18" charset="0"/>
              </a:rPr>
              <a:t> </a:t>
            </a:r>
            <a:r>
              <a:rPr lang="zh-TW" altLang="zh-TW" kern="0" dirty="0">
                <a:solidFill>
                  <a:srgbClr val="000000"/>
                </a:solidFill>
                <a:latin typeface="Arial" panose="020B0604020202020204" pitchFamily="34" charset="0"/>
                <a:cs typeface="Arial" panose="020B0604020202020204" pitchFamily="34" charset="0"/>
              </a:rPr>
              <a:t>和</a:t>
            </a:r>
            <a:r>
              <a:rPr lang="en-US" altLang="zh-TW" kern="0" dirty="0" err="1">
                <a:solidFill>
                  <a:srgbClr val="000000"/>
                </a:solidFill>
                <a:latin typeface="Arial" panose="020B0604020202020204" pitchFamily="34" charset="0"/>
                <a:cs typeface="Times New Roman" panose="02020603050405020304" pitchFamily="18" charset="0"/>
              </a:rPr>
              <a:t>thymic</a:t>
            </a:r>
            <a:r>
              <a:rPr lang="en-US" altLang="zh-TW" kern="0" dirty="0">
                <a:solidFill>
                  <a:srgbClr val="000000"/>
                </a:solidFill>
                <a:latin typeface="Arial" panose="020B0604020202020204" pitchFamily="34" charset="0"/>
                <a:cs typeface="Times New Roman" panose="02020603050405020304" pitchFamily="18" charset="0"/>
              </a:rPr>
              <a:t> carcinoma</a:t>
            </a:r>
            <a:r>
              <a:rPr lang="zh-TW" altLang="zh-TW" kern="0" dirty="0">
                <a:solidFill>
                  <a:srgbClr val="000000"/>
                </a:solidFill>
                <a:latin typeface="Arial" panose="020B0604020202020204" pitchFamily="34" charset="0"/>
                <a:cs typeface="Arial" panose="020B0604020202020204" pitchFamily="34" charset="0"/>
              </a:rPr>
              <a:t>臨床表現之差別</a:t>
            </a:r>
            <a:r>
              <a:rPr lang="en-US" altLang="zh-TW" kern="0" dirty="0" smtClean="0">
                <a:solidFill>
                  <a:srgbClr val="000000"/>
                </a:solidFill>
                <a:latin typeface="Arial" panose="020B0604020202020204" pitchFamily="34" charset="0"/>
                <a:cs typeface="Times New Roman" panose="02020603050405020304" pitchFamily="18" charset="0"/>
              </a:rPr>
              <a:t>?</a:t>
            </a:r>
          </a:p>
          <a:p>
            <a:r>
              <a:rPr lang="en-US" altLang="zh-TW" kern="100" dirty="0" smtClean="0">
                <a:latin typeface="Calibri" panose="020F0502020204030204" pitchFamily="34" charset="0"/>
                <a:cs typeface="Times New Roman" panose="02020603050405020304" pitchFamily="18" charset="0"/>
              </a:rPr>
              <a:t>A: </a:t>
            </a:r>
            <a:r>
              <a:rPr lang="en-US" altLang="zh-TW" kern="100" dirty="0" err="1" smtClean="0">
                <a:latin typeface="Calibri" panose="020F0502020204030204" pitchFamily="34" charset="0"/>
                <a:cs typeface="Times New Roman" panose="02020603050405020304" pitchFamily="18" charset="0"/>
              </a:rPr>
              <a:t>Thymic</a:t>
            </a:r>
            <a:r>
              <a:rPr lang="en-US" altLang="zh-TW" kern="100" dirty="0" smtClean="0">
                <a:latin typeface="Calibri" panose="020F0502020204030204" pitchFamily="34" charset="0"/>
                <a:cs typeface="Times New Roman" panose="02020603050405020304" pitchFamily="18" charset="0"/>
              </a:rPr>
              <a:t> carcinoma rare &lt;1% </a:t>
            </a:r>
            <a:r>
              <a:rPr lang="en-US" altLang="zh-TW" kern="100" dirty="0" err="1" smtClean="0">
                <a:latin typeface="Calibri" panose="020F0502020204030204" pitchFamily="34" charset="0"/>
                <a:cs typeface="Times New Roman" panose="02020603050405020304" pitchFamily="18" charset="0"/>
              </a:rPr>
              <a:t>thymic</a:t>
            </a:r>
            <a:r>
              <a:rPr lang="en-US" altLang="zh-TW" kern="100" dirty="0" smtClean="0">
                <a:latin typeface="Calibri" panose="020F0502020204030204" pitchFamily="34" charset="0"/>
                <a:cs typeface="Times New Roman" panose="02020603050405020304" pitchFamily="18" charset="0"/>
              </a:rPr>
              <a:t> tumor, very aggressive, not associated with  paraneoplastic </a:t>
            </a:r>
            <a:r>
              <a:rPr lang="en-US" altLang="zh-TW" kern="100" dirty="0" err="1" smtClean="0">
                <a:latin typeface="Calibri" panose="020F0502020204030204" pitchFamily="34" charset="0"/>
                <a:cs typeface="Times New Roman" panose="02020603050405020304" pitchFamily="18" charset="0"/>
              </a:rPr>
              <a:t>sndrom</a:t>
            </a:r>
            <a:r>
              <a:rPr lang="en-US" altLang="zh-TW" kern="100" dirty="0" smtClean="0">
                <a:latin typeface="Calibri" panose="020F0502020204030204" pitchFamily="34" charset="0"/>
                <a:cs typeface="Times New Roman" panose="02020603050405020304" pitchFamily="18" charset="0"/>
              </a:rPr>
              <a:t> (MG), do not have immature T </a:t>
            </a:r>
            <a:r>
              <a:rPr lang="en-US" altLang="zh-TW" kern="100" dirty="0" err="1" smtClean="0">
                <a:latin typeface="Calibri" panose="020F0502020204030204" pitchFamily="34" charset="0"/>
                <a:cs typeface="Times New Roman" panose="02020603050405020304" pitchFamily="18" charset="0"/>
              </a:rPr>
              <a:t>lymphomcyte</a:t>
            </a:r>
            <a:r>
              <a:rPr lang="en-US" altLang="zh-TW" kern="100" dirty="0" smtClean="0">
                <a:latin typeface="Calibri" panose="020F0502020204030204" pitchFamily="34" charset="0"/>
                <a:cs typeface="Times New Roman" panose="02020603050405020304" pitchFamily="18" charset="0"/>
              </a:rPr>
              <a:t>. Lack lobulated </a:t>
            </a:r>
            <a:r>
              <a:rPr lang="en-US" altLang="zh-TW" kern="100" dirty="0" err="1" smtClean="0">
                <a:latin typeface="Calibri" panose="020F0502020204030204" pitchFamily="34" charset="0"/>
                <a:cs typeface="Times New Roman" panose="02020603050405020304" pitchFamily="18" charset="0"/>
              </a:rPr>
              <a:t>pattien</a:t>
            </a:r>
            <a:r>
              <a:rPr lang="en-US" altLang="zh-TW" kern="100" dirty="0" smtClean="0">
                <a:latin typeface="Calibri" panose="020F0502020204030204" pitchFamily="34" charset="0"/>
                <a:cs typeface="Times New Roman" panose="02020603050405020304" pitchFamily="18" charset="0"/>
              </a:rPr>
              <a:t>. Lack Hassall corpuscles, medullary differentiation and perivascular space. Type C </a:t>
            </a:r>
            <a:endParaRPr lang="en-US" altLang="zh-TW" kern="100" dirty="0" smtClean="0">
              <a:latin typeface="Calibri" panose="020F0502020204030204" pitchFamily="34" charset="0"/>
              <a:cs typeface="Times New Roman" panose="02020603050405020304" pitchFamily="18" charset="0"/>
            </a:endParaRPr>
          </a:p>
          <a:p>
            <a:r>
              <a:rPr lang="en-US" altLang="zh-TW" kern="100" dirty="0" err="1" smtClean="0">
                <a:latin typeface="Calibri" panose="020F0502020204030204" pitchFamily="34" charset="0"/>
                <a:cs typeface="Times New Roman" panose="02020603050405020304" pitchFamily="18" charset="0"/>
              </a:rPr>
              <a:t>Thymic</a:t>
            </a:r>
            <a:r>
              <a:rPr lang="en-US" altLang="zh-TW" kern="100" dirty="0" smtClean="0">
                <a:latin typeface="Calibri" panose="020F0502020204030204" pitchFamily="34" charset="0"/>
                <a:cs typeface="Times New Roman" panose="02020603050405020304" pitchFamily="18" charset="0"/>
              </a:rPr>
              <a:t> carcinoma </a:t>
            </a:r>
            <a:r>
              <a:rPr lang="zh-TW" altLang="en-US" kern="100" dirty="0" smtClean="0">
                <a:latin typeface="Calibri" panose="020F0502020204030204" pitchFamily="34" charset="0"/>
                <a:cs typeface="Times New Roman" panose="02020603050405020304" pitchFamily="18" charset="0"/>
              </a:rPr>
              <a:t>比較容易</a:t>
            </a:r>
            <a:r>
              <a:rPr lang="en-US" altLang="zh-TW" kern="100" dirty="0" err="1" smtClean="0">
                <a:latin typeface="Calibri" panose="020F0502020204030204" pitchFamily="34" charset="0"/>
                <a:cs typeface="Times New Roman" panose="02020603050405020304" pitchFamily="18" charset="0"/>
              </a:rPr>
              <a:t>t</a:t>
            </a:r>
            <a:r>
              <a:rPr lang="en-US" altLang="zh-TW" kern="100" dirty="0" err="1" smtClean="0">
                <a:latin typeface="Calibri" panose="020F0502020204030204" pitchFamily="34" charset="0"/>
                <a:cs typeface="Times New Roman" panose="02020603050405020304" pitchFamily="18" charset="0"/>
              </a:rPr>
              <a:t>ranscapsular</a:t>
            </a:r>
            <a:r>
              <a:rPr lang="en-US" altLang="zh-TW" kern="100" dirty="0" smtClean="0">
                <a:latin typeface="Calibri" panose="020F0502020204030204" pitchFamily="34" charset="0"/>
                <a:cs typeface="Times New Roman" panose="02020603050405020304" pitchFamily="18" charset="0"/>
              </a:rPr>
              <a:t> extension, </a:t>
            </a:r>
            <a:r>
              <a:rPr lang="zh-TW" altLang="en-US" kern="100" dirty="0" smtClean="0">
                <a:latin typeface="Calibri" panose="020F0502020204030204" pitchFamily="34" charset="0"/>
                <a:cs typeface="Times New Roman" panose="02020603050405020304" pitchFamily="18" charset="0"/>
              </a:rPr>
              <a:t>容易有</a:t>
            </a:r>
            <a:r>
              <a:rPr lang="en-US" altLang="zh-TW" kern="100" dirty="0" smtClean="0">
                <a:latin typeface="Calibri" panose="020F0502020204030204" pitchFamily="34" charset="0"/>
                <a:cs typeface="Times New Roman" panose="02020603050405020304" pitchFamily="18" charset="0"/>
              </a:rPr>
              <a:t>l</a:t>
            </a:r>
            <a:r>
              <a:rPr lang="en-US" altLang="zh-TW" kern="100" dirty="0" smtClean="0">
                <a:latin typeface="Calibri" panose="020F0502020204030204" pitchFamily="34" charset="0"/>
                <a:cs typeface="Times New Roman" panose="02020603050405020304" pitchFamily="18" charset="0"/>
              </a:rPr>
              <a:t>ymph node metastases </a:t>
            </a:r>
            <a:r>
              <a:rPr lang="zh-TW" altLang="en-US" kern="100" dirty="0" smtClean="0">
                <a:latin typeface="Calibri" panose="020F0502020204030204" pitchFamily="34" charset="0"/>
                <a:cs typeface="Times New Roman" panose="02020603050405020304" pitchFamily="18" charset="0"/>
              </a:rPr>
              <a:t>及</a:t>
            </a:r>
            <a:r>
              <a:rPr lang="en-US" altLang="zh-TW" kern="100" dirty="0" smtClean="0">
                <a:latin typeface="Calibri" panose="020F0502020204030204" pitchFamily="34" charset="0"/>
                <a:cs typeface="Times New Roman" panose="02020603050405020304" pitchFamily="18" charset="0"/>
              </a:rPr>
              <a:t>distant</a:t>
            </a:r>
            <a:r>
              <a:rPr lang="zh-TW" altLang="en-US" kern="100" dirty="0" smtClean="0">
                <a:latin typeface="Calibri" panose="020F0502020204030204" pitchFamily="34" charset="0"/>
                <a:cs typeface="Times New Roman" panose="02020603050405020304" pitchFamily="18" charset="0"/>
              </a:rPr>
              <a:t> </a:t>
            </a:r>
            <a:r>
              <a:rPr lang="en-US" altLang="zh-TW" kern="100" dirty="0" smtClean="0">
                <a:latin typeface="Calibri" panose="020F0502020204030204" pitchFamily="34" charset="0"/>
                <a:cs typeface="Times New Roman" panose="02020603050405020304" pitchFamily="18" charset="0"/>
              </a:rPr>
              <a:t>metastases</a:t>
            </a:r>
            <a:r>
              <a:rPr lang="zh-TW" altLang="en-US" kern="100" dirty="0" smtClean="0">
                <a:latin typeface="Calibri" panose="020F0502020204030204" pitchFamily="34" charset="0"/>
                <a:cs typeface="Times New Roman" panose="02020603050405020304" pitchFamily="18" charset="0"/>
              </a:rPr>
              <a:t> </a:t>
            </a:r>
            <a:endParaRPr lang="en-US" altLang="zh-TW" kern="100" dirty="0" smtClean="0">
              <a:latin typeface="Calibri" panose="020F0502020204030204" pitchFamily="34" charset="0"/>
              <a:cs typeface="Times New Roman" panose="02020603050405020304" pitchFamily="18" charset="0"/>
            </a:endParaRPr>
          </a:p>
          <a:p>
            <a:endParaRPr lang="zh-TW" altLang="zh-TW" kern="100" dirty="0">
              <a:latin typeface="Calibri" panose="020F050202020403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Times New Roman" panose="02020603050405020304" pitchFamily="18" charset="0"/>
              </a:rPr>
              <a:t>Q: RT </a:t>
            </a:r>
            <a:r>
              <a:rPr lang="en-US" altLang="zh-TW" kern="0" dirty="0">
                <a:solidFill>
                  <a:srgbClr val="000000"/>
                </a:solidFill>
                <a:latin typeface="Arial" panose="020B0604020202020204" pitchFamily="34" charset="0"/>
                <a:cs typeface="Times New Roman" panose="02020603050405020304" pitchFamily="18" charset="0"/>
              </a:rPr>
              <a:t>pneumonitis Gr III? lung constraint? lung V20&lt; ?? </a:t>
            </a:r>
            <a:endParaRPr lang="en-US" altLang="zh-TW" kern="0" dirty="0" smtClean="0">
              <a:solidFill>
                <a:srgbClr val="000000"/>
              </a:solidFill>
              <a:latin typeface="Arial" panose="020B0604020202020204" pitchFamily="34" charset="0"/>
              <a:cs typeface="Times New Roman" panose="02020603050405020304" pitchFamily="18" charset="0"/>
            </a:endParaRPr>
          </a:p>
          <a:p>
            <a:r>
              <a:rPr lang="fr-FR" altLang="zh-TW" b="1" dirty="0"/>
              <a:t>RTOG G3 pneumonitis : severe cough unresponsive to nacrotic antitussive agents or dyspanea at rest, radiologic evidence of pneumonitis, oxygen/steroid </a:t>
            </a:r>
            <a:r>
              <a:rPr lang="fr-FR" altLang="zh-TW" b="1" dirty="0" smtClean="0"/>
              <a:t>use Gr 4 intubate Gr5; death</a:t>
            </a:r>
            <a:endParaRPr lang="zh-TW" altLang="zh-TW" dirty="0"/>
          </a:p>
          <a:p>
            <a:r>
              <a:rPr lang="fr-FR" altLang="zh-TW" b="1" dirty="0"/>
              <a:t>Lung constraint : Lung v20&lt;35Gy, v5&lt;65Gy, MLD&lt;20Gy</a:t>
            </a:r>
            <a:r>
              <a:rPr lang="fr-FR" altLang="zh-TW" dirty="0"/>
              <a:t> </a:t>
            </a:r>
            <a:endParaRPr lang="zh-TW" altLang="zh-TW" dirty="0"/>
          </a:p>
          <a:p>
            <a:endParaRPr lang="zh-TW" altLang="zh-TW" kern="100" dirty="0">
              <a:latin typeface="Calibri" panose="020F0502020204030204" pitchFamily="34" charset="0"/>
              <a:cs typeface="Times New Roman" panose="02020603050405020304" pitchFamily="18" charset="0"/>
            </a:endParaRPr>
          </a:p>
          <a:p>
            <a:r>
              <a:rPr lang="en-US" altLang="zh-TW" kern="0" dirty="0">
                <a:solidFill>
                  <a:srgbClr val="000000"/>
                </a:solidFill>
                <a:latin typeface="Arial" panose="020B0604020202020204" pitchFamily="34" charset="0"/>
                <a:cs typeface="Times New Roman" panose="02020603050405020304" pitchFamily="18" charset="0"/>
              </a:rPr>
              <a:t>SBRT dose? normal organ dose constraint? (BED&gt;100</a:t>
            </a:r>
            <a:r>
              <a:rPr lang="en-US" altLang="zh-TW" kern="0" dirty="0" smtClean="0">
                <a:solidFill>
                  <a:srgbClr val="000000"/>
                </a:solidFill>
                <a:latin typeface="Arial" panose="020B0604020202020204" pitchFamily="34" charset="0"/>
                <a:cs typeface="Times New Roman" panose="02020603050405020304" pitchFamily="18" charset="0"/>
              </a:rPr>
              <a:t>)</a:t>
            </a:r>
          </a:p>
          <a:p>
            <a:r>
              <a:rPr lang="en-US" altLang="zh-TW" kern="0" dirty="0" smtClean="0">
                <a:solidFill>
                  <a:srgbClr val="000000"/>
                </a:solidFill>
                <a:latin typeface="Arial" panose="020B0604020202020204" pitchFamily="34" charset="0"/>
                <a:cs typeface="Times New Roman" panose="02020603050405020304" pitchFamily="18" charset="0"/>
              </a:rPr>
              <a:t>A: refer to NCCN</a:t>
            </a:r>
          </a:p>
          <a:p>
            <a:endParaRPr lang="en-US" altLang="zh-TW" kern="0" dirty="0">
              <a:solidFill>
                <a:srgbClr val="000000"/>
              </a:solidFill>
              <a:latin typeface="Arial" panose="020B0604020202020204" pitchFamily="34" charset="0"/>
              <a:cs typeface="Times New Roman" panose="02020603050405020304" pitchFamily="18" charset="0"/>
            </a:endParaRPr>
          </a:p>
          <a:p>
            <a:r>
              <a:rPr lang="fr-FR" altLang="zh-TW" dirty="0" smtClean="0"/>
              <a:t>Q: Hippocampus </a:t>
            </a:r>
            <a:r>
              <a:rPr lang="fr-FR" altLang="zh-TW" dirty="0"/>
              <a:t>sparing WBRT</a:t>
            </a:r>
            <a:r>
              <a:rPr lang="zh-TW" altLang="zh-TW" dirty="0"/>
              <a:t>的經驗</a:t>
            </a:r>
            <a:r>
              <a:rPr lang="fr-FR" altLang="zh-TW" dirty="0"/>
              <a:t>? </a:t>
            </a:r>
            <a:endParaRPr lang="fr-FR" altLang="zh-TW" dirty="0" smtClean="0"/>
          </a:p>
          <a:p>
            <a:r>
              <a:rPr lang="fr-FR" altLang="zh-TW" dirty="0" smtClean="0"/>
              <a:t>A: </a:t>
            </a:r>
            <a:r>
              <a:rPr lang="en-US" altLang="zh-TW" dirty="0"/>
              <a:t> </a:t>
            </a:r>
            <a:r>
              <a:rPr lang="en-US" altLang="zh-TW" dirty="0" smtClean="0"/>
              <a:t>RTOG 0933 decline in HVLT-R significantly lower , no decline in </a:t>
            </a:r>
            <a:r>
              <a:rPr lang="en-US" altLang="zh-TW" dirty="0" err="1" smtClean="0"/>
              <a:t>QoL</a:t>
            </a:r>
            <a:endParaRPr lang="zh-TW" altLang="zh-TW" kern="100" dirty="0">
              <a:latin typeface="Calibri" panose="020F0502020204030204" pitchFamily="34" charset="0"/>
              <a:cs typeface="Times New Roman" panose="02020603050405020304" pitchFamily="18" charset="0"/>
            </a:endParaRPr>
          </a:p>
          <a:p>
            <a:endParaRPr lang="zh-TW" altLang="en-US" dirty="0"/>
          </a:p>
        </p:txBody>
      </p:sp>
    </p:spTree>
    <p:extLst>
      <p:ext uri="{BB962C8B-B14F-4D97-AF65-F5344CB8AC3E}">
        <p14:creationId xmlns:p14="http://schemas.microsoft.com/office/powerpoint/2010/main" val="1331907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631504" y="476673"/>
            <a:ext cx="3898776" cy="347341"/>
          </a:xfrm>
        </p:spPr>
        <p:txBody>
          <a:bodyPr>
            <a:normAutofit fontScale="90000"/>
          </a:bodyPr>
          <a:lstStyle/>
          <a:p>
            <a:r>
              <a:rPr lang="en-US" altLang="zh-TW" dirty="0" smtClean="0"/>
              <a:t>2014 </a:t>
            </a:r>
            <a:r>
              <a:rPr lang="zh-TW" altLang="zh-TW" kern="0" dirty="0" smtClean="0">
                <a:solidFill>
                  <a:srgbClr val="000000"/>
                </a:solidFill>
                <a:latin typeface="Arial" panose="020B0604020202020204" pitchFamily="34" charset="0"/>
                <a:cs typeface="Arial" panose="020B0604020202020204" pitchFamily="34" charset="0"/>
              </a:rPr>
              <a:t>陳妙芬</a:t>
            </a:r>
            <a:r>
              <a:rPr lang="zh-TW" altLang="zh-TW" kern="100" dirty="0">
                <a:latin typeface="Calibri" panose="020F0502020204030204" pitchFamily="34" charset="0"/>
                <a:cs typeface="Times New Roman" panose="02020603050405020304" pitchFamily="18" charset="0"/>
              </a:rPr>
              <a:t/>
            </a:r>
            <a:br>
              <a:rPr lang="zh-TW" altLang="zh-TW" kern="100" dirty="0">
                <a:latin typeface="Calibri" panose="020F0502020204030204" pitchFamily="34" charset="0"/>
                <a:cs typeface="Times New Roman" panose="02020603050405020304" pitchFamily="18" charset="0"/>
              </a:rPr>
            </a:br>
            <a:endParaRPr lang="zh-TW" altLang="en-US" dirty="0"/>
          </a:p>
        </p:txBody>
      </p:sp>
      <p:sp>
        <p:nvSpPr>
          <p:cNvPr id="3" name="內容版面配置區 2"/>
          <p:cNvSpPr>
            <a:spLocks noGrp="1"/>
          </p:cNvSpPr>
          <p:nvPr>
            <p:ph idx="1"/>
          </p:nvPr>
        </p:nvSpPr>
        <p:spPr>
          <a:xfrm>
            <a:off x="1981200" y="692696"/>
            <a:ext cx="8229600" cy="5976664"/>
          </a:xfrm>
        </p:spPr>
        <p:txBody>
          <a:bodyPr>
            <a:normAutofit fontScale="32500" lnSpcReduction="20000"/>
          </a:bodyPr>
          <a:lstStyle/>
          <a:p>
            <a:r>
              <a:rPr lang="en-US" altLang="zh-TW" kern="0" dirty="0" smtClean="0">
                <a:solidFill>
                  <a:srgbClr val="000000"/>
                </a:solidFill>
                <a:latin typeface="Arial" panose="020B0604020202020204" pitchFamily="34" charset="0"/>
                <a:cs typeface="Times New Roman" panose="02020603050405020304" pitchFamily="18" charset="0"/>
              </a:rPr>
              <a:t>Q: Lung </a:t>
            </a:r>
            <a:r>
              <a:rPr lang="en-US" altLang="zh-TW" kern="0" dirty="0">
                <a:solidFill>
                  <a:srgbClr val="000000"/>
                </a:solidFill>
                <a:latin typeface="Arial" panose="020B0604020202020204" pitchFamily="34" charset="0"/>
                <a:cs typeface="Times New Roman" panose="02020603050405020304" pitchFamily="18" charset="0"/>
              </a:rPr>
              <a:t>CA SBRT</a:t>
            </a:r>
            <a:r>
              <a:rPr lang="zh-TW" altLang="zh-TW" kern="0" dirty="0">
                <a:solidFill>
                  <a:srgbClr val="000000"/>
                </a:solidFill>
                <a:latin typeface="Arial" panose="020B0604020202020204" pitchFamily="34" charset="0"/>
                <a:cs typeface="Arial" panose="020B0604020202020204" pitchFamily="34" charset="0"/>
              </a:rPr>
              <a:t>的</a:t>
            </a:r>
            <a:r>
              <a:rPr lang="en-US" altLang="zh-TW" kern="0" dirty="0" smtClean="0">
                <a:solidFill>
                  <a:srgbClr val="000000"/>
                </a:solidFill>
                <a:latin typeface="Arial" panose="020B0604020202020204" pitchFamily="34" charset="0"/>
                <a:cs typeface="Times New Roman" panose="02020603050405020304" pitchFamily="18" charset="0"/>
              </a:rPr>
              <a:t>indication, SBRT</a:t>
            </a:r>
            <a:r>
              <a:rPr lang="zh-TW" altLang="zh-TW" kern="0" dirty="0">
                <a:solidFill>
                  <a:srgbClr val="000000"/>
                </a:solidFill>
                <a:latin typeface="Arial" panose="020B0604020202020204" pitchFamily="34" charset="0"/>
                <a:cs typeface="Arial" panose="020B0604020202020204" pitchFamily="34" charset="0"/>
              </a:rPr>
              <a:t>定義</a:t>
            </a:r>
            <a:r>
              <a:rPr lang="en-US" altLang="zh-TW" kern="0" dirty="0">
                <a:solidFill>
                  <a:srgbClr val="000000"/>
                </a:solidFill>
                <a:latin typeface="Arial" panose="020B0604020202020204" pitchFamily="34" charset="0"/>
                <a:cs typeface="Times New Roman" panose="02020603050405020304" pitchFamily="18" charset="0"/>
              </a:rPr>
              <a:t>, </a:t>
            </a:r>
            <a:r>
              <a:rPr lang="zh-TW" altLang="zh-TW" kern="0" dirty="0">
                <a:solidFill>
                  <a:srgbClr val="000000"/>
                </a:solidFill>
                <a:latin typeface="Arial" panose="020B0604020202020204" pitchFamily="34" charset="0"/>
                <a:cs typeface="Arial" panose="020B0604020202020204" pitchFamily="34" charset="0"/>
              </a:rPr>
              <a:t>條件</a:t>
            </a:r>
            <a:r>
              <a:rPr lang="en-US" altLang="zh-TW" kern="0" dirty="0" smtClean="0">
                <a:solidFill>
                  <a:srgbClr val="000000"/>
                </a:solidFill>
                <a:latin typeface="Arial" panose="020B0604020202020204" pitchFamily="34" charset="0"/>
                <a:cs typeface="Times New Roman" panose="02020603050405020304" pitchFamily="18" charset="0"/>
              </a:rPr>
              <a:t>?</a:t>
            </a:r>
            <a:r>
              <a:rPr lang="en-US" altLang="zh-TW" kern="100" dirty="0">
                <a:latin typeface="Calibri" panose="020F0502020204030204" pitchFamily="34" charset="0"/>
                <a:cs typeface="Times New Roman" panose="02020603050405020304" pitchFamily="18" charset="0"/>
              </a:rPr>
              <a:t> </a:t>
            </a:r>
            <a:r>
              <a:rPr lang="en-US" altLang="zh-TW" kern="0" dirty="0" smtClean="0">
                <a:solidFill>
                  <a:srgbClr val="000000"/>
                </a:solidFill>
                <a:latin typeface="Arial" panose="020B0604020202020204" pitchFamily="34" charset="0"/>
                <a:cs typeface="Times New Roman" panose="02020603050405020304" pitchFamily="18" charset="0"/>
              </a:rPr>
              <a:t>Lung </a:t>
            </a:r>
            <a:r>
              <a:rPr lang="en-US" altLang="zh-TW" kern="0" dirty="0">
                <a:solidFill>
                  <a:srgbClr val="000000"/>
                </a:solidFill>
                <a:latin typeface="Arial" panose="020B0604020202020204" pitchFamily="34" charset="0"/>
                <a:cs typeface="Times New Roman" panose="02020603050405020304" pitchFamily="18" charset="0"/>
              </a:rPr>
              <a:t>CA SBRT dose prescription? </a:t>
            </a:r>
            <a:r>
              <a:rPr lang="zh-TW" altLang="zh-TW" kern="0" dirty="0">
                <a:solidFill>
                  <a:srgbClr val="000000"/>
                </a:solidFill>
                <a:latin typeface="Arial" panose="020B0604020202020204" pitchFamily="34" charset="0"/>
                <a:cs typeface="Arial" panose="020B0604020202020204" pitchFamily="34" charset="0"/>
              </a:rPr>
              <a:t>有提到</a:t>
            </a:r>
            <a:r>
              <a:rPr lang="en-US" altLang="zh-TW" kern="0" dirty="0">
                <a:solidFill>
                  <a:srgbClr val="000000"/>
                </a:solidFill>
                <a:latin typeface="Arial" panose="020B0604020202020204" pitchFamily="34" charset="0"/>
                <a:cs typeface="Times New Roman" panose="02020603050405020304" pitchFamily="18" charset="0"/>
              </a:rPr>
              <a:t>RTOG </a:t>
            </a:r>
            <a:r>
              <a:rPr lang="en-US" altLang="zh-TW" kern="0" dirty="0" smtClean="0">
                <a:solidFill>
                  <a:srgbClr val="000000"/>
                </a:solidFill>
                <a:latin typeface="Arial" panose="020B0604020202020204" pitchFamily="34" charset="0"/>
                <a:cs typeface="Times New Roman" panose="02020603050405020304" pitchFamily="18" charset="0"/>
              </a:rPr>
              <a:t>0236</a:t>
            </a:r>
          </a:p>
          <a:p>
            <a:r>
              <a:rPr lang="en-US" altLang="zh-TW" kern="100" dirty="0" smtClean="0">
                <a:latin typeface="Calibri" panose="020F0502020204030204" pitchFamily="34" charset="0"/>
                <a:cs typeface="Times New Roman" panose="02020603050405020304" pitchFamily="18" charset="0"/>
              </a:rPr>
              <a:t>A: NCCN, tumor &lt; 5 cm, inoperable , old age poor PFT</a:t>
            </a:r>
          </a:p>
          <a:p>
            <a:endParaRPr lang="en-US" altLang="zh-TW" kern="100" dirty="0">
              <a:latin typeface="Calibri" panose="020F0502020204030204" pitchFamily="34" charset="0"/>
              <a:cs typeface="Times New Roman" panose="02020603050405020304" pitchFamily="18" charset="0"/>
            </a:endParaRPr>
          </a:p>
          <a:p>
            <a:endParaRPr lang="en-US" altLang="zh-TW" kern="100" dirty="0" smtClean="0">
              <a:latin typeface="Calibri" panose="020F0502020204030204" pitchFamily="34" charset="0"/>
              <a:cs typeface="Times New Roman" panose="02020603050405020304" pitchFamily="18" charset="0"/>
            </a:endParaRPr>
          </a:p>
          <a:p>
            <a:endParaRPr lang="en-US" altLang="zh-TW" kern="100" dirty="0">
              <a:latin typeface="Calibri" panose="020F0502020204030204" pitchFamily="34" charset="0"/>
              <a:cs typeface="Times New Roman" panose="02020603050405020304" pitchFamily="18" charset="0"/>
            </a:endParaRPr>
          </a:p>
          <a:p>
            <a:endParaRPr lang="en-US" altLang="zh-TW" kern="100" dirty="0" smtClean="0">
              <a:latin typeface="Calibri" panose="020F0502020204030204" pitchFamily="34" charset="0"/>
              <a:cs typeface="Times New Roman" panose="02020603050405020304" pitchFamily="18" charset="0"/>
            </a:endParaRPr>
          </a:p>
          <a:p>
            <a:endParaRPr lang="zh-TW" altLang="zh-TW" kern="100" dirty="0">
              <a:latin typeface="Calibri" panose="020F0502020204030204" pitchFamily="34" charset="0"/>
              <a:cs typeface="Times New Roman" panose="02020603050405020304" pitchFamily="18" charset="0"/>
            </a:endParaRPr>
          </a:p>
          <a:p>
            <a:endParaRPr lang="en-US" altLang="zh-TW" kern="0" dirty="0" smtClean="0">
              <a:solidFill>
                <a:srgbClr val="000000"/>
              </a:solidFill>
              <a:latin typeface="Arial" panose="020B0604020202020204" pitchFamily="34" charset="0"/>
              <a:cs typeface="Times New Roman" panose="02020603050405020304" pitchFamily="18" charset="0"/>
            </a:endParaRPr>
          </a:p>
          <a:p>
            <a:endParaRPr lang="en-US" altLang="zh-TW" kern="0" dirty="0" smtClean="0">
              <a:solidFill>
                <a:srgbClr val="000000"/>
              </a:solidFill>
              <a:latin typeface="Arial" panose="020B0604020202020204" pitchFamily="34" charset="0"/>
              <a:cs typeface="Times New Roman" panose="02020603050405020304" pitchFamily="18" charset="0"/>
            </a:endParaRPr>
          </a:p>
          <a:p>
            <a:endParaRPr lang="en-US" altLang="zh-TW" kern="0" dirty="0">
              <a:solidFill>
                <a:srgbClr val="000000"/>
              </a:solidFill>
              <a:latin typeface="Arial" panose="020B0604020202020204" pitchFamily="34" charset="0"/>
              <a:cs typeface="Times New Roman" panose="02020603050405020304" pitchFamily="18" charset="0"/>
            </a:endParaRPr>
          </a:p>
          <a:p>
            <a:endParaRPr lang="en-US" altLang="zh-TW" kern="0" dirty="0" smtClean="0">
              <a:solidFill>
                <a:srgbClr val="000000"/>
              </a:solidFill>
              <a:latin typeface="Arial" panose="020B0604020202020204" pitchFamily="34" charset="0"/>
              <a:cs typeface="Times New Roman" panose="02020603050405020304" pitchFamily="18" charset="0"/>
            </a:endParaRPr>
          </a:p>
          <a:p>
            <a:endParaRPr lang="en-US" altLang="zh-TW" kern="0" dirty="0">
              <a:solidFill>
                <a:srgbClr val="000000"/>
              </a:solidFill>
              <a:latin typeface="Arial" panose="020B060402020202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Times New Roman" panose="02020603050405020304" pitchFamily="18" charset="0"/>
              </a:rPr>
              <a:t>Q: Lung </a:t>
            </a:r>
            <a:r>
              <a:rPr lang="en-US" altLang="zh-TW" kern="0" dirty="0">
                <a:solidFill>
                  <a:srgbClr val="000000"/>
                </a:solidFill>
                <a:latin typeface="Arial" panose="020B0604020202020204" pitchFamily="34" charset="0"/>
                <a:cs typeface="Times New Roman" panose="02020603050405020304" pitchFamily="18" charset="0"/>
              </a:rPr>
              <a:t>CA SBRT local control </a:t>
            </a:r>
            <a:r>
              <a:rPr lang="zh-TW" altLang="zh-TW" kern="0" dirty="0">
                <a:solidFill>
                  <a:srgbClr val="000000"/>
                </a:solidFill>
                <a:latin typeface="Arial" panose="020B0604020202020204" pitchFamily="34" charset="0"/>
                <a:cs typeface="Arial" panose="020B0604020202020204" pitchFamily="34" charset="0"/>
              </a:rPr>
              <a:t>是多少</a:t>
            </a:r>
            <a:r>
              <a:rPr lang="en-US" altLang="zh-TW" kern="0" dirty="0">
                <a:solidFill>
                  <a:srgbClr val="000000"/>
                </a:solidFill>
                <a:latin typeface="Arial" panose="020B0604020202020204" pitchFamily="34" charset="0"/>
                <a:cs typeface="Times New Roman" panose="02020603050405020304" pitchFamily="18" charset="0"/>
              </a:rPr>
              <a:t>?</a:t>
            </a:r>
            <a:endParaRPr lang="zh-TW" altLang="zh-TW" kern="100" dirty="0">
              <a:latin typeface="Calibri" panose="020F050202020403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Times New Roman" panose="02020603050405020304" pitchFamily="18" charset="0"/>
              </a:rPr>
              <a:t>A: 3 year LC for stage I lung cancer patient range from 85~95%, 3 </a:t>
            </a:r>
            <a:r>
              <a:rPr lang="en-US" altLang="zh-TW" kern="0" dirty="0" err="1" smtClean="0">
                <a:solidFill>
                  <a:srgbClr val="000000"/>
                </a:solidFill>
                <a:latin typeface="Arial" panose="020B0604020202020204" pitchFamily="34" charset="0"/>
                <a:cs typeface="Times New Roman" panose="02020603050405020304" pitchFamily="18" charset="0"/>
              </a:rPr>
              <a:t>yr</a:t>
            </a:r>
            <a:r>
              <a:rPr lang="en-US" altLang="zh-TW" kern="0" dirty="0" smtClean="0">
                <a:solidFill>
                  <a:srgbClr val="000000"/>
                </a:solidFill>
                <a:latin typeface="Arial" panose="020B0604020202020204" pitchFamily="34" charset="0"/>
                <a:cs typeface="Times New Roman" panose="02020603050405020304" pitchFamily="18" charset="0"/>
              </a:rPr>
              <a:t> OS 55%-91% </a:t>
            </a:r>
          </a:p>
          <a:p>
            <a:endParaRPr lang="en-US" altLang="zh-TW" b="1" kern="0" dirty="0" smtClean="0">
              <a:solidFill>
                <a:srgbClr val="000000"/>
              </a:solidFill>
              <a:latin typeface="Arial" panose="020B0604020202020204" pitchFamily="34" charset="0"/>
              <a:cs typeface="Times New Roman" panose="02020603050405020304" pitchFamily="18" charset="0"/>
            </a:endParaRPr>
          </a:p>
          <a:p>
            <a:r>
              <a:rPr lang="en-US" altLang="zh-TW" b="1" kern="0" dirty="0" smtClean="0">
                <a:solidFill>
                  <a:srgbClr val="000000"/>
                </a:solidFill>
                <a:latin typeface="Arial" panose="020B0604020202020204" pitchFamily="34" charset="0"/>
                <a:cs typeface="Times New Roman" panose="02020603050405020304" pitchFamily="18" charset="0"/>
              </a:rPr>
              <a:t>Q: OAR</a:t>
            </a:r>
            <a:r>
              <a:rPr lang="zh-TW" altLang="zh-TW" b="1" kern="0" dirty="0">
                <a:solidFill>
                  <a:srgbClr val="000000"/>
                </a:solidFill>
                <a:latin typeface="Arial" panose="020B0604020202020204" pitchFamily="34" charset="0"/>
                <a:cs typeface="Arial" panose="020B0604020202020204" pitchFamily="34" charset="0"/>
              </a:rPr>
              <a:t>的</a:t>
            </a:r>
            <a:r>
              <a:rPr lang="en-US" altLang="zh-TW" b="1" kern="0" dirty="0">
                <a:solidFill>
                  <a:srgbClr val="000000"/>
                </a:solidFill>
                <a:latin typeface="Arial" panose="020B0604020202020204" pitchFamily="34" charset="0"/>
                <a:cs typeface="Times New Roman" panose="02020603050405020304" pitchFamily="18" charset="0"/>
              </a:rPr>
              <a:t>dose constraint</a:t>
            </a:r>
            <a:r>
              <a:rPr lang="en-US" altLang="zh-TW" b="1" kern="0" dirty="0" smtClean="0">
                <a:solidFill>
                  <a:srgbClr val="000000"/>
                </a:solidFill>
                <a:latin typeface="Arial" panose="020B0604020202020204" pitchFamily="34" charset="0"/>
                <a:cs typeface="Times New Roman" panose="02020603050405020304" pitchFamily="18" charset="0"/>
              </a:rPr>
              <a:t>?</a:t>
            </a:r>
          </a:p>
          <a:p>
            <a:r>
              <a:rPr lang="en-US" altLang="zh-TW" kern="0" dirty="0" smtClean="0">
                <a:solidFill>
                  <a:srgbClr val="000000"/>
                </a:solidFill>
                <a:latin typeface="Arial" panose="020B0604020202020204" pitchFamily="34" charset="0"/>
                <a:cs typeface="Times New Roman" panose="02020603050405020304" pitchFamily="18" charset="0"/>
              </a:rPr>
              <a:t>A: refer to NCCN  </a:t>
            </a:r>
            <a:endParaRPr lang="en-US" altLang="zh-TW" kern="0" dirty="0">
              <a:solidFill>
                <a:srgbClr val="000000"/>
              </a:solidFill>
              <a:latin typeface="Arial" panose="020B0604020202020204" pitchFamily="34" charset="0"/>
              <a:cs typeface="Times New Roman" panose="02020603050405020304" pitchFamily="18" charset="0"/>
            </a:endParaRPr>
          </a:p>
          <a:p>
            <a:endParaRPr lang="en-US" altLang="zh-TW" kern="0" dirty="0" smtClean="0">
              <a:solidFill>
                <a:srgbClr val="000000"/>
              </a:solidFill>
              <a:latin typeface="Arial" panose="020B060402020202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Times New Roman" panose="02020603050405020304" pitchFamily="18" charset="0"/>
              </a:rPr>
              <a:t>Q: central </a:t>
            </a:r>
            <a:r>
              <a:rPr lang="en-US" altLang="zh-TW" kern="0" dirty="0">
                <a:solidFill>
                  <a:srgbClr val="000000"/>
                </a:solidFill>
                <a:latin typeface="Arial" panose="020B0604020202020204" pitchFamily="34" charset="0"/>
                <a:cs typeface="Times New Roman" panose="02020603050405020304" pitchFamily="18" charset="0"/>
              </a:rPr>
              <a:t>lesion </a:t>
            </a:r>
            <a:r>
              <a:rPr lang="zh-TW" altLang="zh-TW" kern="0" dirty="0">
                <a:solidFill>
                  <a:srgbClr val="000000"/>
                </a:solidFill>
                <a:latin typeface="Arial" panose="020B0604020202020204" pitchFamily="34" charset="0"/>
                <a:cs typeface="Arial" panose="020B0604020202020204" pitchFamily="34" charset="0"/>
              </a:rPr>
              <a:t>的</a:t>
            </a:r>
            <a:r>
              <a:rPr lang="en-US" altLang="zh-TW" kern="0" dirty="0">
                <a:solidFill>
                  <a:srgbClr val="000000"/>
                </a:solidFill>
                <a:latin typeface="Arial" panose="020B0604020202020204" pitchFamily="34" charset="0"/>
                <a:cs typeface="Times New Roman" panose="02020603050405020304" pitchFamily="18" charset="0"/>
              </a:rPr>
              <a:t>SBRT normal organ</a:t>
            </a:r>
            <a:r>
              <a:rPr lang="zh-TW" altLang="zh-TW" kern="0" dirty="0">
                <a:solidFill>
                  <a:srgbClr val="000000"/>
                </a:solidFill>
                <a:latin typeface="Arial" panose="020B0604020202020204" pitchFamily="34" charset="0"/>
                <a:cs typeface="Arial" panose="020B0604020202020204" pitchFamily="34" charset="0"/>
              </a:rPr>
              <a:t>假如</a:t>
            </a:r>
            <a:r>
              <a:rPr lang="en-US" altLang="zh-TW" kern="0" dirty="0">
                <a:solidFill>
                  <a:srgbClr val="000000"/>
                </a:solidFill>
                <a:latin typeface="Arial" panose="020B0604020202020204" pitchFamily="34" charset="0"/>
                <a:cs typeface="Times New Roman" panose="02020603050405020304" pitchFamily="18" charset="0"/>
              </a:rPr>
              <a:t>BED</a:t>
            </a:r>
            <a:r>
              <a:rPr lang="zh-TW" altLang="zh-TW" kern="0" dirty="0">
                <a:solidFill>
                  <a:srgbClr val="000000"/>
                </a:solidFill>
                <a:latin typeface="Arial" panose="020B0604020202020204" pitchFamily="34" charset="0"/>
                <a:cs typeface="Arial" panose="020B0604020202020204" pitchFamily="34" charset="0"/>
              </a:rPr>
              <a:t>用</a:t>
            </a:r>
            <a:r>
              <a:rPr lang="en-US" altLang="zh-TW" kern="0" dirty="0">
                <a:solidFill>
                  <a:srgbClr val="000000"/>
                </a:solidFill>
                <a:latin typeface="Arial" panose="020B0604020202020204" pitchFamily="34" charset="0"/>
                <a:cs typeface="Times New Roman" panose="02020603050405020304" pitchFamily="18" charset="0"/>
              </a:rPr>
              <a:t>3</a:t>
            </a:r>
            <a:r>
              <a:rPr lang="zh-TW" altLang="zh-TW" kern="0" dirty="0">
                <a:solidFill>
                  <a:srgbClr val="000000"/>
                </a:solidFill>
                <a:latin typeface="Arial" panose="020B0604020202020204" pitchFamily="34" charset="0"/>
                <a:cs typeface="Arial" panose="020B0604020202020204" pitchFamily="34" charset="0"/>
              </a:rPr>
              <a:t>，要多少以下</a:t>
            </a:r>
            <a:r>
              <a:rPr lang="en-US" altLang="zh-TW" kern="0" dirty="0">
                <a:solidFill>
                  <a:srgbClr val="000000"/>
                </a:solidFill>
                <a:latin typeface="Arial" panose="020B0604020202020204" pitchFamily="34" charset="0"/>
                <a:cs typeface="Times New Roman" panose="02020603050405020304" pitchFamily="18" charset="0"/>
              </a:rPr>
              <a:t>? </a:t>
            </a:r>
            <a:endParaRPr lang="en-US" altLang="zh-TW" kern="0" dirty="0" smtClean="0">
              <a:solidFill>
                <a:srgbClr val="000000"/>
              </a:solidFill>
              <a:latin typeface="Arial" panose="020B060402020202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Times New Roman" panose="02020603050405020304" pitchFamily="18" charset="0"/>
              </a:rPr>
              <a:t>A: : </a:t>
            </a:r>
            <a:r>
              <a:rPr lang="en-US" altLang="zh-TW" kern="0" dirty="0">
                <a:solidFill>
                  <a:srgbClr val="000000"/>
                </a:solidFill>
                <a:latin typeface="Arial" panose="020B0604020202020204" pitchFamily="34" charset="0"/>
                <a:cs typeface="Times New Roman" panose="02020603050405020304" pitchFamily="18" charset="0"/>
              </a:rPr>
              <a:t>~250(</a:t>
            </a:r>
            <a:r>
              <a:rPr lang="zh-TW" altLang="zh-TW" kern="0" dirty="0">
                <a:solidFill>
                  <a:srgbClr val="000000"/>
                </a:solidFill>
                <a:latin typeface="Arial" panose="020B0604020202020204" pitchFamily="34" charset="0"/>
                <a:cs typeface="Arial" panose="020B0604020202020204" pitchFamily="34" charset="0"/>
              </a:rPr>
              <a:t>她說沒關係大家都不會</a:t>
            </a:r>
            <a:r>
              <a:rPr lang="en-US" altLang="zh-TW" kern="0" dirty="0" smtClean="0">
                <a:solidFill>
                  <a:srgbClr val="000000"/>
                </a:solidFill>
                <a:latin typeface="Arial" panose="020B0604020202020204" pitchFamily="34" charset="0"/>
                <a:cs typeface="Times New Roman" panose="02020603050405020304" pitchFamily="18" charset="0"/>
              </a:rPr>
              <a:t>)???</a:t>
            </a:r>
          </a:p>
          <a:p>
            <a:r>
              <a:rPr lang="en-US" altLang="zh-TW" kern="0" dirty="0" smtClean="0">
                <a:solidFill>
                  <a:srgbClr val="000000"/>
                </a:solidFill>
                <a:latin typeface="Arial" panose="020B0604020202020204" pitchFamily="34" charset="0"/>
                <a:cs typeface="Times New Roman" panose="02020603050405020304" pitchFamily="18" charset="0"/>
              </a:rPr>
              <a:t>A: My answer: 180-210Gy associated with grade 3 pulmonary complication, Keep BED&gt;100Gy sufficient for LC </a:t>
            </a:r>
          </a:p>
          <a:p>
            <a:endParaRPr lang="en-US" altLang="zh-TW" kern="0" dirty="0">
              <a:solidFill>
                <a:srgbClr val="000000"/>
              </a:solidFill>
              <a:latin typeface="Arial" panose="020B0604020202020204" pitchFamily="34" charset="0"/>
              <a:cs typeface="Times New Roman" panose="02020603050405020304" pitchFamily="18" charset="0"/>
            </a:endParaRPr>
          </a:p>
          <a:p>
            <a:pPr marL="0" indent="0">
              <a:buNone/>
            </a:pPr>
            <a:endParaRPr lang="en-US" altLang="zh-TW" kern="0" dirty="0">
              <a:solidFill>
                <a:srgbClr val="000000"/>
              </a:solidFill>
              <a:latin typeface="Arial" panose="020B0604020202020204" pitchFamily="34" charset="0"/>
              <a:cs typeface="Arial" panose="020B0604020202020204" pitchFamily="34" charset="0"/>
            </a:endParaRPr>
          </a:p>
          <a:p>
            <a:endParaRPr lang="en-US" altLang="zh-TW" kern="0" dirty="0" smtClean="0">
              <a:solidFill>
                <a:srgbClr val="000000"/>
              </a:solidFill>
              <a:latin typeface="Arial" panose="020B0604020202020204" pitchFamily="34" charset="0"/>
              <a:cs typeface="Arial" panose="020B0604020202020204" pitchFamily="34" charset="0"/>
            </a:endParaRPr>
          </a:p>
          <a:p>
            <a:endParaRPr lang="en-US" altLang="zh-TW" kern="0" dirty="0">
              <a:solidFill>
                <a:srgbClr val="000000"/>
              </a:solidFill>
              <a:latin typeface="Arial" panose="020B0604020202020204" pitchFamily="34" charset="0"/>
              <a:cs typeface="Arial" panose="020B0604020202020204" pitchFamily="34" charset="0"/>
            </a:endParaRPr>
          </a:p>
          <a:p>
            <a:r>
              <a:rPr lang="en-US" altLang="zh-TW" kern="0" dirty="0" smtClean="0">
                <a:solidFill>
                  <a:srgbClr val="000000"/>
                </a:solidFill>
                <a:latin typeface="Arial" panose="020B0604020202020204" pitchFamily="34" charset="0"/>
                <a:cs typeface="Arial" panose="020B0604020202020204" pitchFamily="34" charset="0"/>
              </a:rPr>
              <a:t>Q: </a:t>
            </a:r>
            <a:r>
              <a:rPr lang="zh-TW" altLang="zh-TW" kern="0" dirty="0" smtClean="0">
                <a:solidFill>
                  <a:srgbClr val="000000"/>
                </a:solidFill>
                <a:latin typeface="Arial" panose="020B0604020202020204" pitchFamily="34" charset="0"/>
                <a:cs typeface="Arial" panose="020B0604020202020204" pitchFamily="34" charset="0"/>
              </a:rPr>
              <a:t>那個</a:t>
            </a:r>
            <a:r>
              <a:rPr lang="zh-TW" altLang="zh-TW" kern="0" dirty="0">
                <a:solidFill>
                  <a:srgbClr val="000000"/>
                </a:solidFill>
                <a:latin typeface="Arial" panose="020B0604020202020204" pitchFamily="34" charset="0"/>
                <a:cs typeface="Arial" panose="020B0604020202020204" pitchFamily="34" charset="0"/>
              </a:rPr>
              <a:t>部位的</a:t>
            </a:r>
            <a:r>
              <a:rPr lang="en-US" altLang="zh-TW" kern="0" dirty="0">
                <a:solidFill>
                  <a:srgbClr val="000000"/>
                </a:solidFill>
                <a:latin typeface="Arial" panose="020B0604020202020204" pitchFamily="34" charset="0"/>
                <a:cs typeface="Times New Roman" panose="02020603050405020304" pitchFamily="18" charset="0"/>
              </a:rPr>
              <a:t>NSCLC</a:t>
            </a:r>
            <a:r>
              <a:rPr lang="zh-TW" altLang="zh-TW" kern="0" dirty="0">
                <a:solidFill>
                  <a:srgbClr val="000000"/>
                </a:solidFill>
                <a:latin typeface="Arial" panose="020B0604020202020204" pitchFamily="34" charset="0"/>
                <a:cs typeface="Arial" panose="020B0604020202020204" pitchFamily="34" charset="0"/>
              </a:rPr>
              <a:t>標準是先</a:t>
            </a:r>
            <a:r>
              <a:rPr lang="en-US" altLang="zh-TW" kern="0" dirty="0">
                <a:solidFill>
                  <a:srgbClr val="000000"/>
                </a:solidFill>
                <a:latin typeface="Arial" panose="020B0604020202020204" pitchFamily="34" charset="0"/>
                <a:cs typeface="Times New Roman" panose="02020603050405020304" pitchFamily="18" charset="0"/>
              </a:rPr>
              <a:t>CCRT? </a:t>
            </a:r>
          </a:p>
          <a:p>
            <a:r>
              <a:rPr lang="en-US" altLang="zh-TW" kern="0" dirty="0" smtClean="0">
                <a:solidFill>
                  <a:srgbClr val="000000"/>
                </a:solidFill>
                <a:latin typeface="Arial" panose="020B0604020202020204" pitchFamily="34" charset="0"/>
                <a:cs typeface="Times New Roman" panose="02020603050405020304" pitchFamily="18" charset="0"/>
              </a:rPr>
              <a:t>A: superior </a:t>
            </a:r>
            <a:r>
              <a:rPr lang="en-US" altLang="zh-TW" kern="0" dirty="0">
                <a:solidFill>
                  <a:srgbClr val="000000"/>
                </a:solidFill>
                <a:latin typeface="Arial" panose="020B0604020202020204" pitchFamily="34" charset="0"/>
                <a:cs typeface="Times New Roman" panose="02020603050405020304" pitchFamily="18" charset="0"/>
              </a:rPr>
              <a:t>sulcus tumor</a:t>
            </a:r>
            <a:endParaRPr lang="zh-TW" altLang="zh-TW" kern="100" dirty="0">
              <a:latin typeface="Calibri" panose="020F0502020204030204" pitchFamily="34" charset="0"/>
              <a:cs typeface="Times New Roman" panose="02020603050405020304" pitchFamily="18" charset="0"/>
            </a:endParaRPr>
          </a:p>
          <a:p>
            <a:endParaRPr lang="en-US" altLang="zh-TW" kern="0" dirty="0" smtClean="0">
              <a:solidFill>
                <a:srgbClr val="000000"/>
              </a:solidFill>
              <a:latin typeface="Arial" panose="020B060402020202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Times New Roman" panose="02020603050405020304" pitchFamily="18" charset="0"/>
              </a:rPr>
              <a:t>Q: IIIB </a:t>
            </a:r>
            <a:r>
              <a:rPr lang="en-US" altLang="zh-TW" kern="0" dirty="0" err="1">
                <a:solidFill>
                  <a:srgbClr val="000000"/>
                </a:solidFill>
                <a:latin typeface="Arial" panose="020B0604020202020204" pitchFamily="34" charset="0"/>
                <a:cs typeface="Times New Roman" panose="02020603050405020304" pitchFamily="18" charset="0"/>
              </a:rPr>
              <a:t>tx</a:t>
            </a:r>
            <a:r>
              <a:rPr lang="en-US" altLang="zh-TW" kern="0" dirty="0">
                <a:solidFill>
                  <a:srgbClr val="000000"/>
                </a:solidFill>
                <a:latin typeface="Arial" panose="020B0604020202020204" pitchFamily="34" charset="0"/>
                <a:cs typeface="Times New Roman" panose="02020603050405020304" pitchFamily="18" charset="0"/>
              </a:rPr>
              <a:t>? definitive CCRT, RT dose</a:t>
            </a:r>
            <a:r>
              <a:rPr lang="zh-TW" altLang="zh-TW" kern="0" dirty="0">
                <a:solidFill>
                  <a:srgbClr val="000000"/>
                </a:solidFill>
                <a:latin typeface="Arial" panose="020B0604020202020204" pitchFamily="34" charset="0"/>
                <a:cs typeface="Arial" panose="020B0604020202020204" pitchFamily="34" charset="0"/>
              </a:rPr>
              <a:t>？</a:t>
            </a:r>
            <a:r>
              <a:rPr lang="zh-TW" altLang="zh-TW" kern="0" dirty="0">
                <a:solidFill>
                  <a:srgbClr val="000000"/>
                </a:solidFill>
                <a:latin typeface="Calibri" panose="020F0502020204030204" pitchFamily="34" charset="0"/>
                <a:ea typeface="Arial" panose="020B0604020202020204" pitchFamily="34" charset="0"/>
                <a:cs typeface="Times New Roman" panose="02020603050405020304" pitchFamily="18" charset="0"/>
              </a:rPr>
              <a:t> </a:t>
            </a:r>
            <a:endParaRPr lang="en-US" altLang="zh-TW" kern="0" dirty="0" smtClean="0">
              <a:solidFill>
                <a:srgbClr val="000000"/>
              </a:solidFill>
              <a:latin typeface="Calibri" panose="020F0502020204030204" pitchFamily="34" charset="0"/>
              <a:ea typeface="Arial" panose="020B0604020202020204" pitchFamily="34" charset="0"/>
              <a:cs typeface="Times New Roman" panose="02020603050405020304" pitchFamily="18" charset="0"/>
            </a:endParaRPr>
          </a:p>
          <a:p>
            <a:r>
              <a:rPr lang="en-US" altLang="zh-TW" kern="0" dirty="0" smtClean="0">
                <a:solidFill>
                  <a:srgbClr val="000000"/>
                </a:solidFill>
                <a:latin typeface="Calibri" panose="020F0502020204030204" pitchFamily="34" charset="0"/>
                <a:cs typeface="Times New Roman" panose="02020603050405020304" pitchFamily="18" charset="0"/>
              </a:rPr>
              <a:t>A: CRT, 60-70Gy definite, @D Era: RTOG 7301 established standard 60Gy, RTOG 0617: 60Gy CRT better than 74Gy, altered </a:t>
            </a:r>
            <a:r>
              <a:rPr lang="en-US" altLang="zh-TW" kern="0" dirty="0" err="1" smtClean="0">
                <a:solidFill>
                  <a:srgbClr val="000000"/>
                </a:solidFill>
                <a:latin typeface="Calibri" panose="020F0502020204030204" pitchFamily="34" charset="0"/>
                <a:cs typeface="Times New Roman" panose="02020603050405020304" pitchFamily="18" charset="0"/>
              </a:rPr>
              <a:t>fx</a:t>
            </a:r>
            <a:r>
              <a:rPr lang="en-US" altLang="zh-TW" kern="0" dirty="0" smtClean="0">
                <a:solidFill>
                  <a:srgbClr val="000000"/>
                </a:solidFill>
                <a:latin typeface="Calibri" panose="020F0502020204030204" pitchFamily="34" charset="0"/>
                <a:cs typeface="Times New Roman" panose="02020603050405020304" pitchFamily="18" charset="0"/>
              </a:rPr>
              <a:t>: &gt;69.6 BID RTOG 8311, 60Gy with CRT, RTOG 1106 testing 60Gy vs dose escalation to 66-80.4Gy </a:t>
            </a:r>
            <a:br>
              <a:rPr lang="en-US" altLang="zh-TW" kern="0" dirty="0" smtClean="0">
                <a:solidFill>
                  <a:srgbClr val="000000"/>
                </a:solidFill>
                <a:latin typeface="Calibri" panose="020F0502020204030204" pitchFamily="34" charset="0"/>
                <a:cs typeface="Times New Roman" panose="02020603050405020304" pitchFamily="18" charset="0"/>
              </a:rPr>
            </a:br>
            <a:r>
              <a:rPr lang="en-US" altLang="zh-TW" kern="0" dirty="0" smtClean="0">
                <a:solidFill>
                  <a:srgbClr val="000000"/>
                </a:solidFill>
                <a:latin typeface="Arial" panose="020B0604020202020204" pitchFamily="34" charset="0"/>
                <a:cs typeface="Times New Roman" panose="02020603050405020304" pitchFamily="18" charset="0"/>
              </a:rPr>
              <a:t>Q: SC</a:t>
            </a:r>
            <a:r>
              <a:rPr lang="zh-TW" altLang="zh-TW" kern="0" dirty="0">
                <a:solidFill>
                  <a:srgbClr val="000000"/>
                </a:solidFill>
                <a:latin typeface="Arial" panose="020B0604020202020204" pitchFamily="34" charset="0"/>
                <a:cs typeface="Arial" panose="020B0604020202020204" pitchFamily="34" charset="0"/>
              </a:rPr>
              <a:t>提</a:t>
            </a:r>
            <a:r>
              <a:rPr lang="en-US" altLang="zh-TW" kern="0" dirty="0" smtClean="0">
                <a:solidFill>
                  <a:srgbClr val="000000"/>
                </a:solidFill>
                <a:latin typeface="Arial" panose="020B0604020202020204" pitchFamily="34" charset="0"/>
                <a:cs typeface="Times New Roman" panose="02020603050405020304" pitchFamily="18" charset="0"/>
              </a:rPr>
              <a:t>LC </a:t>
            </a:r>
            <a:r>
              <a:rPr lang="en-US" altLang="zh-TW" kern="0" dirty="0">
                <a:solidFill>
                  <a:srgbClr val="000000"/>
                </a:solidFill>
                <a:latin typeface="Arial" panose="020B0604020202020204" pitchFamily="34" charset="0"/>
                <a:cs typeface="Times New Roman" panose="02020603050405020304" pitchFamily="18" charset="0"/>
              </a:rPr>
              <a:t>cT1N0M0</a:t>
            </a:r>
            <a:r>
              <a:rPr lang="zh-TW" altLang="zh-TW" kern="0" dirty="0">
                <a:solidFill>
                  <a:srgbClr val="000000"/>
                </a:solidFill>
                <a:latin typeface="Arial" panose="020B0604020202020204" pitchFamily="34" charset="0"/>
                <a:cs typeface="Arial" panose="020B0604020202020204" pitchFamily="34" charset="0"/>
              </a:rPr>
              <a:t>的</a:t>
            </a:r>
            <a:r>
              <a:rPr lang="en-US" altLang="zh-TW" kern="0" dirty="0">
                <a:solidFill>
                  <a:srgbClr val="000000"/>
                </a:solidFill>
                <a:latin typeface="Arial" panose="020B0604020202020204" pitchFamily="34" charset="0"/>
                <a:cs typeface="Times New Roman" panose="02020603050405020304" pitchFamily="18" charset="0"/>
              </a:rPr>
              <a:t>management</a:t>
            </a:r>
            <a:r>
              <a:rPr lang="en-US" altLang="zh-TW" kern="0" dirty="0" smtClean="0">
                <a:solidFill>
                  <a:srgbClr val="000000"/>
                </a:solidFill>
                <a:latin typeface="Arial" panose="020B0604020202020204" pitchFamily="34" charset="0"/>
                <a:cs typeface="Times New Roman" panose="02020603050405020304" pitchFamily="18" charset="0"/>
              </a:rPr>
              <a:t>?</a:t>
            </a:r>
          </a:p>
          <a:p>
            <a:r>
              <a:rPr lang="en-US" altLang="zh-TW" kern="0" dirty="0" smtClean="0">
                <a:solidFill>
                  <a:srgbClr val="000000"/>
                </a:solidFill>
                <a:latin typeface="Arial" panose="020B0604020202020204" pitchFamily="34" charset="0"/>
                <a:cs typeface="Times New Roman" panose="02020603050405020304" pitchFamily="18" charset="0"/>
              </a:rPr>
              <a:t>A: stage I-IIA OP+MLND </a:t>
            </a:r>
            <a:r>
              <a:rPr lang="en-US" altLang="zh-TW" kern="0" dirty="0" smtClean="0">
                <a:solidFill>
                  <a:srgbClr val="000000"/>
                </a:solidFill>
                <a:latin typeface="Arial" panose="020B0604020202020204" pitchFamily="34" charset="0"/>
                <a:cs typeface="Times New Roman" panose="02020603050405020304" pitchFamily="18" charset="0"/>
                <a:sym typeface="Wingdings" panose="05000000000000000000" pitchFamily="2" charset="2"/>
              </a:rPr>
              <a:t> chemotherapy</a:t>
            </a:r>
            <a:endParaRPr lang="zh-TW" altLang="zh-TW" kern="100" dirty="0">
              <a:latin typeface="Calibri" panose="020F0502020204030204" pitchFamily="34" charset="0"/>
              <a:cs typeface="Times New Roman" panose="02020603050405020304" pitchFamily="18" charset="0"/>
            </a:endParaRPr>
          </a:p>
          <a:p>
            <a:r>
              <a:rPr lang="en-US" altLang="zh-TW" kern="0" dirty="0">
                <a:solidFill>
                  <a:srgbClr val="000000"/>
                </a:solidFill>
                <a:latin typeface="Arial" panose="020B0604020202020204" pitchFamily="34" charset="0"/>
                <a:cs typeface="Times New Roman" panose="02020603050405020304" pitchFamily="18" charset="0"/>
              </a:rPr>
              <a:t>SCLC limited stage CCRT dose? </a:t>
            </a:r>
            <a:endParaRPr lang="zh-TW" altLang="zh-TW" kern="100" dirty="0">
              <a:latin typeface="Calibri" panose="020F0502020204030204" pitchFamily="34" charset="0"/>
              <a:cs typeface="Times New Roman" panose="02020603050405020304" pitchFamily="18" charset="0"/>
            </a:endParaRPr>
          </a:p>
          <a:p>
            <a:r>
              <a:rPr lang="en-US" altLang="zh-TW" kern="0" dirty="0" smtClean="0">
                <a:solidFill>
                  <a:srgbClr val="000000"/>
                </a:solidFill>
                <a:latin typeface="Arial" panose="020B0604020202020204" pitchFamily="34" charset="0"/>
                <a:cs typeface="Times New Roman" panose="02020603050405020304" pitchFamily="18" charset="0"/>
              </a:rPr>
              <a:t>A: 45Gy bid or 66GyQD</a:t>
            </a:r>
          </a:p>
          <a:p>
            <a:r>
              <a:rPr lang="en-US" altLang="zh-TW" kern="0" dirty="0" smtClean="0">
                <a:solidFill>
                  <a:srgbClr val="000000"/>
                </a:solidFill>
                <a:latin typeface="Arial" panose="020B0604020202020204" pitchFamily="34" charset="0"/>
                <a:cs typeface="Times New Roman" panose="02020603050405020304" pitchFamily="18" charset="0"/>
              </a:rPr>
              <a:t>Q: CCRT</a:t>
            </a:r>
            <a:r>
              <a:rPr lang="zh-TW" altLang="zh-TW" kern="0" dirty="0">
                <a:solidFill>
                  <a:srgbClr val="000000"/>
                </a:solidFill>
                <a:latin typeface="Arial" panose="020B0604020202020204" pitchFamily="34" charset="0"/>
                <a:cs typeface="Arial" panose="020B0604020202020204" pitchFamily="34" charset="0"/>
              </a:rPr>
              <a:t>在</a:t>
            </a:r>
            <a:r>
              <a:rPr lang="en-US" altLang="zh-TW" kern="0" dirty="0">
                <a:solidFill>
                  <a:srgbClr val="000000"/>
                </a:solidFill>
                <a:latin typeface="Arial" panose="020B0604020202020204" pitchFamily="34" charset="0"/>
                <a:cs typeface="Times New Roman" panose="02020603050405020304" pitchFamily="18" charset="0"/>
              </a:rPr>
              <a:t>chemo</a:t>
            </a:r>
            <a:r>
              <a:rPr lang="zh-TW" altLang="zh-TW" kern="0" dirty="0">
                <a:solidFill>
                  <a:srgbClr val="000000"/>
                </a:solidFill>
                <a:latin typeface="Arial" panose="020B0604020202020204" pitchFamily="34" charset="0"/>
                <a:cs typeface="Arial" panose="020B0604020202020204" pitchFamily="34" charset="0"/>
              </a:rPr>
              <a:t>第幾個</a:t>
            </a:r>
            <a:r>
              <a:rPr lang="en-US" altLang="zh-TW" kern="0" dirty="0">
                <a:solidFill>
                  <a:srgbClr val="000000"/>
                </a:solidFill>
                <a:latin typeface="Arial" panose="020B0604020202020204" pitchFamily="34" charset="0"/>
                <a:cs typeface="Times New Roman" panose="02020603050405020304" pitchFamily="18" charset="0"/>
              </a:rPr>
              <a:t>course</a:t>
            </a:r>
            <a:r>
              <a:rPr lang="zh-TW" altLang="zh-TW" kern="0" dirty="0">
                <a:solidFill>
                  <a:srgbClr val="000000"/>
                </a:solidFill>
                <a:latin typeface="Arial" panose="020B0604020202020204" pitchFamily="34" charset="0"/>
                <a:cs typeface="Arial" panose="020B0604020202020204" pitchFamily="34" charset="0"/>
              </a:rPr>
              <a:t>給予</a:t>
            </a:r>
            <a:r>
              <a:rPr lang="en-US" altLang="zh-TW" kern="0" dirty="0">
                <a:solidFill>
                  <a:srgbClr val="000000"/>
                </a:solidFill>
                <a:latin typeface="Arial" panose="020B0604020202020204" pitchFamily="34" charset="0"/>
                <a:cs typeface="Times New Roman" panose="02020603050405020304" pitchFamily="18" charset="0"/>
              </a:rPr>
              <a:t>?--&gt; (1,2</a:t>
            </a:r>
            <a:r>
              <a:rPr lang="zh-TW" altLang="zh-TW" kern="0" dirty="0">
                <a:solidFill>
                  <a:srgbClr val="000000"/>
                </a:solidFill>
                <a:latin typeface="Arial" panose="020B0604020202020204" pitchFamily="34" charset="0"/>
                <a:cs typeface="Arial" panose="020B0604020202020204" pitchFamily="34" charset="0"/>
              </a:rPr>
              <a:t>間</a:t>
            </a:r>
            <a:r>
              <a:rPr lang="en-US" altLang="zh-TW" kern="0" dirty="0" smtClean="0">
                <a:solidFill>
                  <a:srgbClr val="000000"/>
                </a:solidFill>
                <a:latin typeface="Arial" panose="020B0604020202020204" pitchFamily="34" charset="0"/>
                <a:cs typeface="Times New Roman" panose="02020603050405020304" pitchFamily="18" charset="0"/>
              </a:rPr>
              <a:t>)</a:t>
            </a:r>
          </a:p>
          <a:p>
            <a:r>
              <a:rPr lang="en-US" altLang="zh-TW" kern="0" dirty="0" smtClean="0">
                <a:solidFill>
                  <a:srgbClr val="000000"/>
                </a:solidFill>
                <a:latin typeface="Arial" panose="020B0604020202020204" pitchFamily="34" charset="0"/>
                <a:cs typeface="Times New Roman" panose="02020603050405020304" pitchFamily="18" charset="0"/>
              </a:rPr>
              <a:t>A: cisplatin and </a:t>
            </a:r>
            <a:r>
              <a:rPr lang="en-US" altLang="zh-TW" kern="0" dirty="0" err="1" smtClean="0">
                <a:solidFill>
                  <a:srgbClr val="000000"/>
                </a:solidFill>
                <a:latin typeface="Arial" panose="020B0604020202020204" pitchFamily="34" charset="0"/>
                <a:cs typeface="Times New Roman" panose="02020603050405020304" pitchFamily="18" charset="0"/>
              </a:rPr>
              <a:t>etoposide</a:t>
            </a:r>
            <a:r>
              <a:rPr lang="en-US" altLang="zh-TW" kern="0" dirty="0">
                <a:solidFill>
                  <a:srgbClr val="000000"/>
                </a:solidFill>
                <a:latin typeface="Arial" panose="020B0604020202020204" pitchFamily="34" charset="0"/>
                <a:cs typeface="Times New Roman" panose="02020603050405020304" pitchFamily="18" charset="0"/>
              </a:rPr>
              <a:t> </a:t>
            </a:r>
            <a:r>
              <a:rPr lang="en-US" altLang="zh-TW" kern="0" dirty="0" smtClean="0">
                <a:solidFill>
                  <a:srgbClr val="000000"/>
                </a:solidFill>
                <a:latin typeface="Arial" panose="020B0604020202020204" pitchFamily="34" charset="0"/>
                <a:cs typeface="Times New Roman" panose="02020603050405020304" pitchFamily="18" charset="0"/>
              </a:rPr>
              <a:t>with early RT during cycle 1 or 2</a:t>
            </a:r>
          </a:p>
          <a:p>
            <a:r>
              <a:rPr lang="en-US" altLang="zh-TW" kern="0" dirty="0" smtClean="0">
                <a:solidFill>
                  <a:srgbClr val="000000"/>
                </a:solidFill>
                <a:latin typeface="Arial" panose="020B0604020202020204" pitchFamily="34" charset="0"/>
                <a:cs typeface="Times New Roman" panose="02020603050405020304" pitchFamily="18" charset="0"/>
              </a:rPr>
              <a:t>Q: PCI </a:t>
            </a:r>
            <a:r>
              <a:rPr lang="en-US" altLang="zh-TW" kern="0" dirty="0">
                <a:solidFill>
                  <a:srgbClr val="000000"/>
                </a:solidFill>
                <a:latin typeface="Arial" panose="020B0604020202020204" pitchFamily="34" charset="0"/>
                <a:cs typeface="Times New Roman" panose="02020603050405020304" pitchFamily="18" charset="0"/>
              </a:rPr>
              <a:t>role</a:t>
            </a:r>
            <a:r>
              <a:rPr lang="zh-TW" altLang="zh-TW" kern="0" dirty="0">
                <a:solidFill>
                  <a:srgbClr val="000000"/>
                </a:solidFill>
                <a:latin typeface="Arial" panose="020B0604020202020204" pitchFamily="34" charset="0"/>
                <a:cs typeface="Arial" panose="020B0604020202020204" pitchFamily="34" charset="0"/>
              </a:rPr>
              <a:t>？</a:t>
            </a:r>
            <a:endParaRPr lang="zh-TW" altLang="zh-TW" kern="100" dirty="0">
              <a:latin typeface="Calibri" panose="020F0502020204030204" pitchFamily="34" charset="0"/>
              <a:cs typeface="Times New Roman" panose="02020603050405020304" pitchFamily="18" charset="0"/>
            </a:endParaRPr>
          </a:p>
          <a:p>
            <a:r>
              <a:rPr lang="en-US" altLang="zh-TW" dirty="0" smtClean="0"/>
              <a:t>A: post –OP patients, CR or PR patients, omit in poor KPS or poor cognition, discuss with patient with &gt;60y/o due to neurotoxicity RTOG 0212</a:t>
            </a:r>
            <a:endParaRPr lang="zh-TW" altLang="en-US" dirty="0"/>
          </a:p>
        </p:txBody>
      </p:sp>
      <p:pic>
        <p:nvPicPr>
          <p:cNvPr id="4" name="圖片 3"/>
          <p:cNvPicPr>
            <a:picLocks noChangeAspect="1"/>
          </p:cNvPicPr>
          <p:nvPr/>
        </p:nvPicPr>
        <p:blipFill>
          <a:blip r:embed="rId2"/>
          <a:stretch>
            <a:fillRect/>
          </a:stretch>
        </p:blipFill>
        <p:spPr>
          <a:xfrm>
            <a:off x="2304111" y="1125544"/>
            <a:ext cx="6840760" cy="712580"/>
          </a:xfrm>
          <a:prstGeom prst="rect">
            <a:avLst/>
          </a:prstGeom>
        </p:spPr>
      </p:pic>
      <p:pic>
        <p:nvPicPr>
          <p:cNvPr id="5" name="圖片 4"/>
          <p:cNvPicPr>
            <a:picLocks noChangeAspect="1"/>
          </p:cNvPicPr>
          <p:nvPr/>
        </p:nvPicPr>
        <p:blipFill>
          <a:blip r:embed="rId3"/>
          <a:stretch>
            <a:fillRect/>
          </a:stretch>
        </p:blipFill>
        <p:spPr>
          <a:xfrm>
            <a:off x="2267962" y="1967266"/>
            <a:ext cx="7727454" cy="316980"/>
          </a:xfrm>
          <a:prstGeom prst="rect">
            <a:avLst/>
          </a:prstGeom>
        </p:spPr>
      </p:pic>
      <p:pic>
        <p:nvPicPr>
          <p:cNvPr id="6" name="圖片 5"/>
          <p:cNvPicPr>
            <a:picLocks noChangeAspect="1"/>
          </p:cNvPicPr>
          <p:nvPr/>
        </p:nvPicPr>
        <p:blipFill>
          <a:blip r:embed="rId4"/>
          <a:stretch>
            <a:fillRect/>
          </a:stretch>
        </p:blipFill>
        <p:spPr>
          <a:xfrm>
            <a:off x="2338482" y="4005065"/>
            <a:ext cx="7102098" cy="389601"/>
          </a:xfrm>
          <a:prstGeom prst="rect">
            <a:avLst/>
          </a:prstGeom>
        </p:spPr>
      </p:pic>
    </p:spTree>
    <p:extLst>
      <p:ext uri="{BB962C8B-B14F-4D97-AF65-F5344CB8AC3E}">
        <p14:creationId xmlns:p14="http://schemas.microsoft.com/office/powerpoint/2010/main" val="763128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47500" lnSpcReduction="20000"/>
          </a:bodyPr>
          <a:lstStyle/>
          <a:p>
            <a:r>
              <a:rPr lang="en-US" altLang="zh-TW" dirty="0" smtClean="0"/>
              <a:t>Q: soft </a:t>
            </a:r>
            <a:r>
              <a:rPr lang="en-US" altLang="zh-TW" dirty="0"/>
              <a:t>tissue sarcoma pre-OP</a:t>
            </a:r>
            <a:r>
              <a:rPr lang="zh-TW" altLang="en-US" dirty="0"/>
              <a:t>的 </a:t>
            </a:r>
            <a:r>
              <a:rPr lang="en-US" altLang="zh-TW" dirty="0"/>
              <a:t>CTV</a:t>
            </a:r>
            <a:r>
              <a:rPr lang="zh-TW" altLang="en-US" dirty="0"/>
              <a:t>和</a:t>
            </a:r>
            <a:r>
              <a:rPr lang="en-US" altLang="zh-TW" dirty="0"/>
              <a:t>PTV</a:t>
            </a:r>
            <a:r>
              <a:rPr lang="zh-TW" altLang="en-US" dirty="0"/>
              <a:t>如何定義</a:t>
            </a:r>
            <a:r>
              <a:rPr lang="en-US" altLang="zh-TW" dirty="0"/>
              <a:t>? dose</a:t>
            </a:r>
            <a:r>
              <a:rPr lang="en-US" altLang="zh-TW" dirty="0" smtClean="0"/>
              <a:t>?</a:t>
            </a:r>
          </a:p>
          <a:p>
            <a:r>
              <a:rPr lang="en-US" altLang="zh-TW" dirty="0" smtClean="0"/>
              <a:t>A: Traditionally: GTV + 4~5cm =CTV , CTV+1cm =PTV, radial 1.5~2cm</a:t>
            </a:r>
          </a:p>
          <a:p>
            <a:r>
              <a:rPr lang="en-US" altLang="zh-TW" dirty="0" err="1" smtClean="0"/>
              <a:t>Sugery</a:t>
            </a:r>
            <a:r>
              <a:rPr lang="en-US" altLang="zh-TW" dirty="0" smtClean="0"/>
              <a:t> 3-6 </a:t>
            </a:r>
            <a:r>
              <a:rPr lang="en-US" altLang="zh-TW" dirty="0" err="1" smtClean="0"/>
              <a:t>wks</a:t>
            </a:r>
            <a:r>
              <a:rPr lang="en-US" altLang="zh-TW" dirty="0" smtClean="0"/>
              <a:t> after pre-op RT, Dose :50Gy/25fx</a:t>
            </a:r>
          </a:p>
          <a:p>
            <a:r>
              <a:rPr lang="en-US" altLang="zh-TW" dirty="0" smtClean="0"/>
              <a:t>RTOG 0630:</a:t>
            </a:r>
          </a:p>
          <a:p>
            <a:r>
              <a:rPr lang="en-US" altLang="zh-TW" dirty="0" smtClean="0"/>
              <a:t>GTV = MRI T1 with contrast</a:t>
            </a:r>
          </a:p>
          <a:p>
            <a:r>
              <a:rPr lang="en-US" altLang="zh-TW" dirty="0" smtClean="0"/>
              <a:t>CTV (Grade2-3 &gt;8cm), GTV+3cm , 1.5 radial</a:t>
            </a:r>
          </a:p>
          <a:p>
            <a:r>
              <a:rPr lang="en-US" altLang="zh-TW" dirty="0" smtClean="0"/>
              <a:t>CTV (Grade 1 or Gr2-3&lt; 8cm) GTV +2cm , 1 cm radial</a:t>
            </a:r>
          </a:p>
          <a:p>
            <a:r>
              <a:rPr lang="en-US" altLang="zh-TW" dirty="0" smtClean="0"/>
              <a:t>PTV=CTV+0.5cm</a:t>
            </a:r>
          </a:p>
          <a:p>
            <a:r>
              <a:rPr lang="en-US" altLang="zh-TW" dirty="0" smtClean="0"/>
              <a:t>Results: late grade 2 toxicity sign improved, LC 94% recurrence in field</a:t>
            </a:r>
            <a:endParaRPr lang="en-US" altLang="zh-TW" dirty="0"/>
          </a:p>
          <a:p>
            <a:endParaRPr lang="en-US" altLang="zh-TW" dirty="0" smtClean="0"/>
          </a:p>
          <a:p>
            <a:r>
              <a:rPr lang="en-US" altLang="zh-TW" dirty="0" smtClean="0"/>
              <a:t>Q: post-OP</a:t>
            </a:r>
            <a:r>
              <a:rPr lang="zh-TW" altLang="en-US" dirty="0"/>
              <a:t>的話呢</a:t>
            </a:r>
            <a:r>
              <a:rPr lang="en-US" altLang="zh-TW" dirty="0"/>
              <a:t>? post-op </a:t>
            </a:r>
            <a:r>
              <a:rPr lang="zh-TW" altLang="en-US" dirty="0"/>
              <a:t>的</a:t>
            </a:r>
            <a:r>
              <a:rPr lang="en-US" altLang="zh-TW" dirty="0"/>
              <a:t>indication</a:t>
            </a:r>
            <a:r>
              <a:rPr lang="zh-TW" altLang="en-US" dirty="0"/>
              <a:t>為和</a:t>
            </a:r>
            <a:r>
              <a:rPr lang="en-US" altLang="zh-TW" dirty="0"/>
              <a:t>?</a:t>
            </a:r>
          </a:p>
          <a:p>
            <a:r>
              <a:rPr lang="en-US" altLang="zh-TW" dirty="0" smtClean="0"/>
              <a:t>10-20 </a:t>
            </a:r>
            <a:r>
              <a:rPr lang="en-US" altLang="zh-TW" dirty="0"/>
              <a:t>days after </a:t>
            </a:r>
            <a:r>
              <a:rPr lang="en-US" altLang="zh-TW" dirty="0" smtClean="0"/>
              <a:t>surgery, 3 -8 </a:t>
            </a:r>
            <a:r>
              <a:rPr lang="en-US" altLang="zh-TW" dirty="0" err="1" smtClean="0"/>
              <a:t>wks</a:t>
            </a:r>
            <a:endParaRPr lang="en-US" altLang="zh-TW" dirty="0" smtClean="0"/>
          </a:p>
          <a:p>
            <a:r>
              <a:rPr lang="en-US" altLang="zh-TW" dirty="0" smtClean="0"/>
              <a:t>50Gy post op bed :GTV+ 4~5cm radial 2cm, PTV: 0.5~1cm +Boost 16Gy to GTV+2cm</a:t>
            </a:r>
          </a:p>
          <a:p>
            <a:endParaRPr lang="en-US" altLang="zh-TW" dirty="0" smtClean="0"/>
          </a:p>
          <a:p>
            <a:r>
              <a:rPr lang="en-US" altLang="zh-TW" dirty="0" smtClean="0"/>
              <a:t>Q: </a:t>
            </a:r>
            <a:r>
              <a:rPr lang="en-US" altLang="zh-TW" dirty="0" err="1" smtClean="0"/>
              <a:t>MAltoma</a:t>
            </a:r>
            <a:r>
              <a:rPr lang="en-US" altLang="zh-TW" dirty="0" smtClean="0"/>
              <a:t> </a:t>
            </a:r>
            <a:r>
              <a:rPr lang="en-US" altLang="zh-TW" dirty="0"/>
              <a:t>RT</a:t>
            </a:r>
            <a:r>
              <a:rPr lang="zh-TW" altLang="en-US" dirty="0" smtClean="0"/>
              <a:t>劑量</a:t>
            </a:r>
            <a:r>
              <a:rPr lang="en-US" altLang="zh-TW" dirty="0" smtClean="0"/>
              <a:t>?</a:t>
            </a:r>
          </a:p>
          <a:p>
            <a:r>
              <a:rPr lang="en-US" altLang="zh-TW" dirty="0" smtClean="0"/>
              <a:t>Q: 30Gy</a:t>
            </a:r>
          </a:p>
          <a:p>
            <a:endParaRPr lang="zh-TW" altLang="en-US" dirty="0"/>
          </a:p>
          <a:p>
            <a:r>
              <a:rPr lang="en-US" altLang="zh-TW" dirty="0" smtClean="0"/>
              <a:t>Q: DLBCL </a:t>
            </a:r>
            <a:r>
              <a:rPr lang="en-US" altLang="zh-TW" dirty="0"/>
              <a:t>RT</a:t>
            </a:r>
            <a:r>
              <a:rPr lang="zh-TW" altLang="en-US" dirty="0"/>
              <a:t>劑量</a:t>
            </a:r>
          </a:p>
          <a:p>
            <a:r>
              <a:rPr lang="en-US" altLang="zh-TW" dirty="0" smtClean="0"/>
              <a:t>A: 30-36Gy</a:t>
            </a:r>
            <a:endParaRPr lang="zh-TW" altLang="en-US" dirty="0"/>
          </a:p>
        </p:txBody>
      </p:sp>
    </p:spTree>
    <p:extLst>
      <p:ext uri="{BB962C8B-B14F-4D97-AF65-F5344CB8AC3E}">
        <p14:creationId xmlns:p14="http://schemas.microsoft.com/office/powerpoint/2010/main" val="2944857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smtClean="0"/>
              <a:t>2014</a:t>
            </a:r>
            <a:endParaRPr lang="zh-TW" altLang="en-US" dirty="0"/>
          </a:p>
        </p:txBody>
      </p:sp>
      <p:sp>
        <p:nvSpPr>
          <p:cNvPr id="3" name="內容版面配置區 2"/>
          <p:cNvSpPr>
            <a:spLocks noGrp="1"/>
          </p:cNvSpPr>
          <p:nvPr>
            <p:ph sz="half" idx="1"/>
          </p:nvPr>
        </p:nvSpPr>
        <p:spPr/>
        <p:txBody>
          <a:bodyPr>
            <a:normAutofit fontScale="70000" lnSpcReduction="20000"/>
          </a:bodyPr>
          <a:lstStyle/>
          <a:p>
            <a:r>
              <a:rPr lang="en-US" altLang="zh-TW" dirty="0" smtClean="0"/>
              <a:t>Q: </a:t>
            </a:r>
            <a:r>
              <a:rPr lang="en-US" altLang="zh-TW" dirty="0" err="1" smtClean="0"/>
              <a:t>Thymoma</a:t>
            </a:r>
            <a:r>
              <a:rPr lang="en-US" altLang="zh-TW" dirty="0" smtClean="0"/>
              <a:t> </a:t>
            </a:r>
            <a:r>
              <a:rPr lang="en-US" altLang="zh-TW" dirty="0"/>
              <a:t>stage system</a:t>
            </a:r>
            <a:r>
              <a:rPr lang="zh-TW" altLang="en-US" dirty="0"/>
              <a:t>，</a:t>
            </a:r>
            <a:r>
              <a:rPr lang="en-US" altLang="zh-TW" dirty="0"/>
              <a:t>WHO grading</a:t>
            </a:r>
            <a:r>
              <a:rPr lang="zh-TW" altLang="en-US" dirty="0"/>
              <a:t>、 若病人開完刀病理診斷為</a:t>
            </a:r>
            <a:r>
              <a:rPr lang="en-US" altLang="zh-TW" dirty="0"/>
              <a:t>WHO type B </a:t>
            </a:r>
            <a:r>
              <a:rPr lang="en-US" altLang="zh-TW" dirty="0" err="1"/>
              <a:t>thymoma</a:t>
            </a:r>
            <a:r>
              <a:rPr lang="zh-TW" altLang="en-US" dirty="0"/>
              <a:t>，請問你</a:t>
            </a:r>
            <a:r>
              <a:rPr lang="en-US" altLang="zh-TW" dirty="0"/>
              <a:t>arrange </a:t>
            </a:r>
            <a:r>
              <a:rPr lang="zh-TW" altLang="en-US" dirty="0"/>
              <a:t>的</a:t>
            </a:r>
            <a:r>
              <a:rPr lang="en-US" altLang="zh-TW" dirty="0"/>
              <a:t>RT</a:t>
            </a:r>
            <a:r>
              <a:rPr lang="zh-TW" altLang="en-US" dirty="0"/>
              <a:t>範圍 </a:t>
            </a:r>
            <a:r>
              <a:rPr lang="en-US" altLang="zh-TW" dirty="0"/>
              <a:t>?</a:t>
            </a:r>
            <a:r>
              <a:rPr lang="zh-TW" altLang="en-US" dirty="0"/>
              <a:t>劑量</a:t>
            </a:r>
            <a:r>
              <a:rPr lang="en-US" altLang="zh-TW" dirty="0" smtClean="0"/>
              <a:t>?</a:t>
            </a:r>
          </a:p>
          <a:p>
            <a:r>
              <a:rPr lang="en-US" altLang="zh-TW" dirty="0" smtClean="0"/>
              <a:t>Q: WHO A, AB, B1 lower risk 90% long term survival</a:t>
            </a:r>
          </a:p>
          <a:p>
            <a:r>
              <a:rPr lang="en-US" altLang="zh-TW" dirty="0" smtClean="0"/>
              <a:t>RT: entire bed of resection . R0: 45-50Gy, R1: 54Gy-60 R2: 60-70Gy</a:t>
            </a:r>
          </a:p>
          <a:p>
            <a:endParaRPr lang="en-US" altLang="zh-TW" dirty="0"/>
          </a:p>
          <a:p>
            <a:r>
              <a:rPr lang="en-US" altLang="zh-TW" dirty="0" smtClean="0"/>
              <a:t>Q:</a:t>
            </a:r>
            <a:r>
              <a:rPr lang="zh-TW" altLang="en-US" dirty="0" smtClean="0"/>
              <a:t> 有</a:t>
            </a:r>
            <a:r>
              <a:rPr lang="zh-TW" altLang="en-US" dirty="0"/>
              <a:t>多少</a:t>
            </a:r>
            <a:r>
              <a:rPr lang="en-US" altLang="zh-TW" dirty="0" err="1"/>
              <a:t>thymoma</a:t>
            </a:r>
            <a:r>
              <a:rPr lang="zh-TW" altLang="en-US" dirty="0"/>
              <a:t>會有</a:t>
            </a:r>
            <a:r>
              <a:rPr lang="en-US" altLang="zh-TW" dirty="0"/>
              <a:t>MG</a:t>
            </a:r>
            <a:r>
              <a:rPr lang="en-US" altLang="zh-TW" dirty="0" smtClean="0"/>
              <a:t>?</a:t>
            </a:r>
          </a:p>
          <a:p>
            <a:r>
              <a:rPr lang="en-US" altLang="zh-TW" dirty="0" smtClean="0"/>
              <a:t>A:</a:t>
            </a:r>
            <a:r>
              <a:rPr lang="zh-TW" altLang="en-US" dirty="0" smtClean="0"/>
              <a:t> </a:t>
            </a:r>
            <a:r>
              <a:rPr lang="en-US" altLang="zh-TW" dirty="0" smtClean="0"/>
              <a:t>35-%50%</a:t>
            </a:r>
            <a:endParaRPr lang="en-US" altLang="zh-TW" dirty="0"/>
          </a:p>
          <a:p>
            <a:r>
              <a:rPr lang="en-US" altLang="zh-TW" dirty="0" smtClean="0"/>
              <a:t>Q:</a:t>
            </a:r>
            <a:r>
              <a:rPr lang="zh-TW" altLang="en-US" dirty="0" smtClean="0"/>
              <a:t> 多少</a:t>
            </a:r>
            <a:r>
              <a:rPr lang="en-US" altLang="zh-TW" dirty="0"/>
              <a:t>MG</a:t>
            </a:r>
            <a:r>
              <a:rPr lang="zh-TW" altLang="en-US" dirty="0"/>
              <a:t>有</a:t>
            </a:r>
            <a:r>
              <a:rPr lang="en-US" altLang="zh-TW" dirty="0" err="1"/>
              <a:t>thymoma</a:t>
            </a:r>
            <a:r>
              <a:rPr lang="en-US" altLang="zh-TW" dirty="0" smtClean="0"/>
              <a:t>?</a:t>
            </a:r>
          </a:p>
          <a:p>
            <a:r>
              <a:rPr lang="en-US" altLang="zh-TW" dirty="0" smtClean="0"/>
              <a:t>A:</a:t>
            </a:r>
            <a:r>
              <a:rPr lang="zh-TW" altLang="en-US" dirty="0" smtClean="0"/>
              <a:t> </a:t>
            </a:r>
            <a:r>
              <a:rPr lang="en-US" altLang="zh-TW" dirty="0" smtClean="0"/>
              <a:t>15%</a:t>
            </a:r>
            <a:endParaRPr lang="en-US" altLang="zh-TW" dirty="0"/>
          </a:p>
          <a:p>
            <a:r>
              <a:rPr lang="en-US" altLang="zh-TW" dirty="0" smtClean="0"/>
              <a:t>Q: </a:t>
            </a:r>
            <a:r>
              <a:rPr lang="en-US" altLang="zh-TW" dirty="0" err="1" smtClean="0"/>
              <a:t>Thymoma</a:t>
            </a:r>
            <a:r>
              <a:rPr lang="zh-TW" altLang="en-US" dirty="0"/>
              <a:t>治療後</a:t>
            </a:r>
            <a:r>
              <a:rPr lang="en-US" altLang="zh-TW" dirty="0"/>
              <a:t>MG</a:t>
            </a:r>
            <a:r>
              <a:rPr lang="zh-TW" altLang="en-US" dirty="0"/>
              <a:t>是否改善</a:t>
            </a:r>
            <a:r>
              <a:rPr lang="en-US" altLang="zh-TW" dirty="0"/>
              <a:t>?</a:t>
            </a:r>
          </a:p>
          <a:p>
            <a:r>
              <a:rPr lang="en-US" altLang="zh-TW" dirty="0" smtClean="0"/>
              <a:t>A: Yes</a:t>
            </a:r>
            <a:endParaRPr lang="zh-TW" altLang="en-US" dirty="0"/>
          </a:p>
        </p:txBody>
      </p:sp>
      <p:sp>
        <p:nvSpPr>
          <p:cNvPr id="5" name="內容版面配置區 4"/>
          <p:cNvSpPr>
            <a:spLocks noGrp="1"/>
          </p:cNvSpPr>
          <p:nvPr>
            <p:ph sz="half" idx="2"/>
          </p:nvPr>
        </p:nvSpPr>
        <p:spPr/>
        <p:txBody>
          <a:bodyPr>
            <a:normAutofit fontScale="70000" lnSpcReduction="20000"/>
          </a:bodyPr>
          <a:lstStyle/>
          <a:p>
            <a:endParaRPr lang="zh-TW" altLang="en-US"/>
          </a:p>
        </p:txBody>
      </p:sp>
      <p:pic>
        <p:nvPicPr>
          <p:cNvPr id="6" name="圖片 5"/>
          <p:cNvPicPr>
            <a:picLocks noChangeAspect="1"/>
          </p:cNvPicPr>
          <p:nvPr/>
        </p:nvPicPr>
        <p:blipFill>
          <a:blip r:embed="rId2"/>
          <a:stretch>
            <a:fillRect/>
          </a:stretch>
        </p:blipFill>
        <p:spPr>
          <a:xfrm>
            <a:off x="6096001" y="1567373"/>
            <a:ext cx="4214809" cy="1975883"/>
          </a:xfrm>
          <a:prstGeom prst="rect">
            <a:avLst/>
          </a:prstGeom>
        </p:spPr>
      </p:pic>
      <p:pic>
        <p:nvPicPr>
          <p:cNvPr id="7" name="圖片 6"/>
          <p:cNvPicPr>
            <a:picLocks noChangeAspect="1"/>
          </p:cNvPicPr>
          <p:nvPr/>
        </p:nvPicPr>
        <p:blipFill>
          <a:blip r:embed="rId3"/>
          <a:stretch>
            <a:fillRect/>
          </a:stretch>
        </p:blipFill>
        <p:spPr>
          <a:xfrm>
            <a:off x="6019801" y="3692990"/>
            <a:ext cx="3917013" cy="2204097"/>
          </a:xfrm>
          <a:prstGeom prst="rect">
            <a:avLst/>
          </a:prstGeom>
        </p:spPr>
      </p:pic>
    </p:spTree>
    <p:extLst>
      <p:ext uri="{BB962C8B-B14F-4D97-AF65-F5344CB8AC3E}">
        <p14:creationId xmlns:p14="http://schemas.microsoft.com/office/powerpoint/2010/main" val="1133748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81200" y="274638"/>
            <a:ext cx="1954560" cy="1143000"/>
          </a:xfrm>
        </p:spPr>
        <p:txBody>
          <a:bodyPr/>
          <a:lstStyle/>
          <a:p>
            <a:r>
              <a:rPr lang="en-US" altLang="zh-TW" dirty="0" smtClean="0"/>
              <a:t>2015</a:t>
            </a:r>
            <a:endParaRPr lang="zh-TW" altLang="en-US" dirty="0"/>
          </a:p>
        </p:txBody>
      </p:sp>
      <p:sp>
        <p:nvSpPr>
          <p:cNvPr id="3" name="內容版面配置區 2"/>
          <p:cNvSpPr>
            <a:spLocks noGrp="1"/>
          </p:cNvSpPr>
          <p:nvPr>
            <p:ph idx="1"/>
          </p:nvPr>
        </p:nvSpPr>
        <p:spPr>
          <a:xfrm>
            <a:off x="1981200" y="1340769"/>
            <a:ext cx="8229600" cy="4785395"/>
          </a:xfrm>
        </p:spPr>
        <p:txBody>
          <a:bodyPr>
            <a:normAutofit fontScale="40000" lnSpcReduction="20000"/>
          </a:bodyPr>
          <a:lstStyle/>
          <a:p>
            <a:r>
              <a:rPr lang="en-US" altLang="zh-TW" dirty="0" smtClean="0"/>
              <a:t>Q:  </a:t>
            </a:r>
            <a:r>
              <a:rPr lang="zh-TW" altLang="en-US" dirty="0"/>
              <a:t>直接問你你們醫院有多少肺癌病人，</a:t>
            </a:r>
            <a:r>
              <a:rPr lang="en-US" altLang="zh-TW" dirty="0"/>
              <a:t>initial OP</a:t>
            </a:r>
            <a:r>
              <a:rPr lang="zh-TW" altLang="en-US" dirty="0"/>
              <a:t>有多少，</a:t>
            </a:r>
            <a:r>
              <a:rPr lang="en-US" altLang="zh-TW" dirty="0"/>
              <a:t>initial definitive RT</a:t>
            </a:r>
            <a:r>
              <a:rPr lang="zh-TW" altLang="en-US" dirty="0"/>
              <a:t>有多少，有沒有團隊，多久開一次會，個管師名字，有沒有病理科醫師</a:t>
            </a:r>
            <a:r>
              <a:rPr lang="en-US" altLang="zh-TW" dirty="0"/>
              <a:t>/</a:t>
            </a:r>
            <a:r>
              <a:rPr lang="zh-TW" altLang="en-US" dirty="0"/>
              <a:t>名字，有沒有影像科醫師</a:t>
            </a:r>
            <a:r>
              <a:rPr lang="en-US" altLang="zh-TW" dirty="0"/>
              <a:t>/</a:t>
            </a:r>
            <a:r>
              <a:rPr lang="zh-TW" altLang="en-US" dirty="0"/>
              <a:t>名字，你去過幾次</a:t>
            </a:r>
            <a:r>
              <a:rPr lang="zh-TW" altLang="en-US" dirty="0" smtClean="0"/>
              <a:t>。</a:t>
            </a:r>
            <a:endParaRPr lang="en-US" altLang="zh-TW" dirty="0" smtClean="0"/>
          </a:p>
          <a:p>
            <a:r>
              <a:rPr lang="en-US" altLang="zh-TW" dirty="0" smtClean="0"/>
              <a:t>A:</a:t>
            </a:r>
            <a:r>
              <a:rPr lang="zh-TW" altLang="en-US" dirty="0" smtClean="0"/>
              <a:t>　不知道，　隨便說</a:t>
            </a:r>
            <a:endParaRPr lang="en-US" altLang="zh-TW" dirty="0" smtClean="0"/>
          </a:p>
          <a:p>
            <a:endParaRPr lang="en-US" altLang="zh-TW" dirty="0"/>
          </a:p>
          <a:p>
            <a:r>
              <a:rPr lang="en-US" altLang="zh-TW" dirty="0" smtClean="0"/>
              <a:t>Q:  </a:t>
            </a:r>
            <a:r>
              <a:rPr lang="zh-TW" altLang="en-US" dirty="0"/>
              <a:t>有一位病人，</a:t>
            </a:r>
            <a:r>
              <a:rPr lang="en-US" altLang="zh-TW" dirty="0"/>
              <a:t>LUL Ca (NSCLC; EGFR: WT)</a:t>
            </a:r>
            <a:r>
              <a:rPr lang="zh-TW" altLang="en-US" dirty="0"/>
              <a:t>，</a:t>
            </a:r>
            <a:r>
              <a:rPr lang="en-US" altLang="zh-TW" dirty="0"/>
              <a:t>adrenal meta</a:t>
            </a:r>
            <a:r>
              <a:rPr lang="zh-TW" altLang="en-US" dirty="0"/>
              <a:t>，</a:t>
            </a:r>
            <a:r>
              <a:rPr lang="en-US" altLang="zh-TW" dirty="0"/>
              <a:t>s/p C/T x 2, in PR, with femur meta</a:t>
            </a:r>
            <a:r>
              <a:rPr lang="zh-TW" altLang="en-US" dirty="0"/>
              <a:t>，</a:t>
            </a:r>
            <a:r>
              <a:rPr lang="en-US" altLang="zh-TW" dirty="0"/>
              <a:t>for local RT</a:t>
            </a:r>
            <a:r>
              <a:rPr lang="zh-TW" altLang="en-US" dirty="0"/>
              <a:t>。接下來你認為還有什麼資訊你不清楚的，或者必須知道記載在病歷上面，還有要怎麼治療，看你如何回答，且針對相關想知道東西的發問</a:t>
            </a:r>
            <a:r>
              <a:rPr lang="zh-TW" altLang="en-US" dirty="0" smtClean="0"/>
              <a:t>。</a:t>
            </a:r>
            <a:endParaRPr lang="en-US" altLang="zh-TW" dirty="0" smtClean="0"/>
          </a:p>
          <a:p>
            <a:r>
              <a:rPr lang="en-US" altLang="zh-TW" dirty="0" smtClean="0"/>
              <a:t>A:  </a:t>
            </a:r>
            <a:r>
              <a:rPr lang="en-US" altLang="zh-TW" dirty="0"/>
              <a:t>Chest CT: cT4N0M1b(adrenal gland)</a:t>
            </a:r>
            <a:r>
              <a:rPr lang="zh-TW" altLang="zh-TW" dirty="0"/>
              <a:t>，骨頭沒有</a:t>
            </a:r>
            <a:r>
              <a:rPr lang="en-US" altLang="zh-TW" dirty="0"/>
              <a:t>pathology</a:t>
            </a:r>
            <a:r>
              <a:rPr lang="zh-TW" altLang="zh-TW" dirty="0"/>
              <a:t>，</a:t>
            </a:r>
            <a:r>
              <a:rPr lang="en-US" altLang="zh-TW" dirty="0"/>
              <a:t>PET</a:t>
            </a:r>
            <a:r>
              <a:rPr lang="zh-TW" altLang="zh-TW" dirty="0"/>
              <a:t>只有</a:t>
            </a:r>
            <a:r>
              <a:rPr lang="en-US" altLang="zh-TW" dirty="0"/>
              <a:t>lung</a:t>
            </a:r>
            <a:r>
              <a:rPr lang="zh-TW" altLang="zh-TW" dirty="0"/>
              <a:t>有，後來骨頭開刀是</a:t>
            </a:r>
            <a:r>
              <a:rPr lang="en-US" altLang="zh-TW" dirty="0"/>
              <a:t>fibrous dysplasia...</a:t>
            </a:r>
            <a:r>
              <a:rPr lang="zh-TW" altLang="zh-TW" dirty="0"/>
              <a:t>搞不清楚他想表達的重點，應該就是</a:t>
            </a:r>
            <a:r>
              <a:rPr lang="en-US" altLang="zh-TW" dirty="0"/>
              <a:t>M</a:t>
            </a:r>
            <a:r>
              <a:rPr lang="zh-TW" altLang="zh-TW" dirty="0"/>
              <a:t>要</a:t>
            </a:r>
            <a:r>
              <a:rPr lang="en-US" altLang="zh-TW" dirty="0"/>
              <a:t>pathology</a:t>
            </a:r>
            <a:r>
              <a:rPr lang="zh-TW" altLang="zh-TW" dirty="0"/>
              <a:t>（蛤，我遇到的不同，他說</a:t>
            </a:r>
            <a:r>
              <a:rPr lang="en-US" altLang="zh-TW" dirty="0"/>
              <a:t>femoral bone lesion PET</a:t>
            </a:r>
            <a:r>
              <a:rPr lang="zh-TW" altLang="zh-TW" dirty="0"/>
              <a:t>有</a:t>
            </a:r>
            <a:r>
              <a:rPr lang="en-US" altLang="zh-TW" dirty="0"/>
              <a:t>uptake</a:t>
            </a:r>
            <a:r>
              <a:rPr lang="zh-TW" altLang="zh-TW" dirty="0"/>
              <a:t>，我說要安排</a:t>
            </a:r>
            <a:r>
              <a:rPr lang="en-US" altLang="zh-TW" dirty="0"/>
              <a:t>biopsy</a:t>
            </a:r>
            <a:r>
              <a:rPr lang="zh-TW" altLang="zh-TW" dirty="0"/>
              <a:t>，他就酸酸的說你們科可以自己</a:t>
            </a:r>
            <a:r>
              <a:rPr lang="en-US" altLang="zh-TW" dirty="0"/>
              <a:t>biopsy</a:t>
            </a:r>
            <a:r>
              <a:rPr lang="zh-TW" altLang="zh-TW" dirty="0"/>
              <a:t>噢，外科說不適合</a:t>
            </a:r>
            <a:r>
              <a:rPr lang="en-US" altLang="zh-TW" dirty="0"/>
              <a:t>biopsy</a:t>
            </a:r>
            <a:r>
              <a:rPr lang="zh-TW" altLang="zh-TW" dirty="0"/>
              <a:t>耶）</a:t>
            </a:r>
          </a:p>
          <a:p>
            <a:endParaRPr lang="en-US" altLang="zh-TW" dirty="0"/>
          </a:p>
          <a:p>
            <a:pPr marL="0" indent="0">
              <a:buNone/>
            </a:pPr>
            <a:endParaRPr lang="en-US" altLang="zh-TW" dirty="0" smtClean="0"/>
          </a:p>
          <a:p>
            <a:r>
              <a:rPr lang="zh-TW" altLang="en-US" dirty="0" smtClean="0"/>
              <a:t>Ａ：病人</a:t>
            </a:r>
            <a:r>
              <a:rPr lang="zh-TW" altLang="en-US" dirty="0"/>
              <a:t>來是因為</a:t>
            </a:r>
            <a:r>
              <a:rPr lang="en-US" altLang="zh-TW" dirty="0"/>
              <a:t>hoarseness</a:t>
            </a:r>
            <a:r>
              <a:rPr lang="zh-TW" altLang="en-US" dirty="0"/>
              <a:t>不會咳喘，我說要安排</a:t>
            </a:r>
            <a:r>
              <a:rPr lang="en-US" altLang="zh-TW" dirty="0"/>
              <a:t>CT / PET/CT</a:t>
            </a:r>
            <a:r>
              <a:rPr lang="zh-TW" altLang="en-US" dirty="0"/>
              <a:t>等影像</a:t>
            </a:r>
            <a:r>
              <a:rPr lang="en-US" altLang="zh-TW" dirty="0"/>
              <a:t>survey</a:t>
            </a:r>
            <a:r>
              <a:rPr lang="zh-TW" altLang="en-US" dirty="0"/>
              <a:t>有沒有</a:t>
            </a:r>
            <a:r>
              <a:rPr lang="en-US" altLang="zh-TW" dirty="0"/>
              <a:t>mediastinal lymph node</a:t>
            </a:r>
            <a:r>
              <a:rPr lang="zh-TW" altLang="en-US" dirty="0"/>
              <a:t>壓到</a:t>
            </a:r>
            <a:r>
              <a:rPr lang="en-US" altLang="zh-TW" dirty="0"/>
              <a:t>recurrent laryngeal nerve</a:t>
            </a:r>
            <a:r>
              <a:rPr lang="zh-TW" altLang="en-US" dirty="0"/>
              <a:t>並要安排</a:t>
            </a:r>
            <a:r>
              <a:rPr lang="en-US" altLang="zh-TW" dirty="0"/>
              <a:t>bronchoscopy</a:t>
            </a:r>
            <a:r>
              <a:rPr lang="zh-TW" altLang="en-US" dirty="0"/>
              <a:t>檢查，我還沒講完他就打斷說</a:t>
            </a:r>
            <a:r>
              <a:rPr lang="en-US" altLang="zh-TW" dirty="0"/>
              <a:t>mediastinum</a:t>
            </a:r>
            <a:r>
              <a:rPr lang="zh-TW" altLang="en-US" dirty="0"/>
              <a:t>沒有</a:t>
            </a:r>
            <a:r>
              <a:rPr lang="en-US" altLang="zh-TW" dirty="0"/>
              <a:t>node</a:t>
            </a:r>
            <a:r>
              <a:rPr lang="zh-TW" altLang="en-US" dirty="0"/>
              <a:t>，你排</a:t>
            </a:r>
            <a:r>
              <a:rPr lang="en-US" altLang="zh-TW" dirty="0" err="1"/>
              <a:t>bronchoscopey</a:t>
            </a:r>
            <a:r>
              <a:rPr lang="zh-TW" altLang="en-US" dirty="0"/>
              <a:t>要看什麼？然後說病人是左上肺葉腫瘤，我就問影像上是否為</a:t>
            </a:r>
            <a:r>
              <a:rPr lang="en-US" altLang="zh-TW" dirty="0"/>
              <a:t>superior sulcus tumor</a:t>
            </a:r>
            <a:r>
              <a:rPr lang="zh-TW" altLang="en-US" dirty="0"/>
              <a:t>，有沒有</a:t>
            </a:r>
            <a:r>
              <a:rPr lang="en-US" altLang="zh-TW" dirty="0"/>
              <a:t>Horner sign</a:t>
            </a:r>
            <a:r>
              <a:rPr lang="zh-TW" altLang="en-US" dirty="0"/>
              <a:t>手麻手無力肩膀痛，他說都沒有 </a:t>
            </a:r>
          </a:p>
          <a:p>
            <a:pPr marL="0" indent="0">
              <a:buNone/>
            </a:pPr>
            <a:endParaRPr lang="en-US" altLang="zh-TW" dirty="0" smtClean="0"/>
          </a:p>
          <a:p>
            <a:r>
              <a:rPr lang="en-US" altLang="zh-TW" dirty="0" smtClean="0"/>
              <a:t>Q: </a:t>
            </a:r>
            <a:r>
              <a:rPr lang="en-US" altLang="zh-TW" dirty="0"/>
              <a:t>IMRT vs. 3DCRT? </a:t>
            </a:r>
            <a:endParaRPr lang="en-US" altLang="zh-TW" dirty="0" smtClean="0"/>
          </a:p>
          <a:p>
            <a:r>
              <a:rPr lang="en-US" altLang="zh-TW" dirty="0" smtClean="0"/>
              <a:t>A: (</a:t>
            </a:r>
            <a:r>
              <a:rPr lang="zh-TW" altLang="zh-TW" dirty="0"/>
              <a:t>有沒有</a:t>
            </a:r>
            <a:r>
              <a:rPr lang="en-US" altLang="zh-TW" dirty="0"/>
              <a:t>evidence, </a:t>
            </a:r>
            <a:r>
              <a:rPr lang="zh-TW" altLang="zh-TW" dirty="0"/>
              <a:t>哪一篇</a:t>
            </a:r>
            <a:r>
              <a:rPr lang="en-US" altLang="zh-TW" dirty="0"/>
              <a:t>? </a:t>
            </a:r>
            <a:r>
              <a:rPr lang="zh-TW" altLang="zh-TW" dirty="0"/>
              <a:t>誰知壓，唬爛一下有</a:t>
            </a:r>
            <a:r>
              <a:rPr lang="en-US" altLang="zh-TW" dirty="0"/>
              <a:t>MDACC retrospective series</a:t>
            </a:r>
            <a:r>
              <a:rPr lang="zh-TW" altLang="zh-TW" dirty="0"/>
              <a:t>，反正很多病都嘛有</a:t>
            </a:r>
            <a:r>
              <a:rPr lang="en-US" altLang="zh-TW" dirty="0"/>
              <a:t>MDACC retrospective series</a:t>
            </a:r>
            <a:r>
              <a:rPr lang="zh-TW" altLang="zh-TW" dirty="0"/>
              <a:t>，可以降低</a:t>
            </a:r>
            <a:r>
              <a:rPr lang="en-US" altLang="zh-TW" dirty="0"/>
              <a:t>heart, lung, esophagus </a:t>
            </a:r>
            <a:r>
              <a:rPr lang="en-US" altLang="zh-TW" dirty="0" smtClean="0"/>
              <a:t>dose….</a:t>
            </a:r>
            <a:endParaRPr lang="zh-TW" altLang="zh-TW" dirty="0"/>
          </a:p>
          <a:p>
            <a:endParaRPr lang="zh-TW" altLang="en-US" dirty="0"/>
          </a:p>
          <a:p>
            <a:r>
              <a:rPr lang="en-US" altLang="zh-TW" dirty="0" smtClean="0"/>
              <a:t>Q. </a:t>
            </a:r>
            <a:r>
              <a:rPr lang="zh-TW" altLang="en-US" dirty="0"/>
              <a:t>拿一張紙，上面寫了許多選項，要你自己勾你有信心的地方，針對那些地方問你。主要設定在有一位</a:t>
            </a:r>
            <a:r>
              <a:rPr lang="en-US" altLang="zh-TW" dirty="0"/>
              <a:t>stage III</a:t>
            </a:r>
            <a:r>
              <a:rPr lang="zh-TW" altLang="en-US" dirty="0"/>
              <a:t>的</a:t>
            </a:r>
            <a:r>
              <a:rPr lang="en-US" altLang="zh-TW" dirty="0"/>
              <a:t>NSCLC</a:t>
            </a:r>
            <a:r>
              <a:rPr lang="zh-TW" altLang="en-US" dirty="0"/>
              <a:t>的病人，不能開刀，你的建議有哪些治療方法，這些治療方法後面有沒有哪些研究支持你，請舉出來。</a:t>
            </a:r>
          </a:p>
          <a:p>
            <a:endParaRPr lang="zh-TW" altLang="en-US" dirty="0"/>
          </a:p>
        </p:txBody>
      </p:sp>
    </p:spTree>
    <p:extLst>
      <p:ext uri="{BB962C8B-B14F-4D97-AF65-F5344CB8AC3E}">
        <p14:creationId xmlns:p14="http://schemas.microsoft.com/office/powerpoint/2010/main" val="36524679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81200" y="188640"/>
            <a:ext cx="1954560" cy="490066"/>
          </a:xfrm>
        </p:spPr>
        <p:txBody>
          <a:bodyPr>
            <a:normAutofit fontScale="90000"/>
          </a:bodyPr>
          <a:lstStyle/>
          <a:p>
            <a:r>
              <a:rPr lang="en-US" altLang="zh-TW" dirty="0" smtClean="0"/>
              <a:t>2016</a:t>
            </a:r>
            <a:endParaRPr lang="zh-TW" altLang="en-US" dirty="0"/>
          </a:p>
        </p:txBody>
      </p:sp>
      <p:sp>
        <p:nvSpPr>
          <p:cNvPr id="3" name="內容版面配置區 2"/>
          <p:cNvSpPr>
            <a:spLocks noGrp="1"/>
          </p:cNvSpPr>
          <p:nvPr>
            <p:ph idx="1"/>
          </p:nvPr>
        </p:nvSpPr>
        <p:spPr>
          <a:xfrm>
            <a:off x="1981200" y="764704"/>
            <a:ext cx="8363272" cy="5760640"/>
          </a:xfrm>
        </p:spPr>
        <p:txBody>
          <a:bodyPr>
            <a:normAutofit fontScale="25000" lnSpcReduction="20000"/>
          </a:bodyPr>
          <a:lstStyle/>
          <a:p>
            <a:endParaRPr lang="en-US" altLang="zh-TW" sz="4800" dirty="0"/>
          </a:p>
          <a:p>
            <a:r>
              <a:rPr lang="en-US" altLang="zh-TW" sz="4800" dirty="0"/>
              <a:t>Q2. </a:t>
            </a:r>
            <a:r>
              <a:rPr lang="en-US" altLang="zh-TW" sz="4800" dirty="0" err="1"/>
              <a:t>Thymoma</a:t>
            </a:r>
            <a:r>
              <a:rPr lang="en-US" altLang="zh-TW" sz="4800" dirty="0"/>
              <a:t>: (</a:t>
            </a:r>
            <a:r>
              <a:rPr lang="en-US" altLang="zh-TW" sz="4800" dirty="0" err="1"/>
              <a:t>Masaoka</a:t>
            </a:r>
            <a:r>
              <a:rPr lang="en-US" altLang="zh-TW" sz="4800" dirty="0"/>
              <a:t> staging system) </a:t>
            </a:r>
          </a:p>
          <a:p>
            <a:r>
              <a:rPr lang="en-US" altLang="zh-TW" sz="4800" dirty="0"/>
              <a:t>I: completely encapsulated</a:t>
            </a:r>
          </a:p>
          <a:p>
            <a:r>
              <a:rPr lang="en-US" altLang="zh-TW" sz="4800" dirty="0"/>
              <a:t>II: </a:t>
            </a:r>
            <a:r>
              <a:rPr lang="zh-TW" altLang="en-US" sz="4800" dirty="0"/>
              <a:t>穿過</a:t>
            </a:r>
            <a:r>
              <a:rPr lang="en-US" altLang="zh-TW" sz="4800" dirty="0"/>
              <a:t>capsule (IIA: micro; IIB: macro)</a:t>
            </a:r>
          </a:p>
          <a:p>
            <a:r>
              <a:rPr lang="en-US" altLang="zh-TW" sz="4800" dirty="0"/>
              <a:t>III: </a:t>
            </a:r>
            <a:r>
              <a:rPr lang="zh-TW" altLang="en-US" sz="4800" dirty="0"/>
              <a:t>侵犯鄰近器官 </a:t>
            </a:r>
            <a:r>
              <a:rPr lang="en-US" altLang="zh-TW" sz="4800" dirty="0"/>
              <a:t>(IIIA:</a:t>
            </a:r>
            <a:r>
              <a:rPr lang="zh-TW" altLang="en-US" sz="4800" dirty="0"/>
              <a:t>非大血管</a:t>
            </a:r>
            <a:r>
              <a:rPr lang="en-US" altLang="zh-TW" sz="4800" dirty="0"/>
              <a:t>; IIIB:</a:t>
            </a:r>
            <a:r>
              <a:rPr lang="zh-TW" altLang="en-US" sz="4800" dirty="0"/>
              <a:t>大血管</a:t>
            </a:r>
            <a:r>
              <a:rPr lang="en-US" altLang="zh-TW" sz="4800" dirty="0"/>
              <a:t>) </a:t>
            </a:r>
          </a:p>
          <a:p>
            <a:r>
              <a:rPr lang="en-US" altLang="zh-TW" sz="4800" dirty="0"/>
              <a:t>IVA: Pleural or pericardial dissemination IV; IVB: Lymphatic or </a:t>
            </a:r>
            <a:r>
              <a:rPr lang="en-US" altLang="zh-TW" sz="4800" dirty="0" err="1"/>
              <a:t>hematogenous</a:t>
            </a:r>
            <a:r>
              <a:rPr lang="en-US" altLang="zh-TW" sz="4800" dirty="0"/>
              <a:t> metastasis</a:t>
            </a:r>
          </a:p>
          <a:p>
            <a:endParaRPr lang="en-US" altLang="zh-TW" sz="4800" dirty="0"/>
          </a:p>
          <a:p>
            <a:r>
              <a:rPr lang="en-US" altLang="zh-TW" sz="4800" dirty="0"/>
              <a:t>Q: </a:t>
            </a:r>
            <a:r>
              <a:rPr lang="zh-TW" altLang="zh-TW" sz="4800" dirty="0"/>
              <a:t>若有</a:t>
            </a:r>
            <a:r>
              <a:rPr lang="en-US" altLang="zh-TW" sz="4800" dirty="0"/>
              <a:t>mediastinal LAP </a:t>
            </a:r>
            <a:r>
              <a:rPr lang="zh-TW" altLang="zh-TW" sz="4800" dirty="0"/>
              <a:t>算</a:t>
            </a:r>
            <a:r>
              <a:rPr lang="en-US" altLang="zh-TW" sz="4800" dirty="0" err="1"/>
              <a:t>Masaoka</a:t>
            </a:r>
            <a:r>
              <a:rPr lang="en-US" altLang="zh-TW" sz="4800" dirty="0"/>
              <a:t> stage </a:t>
            </a:r>
            <a:r>
              <a:rPr lang="zh-TW" altLang="zh-TW" sz="4800" dirty="0"/>
              <a:t>幾</a:t>
            </a:r>
            <a:r>
              <a:rPr lang="en-US" altLang="zh-TW" sz="4800" dirty="0"/>
              <a:t>?</a:t>
            </a:r>
          </a:p>
          <a:p>
            <a:r>
              <a:rPr lang="en-US" altLang="zh-TW" sz="4800" dirty="0"/>
              <a:t>A: stage IVB (</a:t>
            </a:r>
            <a:r>
              <a:rPr lang="en-US" altLang="zh-TW" sz="4800" dirty="0" err="1"/>
              <a:t>Masoka</a:t>
            </a:r>
            <a:r>
              <a:rPr lang="en-US" altLang="zh-TW" sz="4800" dirty="0"/>
              <a:t>), AJCC M1a/N1 IVA, M1b/N2: IVB</a:t>
            </a:r>
          </a:p>
          <a:p>
            <a:r>
              <a:rPr lang="en-US" altLang="zh-TW" sz="4800" dirty="0"/>
              <a:t>A: </a:t>
            </a:r>
            <a:r>
              <a:rPr lang="en-US" altLang="zh-TW" sz="4800" dirty="0" err="1"/>
              <a:t>unresectable</a:t>
            </a:r>
            <a:r>
              <a:rPr lang="en-US" altLang="zh-TW" sz="4800" dirty="0"/>
              <a:t>, chemo </a:t>
            </a:r>
            <a:r>
              <a:rPr lang="en-US" altLang="zh-TW" sz="4800" dirty="0">
                <a:sym typeface="Wingdings" panose="05000000000000000000" pitchFamily="2" charset="2"/>
              </a:rPr>
              <a:t> RT or OP , MDACC chemo platinum based CAP max OP  PORT 7 y follow 100% OS</a:t>
            </a:r>
            <a:endParaRPr lang="en-US" altLang="zh-TW" sz="4800" dirty="0"/>
          </a:p>
          <a:p>
            <a:endParaRPr lang="en-US" altLang="zh-TW" sz="4800" dirty="0"/>
          </a:p>
          <a:p>
            <a:r>
              <a:rPr lang="en-US" altLang="zh-TW" sz="4800" dirty="0"/>
              <a:t>Q: Treatment: op </a:t>
            </a:r>
            <a:r>
              <a:rPr lang="zh-TW" altLang="en-US" sz="4800" dirty="0"/>
              <a:t>為主，</a:t>
            </a:r>
            <a:r>
              <a:rPr lang="en-US" altLang="zh-TW" sz="4800" dirty="0"/>
              <a:t>R/T dose?</a:t>
            </a:r>
          </a:p>
          <a:p>
            <a:r>
              <a:rPr lang="en-US" altLang="zh-TW" sz="4800" dirty="0"/>
              <a:t>A:  R0 45-54, R1: 54-60 R2 : 60-70</a:t>
            </a:r>
          </a:p>
          <a:p>
            <a:r>
              <a:rPr lang="en-US" altLang="zh-TW" sz="4800" dirty="0"/>
              <a:t>A: </a:t>
            </a:r>
            <a:r>
              <a:rPr lang="zh-TW" altLang="en-US" sz="4800" dirty="0"/>
              <a:t>放射治療劑量</a:t>
            </a:r>
            <a:r>
              <a:rPr lang="en-US" altLang="zh-TW" sz="4800" dirty="0"/>
              <a:t>: R0 resection 45-50 </a:t>
            </a:r>
            <a:r>
              <a:rPr lang="en-US" altLang="zh-TW" sz="4800" dirty="0" err="1"/>
              <a:t>Gy</a:t>
            </a:r>
            <a:r>
              <a:rPr lang="en-US" altLang="zh-TW" sz="4800" dirty="0"/>
              <a:t>, R1 resection 54 </a:t>
            </a:r>
            <a:r>
              <a:rPr lang="en-US" altLang="zh-TW" sz="4800" dirty="0" err="1"/>
              <a:t>Gy</a:t>
            </a:r>
            <a:r>
              <a:rPr lang="en-US" altLang="zh-TW" sz="4800" dirty="0"/>
              <a:t>, R2 resection 60 </a:t>
            </a:r>
            <a:r>
              <a:rPr lang="en-US" altLang="zh-TW" sz="4800" dirty="0" err="1"/>
              <a:t>Gy</a:t>
            </a:r>
            <a:r>
              <a:rPr lang="en-US" altLang="zh-TW" sz="4800" dirty="0"/>
              <a:t>, definitive 60-70 </a:t>
            </a:r>
            <a:r>
              <a:rPr lang="en-US" altLang="zh-TW" sz="4800" dirty="0" err="1"/>
              <a:t>Gy</a:t>
            </a:r>
            <a:r>
              <a:rPr lang="en-US" altLang="zh-TW" sz="4800" dirty="0"/>
              <a:t> ( </a:t>
            </a:r>
            <a:r>
              <a:rPr lang="zh-TW" altLang="en-US" sz="4800" dirty="0"/>
              <a:t>一次的</a:t>
            </a:r>
            <a:r>
              <a:rPr lang="en-US" altLang="zh-TW" sz="4800" dirty="0"/>
              <a:t>fraction size 1.8-2 </a:t>
            </a:r>
            <a:r>
              <a:rPr lang="en-US" altLang="zh-TW" sz="4800" dirty="0" err="1"/>
              <a:t>Gy</a:t>
            </a:r>
            <a:r>
              <a:rPr lang="en-US" altLang="zh-TW" sz="4800" dirty="0"/>
              <a:t>) </a:t>
            </a:r>
          </a:p>
          <a:p>
            <a:endParaRPr lang="en-US" altLang="zh-TW" sz="4800" dirty="0"/>
          </a:p>
          <a:p>
            <a:pPr lvl="0"/>
            <a:r>
              <a:rPr lang="en-US" altLang="zh-TW" sz="4800" dirty="0"/>
              <a:t>Q:</a:t>
            </a:r>
            <a:r>
              <a:rPr lang="zh-TW" altLang="zh-TW" sz="4800" dirty="0"/>
              <a:t>不同期別 要如何治療？ </a:t>
            </a:r>
            <a:endParaRPr lang="en-US" altLang="zh-TW" sz="4800" dirty="0"/>
          </a:p>
          <a:p>
            <a:pPr lvl="0"/>
            <a:r>
              <a:rPr lang="en-US" altLang="zh-TW" sz="4800" dirty="0"/>
              <a:t>A: </a:t>
            </a:r>
            <a:r>
              <a:rPr lang="zh-TW" altLang="zh-TW" sz="4800" dirty="0"/>
              <a:t>參考</a:t>
            </a:r>
            <a:r>
              <a:rPr lang="en-US" altLang="zh-TW" sz="4800" dirty="0"/>
              <a:t>NCCN guideline, </a:t>
            </a:r>
            <a:r>
              <a:rPr lang="zh-TW" altLang="zh-TW" sz="4800" dirty="0"/>
              <a:t>如果可以開刀就做</a:t>
            </a:r>
            <a:r>
              <a:rPr lang="en-US" altLang="zh-TW" sz="4800" dirty="0"/>
              <a:t>surgical resection </a:t>
            </a:r>
            <a:r>
              <a:rPr lang="zh-TW" altLang="zh-TW" sz="4800" dirty="0"/>
              <a:t>之後</a:t>
            </a:r>
            <a:endParaRPr lang="en-US" altLang="zh-TW" sz="4800" dirty="0"/>
          </a:p>
          <a:p>
            <a:pPr lvl="0"/>
            <a:r>
              <a:rPr lang="en-US" altLang="zh-TW" sz="4800" dirty="0"/>
              <a:t>stage I R0 resection -&gt; observation,  </a:t>
            </a:r>
          </a:p>
          <a:p>
            <a:pPr lvl="0"/>
            <a:r>
              <a:rPr lang="en-US" altLang="zh-TW" sz="4800" dirty="0"/>
              <a:t>stage II-IV -&gt; post-operative RT.  </a:t>
            </a:r>
          </a:p>
          <a:p>
            <a:pPr lvl="0"/>
            <a:r>
              <a:rPr lang="en-US" altLang="zh-TW" sz="4800" dirty="0"/>
              <a:t>R1 resection→ post-OP RT(+chemo if </a:t>
            </a:r>
            <a:r>
              <a:rPr lang="en-US" altLang="zh-TW" sz="4800" dirty="0" err="1"/>
              <a:t>thymic</a:t>
            </a:r>
            <a:r>
              <a:rPr lang="en-US" altLang="zh-TW" sz="4800" dirty="0"/>
              <a:t> carcinoma). </a:t>
            </a:r>
          </a:p>
          <a:p>
            <a:pPr lvl="0"/>
            <a:r>
              <a:rPr lang="en-US" altLang="zh-TW" sz="4800" dirty="0"/>
              <a:t>R2 resection→ RT+ chemo </a:t>
            </a:r>
            <a:endParaRPr lang="zh-TW" altLang="zh-TW" sz="4800" dirty="0"/>
          </a:p>
          <a:p>
            <a:r>
              <a:rPr lang="zh-TW" altLang="zh-TW" sz="4800" dirty="0"/>
              <a:t>若</a:t>
            </a:r>
            <a:r>
              <a:rPr lang="en-US" altLang="zh-TW" sz="4800" dirty="0" err="1"/>
              <a:t>unresectable</a:t>
            </a:r>
            <a:r>
              <a:rPr lang="en-US" altLang="zh-TW" sz="4800" dirty="0"/>
              <a:t> disease : CCRT , potentially </a:t>
            </a:r>
            <a:r>
              <a:rPr lang="en-US" altLang="zh-TW" sz="4800" dirty="0" err="1"/>
              <a:t>resectable</a:t>
            </a:r>
            <a:r>
              <a:rPr lang="en-US" altLang="zh-TW" sz="4800" dirty="0"/>
              <a:t> : </a:t>
            </a:r>
            <a:r>
              <a:rPr lang="zh-TW" altLang="zh-TW" sz="4800" dirty="0"/>
              <a:t>先</a:t>
            </a:r>
            <a:r>
              <a:rPr lang="en-US" altLang="zh-TW" sz="4800" dirty="0"/>
              <a:t>induction chemotherapy </a:t>
            </a:r>
            <a:r>
              <a:rPr lang="zh-TW" altLang="zh-TW" sz="4800" dirty="0"/>
              <a:t>再手術</a:t>
            </a:r>
          </a:p>
          <a:p>
            <a:endParaRPr lang="en-US" altLang="zh-TW" sz="4800" dirty="0"/>
          </a:p>
          <a:p>
            <a:r>
              <a:rPr lang="en-US" altLang="zh-TW" sz="4800" dirty="0"/>
              <a:t>Q: </a:t>
            </a:r>
            <a:r>
              <a:rPr lang="zh-TW" altLang="en-US" sz="4800" dirty="0"/>
              <a:t>最常用的化療是</a:t>
            </a:r>
            <a:r>
              <a:rPr lang="en-US" altLang="zh-TW" sz="4800" dirty="0"/>
              <a:t>CAP (cyclophosphamide, </a:t>
            </a:r>
            <a:r>
              <a:rPr lang="en-US" altLang="zh-TW" sz="4800" dirty="0" err="1"/>
              <a:t>adriamycin</a:t>
            </a:r>
            <a:r>
              <a:rPr lang="en-US" altLang="zh-TW" sz="4800" dirty="0"/>
              <a:t>, cisplatin)</a:t>
            </a:r>
          </a:p>
          <a:p>
            <a:r>
              <a:rPr lang="en-US" altLang="zh-TW" sz="4800" dirty="0"/>
              <a:t>A:  </a:t>
            </a:r>
            <a:r>
              <a:rPr lang="en-US" altLang="zh-TW" sz="4800" dirty="0" err="1"/>
              <a:t>Thymoma</a:t>
            </a:r>
            <a:r>
              <a:rPr lang="en-US" altLang="zh-TW" sz="4800" dirty="0"/>
              <a:t> → CAP ( cyclophosphamide + doxorubicin + cisplatin ) , </a:t>
            </a:r>
          </a:p>
          <a:p>
            <a:r>
              <a:rPr lang="en-US" altLang="zh-TW" sz="4800" dirty="0" err="1"/>
              <a:t>thymic</a:t>
            </a:r>
            <a:r>
              <a:rPr lang="en-US" altLang="zh-TW" sz="4800" dirty="0"/>
              <a:t> carcinoma → paclitaxel + carboplatin</a:t>
            </a:r>
          </a:p>
          <a:p>
            <a:endParaRPr lang="en-US" altLang="zh-TW" dirty="0"/>
          </a:p>
        </p:txBody>
      </p:sp>
    </p:spTree>
    <p:extLst>
      <p:ext uri="{BB962C8B-B14F-4D97-AF65-F5344CB8AC3E}">
        <p14:creationId xmlns:p14="http://schemas.microsoft.com/office/powerpoint/2010/main" val="1707475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47500" lnSpcReduction="20000"/>
          </a:bodyPr>
          <a:lstStyle/>
          <a:p>
            <a:r>
              <a:rPr lang="en-US" altLang="zh-TW" sz="4300" dirty="0"/>
              <a:t>Q3: </a:t>
            </a:r>
            <a:r>
              <a:rPr lang="en-US" altLang="zh-TW" sz="4300" dirty="0" err="1"/>
              <a:t>Pancoast</a:t>
            </a:r>
            <a:r>
              <a:rPr lang="en-US" altLang="zh-TW" sz="4300" dirty="0"/>
              <a:t> tumor = apical tumor (superior sulcus tumor) + either chest wall (rib) invasion or </a:t>
            </a:r>
            <a:r>
              <a:rPr lang="en-US" altLang="zh-TW" sz="4300" dirty="0" err="1"/>
              <a:t>Pancoast</a:t>
            </a:r>
            <a:r>
              <a:rPr lang="en-US" altLang="zh-TW" sz="4300" dirty="0"/>
              <a:t> syndrome {triad: shoulder pain/brachial plexus palsy, hoarseness and Horner’s syndrome (ptosis, meiosis, and ipsilateral </a:t>
            </a:r>
            <a:r>
              <a:rPr lang="en-US" altLang="zh-TW" sz="4300" dirty="0" err="1"/>
              <a:t>anhidrosis</a:t>
            </a:r>
            <a:r>
              <a:rPr lang="en-US" altLang="zh-TW" sz="4300" dirty="0"/>
              <a:t>)} </a:t>
            </a:r>
          </a:p>
          <a:p>
            <a:r>
              <a:rPr lang="en-US" altLang="zh-TW" sz="4300" dirty="0"/>
              <a:t>A: T3</a:t>
            </a:r>
            <a:r>
              <a:rPr lang="zh-TW" altLang="en-US" sz="4300" dirty="0"/>
              <a:t>起跳</a:t>
            </a:r>
            <a:endParaRPr lang="en-US" altLang="zh-TW" sz="4300" dirty="0"/>
          </a:p>
          <a:p>
            <a:r>
              <a:rPr lang="en-US" altLang="zh-TW" sz="4300" dirty="0"/>
              <a:t>A: </a:t>
            </a:r>
            <a:r>
              <a:rPr lang="en-US" altLang="zh-TW" sz="4300" dirty="0" err="1"/>
              <a:t>Tx</a:t>
            </a:r>
            <a:r>
              <a:rPr lang="en-US" altLang="zh-TW" sz="4300" dirty="0"/>
              <a:t>: Pre-op CCRT  OP + post-op C/T</a:t>
            </a:r>
          </a:p>
          <a:p>
            <a:r>
              <a:rPr lang="en-US" altLang="zh-TW" sz="4300" dirty="0"/>
              <a:t>If </a:t>
            </a:r>
            <a:r>
              <a:rPr lang="en-US" altLang="zh-TW" sz="4300" dirty="0" err="1"/>
              <a:t>unresectable</a:t>
            </a:r>
            <a:r>
              <a:rPr lang="en-US" altLang="zh-TW" sz="4300" dirty="0"/>
              <a:t>  definite CCRT + C/T</a:t>
            </a:r>
          </a:p>
          <a:p>
            <a:endParaRPr lang="en-US" altLang="zh-TW" sz="4300" dirty="0"/>
          </a:p>
          <a:p>
            <a:r>
              <a:rPr lang="en-US" altLang="zh-TW" sz="4300" dirty="0"/>
              <a:t>Q 4.	NSCLC stage IIIB (N3)</a:t>
            </a:r>
            <a:r>
              <a:rPr lang="zh-TW" altLang="en-US" sz="4300" dirty="0"/>
              <a:t>的治療</a:t>
            </a:r>
            <a:r>
              <a:rPr lang="en-US" altLang="zh-TW" sz="4300" dirty="0"/>
              <a:t>?</a:t>
            </a:r>
          </a:p>
          <a:p>
            <a:r>
              <a:rPr lang="en-US" altLang="zh-TW" sz="4300" dirty="0"/>
              <a:t>A: CCRT </a:t>
            </a:r>
          </a:p>
          <a:p>
            <a:endParaRPr lang="en-US" altLang="zh-TW" sz="4300" dirty="0"/>
          </a:p>
          <a:p>
            <a:r>
              <a:rPr lang="en-US" altLang="zh-TW" sz="4300" dirty="0"/>
              <a:t>Q 5.	NSCLC stage IIIA (N2)</a:t>
            </a:r>
            <a:r>
              <a:rPr lang="zh-TW" altLang="en-US" sz="4300" dirty="0"/>
              <a:t>的治療</a:t>
            </a:r>
            <a:r>
              <a:rPr lang="en-US" altLang="zh-TW" sz="4300" dirty="0"/>
              <a:t>?</a:t>
            </a:r>
          </a:p>
          <a:p>
            <a:r>
              <a:rPr lang="en-US" altLang="zh-TW" sz="4300" dirty="0"/>
              <a:t>A:  CCRT or induction CRT if lobectomy planned</a:t>
            </a:r>
          </a:p>
          <a:p>
            <a:r>
              <a:rPr lang="en-US" altLang="zh-TW" sz="4300" dirty="0"/>
              <a:t>A: Pre-op C/T + OP (EORTC 04891) or pre-op CCRT + OP (INT-0139) or definite CCRT (RTOG-9410)</a:t>
            </a:r>
          </a:p>
          <a:p>
            <a:endParaRPr lang="en-US" altLang="zh-TW" sz="4300" dirty="0"/>
          </a:p>
          <a:p>
            <a:endParaRPr lang="en-US" altLang="zh-TW" sz="4300" dirty="0"/>
          </a:p>
          <a:p>
            <a:endParaRPr lang="zh-TW" altLang="en-US" dirty="0"/>
          </a:p>
        </p:txBody>
      </p:sp>
    </p:spTree>
    <p:extLst>
      <p:ext uri="{BB962C8B-B14F-4D97-AF65-F5344CB8AC3E}">
        <p14:creationId xmlns:p14="http://schemas.microsoft.com/office/powerpoint/2010/main" val="11696988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a:xfrm>
            <a:off x="2063552" y="1405842"/>
            <a:ext cx="7488832" cy="1951150"/>
          </a:xfrm>
        </p:spPr>
        <p:txBody>
          <a:bodyPr>
            <a:normAutofit fontScale="47500" lnSpcReduction="20000"/>
          </a:bodyPr>
          <a:lstStyle/>
          <a:p>
            <a:r>
              <a:rPr lang="en-US" altLang="zh-TW" dirty="0"/>
              <a:t>Lung/Mediastinum/Soft tissue </a:t>
            </a:r>
            <a:r>
              <a:rPr lang="zh-TW" altLang="en-US" dirty="0"/>
              <a:t>成大 陳海雯</a:t>
            </a:r>
          </a:p>
          <a:p>
            <a:r>
              <a:rPr lang="en-US" altLang="zh-TW" dirty="0"/>
              <a:t>Soft tissue sarcoma:</a:t>
            </a:r>
          </a:p>
          <a:p>
            <a:r>
              <a:rPr lang="en-US" altLang="zh-TW" dirty="0"/>
              <a:t>Q: </a:t>
            </a:r>
            <a:r>
              <a:rPr lang="zh-TW" altLang="en-US" dirty="0"/>
              <a:t>好發部位</a:t>
            </a:r>
            <a:r>
              <a:rPr lang="en-US" altLang="zh-TW" dirty="0"/>
              <a:t>: Lower extremity (45%) &gt; trunk (30%) &gt; upper extremity (15%) &gt; H&amp;N (8%)</a:t>
            </a:r>
          </a:p>
          <a:p>
            <a:r>
              <a:rPr lang="zh-TW" altLang="en-US" dirty="0"/>
              <a:t>發生頻率</a:t>
            </a:r>
            <a:r>
              <a:rPr lang="en-US" altLang="zh-TW" dirty="0"/>
              <a:t>: Malignant fibrous histiocytoma (20-30%), </a:t>
            </a:r>
            <a:r>
              <a:rPr lang="en-US" altLang="zh-TW" dirty="0" err="1"/>
              <a:t>liposarcoma</a:t>
            </a:r>
            <a:r>
              <a:rPr lang="en-US" altLang="zh-TW" dirty="0"/>
              <a:t> (10-20%), </a:t>
            </a:r>
            <a:r>
              <a:rPr lang="en-US" altLang="zh-TW" dirty="0" err="1"/>
              <a:t>leiomyosarcoma</a:t>
            </a:r>
            <a:r>
              <a:rPr lang="en-US" altLang="zh-TW" dirty="0"/>
              <a:t> (10-15%)</a:t>
            </a:r>
          </a:p>
          <a:p>
            <a:endParaRPr lang="en-US" altLang="zh-TW" dirty="0"/>
          </a:p>
          <a:p>
            <a:r>
              <a:rPr lang="en-US" altLang="zh-TW" dirty="0"/>
              <a:t>Q: R0, R1, R2 resection </a:t>
            </a:r>
            <a:r>
              <a:rPr lang="zh-TW" altLang="en-US" dirty="0"/>
              <a:t>的 </a:t>
            </a:r>
            <a:r>
              <a:rPr lang="en-US" altLang="zh-TW" dirty="0"/>
              <a:t>R/T dose???</a:t>
            </a:r>
          </a:p>
          <a:p>
            <a:r>
              <a:rPr lang="en-US" altLang="zh-TW" dirty="0"/>
              <a:t>R1: 16-18Gy boost R2: 20-26Gy boost </a:t>
            </a:r>
          </a:p>
          <a:p>
            <a:endParaRPr lang="zh-TW" altLang="en-US" dirty="0"/>
          </a:p>
        </p:txBody>
      </p:sp>
      <p:pic>
        <p:nvPicPr>
          <p:cNvPr id="4" name="圖片 3"/>
          <p:cNvPicPr>
            <a:picLocks noChangeAspect="1"/>
          </p:cNvPicPr>
          <p:nvPr/>
        </p:nvPicPr>
        <p:blipFill>
          <a:blip r:embed="rId2"/>
          <a:stretch>
            <a:fillRect/>
          </a:stretch>
        </p:blipFill>
        <p:spPr>
          <a:xfrm>
            <a:off x="2207569" y="3645024"/>
            <a:ext cx="6706121" cy="2828676"/>
          </a:xfrm>
          <a:prstGeom prst="rect">
            <a:avLst/>
          </a:prstGeom>
        </p:spPr>
      </p:pic>
    </p:spTree>
    <p:extLst>
      <p:ext uri="{BB962C8B-B14F-4D97-AF65-F5344CB8AC3E}">
        <p14:creationId xmlns:p14="http://schemas.microsoft.com/office/powerpoint/2010/main" val="21661141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847528" y="23256"/>
            <a:ext cx="2098576" cy="1143000"/>
          </a:xfrm>
        </p:spPr>
        <p:txBody>
          <a:bodyPr/>
          <a:lstStyle/>
          <a:p>
            <a:r>
              <a:rPr lang="en-US" altLang="zh-TW" dirty="0" smtClean="0"/>
              <a:t>2016</a:t>
            </a:r>
            <a:endParaRPr lang="zh-TW" altLang="en-US" dirty="0"/>
          </a:p>
        </p:txBody>
      </p:sp>
      <p:sp>
        <p:nvSpPr>
          <p:cNvPr id="3" name="內容版面配置區 2"/>
          <p:cNvSpPr>
            <a:spLocks noGrp="1"/>
          </p:cNvSpPr>
          <p:nvPr>
            <p:ph idx="1"/>
          </p:nvPr>
        </p:nvSpPr>
        <p:spPr>
          <a:xfrm>
            <a:off x="1981200" y="836712"/>
            <a:ext cx="8229600" cy="5904656"/>
          </a:xfrm>
        </p:spPr>
        <p:txBody>
          <a:bodyPr>
            <a:normAutofit fontScale="32500" lnSpcReduction="20000"/>
          </a:bodyPr>
          <a:lstStyle/>
          <a:p>
            <a:r>
              <a:rPr lang="en-US" altLang="zh-TW" dirty="0"/>
              <a:t>Lung </a:t>
            </a:r>
            <a:r>
              <a:rPr lang="zh-TW" altLang="en-US" dirty="0"/>
              <a:t>亞東 吳樂榮</a:t>
            </a:r>
          </a:p>
          <a:p>
            <a:r>
              <a:rPr lang="en-US" altLang="zh-TW" dirty="0"/>
              <a:t>1.	SRS indication? </a:t>
            </a:r>
            <a:endParaRPr lang="en-US" altLang="zh-TW" dirty="0" smtClean="0"/>
          </a:p>
          <a:p>
            <a:r>
              <a:rPr lang="zh-TW" altLang="en-US" dirty="0" smtClean="0"/>
              <a:t>Ａ：</a:t>
            </a:r>
            <a:r>
              <a:rPr lang="en-US" altLang="zh-TW" dirty="0" smtClean="0"/>
              <a:t> </a:t>
            </a:r>
            <a:r>
              <a:rPr lang="en-US" altLang="zh-TW" dirty="0"/>
              <a:t>T1-2, ≤ 5cm, tumor inoperable or too much </a:t>
            </a:r>
            <a:r>
              <a:rPr lang="en-US" altLang="zh-TW" dirty="0" err="1"/>
              <a:t>comobidities</a:t>
            </a:r>
            <a:r>
              <a:rPr lang="en-US" altLang="zh-TW" dirty="0"/>
              <a:t> to receive general anesthesia or operation </a:t>
            </a:r>
          </a:p>
          <a:p>
            <a:r>
              <a:rPr lang="en-US" altLang="zh-TW" dirty="0" smtClean="0"/>
              <a:t> A</a:t>
            </a:r>
            <a:r>
              <a:rPr lang="en-US" altLang="zh-TW" b="1" dirty="0" smtClean="0"/>
              <a:t>:</a:t>
            </a:r>
            <a:r>
              <a:rPr lang="zh-TW" altLang="en-US" b="1" dirty="0"/>
              <a:t>有提到在</a:t>
            </a:r>
            <a:r>
              <a:rPr lang="en-US" altLang="zh-TW" b="1" dirty="0"/>
              <a:t>SBRT</a:t>
            </a:r>
            <a:r>
              <a:rPr lang="zh-TW" altLang="en-US" b="1" dirty="0"/>
              <a:t>不能直接拿</a:t>
            </a:r>
            <a:r>
              <a:rPr lang="en-US" altLang="zh-TW" b="1" dirty="0"/>
              <a:t>LQ model</a:t>
            </a:r>
            <a:r>
              <a:rPr lang="zh-TW" altLang="en-US" b="1" dirty="0"/>
              <a:t>的</a:t>
            </a:r>
            <a:r>
              <a:rPr lang="en-US" altLang="zh-TW" b="1" dirty="0"/>
              <a:t>BED</a:t>
            </a:r>
            <a:r>
              <a:rPr lang="zh-TW" altLang="en-US" b="1" dirty="0"/>
              <a:t>公式去算，老師說答得好</a:t>
            </a:r>
            <a:r>
              <a:rPr lang="zh-TW" altLang="en-US" b="1" dirty="0" smtClean="0"/>
              <a:t>！</a:t>
            </a:r>
            <a:endParaRPr lang="en-US" altLang="zh-TW" b="1" dirty="0" smtClean="0"/>
          </a:p>
          <a:p>
            <a:r>
              <a:rPr lang="en-US" altLang="zh-TW" dirty="0" smtClean="0"/>
              <a:t>q</a:t>
            </a:r>
            <a:r>
              <a:rPr lang="en-US" altLang="zh-TW" dirty="0" smtClean="0"/>
              <a:t>: peripheral/central </a:t>
            </a:r>
            <a:r>
              <a:rPr lang="en-US" altLang="zh-TW" dirty="0"/>
              <a:t>tumor</a:t>
            </a:r>
            <a:r>
              <a:rPr lang="zh-TW" altLang="en-US" dirty="0"/>
              <a:t>的常用劑量</a:t>
            </a:r>
            <a:r>
              <a:rPr lang="en-US" altLang="zh-TW" dirty="0" smtClean="0"/>
              <a:t>?</a:t>
            </a:r>
          </a:p>
          <a:p>
            <a:r>
              <a:rPr lang="en-US" altLang="zh-TW" dirty="0" smtClean="0"/>
              <a:t>A: peripheral  34Gy/1, 60Gy/3fx, central : 48-50/4fx, 50-55 /5fx, 60-70/8-10fx  </a:t>
            </a:r>
            <a:endParaRPr lang="en-US" altLang="zh-TW" dirty="0"/>
          </a:p>
          <a:p>
            <a:endParaRPr lang="en-US" altLang="zh-TW" dirty="0" smtClean="0"/>
          </a:p>
          <a:p>
            <a:endParaRPr lang="en-US" altLang="zh-TW" dirty="0"/>
          </a:p>
          <a:p>
            <a:endParaRPr lang="en-US" altLang="zh-TW" dirty="0"/>
          </a:p>
          <a:p>
            <a:r>
              <a:rPr lang="en-US" altLang="zh-TW" dirty="0"/>
              <a:t>2.	Right lung Ca s/p op</a:t>
            </a:r>
            <a:r>
              <a:rPr lang="zh-TW" altLang="en-US" dirty="0"/>
              <a:t>會拿哪些</a:t>
            </a:r>
            <a:r>
              <a:rPr lang="en-US" altLang="zh-TW" dirty="0"/>
              <a:t>LNs group</a:t>
            </a:r>
            <a:r>
              <a:rPr lang="en-US" altLang="zh-TW" dirty="0" smtClean="0"/>
              <a:t>?</a:t>
            </a:r>
          </a:p>
          <a:p>
            <a:r>
              <a:rPr lang="en-US" altLang="zh-TW" dirty="0" smtClean="0"/>
              <a:t>A: </a:t>
            </a:r>
            <a:r>
              <a:rPr lang="zh-TW" altLang="en-US" dirty="0" smtClean="0"/>
              <a:t>講</a:t>
            </a:r>
            <a:r>
              <a:rPr lang="zh-TW" altLang="en-US" dirty="0"/>
              <a:t>一下</a:t>
            </a:r>
            <a:r>
              <a:rPr lang="en-US" altLang="zh-TW" dirty="0" err="1"/>
              <a:t>mediastinal</a:t>
            </a:r>
            <a:r>
              <a:rPr lang="en-US" altLang="zh-TW" dirty="0"/>
              <a:t> </a:t>
            </a:r>
            <a:r>
              <a:rPr lang="zh-TW" altLang="en-US" dirty="0"/>
              <a:t>大概的位置，記得沒有</a:t>
            </a:r>
            <a:r>
              <a:rPr lang="en-US" altLang="zh-TW" dirty="0"/>
              <a:t>group 1; group 3</a:t>
            </a:r>
            <a:r>
              <a:rPr lang="zh-TW" altLang="en-US" dirty="0"/>
              <a:t>拿不到</a:t>
            </a:r>
            <a:r>
              <a:rPr lang="en-US" altLang="zh-TW" dirty="0"/>
              <a:t>; </a:t>
            </a:r>
            <a:r>
              <a:rPr lang="zh-TW" altLang="en-US" dirty="0"/>
              <a:t>因為是右邊的腫瘤，所以左邊的</a:t>
            </a:r>
            <a:r>
              <a:rPr lang="en-US" altLang="zh-TW" dirty="0"/>
              <a:t>group 5 (AP window)</a:t>
            </a:r>
            <a:r>
              <a:rPr lang="zh-TW" altLang="en-US" dirty="0"/>
              <a:t>和</a:t>
            </a:r>
            <a:r>
              <a:rPr lang="en-US" altLang="zh-TW" dirty="0"/>
              <a:t>group 6 (Para-aortic)</a:t>
            </a:r>
            <a:r>
              <a:rPr lang="zh-TW" altLang="en-US" dirty="0"/>
              <a:t>應該不會拿  所以至少拿 </a:t>
            </a:r>
            <a:r>
              <a:rPr lang="en-US" altLang="zh-TW" dirty="0"/>
              <a:t>group 2, 4, 7, 10 (8, 9</a:t>
            </a:r>
            <a:r>
              <a:rPr lang="zh-TW" altLang="en-US" dirty="0"/>
              <a:t>比較下面，看腫瘤位置，</a:t>
            </a:r>
            <a:r>
              <a:rPr lang="en-US" altLang="zh-TW" dirty="0"/>
              <a:t>11-14</a:t>
            </a:r>
            <a:r>
              <a:rPr lang="zh-TW" altLang="en-US" dirty="0"/>
              <a:t>在</a:t>
            </a:r>
            <a:r>
              <a:rPr lang="en-US" altLang="zh-TW" dirty="0"/>
              <a:t>lobe</a:t>
            </a:r>
            <a:r>
              <a:rPr lang="zh-TW" altLang="en-US" dirty="0"/>
              <a:t>裡，也不用特別拿</a:t>
            </a:r>
            <a:r>
              <a:rPr lang="en-US" altLang="zh-TW" dirty="0" smtClean="0"/>
              <a:t>)</a:t>
            </a:r>
          </a:p>
          <a:p>
            <a:r>
              <a:rPr lang="zh-TW" altLang="en-US" dirty="0" smtClean="0"/>
              <a:t>Ａ：看圖　Ｒ</a:t>
            </a:r>
            <a:r>
              <a:rPr lang="en-US" altLang="zh-TW" dirty="0" err="1" smtClean="0"/>
              <a:t>ight</a:t>
            </a:r>
            <a:r>
              <a:rPr lang="en-US" altLang="zh-TW" dirty="0" smtClean="0"/>
              <a:t> 2,4, 7 10,</a:t>
            </a:r>
          </a:p>
          <a:p>
            <a:endParaRPr lang="en-US" altLang="zh-TW" dirty="0"/>
          </a:p>
          <a:p>
            <a:r>
              <a:rPr lang="en-US" altLang="zh-TW" dirty="0"/>
              <a:t>3.	Lung SCC and Adenocarcinoma </a:t>
            </a:r>
            <a:r>
              <a:rPr lang="zh-TW" altLang="en-US" dirty="0"/>
              <a:t>的化療</a:t>
            </a:r>
            <a:r>
              <a:rPr lang="en-US" altLang="zh-TW" dirty="0"/>
              <a:t>?</a:t>
            </a:r>
          </a:p>
          <a:p>
            <a:r>
              <a:rPr lang="en-US" altLang="zh-TW" dirty="0" smtClean="0"/>
              <a:t>A: CP, PP, PE: </a:t>
            </a:r>
            <a:r>
              <a:rPr lang="en-US" altLang="zh-TW" dirty="0" err="1" smtClean="0"/>
              <a:t>carboplat</a:t>
            </a:r>
            <a:r>
              <a:rPr lang="en-US" altLang="zh-TW" dirty="0" smtClean="0"/>
              <a:t>, cisplatin </a:t>
            </a:r>
            <a:r>
              <a:rPr lang="en-US" altLang="zh-TW" dirty="0" err="1" smtClean="0"/>
              <a:t>premetrexed</a:t>
            </a:r>
            <a:r>
              <a:rPr lang="en-US" altLang="zh-TW" dirty="0" smtClean="0"/>
              <a:t>, cisplatin and </a:t>
            </a:r>
            <a:r>
              <a:rPr lang="en-US" altLang="zh-TW" dirty="0" err="1" smtClean="0"/>
              <a:t>etoposide</a:t>
            </a:r>
            <a:r>
              <a:rPr lang="en-US" altLang="zh-TW" dirty="0" smtClean="0"/>
              <a:t>, (</a:t>
            </a:r>
            <a:r>
              <a:rPr lang="en-US" altLang="zh-TW" dirty="0" err="1" smtClean="0"/>
              <a:t>premetrexed</a:t>
            </a:r>
            <a:r>
              <a:rPr lang="en-US" altLang="zh-TW" dirty="0" smtClean="0"/>
              <a:t> for non-SCC)</a:t>
            </a:r>
          </a:p>
          <a:p>
            <a:r>
              <a:rPr lang="en-US" altLang="zh-TW" dirty="0" smtClean="0"/>
              <a:t>A: </a:t>
            </a:r>
            <a:r>
              <a:rPr lang="en-US" altLang="zh-TW" dirty="0" err="1" smtClean="0"/>
              <a:t>Jama</a:t>
            </a:r>
            <a:r>
              <a:rPr lang="en-US" altLang="zh-TW" dirty="0" smtClean="0"/>
              <a:t> 2017 CP vs PE + RT, no difference , PE higher grade 3-4 </a:t>
            </a:r>
            <a:r>
              <a:rPr lang="en-US" altLang="zh-TW" dirty="0" err="1" smtClean="0"/>
              <a:t>heme</a:t>
            </a:r>
            <a:r>
              <a:rPr lang="en-US" altLang="zh-TW" dirty="0" smtClean="0"/>
              <a:t> </a:t>
            </a:r>
            <a:r>
              <a:rPr lang="en-US" altLang="zh-TW" dirty="0" err="1" smtClean="0"/>
              <a:t>tox</a:t>
            </a:r>
            <a:endParaRPr lang="en-US" altLang="zh-TW" dirty="0" smtClean="0"/>
          </a:p>
          <a:p>
            <a:r>
              <a:rPr lang="en-US" altLang="zh-TW" dirty="0" smtClean="0"/>
              <a:t>Proclaim trial PP vs PE: PP less grade 3-4 </a:t>
            </a:r>
            <a:r>
              <a:rPr lang="en-US" altLang="zh-TW" dirty="0" err="1" smtClean="0"/>
              <a:t>tox</a:t>
            </a:r>
            <a:r>
              <a:rPr lang="en-US" altLang="zh-TW" dirty="0" smtClean="0"/>
              <a:t> neutropenia</a:t>
            </a:r>
          </a:p>
          <a:p>
            <a:endParaRPr lang="en-US" altLang="zh-TW" dirty="0"/>
          </a:p>
          <a:p>
            <a:endParaRPr lang="en-US" altLang="zh-TW" dirty="0" smtClean="0"/>
          </a:p>
          <a:p>
            <a:endParaRPr lang="en-US" altLang="zh-TW" dirty="0" smtClean="0"/>
          </a:p>
          <a:p>
            <a:endParaRPr lang="en-US" altLang="zh-TW" dirty="0"/>
          </a:p>
          <a:p>
            <a:endParaRPr lang="en-US" altLang="zh-TW" dirty="0" smtClean="0"/>
          </a:p>
          <a:p>
            <a:endParaRPr lang="en-US" altLang="zh-TW" dirty="0" smtClean="0"/>
          </a:p>
          <a:p>
            <a:endParaRPr lang="en-US" altLang="zh-TW" dirty="0"/>
          </a:p>
          <a:p>
            <a:endParaRPr lang="en-US" altLang="zh-TW" dirty="0" smtClean="0"/>
          </a:p>
          <a:p>
            <a:endParaRPr lang="en-US" altLang="zh-TW" dirty="0"/>
          </a:p>
          <a:p>
            <a:r>
              <a:rPr lang="en-US" altLang="zh-TW" dirty="0"/>
              <a:t>4.	SCLC limited stage vs extensive stage </a:t>
            </a:r>
            <a:r>
              <a:rPr lang="en-US" altLang="zh-TW" dirty="0" smtClean="0"/>
              <a:t>?</a:t>
            </a:r>
          </a:p>
          <a:p>
            <a:r>
              <a:rPr lang="en-US" altLang="zh-TW" dirty="0" smtClean="0"/>
              <a:t>A:  old </a:t>
            </a:r>
            <a:r>
              <a:rPr lang="en-US" altLang="zh-TW" dirty="0" err="1" smtClean="0"/>
              <a:t>question,refer</a:t>
            </a:r>
            <a:r>
              <a:rPr lang="en-US" altLang="zh-TW" dirty="0" smtClean="0"/>
              <a:t> to previous slides </a:t>
            </a:r>
            <a:endParaRPr lang="en-US" altLang="zh-TW" dirty="0"/>
          </a:p>
          <a:p>
            <a:r>
              <a:rPr lang="en-US" altLang="zh-TW" dirty="0" smtClean="0"/>
              <a:t>5</a:t>
            </a:r>
            <a:r>
              <a:rPr lang="en-US" altLang="zh-TW" dirty="0"/>
              <a:t>.	SCLC PCI indication? </a:t>
            </a:r>
            <a:endParaRPr lang="en-US" altLang="zh-TW" dirty="0" smtClean="0"/>
          </a:p>
          <a:p>
            <a:r>
              <a:rPr lang="en-US" altLang="zh-TW" dirty="0" smtClean="0"/>
              <a:t>A: </a:t>
            </a:r>
            <a:r>
              <a:rPr lang="en-US" altLang="zh-TW" dirty="0"/>
              <a:t>Patient s/p C/T with CR or PR should receive PCI (25Gy/10Fx)</a:t>
            </a:r>
          </a:p>
          <a:p>
            <a:r>
              <a:rPr lang="en-US" altLang="zh-TW" dirty="0"/>
              <a:t>6.	SCLC C/T regimen? </a:t>
            </a:r>
          </a:p>
          <a:p>
            <a:r>
              <a:rPr lang="en-US" altLang="zh-TW" dirty="0" smtClean="0"/>
              <a:t>Q: Cisplatin </a:t>
            </a:r>
            <a:r>
              <a:rPr lang="en-US" altLang="zh-TW" dirty="0"/>
              <a:t>+ </a:t>
            </a:r>
            <a:r>
              <a:rPr lang="en-US" altLang="zh-TW" dirty="0" err="1"/>
              <a:t>Etoposide</a:t>
            </a:r>
            <a:endParaRPr lang="en-US" altLang="zh-TW" dirty="0"/>
          </a:p>
          <a:p>
            <a:endParaRPr lang="en-US" altLang="zh-TW" dirty="0"/>
          </a:p>
          <a:p>
            <a:endParaRPr lang="en-US" altLang="zh-TW" dirty="0"/>
          </a:p>
          <a:p>
            <a:endParaRPr lang="en-US" altLang="zh-TW" dirty="0"/>
          </a:p>
          <a:p>
            <a:endParaRPr lang="zh-TW" altLang="en-US" dirty="0"/>
          </a:p>
        </p:txBody>
      </p:sp>
      <p:pic>
        <p:nvPicPr>
          <p:cNvPr id="4" name="圖片 3"/>
          <p:cNvPicPr>
            <a:picLocks noChangeAspect="1"/>
          </p:cNvPicPr>
          <p:nvPr/>
        </p:nvPicPr>
        <p:blipFill>
          <a:blip r:embed="rId2"/>
          <a:stretch>
            <a:fillRect/>
          </a:stretch>
        </p:blipFill>
        <p:spPr>
          <a:xfrm>
            <a:off x="5663952" y="3645025"/>
            <a:ext cx="4305960" cy="1310711"/>
          </a:xfrm>
          <a:prstGeom prst="rect">
            <a:avLst/>
          </a:prstGeom>
        </p:spPr>
      </p:pic>
    </p:spTree>
    <p:extLst>
      <p:ext uri="{BB962C8B-B14F-4D97-AF65-F5344CB8AC3E}">
        <p14:creationId xmlns:p14="http://schemas.microsoft.com/office/powerpoint/2010/main" val="35198994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solidFill>
                  <a:srgbClr val="FF0000"/>
                </a:solidFill>
              </a:rPr>
              <a:t>問</a:t>
            </a:r>
            <a:r>
              <a:rPr lang="en-US" altLang="zh-TW" dirty="0">
                <a:solidFill>
                  <a:srgbClr val="FF0000"/>
                </a:solidFill>
              </a:rPr>
              <a:t>tumor</a:t>
            </a:r>
            <a:r>
              <a:rPr lang="zh-TW" altLang="en-US" dirty="0">
                <a:solidFill>
                  <a:srgbClr val="FF0000"/>
                </a:solidFill>
              </a:rPr>
              <a:t>會因為呼吸移動多少</a:t>
            </a:r>
            <a:r>
              <a:rPr lang="en-US" altLang="zh-TW" dirty="0">
                <a:solidFill>
                  <a:srgbClr val="FF0000"/>
                </a:solidFill>
              </a:rPr>
              <a:t>?</a:t>
            </a:r>
            <a:r>
              <a:rPr lang="zh-TW" altLang="en-US" dirty="0"/>
              <a:t>在哪個位置移動比較多還是都一樣</a:t>
            </a:r>
            <a:r>
              <a:rPr lang="en-US" altLang="zh-TW" dirty="0"/>
              <a:t>?</a:t>
            </a:r>
            <a:r>
              <a:rPr lang="zh-TW" altLang="en-US" dirty="0"/>
              <a:t>除了</a:t>
            </a:r>
            <a:r>
              <a:rPr lang="en-US" altLang="zh-TW" dirty="0"/>
              <a:t>respiratory gating</a:t>
            </a:r>
            <a:r>
              <a:rPr lang="zh-TW" altLang="en-US" dirty="0"/>
              <a:t>還有什方法解位移</a:t>
            </a:r>
            <a:r>
              <a:rPr lang="en-US" altLang="zh-TW" dirty="0"/>
              <a:t>? ABC</a:t>
            </a:r>
            <a:r>
              <a:rPr lang="zh-TW" altLang="en-US" dirty="0"/>
              <a:t>的全名是什麼</a:t>
            </a:r>
            <a:r>
              <a:rPr lang="en-US" altLang="zh-TW" dirty="0"/>
              <a:t>?</a:t>
            </a:r>
            <a:r>
              <a:rPr lang="zh-TW" altLang="en-US" dirty="0"/>
              <a:t>知不知道</a:t>
            </a:r>
            <a:r>
              <a:rPr lang="en-US" altLang="zh-TW" dirty="0"/>
              <a:t>ABC</a:t>
            </a:r>
            <a:r>
              <a:rPr lang="zh-TW" altLang="en-US" dirty="0"/>
              <a:t>怎麼做</a:t>
            </a:r>
          </a:p>
          <a:p>
            <a:r>
              <a:rPr lang="en-US" altLang="zh-TW" dirty="0" smtClean="0"/>
              <a:t>Q: respiration gating: phase gating or amplitude gating </a:t>
            </a:r>
          </a:p>
          <a:p>
            <a:r>
              <a:rPr lang="en-US" altLang="zh-TW" dirty="0" smtClean="0"/>
              <a:t>ABC: active breathing control</a:t>
            </a:r>
            <a:endParaRPr lang="zh-TW" altLang="en-US" dirty="0"/>
          </a:p>
        </p:txBody>
      </p:sp>
    </p:spTree>
    <p:extLst>
      <p:ext uri="{BB962C8B-B14F-4D97-AF65-F5344CB8AC3E}">
        <p14:creationId xmlns:p14="http://schemas.microsoft.com/office/powerpoint/2010/main" val="29537563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2016</a:t>
            </a:r>
            <a:endParaRPr lang="zh-TW" altLang="en-US" dirty="0"/>
          </a:p>
        </p:txBody>
      </p:sp>
      <p:sp>
        <p:nvSpPr>
          <p:cNvPr id="3" name="內容版面配置區 2"/>
          <p:cNvSpPr>
            <a:spLocks noGrp="1"/>
          </p:cNvSpPr>
          <p:nvPr>
            <p:ph idx="1"/>
          </p:nvPr>
        </p:nvSpPr>
        <p:spPr>
          <a:xfrm>
            <a:off x="1981200" y="1196753"/>
            <a:ext cx="9182100" cy="5292947"/>
          </a:xfrm>
        </p:spPr>
        <p:txBody>
          <a:bodyPr>
            <a:normAutofit fontScale="62500" lnSpcReduction="20000"/>
          </a:bodyPr>
          <a:lstStyle/>
          <a:p>
            <a:r>
              <a:rPr lang="en-US" altLang="zh-TW" dirty="0" smtClean="0"/>
              <a:t>Q: PORT </a:t>
            </a:r>
            <a:r>
              <a:rPr lang="en-US" altLang="zh-TW" dirty="0"/>
              <a:t>indication: </a:t>
            </a:r>
            <a:endParaRPr lang="en-US" altLang="zh-TW" dirty="0" smtClean="0"/>
          </a:p>
          <a:p>
            <a:r>
              <a:rPr lang="en-US" altLang="zh-TW" dirty="0" smtClean="0"/>
              <a:t>A: Margin, </a:t>
            </a:r>
            <a:r>
              <a:rPr lang="en-US" altLang="zh-TW" dirty="0"/>
              <a:t>N2. </a:t>
            </a:r>
            <a:endParaRPr lang="en-US" altLang="zh-TW" dirty="0" smtClean="0"/>
          </a:p>
          <a:p>
            <a:endParaRPr lang="en-US" altLang="zh-TW" dirty="0"/>
          </a:p>
          <a:p>
            <a:r>
              <a:rPr lang="en-US" altLang="zh-TW" dirty="0" smtClean="0"/>
              <a:t>Q: </a:t>
            </a:r>
            <a:r>
              <a:rPr lang="zh-TW" altLang="en-US" dirty="0" smtClean="0"/>
              <a:t>肺癌</a:t>
            </a:r>
            <a:r>
              <a:rPr lang="en-US" altLang="zh-TW" dirty="0"/>
              <a:t>Definitive CCRT</a:t>
            </a:r>
            <a:r>
              <a:rPr lang="zh-TW" altLang="en-US" dirty="0"/>
              <a:t>的時候</a:t>
            </a:r>
            <a:r>
              <a:rPr lang="en-US" altLang="zh-TW" dirty="0"/>
              <a:t>RT</a:t>
            </a:r>
            <a:r>
              <a:rPr lang="zh-TW" altLang="en-US" dirty="0"/>
              <a:t>劑量多少？能不能做到</a:t>
            </a:r>
            <a:r>
              <a:rPr lang="en-US" altLang="zh-TW" dirty="0"/>
              <a:t>74Gy? evidence? chemo agent</a:t>
            </a:r>
            <a:r>
              <a:rPr lang="zh-TW" altLang="en-US" dirty="0"/>
              <a:t>是甚麼？不同</a:t>
            </a:r>
            <a:r>
              <a:rPr lang="en-US" altLang="zh-TW" dirty="0"/>
              <a:t>histology chemotherapy</a:t>
            </a:r>
            <a:r>
              <a:rPr lang="zh-TW" altLang="en-US" dirty="0"/>
              <a:t>不同</a:t>
            </a:r>
            <a:r>
              <a:rPr lang="en-US" altLang="zh-TW" dirty="0"/>
              <a:t>?</a:t>
            </a:r>
            <a:r>
              <a:rPr lang="zh-TW" altLang="en-US" dirty="0"/>
              <a:t>有問會用</a:t>
            </a:r>
            <a:r>
              <a:rPr lang="en-US" altLang="zh-TW" dirty="0" err="1"/>
              <a:t>Alimta</a:t>
            </a:r>
            <a:r>
              <a:rPr lang="zh-TW" altLang="en-US" dirty="0"/>
              <a:t>的病人是哪一種</a:t>
            </a:r>
            <a:r>
              <a:rPr lang="en-US" altLang="zh-TW" dirty="0"/>
              <a:t>histology</a:t>
            </a:r>
            <a:r>
              <a:rPr lang="en-US" altLang="zh-TW" dirty="0" smtClean="0"/>
              <a:t>?</a:t>
            </a:r>
          </a:p>
          <a:p>
            <a:r>
              <a:rPr lang="en-US" altLang="zh-TW" dirty="0" smtClean="0"/>
              <a:t>A: RTOG 0617 60gy CRT , 70Gy detrimental to OS</a:t>
            </a:r>
          </a:p>
          <a:p>
            <a:r>
              <a:rPr lang="en-US" altLang="zh-TW" dirty="0" smtClean="0"/>
              <a:t>A: </a:t>
            </a:r>
            <a:r>
              <a:rPr lang="en-US" altLang="zh-TW" dirty="0" err="1" smtClean="0"/>
              <a:t>Almita</a:t>
            </a:r>
            <a:r>
              <a:rPr lang="en-US" altLang="zh-TW" dirty="0" smtClean="0"/>
              <a:t> is </a:t>
            </a:r>
            <a:r>
              <a:rPr lang="en-US" altLang="zh-TW" dirty="0" err="1" smtClean="0"/>
              <a:t>Premetrexed</a:t>
            </a:r>
            <a:r>
              <a:rPr lang="en-US" altLang="zh-TW" dirty="0" smtClean="0"/>
              <a:t> for Non-Squamous, </a:t>
            </a:r>
            <a:endParaRPr lang="en-US" altLang="zh-TW" dirty="0"/>
          </a:p>
          <a:p>
            <a:endParaRPr lang="en-US" altLang="zh-TW" dirty="0" smtClean="0"/>
          </a:p>
          <a:p>
            <a:r>
              <a:rPr lang="en-US" altLang="zh-TW" dirty="0" smtClean="0"/>
              <a:t>Q: SCLC</a:t>
            </a:r>
            <a:r>
              <a:rPr lang="zh-TW" altLang="en-US" dirty="0"/>
              <a:t>何謂</a:t>
            </a:r>
            <a:r>
              <a:rPr lang="en-US" altLang="zh-TW" dirty="0"/>
              <a:t>Limited stage. SCLC</a:t>
            </a:r>
            <a:r>
              <a:rPr lang="zh-TW" altLang="en-US" dirty="0"/>
              <a:t>做</a:t>
            </a:r>
            <a:r>
              <a:rPr lang="en-US" altLang="zh-TW" dirty="0"/>
              <a:t>PCI</a:t>
            </a:r>
            <a:r>
              <a:rPr lang="zh-TW" altLang="en-US" dirty="0"/>
              <a:t>的時機</a:t>
            </a:r>
            <a:r>
              <a:rPr lang="en-US" altLang="zh-TW" dirty="0"/>
              <a:t>? </a:t>
            </a:r>
            <a:r>
              <a:rPr lang="zh-TW" altLang="en-US" dirty="0"/>
              <a:t>要</a:t>
            </a:r>
            <a:r>
              <a:rPr lang="en-US" altLang="zh-TW" dirty="0"/>
              <a:t>CR</a:t>
            </a:r>
            <a:r>
              <a:rPr lang="zh-TW" altLang="en-US" dirty="0"/>
              <a:t>做還是</a:t>
            </a:r>
            <a:r>
              <a:rPr lang="en-US" altLang="zh-TW" dirty="0"/>
              <a:t>PR</a:t>
            </a:r>
            <a:r>
              <a:rPr lang="zh-TW" altLang="en-US" dirty="0"/>
              <a:t>也可以做？劑量為何</a:t>
            </a:r>
            <a:r>
              <a:rPr lang="zh-TW" altLang="en-US" dirty="0" smtClean="0"/>
              <a:t>？</a:t>
            </a:r>
            <a:endParaRPr lang="en-US" altLang="zh-TW" dirty="0" smtClean="0"/>
          </a:p>
          <a:p>
            <a:r>
              <a:rPr lang="en-US" altLang="zh-TW" dirty="0" smtClean="0"/>
              <a:t>A:  old question NCCN CR and PR just PCI !</a:t>
            </a:r>
          </a:p>
          <a:p>
            <a:r>
              <a:rPr lang="en-US" altLang="zh-TW" dirty="0"/>
              <a:t>Limited Disease:</a:t>
            </a:r>
          </a:p>
          <a:p>
            <a:r>
              <a:rPr lang="en-US" altLang="zh-TW" dirty="0"/>
              <a:t>a) Disease confined to one </a:t>
            </a:r>
            <a:r>
              <a:rPr lang="en-US" altLang="zh-TW" dirty="0" err="1"/>
              <a:t>hemithorax</a:t>
            </a:r>
            <a:r>
              <a:rPr lang="en-US" altLang="zh-TW" dirty="0"/>
              <a:t>, although local extensions may be present;</a:t>
            </a:r>
          </a:p>
          <a:p>
            <a:r>
              <a:rPr lang="en-US" altLang="zh-TW" dirty="0"/>
              <a:t>b) No </a:t>
            </a:r>
            <a:r>
              <a:rPr lang="en-US" altLang="zh-TW" dirty="0" err="1"/>
              <a:t>extrathoracic</a:t>
            </a:r>
            <a:r>
              <a:rPr lang="en-US" altLang="zh-TW" dirty="0"/>
              <a:t> metastases except for possible ipsilateral supraclavicular nodes if they can be included in the same portal as the primary tumor;</a:t>
            </a:r>
          </a:p>
          <a:p>
            <a:r>
              <a:rPr lang="en-US" altLang="zh-TW" dirty="0"/>
              <a:t>(c) Primary tumor and regional nodes which can be </a:t>
            </a:r>
            <a:r>
              <a:rPr lang="en-US" altLang="zh-TW" dirty="0" err="1"/>
              <a:t>adequatly</a:t>
            </a:r>
            <a:r>
              <a:rPr lang="en-US" altLang="zh-TW" dirty="0"/>
              <a:t> treated and totally encompassed in every portal</a:t>
            </a:r>
            <a:r>
              <a:rPr lang="en-US" altLang="zh-TW" dirty="0" smtClean="0"/>
              <a:t>.</a:t>
            </a:r>
            <a:endParaRPr lang="zh-TW" altLang="en-US" dirty="0" smtClean="0"/>
          </a:p>
          <a:p>
            <a:endParaRPr lang="en-US" altLang="zh-TW" dirty="0" smtClean="0"/>
          </a:p>
        </p:txBody>
      </p:sp>
    </p:spTree>
    <p:extLst>
      <p:ext uri="{BB962C8B-B14F-4D97-AF65-F5344CB8AC3E}">
        <p14:creationId xmlns:p14="http://schemas.microsoft.com/office/powerpoint/2010/main" val="39392060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lvl="0"/>
            <a:r>
              <a:rPr lang="en-US" altLang="zh-TW" sz="1800" dirty="0">
                <a:solidFill>
                  <a:prstClr val="black"/>
                </a:solidFill>
              </a:rPr>
              <a:t>Q: </a:t>
            </a:r>
            <a:r>
              <a:rPr lang="zh-TW" altLang="en-US" sz="1800" dirty="0">
                <a:solidFill>
                  <a:prstClr val="black"/>
                </a:solidFill>
              </a:rPr>
              <a:t>再討論</a:t>
            </a:r>
            <a:r>
              <a:rPr lang="en-US" altLang="zh-TW" sz="1800" dirty="0">
                <a:solidFill>
                  <a:prstClr val="black"/>
                </a:solidFill>
              </a:rPr>
              <a:t>SCLC</a:t>
            </a:r>
            <a:r>
              <a:rPr lang="zh-TW" altLang="en-US" sz="1800" dirty="0">
                <a:solidFill>
                  <a:prstClr val="black"/>
                </a:solidFill>
              </a:rPr>
              <a:t>新的觀念：</a:t>
            </a:r>
            <a:r>
              <a:rPr lang="en-US" altLang="zh-TW" sz="1800" dirty="0">
                <a:solidFill>
                  <a:prstClr val="black"/>
                </a:solidFill>
              </a:rPr>
              <a:t>thoracic RT after PR/CR s/p EP-CCRT in extensive staged patient</a:t>
            </a:r>
            <a:r>
              <a:rPr lang="zh-TW" altLang="en-US" sz="1800" dirty="0">
                <a:solidFill>
                  <a:prstClr val="black"/>
                </a:solidFill>
              </a:rPr>
              <a:t>。申論</a:t>
            </a:r>
            <a:r>
              <a:rPr lang="en-US" altLang="zh-TW" sz="1800" dirty="0">
                <a:solidFill>
                  <a:prstClr val="black"/>
                </a:solidFill>
              </a:rPr>
              <a:t>Netherland trial</a:t>
            </a:r>
            <a:r>
              <a:rPr lang="zh-TW" altLang="en-US" sz="1800" dirty="0">
                <a:solidFill>
                  <a:prstClr val="black"/>
                </a:solidFill>
              </a:rPr>
              <a:t>。</a:t>
            </a:r>
            <a:r>
              <a:rPr lang="en-US" altLang="zh-TW" sz="1800" dirty="0">
                <a:solidFill>
                  <a:prstClr val="black"/>
                </a:solidFill>
              </a:rPr>
              <a:t> </a:t>
            </a:r>
            <a:r>
              <a:rPr lang="zh-TW" altLang="en-US" sz="1800" dirty="0">
                <a:solidFill>
                  <a:prstClr val="black"/>
                </a:solidFill>
              </a:rPr>
              <a:t>問</a:t>
            </a:r>
            <a:r>
              <a:rPr lang="en-US" altLang="zh-TW" sz="1800" dirty="0">
                <a:solidFill>
                  <a:prstClr val="black"/>
                </a:solidFill>
              </a:rPr>
              <a:t>paper</a:t>
            </a:r>
            <a:r>
              <a:rPr lang="zh-TW" altLang="en-US" sz="1800" dirty="0">
                <a:solidFill>
                  <a:prstClr val="black"/>
                </a:solidFill>
              </a:rPr>
              <a:t>裡的</a:t>
            </a:r>
            <a:r>
              <a:rPr lang="en-US" altLang="zh-TW" sz="1800" dirty="0">
                <a:solidFill>
                  <a:prstClr val="black"/>
                </a:solidFill>
              </a:rPr>
              <a:t>Hazard </a:t>
            </a:r>
            <a:r>
              <a:rPr lang="zh-TW" altLang="en-US" sz="1800" dirty="0">
                <a:solidFill>
                  <a:prstClr val="black"/>
                </a:solidFill>
              </a:rPr>
              <a:t>定義為何？</a:t>
            </a:r>
            <a:endParaRPr lang="en-US" altLang="zh-TW" sz="1800" dirty="0">
              <a:solidFill>
                <a:prstClr val="black"/>
              </a:solidFill>
            </a:endParaRPr>
          </a:p>
          <a:p>
            <a:pPr lvl="0"/>
            <a:r>
              <a:rPr lang="en-US" altLang="zh-TW" sz="1800" dirty="0">
                <a:solidFill>
                  <a:prstClr val="black"/>
                </a:solidFill>
              </a:rPr>
              <a:t>A: extensive stage CRT + PCI+ Thoracic RT</a:t>
            </a:r>
          </a:p>
          <a:p>
            <a:pPr lvl="0"/>
            <a:r>
              <a:rPr lang="en-US" altLang="zh-TW" sz="1800" dirty="0">
                <a:solidFill>
                  <a:prstClr val="black"/>
                </a:solidFill>
              </a:rPr>
              <a:t>A: CREST 2015 : Overall survival at 1 year was not significantly different between groups: 33% (95% CI 27-39) for the thoracic radiotherapy group versus 28% (95% CI 22-34) for the control group (hazard ratio [HR] 0.84, 95% CI 0.69-1.01; p=0.066). </a:t>
            </a:r>
          </a:p>
          <a:p>
            <a:pPr lvl="0"/>
            <a:r>
              <a:rPr lang="en-US" altLang="zh-TW" sz="1800" dirty="0">
                <a:solidFill>
                  <a:prstClr val="black"/>
                </a:solidFill>
              </a:rPr>
              <a:t>However, in a secondary analysis, 2-year overall survival was 13% (95% CI 9-19) versus 3% (95% CI 2-8; p=0.004). Progression was less likely in the thoracic radiotherapy group than in the control group (HR 0.73, 95% CI 0.61-0.87; p=0.001). At 6 months, progression-free survival was 24% (95% CI 19-30) versus 7% (95% CI 4-11; p=0.001). We recorded no severe toxic effects. The most common grade 3 or higher toxic effects were fatigue (11 vs 9) and </a:t>
            </a:r>
            <a:r>
              <a:rPr lang="en-US" altLang="zh-TW" sz="1800" dirty="0" err="1">
                <a:solidFill>
                  <a:prstClr val="black"/>
                </a:solidFill>
              </a:rPr>
              <a:t>dyspnoea</a:t>
            </a:r>
            <a:r>
              <a:rPr lang="en-US" altLang="zh-TW" sz="1800" dirty="0">
                <a:solidFill>
                  <a:prstClr val="black"/>
                </a:solidFill>
              </a:rPr>
              <a:t> (three vs four).</a:t>
            </a:r>
          </a:p>
          <a:p>
            <a:pPr lvl="0"/>
            <a:r>
              <a:rPr lang="en-US" altLang="zh-TW" sz="1800" b="1" cap="all" dirty="0">
                <a:solidFill>
                  <a:prstClr val="black"/>
                </a:solidFill>
              </a:rPr>
              <a:t>INTERPRETATION:</a:t>
            </a:r>
          </a:p>
          <a:p>
            <a:pPr lvl="0"/>
            <a:r>
              <a:rPr lang="en-US" altLang="zh-TW" sz="1800" dirty="0">
                <a:solidFill>
                  <a:prstClr val="black"/>
                </a:solidFill>
              </a:rPr>
              <a:t>Thoracic radiotherapy in addition to prophylactic cranial irradiation should </a:t>
            </a:r>
            <a:r>
              <a:rPr lang="en-US" altLang="zh-TW" sz="1800" dirty="0">
                <a:solidFill>
                  <a:srgbClr val="FF0000"/>
                </a:solidFill>
              </a:rPr>
              <a:t>be considered for all patients with ES-SCLC who respond to chemotherapy.</a:t>
            </a:r>
          </a:p>
          <a:p>
            <a:endParaRPr lang="zh-TW" altLang="en-US" sz="1800" dirty="0"/>
          </a:p>
        </p:txBody>
      </p:sp>
    </p:spTree>
    <p:extLst>
      <p:ext uri="{BB962C8B-B14F-4D97-AF65-F5344CB8AC3E}">
        <p14:creationId xmlns:p14="http://schemas.microsoft.com/office/powerpoint/2010/main" val="7883819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81200" y="274638"/>
            <a:ext cx="3754760" cy="778098"/>
          </a:xfrm>
        </p:spPr>
        <p:txBody>
          <a:bodyPr>
            <a:normAutofit/>
          </a:bodyPr>
          <a:lstStyle/>
          <a:p>
            <a:r>
              <a:rPr lang="en-US" altLang="zh-TW" dirty="0" smtClean="0"/>
              <a:t>2017 </a:t>
            </a:r>
            <a:r>
              <a:rPr lang="zh-TW" altLang="en-US" dirty="0" smtClean="0">
                <a:solidFill>
                  <a:srgbClr val="000000"/>
                </a:solidFill>
                <a:latin typeface="新細明體" panose="02020500000000000000" pitchFamily="18" charset="-120"/>
              </a:rPr>
              <a:t>林裕為 </a:t>
            </a:r>
            <a:endParaRPr lang="zh-TW" altLang="en-US" dirty="0"/>
          </a:p>
        </p:txBody>
      </p:sp>
      <p:sp>
        <p:nvSpPr>
          <p:cNvPr id="3" name="內容版面配置區 2"/>
          <p:cNvSpPr>
            <a:spLocks noGrp="1"/>
          </p:cNvSpPr>
          <p:nvPr>
            <p:ph idx="1"/>
          </p:nvPr>
        </p:nvSpPr>
        <p:spPr>
          <a:xfrm>
            <a:off x="1947829" y="908720"/>
            <a:ext cx="8229600" cy="5949280"/>
          </a:xfrm>
        </p:spPr>
        <p:txBody>
          <a:bodyPr>
            <a:normAutofit fontScale="47500" lnSpcReduction="20000"/>
          </a:bodyPr>
          <a:lstStyle/>
          <a:p>
            <a:r>
              <a:rPr lang="en-US" altLang="zh-TW" sz="4000" dirty="0">
                <a:solidFill>
                  <a:srgbClr val="000000"/>
                </a:solidFill>
                <a:latin typeface="Calibri" panose="020F0502020204030204" pitchFamily="34" charset="0"/>
              </a:rPr>
              <a:t>Early stage SBRT </a:t>
            </a:r>
            <a:endParaRPr lang="en-US" altLang="zh-TW" sz="4000" dirty="0">
              <a:solidFill>
                <a:srgbClr val="000000"/>
              </a:solidFill>
              <a:latin typeface="新細明體" panose="02020500000000000000" pitchFamily="18" charset="-120"/>
            </a:endParaRPr>
          </a:p>
          <a:p>
            <a:r>
              <a:rPr lang="en-US" altLang="zh-TW" dirty="0">
                <a:solidFill>
                  <a:srgbClr val="000000"/>
                </a:solidFill>
                <a:latin typeface="Wingdings" panose="05000000000000000000" pitchFamily="2" charset="2"/>
              </a:rPr>
              <a:t> </a:t>
            </a:r>
            <a:r>
              <a:rPr lang="en-US" altLang="zh-TW" dirty="0">
                <a:solidFill>
                  <a:srgbClr val="000000"/>
                </a:solidFill>
                <a:latin typeface="Calibri" panose="020F0502020204030204" pitchFamily="34" charset="0"/>
              </a:rPr>
              <a:t>SBRT indication, </a:t>
            </a:r>
            <a:r>
              <a:rPr lang="zh-TW" altLang="en-US" dirty="0">
                <a:solidFill>
                  <a:srgbClr val="000000"/>
                </a:solidFill>
                <a:latin typeface="新細明體" panose="02020500000000000000" pitchFamily="18" charset="-120"/>
              </a:rPr>
              <a:t>怎麼做治療規劃</a:t>
            </a:r>
            <a:r>
              <a:rPr lang="en-US" altLang="zh-TW" dirty="0">
                <a:solidFill>
                  <a:srgbClr val="000000"/>
                </a:solidFill>
                <a:latin typeface="Calibri" panose="020F0502020204030204" pitchFamily="34" charset="0"/>
              </a:rPr>
              <a:t>? </a:t>
            </a:r>
            <a:r>
              <a:rPr lang="zh-TW" altLang="en-US" dirty="0">
                <a:solidFill>
                  <a:srgbClr val="000000"/>
                </a:solidFill>
                <a:latin typeface="新細明體" panose="02020500000000000000" pitchFamily="18" charset="-120"/>
              </a:rPr>
              <a:t>常用劑量 </a:t>
            </a:r>
            <a:r>
              <a:rPr lang="en-US" altLang="zh-TW" dirty="0">
                <a:solidFill>
                  <a:srgbClr val="000000"/>
                </a:solidFill>
                <a:latin typeface="Calibri" panose="020F0502020204030204" pitchFamily="34" charset="0"/>
              </a:rPr>
              <a:t>&amp; fraction </a:t>
            </a:r>
            <a:endParaRPr lang="en-US" altLang="zh-TW" dirty="0" smtClean="0">
              <a:solidFill>
                <a:srgbClr val="000000"/>
              </a:solidFill>
              <a:latin typeface="Calibri" panose="020F0502020204030204" pitchFamily="34" charset="0"/>
            </a:endParaRPr>
          </a:p>
          <a:p>
            <a:r>
              <a:rPr lang="en-US" altLang="zh-TW" dirty="0" smtClean="0">
                <a:solidFill>
                  <a:srgbClr val="000000"/>
                </a:solidFill>
                <a:latin typeface="Calibri" panose="020F0502020204030204" pitchFamily="34" charset="0"/>
              </a:rPr>
              <a:t>A: tumor location and size, inoperable early stage, central or peripheral, refer to NCCN</a:t>
            </a:r>
            <a:endParaRPr lang="en-US" altLang="zh-TW" dirty="0">
              <a:solidFill>
                <a:srgbClr val="000000"/>
              </a:solidFill>
              <a:latin typeface="Calibri" panose="020F0502020204030204" pitchFamily="34" charset="0"/>
            </a:endParaRPr>
          </a:p>
          <a:p>
            <a:r>
              <a:rPr lang="en-US" altLang="zh-TW" dirty="0">
                <a:solidFill>
                  <a:srgbClr val="000000"/>
                </a:solidFill>
                <a:latin typeface="Wingdings" panose="05000000000000000000" pitchFamily="2" charset="2"/>
              </a:rPr>
              <a:t> </a:t>
            </a:r>
            <a:r>
              <a:rPr lang="en-US" altLang="zh-TW" dirty="0">
                <a:solidFill>
                  <a:srgbClr val="000000"/>
                </a:solidFill>
                <a:latin typeface="Calibri" panose="020F0502020204030204" pitchFamily="34" charset="0"/>
              </a:rPr>
              <a:t>RTOG 0236 </a:t>
            </a:r>
            <a:r>
              <a:rPr lang="zh-TW" altLang="en-US" dirty="0">
                <a:solidFill>
                  <a:srgbClr val="000000"/>
                </a:solidFill>
                <a:latin typeface="新細明體" panose="02020500000000000000" pitchFamily="18" charset="-120"/>
              </a:rPr>
              <a:t>劑量</a:t>
            </a:r>
            <a:r>
              <a:rPr lang="en-US" altLang="zh-TW" dirty="0">
                <a:solidFill>
                  <a:srgbClr val="000000"/>
                </a:solidFill>
                <a:latin typeface="Calibri" panose="020F0502020204030204" pitchFamily="34" charset="0"/>
              </a:rPr>
              <a:t>? </a:t>
            </a:r>
            <a:r>
              <a:rPr lang="zh-TW" altLang="en-US" dirty="0">
                <a:solidFill>
                  <a:srgbClr val="000000"/>
                </a:solidFill>
                <a:latin typeface="新細明體" panose="02020500000000000000" pitchFamily="18" charset="-120"/>
              </a:rPr>
              <a:t>研究</a:t>
            </a:r>
            <a:r>
              <a:rPr lang="zh-TW" altLang="en-US" dirty="0" smtClean="0">
                <a:solidFill>
                  <a:srgbClr val="000000"/>
                </a:solidFill>
                <a:latin typeface="新細明體" panose="02020500000000000000" pitchFamily="18" charset="-120"/>
              </a:rPr>
              <a:t>收錄</a:t>
            </a:r>
            <a:r>
              <a:rPr lang="zh-TW" altLang="en-US" dirty="0">
                <a:solidFill>
                  <a:srgbClr val="000000"/>
                </a:solidFill>
                <a:latin typeface="新細明體" panose="02020500000000000000" pitchFamily="18" charset="-120"/>
              </a:rPr>
              <a:t>對象是</a:t>
            </a:r>
            <a:r>
              <a:rPr lang="en-US" altLang="zh-TW" dirty="0">
                <a:solidFill>
                  <a:srgbClr val="000000"/>
                </a:solidFill>
                <a:latin typeface="Calibri" panose="020F0502020204030204" pitchFamily="34" charset="0"/>
              </a:rPr>
              <a:t>operable or inoperable? (inoperable) 3</a:t>
            </a:r>
            <a:r>
              <a:rPr lang="zh-TW" altLang="en-US" dirty="0">
                <a:solidFill>
                  <a:srgbClr val="000000"/>
                </a:solidFill>
                <a:latin typeface="新細明體" panose="02020500000000000000" pitchFamily="18" charset="-120"/>
              </a:rPr>
              <a:t>年和</a:t>
            </a:r>
            <a:r>
              <a:rPr lang="en-US" altLang="zh-TW" dirty="0">
                <a:solidFill>
                  <a:srgbClr val="000000"/>
                </a:solidFill>
                <a:latin typeface="Calibri" panose="020F0502020204030204" pitchFamily="34" charset="0"/>
              </a:rPr>
              <a:t>5</a:t>
            </a:r>
            <a:r>
              <a:rPr lang="zh-TW" altLang="en-US" dirty="0">
                <a:solidFill>
                  <a:srgbClr val="000000"/>
                </a:solidFill>
                <a:latin typeface="新細明體" panose="02020500000000000000" pitchFamily="18" charset="-120"/>
              </a:rPr>
              <a:t>年的</a:t>
            </a:r>
            <a:r>
              <a:rPr lang="en-US" altLang="zh-TW" dirty="0">
                <a:solidFill>
                  <a:srgbClr val="000000"/>
                </a:solidFill>
                <a:latin typeface="Calibri" panose="020F0502020204030204" pitchFamily="34" charset="0"/>
              </a:rPr>
              <a:t>LC, lobar control, DFS, OS </a:t>
            </a:r>
            <a:r>
              <a:rPr lang="zh-TW" altLang="en-US" dirty="0">
                <a:solidFill>
                  <a:srgbClr val="000000"/>
                </a:solidFill>
                <a:latin typeface="新細明體" panose="02020500000000000000" pitchFamily="18" charset="-120"/>
              </a:rPr>
              <a:t>講個大概</a:t>
            </a:r>
            <a:r>
              <a:rPr lang="en-US" altLang="zh-TW" dirty="0">
                <a:solidFill>
                  <a:srgbClr val="000000"/>
                </a:solidFill>
                <a:latin typeface="Calibri" panose="020F0502020204030204" pitchFamily="34" charset="0"/>
              </a:rPr>
              <a:t>? </a:t>
            </a:r>
            <a:r>
              <a:rPr lang="zh-TW" altLang="en-US" dirty="0">
                <a:solidFill>
                  <a:srgbClr val="000000"/>
                </a:solidFill>
                <a:latin typeface="新細明體" panose="02020500000000000000" pitchFamily="18" charset="-120"/>
              </a:rPr>
              <a:t>問</a:t>
            </a:r>
            <a:r>
              <a:rPr lang="en-US" altLang="zh-TW" dirty="0">
                <a:solidFill>
                  <a:srgbClr val="000000"/>
                </a:solidFill>
                <a:latin typeface="Calibri" panose="020F0502020204030204" pitchFamily="34" charset="0"/>
              </a:rPr>
              <a:t>Failure pattern</a:t>
            </a:r>
            <a:r>
              <a:rPr lang="zh-TW" altLang="en-US" dirty="0">
                <a:solidFill>
                  <a:srgbClr val="000000"/>
                </a:solidFill>
                <a:latin typeface="新細明體" panose="02020500000000000000" pitchFamily="18" charset="-120"/>
              </a:rPr>
              <a:t>是 </a:t>
            </a:r>
            <a:r>
              <a:rPr lang="en-US" altLang="zh-TW" dirty="0">
                <a:solidFill>
                  <a:srgbClr val="000000"/>
                </a:solidFill>
                <a:latin typeface="Calibri" panose="020F0502020204030204" pitchFamily="34" charset="0"/>
              </a:rPr>
              <a:t>local? </a:t>
            </a:r>
            <a:r>
              <a:rPr lang="en-US" altLang="zh-TW" dirty="0" err="1">
                <a:solidFill>
                  <a:srgbClr val="000000"/>
                </a:solidFill>
                <a:latin typeface="Calibri" panose="020F0502020204030204" pitchFamily="34" charset="0"/>
              </a:rPr>
              <a:t>intralobar</a:t>
            </a:r>
            <a:r>
              <a:rPr lang="en-US" altLang="zh-TW" dirty="0">
                <a:solidFill>
                  <a:srgbClr val="000000"/>
                </a:solidFill>
                <a:latin typeface="Calibri" panose="020F0502020204030204" pitchFamily="34" charset="0"/>
              </a:rPr>
              <a:t>? regional? distant? (update</a:t>
            </a:r>
            <a:r>
              <a:rPr lang="zh-TW" altLang="en-US" dirty="0">
                <a:solidFill>
                  <a:srgbClr val="000000"/>
                </a:solidFill>
                <a:latin typeface="新細明體" panose="02020500000000000000" pitchFamily="18" charset="-120"/>
              </a:rPr>
              <a:t>的結果是</a:t>
            </a:r>
            <a:r>
              <a:rPr lang="en-US" altLang="zh-TW" dirty="0">
                <a:solidFill>
                  <a:srgbClr val="000000"/>
                </a:solidFill>
                <a:latin typeface="Calibri" panose="020F0502020204030204" pitchFamily="34" charset="0"/>
              </a:rPr>
              <a:t>regional recur</a:t>
            </a:r>
            <a:r>
              <a:rPr lang="zh-TW" altLang="en-US" dirty="0">
                <a:solidFill>
                  <a:srgbClr val="000000"/>
                </a:solidFill>
                <a:latin typeface="新細明體" panose="02020500000000000000" pitchFamily="18" charset="-120"/>
              </a:rPr>
              <a:t>較高</a:t>
            </a:r>
            <a:r>
              <a:rPr lang="en-US" altLang="zh-TW" dirty="0">
                <a:solidFill>
                  <a:srgbClr val="000000"/>
                </a:solidFill>
                <a:latin typeface="Calibri" panose="020F0502020204030204" pitchFamily="34" charset="0"/>
              </a:rPr>
              <a:t>) </a:t>
            </a:r>
            <a:endParaRPr lang="en-US" altLang="zh-TW" dirty="0" smtClean="0">
              <a:solidFill>
                <a:srgbClr val="000000"/>
              </a:solidFill>
              <a:latin typeface="Calibri" panose="020F0502020204030204" pitchFamily="34" charset="0"/>
            </a:endParaRPr>
          </a:p>
          <a:p>
            <a:r>
              <a:rPr lang="en-US" altLang="zh-TW" dirty="0" smtClean="0">
                <a:solidFill>
                  <a:srgbClr val="000000"/>
                </a:solidFill>
                <a:latin typeface="Calibri" panose="020F0502020204030204" pitchFamily="34" charset="0"/>
              </a:rPr>
              <a:t>PTV: inferior superior 1cm, axial 0.5cm, inoperable tumor &gt;2cm from bronchial tree, T1-T3N0 &lt;5cm</a:t>
            </a:r>
          </a:p>
          <a:p>
            <a:r>
              <a:rPr lang="en-US" altLang="zh-TW" dirty="0" smtClean="0">
                <a:solidFill>
                  <a:srgbClr val="000000"/>
                </a:solidFill>
                <a:latin typeface="Calibri" panose="020F0502020204030204" pitchFamily="34" charset="0"/>
              </a:rPr>
              <a:t>3 LC: 97.6% 3 OS: 55.8% 3 DFS: 48.5%/ 5 LC: 94% DFS :26% 5 OS: 40%, 3 year primary tumor and involved lobe control 90.6% </a:t>
            </a:r>
          </a:p>
          <a:p>
            <a:endParaRPr lang="en-US" altLang="zh-TW" dirty="0" smtClean="0"/>
          </a:p>
          <a:p>
            <a:r>
              <a:rPr lang="en-US" altLang="zh-TW" dirty="0" smtClean="0"/>
              <a:t>Q: </a:t>
            </a:r>
            <a:r>
              <a:rPr lang="zh-TW" altLang="zh-TW" dirty="0" smtClean="0"/>
              <a:t>關於</a:t>
            </a:r>
            <a:r>
              <a:rPr lang="uz-Cyrl-UZ" altLang="zh-TW" dirty="0"/>
              <a:t>Operable Patient </a:t>
            </a:r>
            <a:r>
              <a:rPr lang="zh-TW" altLang="zh-TW" dirty="0"/>
              <a:t>的</a:t>
            </a:r>
            <a:r>
              <a:rPr lang="uz-Cyrl-UZ" altLang="zh-TW" dirty="0"/>
              <a:t>SBRT</a:t>
            </a:r>
            <a:r>
              <a:rPr lang="zh-TW" altLang="zh-TW" dirty="0"/>
              <a:t>的</a:t>
            </a:r>
            <a:r>
              <a:rPr lang="uz-Cyrl-UZ" altLang="zh-TW" dirty="0"/>
              <a:t>trial ROSEL, MDACC STARS trial </a:t>
            </a:r>
            <a:r>
              <a:rPr lang="zh-TW" altLang="zh-TW" dirty="0"/>
              <a:t>請問內容</a:t>
            </a:r>
          </a:p>
          <a:p>
            <a:r>
              <a:rPr lang="en-US" altLang="zh-TW" dirty="0"/>
              <a:t>ROSEL </a:t>
            </a:r>
            <a:r>
              <a:rPr lang="en-US" altLang="zh-TW" dirty="0" err="1" smtClean="0"/>
              <a:t>lineac</a:t>
            </a:r>
            <a:r>
              <a:rPr lang="en-US" altLang="zh-TW" dirty="0" smtClean="0"/>
              <a:t> based </a:t>
            </a:r>
            <a:r>
              <a:rPr lang="en-US" altLang="zh-TW" dirty="0" smtClean="0"/>
              <a:t>peripheral</a:t>
            </a:r>
            <a:r>
              <a:rPr lang="en-US" altLang="zh-TW" dirty="0" smtClean="0"/>
              <a:t> </a:t>
            </a:r>
            <a:r>
              <a:rPr lang="en-US" altLang="zh-TW" dirty="0"/>
              <a:t>tumor operable, 20x3, 12x5, </a:t>
            </a:r>
            <a:r>
              <a:rPr lang="en-US" altLang="zh-TW" dirty="0" smtClean="0"/>
              <a:t>                 7.5x8 </a:t>
            </a:r>
            <a:r>
              <a:rPr lang="en-US" altLang="zh-TW" dirty="0"/>
              <a:t>closed early</a:t>
            </a:r>
          </a:p>
          <a:p>
            <a:r>
              <a:rPr lang="en-US" altLang="zh-TW" dirty="0"/>
              <a:t>STARS </a:t>
            </a:r>
            <a:r>
              <a:rPr lang="en-US" altLang="zh-TW" dirty="0" err="1"/>
              <a:t>cyberknife</a:t>
            </a:r>
            <a:r>
              <a:rPr lang="en-US" altLang="zh-TW" dirty="0"/>
              <a:t> vs OP. operable 12.5X4 for central, </a:t>
            </a:r>
            <a:r>
              <a:rPr lang="en-US" altLang="zh-TW" dirty="0" smtClean="0"/>
              <a:t>18 </a:t>
            </a:r>
            <a:r>
              <a:rPr lang="en-US" altLang="zh-TW" dirty="0"/>
              <a:t>x 3 for </a:t>
            </a:r>
            <a:r>
              <a:rPr lang="en-US" altLang="zh-TW" dirty="0" err="1"/>
              <a:t>perperhal</a:t>
            </a:r>
            <a:r>
              <a:rPr lang="en-US" altLang="zh-TW" dirty="0"/>
              <a:t>. Increase OS in </a:t>
            </a:r>
            <a:r>
              <a:rPr lang="en-US" altLang="zh-TW" dirty="0" smtClean="0">
                <a:solidFill>
                  <a:srgbClr val="FF0000"/>
                </a:solidFill>
              </a:rPr>
              <a:t>SBRT (</a:t>
            </a:r>
            <a:r>
              <a:rPr lang="zh-TW" altLang="en-US" dirty="0" smtClean="0">
                <a:solidFill>
                  <a:srgbClr val="FF0000"/>
                </a:solidFill>
              </a:rPr>
              <a:t>但</a:t>
            </a:r>
            <a:r>
              <a:rPr lang="en-US" altLang="zh-TW" dirty="0" smtClean="0">
                <a:solidFill>
                  <a:srgbClr val="FF0000"/>
                </a:solidFill>
              </a:rPr>
              <a:t>PFS,</a:t>
            </a:r>
            <a:r>
              <a:rPr lang="zh-TW" altLang="en-US" dirty="0" smtClean="0">
                <a:solidFill>
                  <a:srgbClr val="FF0000"/>
                </a:solidFill>
              </a:rPr>
              <a:t> </a:t>
            </a:r>
            <a:r>
              <a:rPr lang="en-US" altLang="zh-TW" dirty="0" smtClean="0">
                <a:solidFill>
                  <a:srgbClr val="FF0000"/>
                </a:solidFill>
              </a:rPr>
              <a:t>LC,</a:t>
            </a:r>
            <a:r>
              <a:rPr lang="zh-TW" altLang="en-US" dirty="0" smtClean="0">
                <a:solidFill>
                  <a:srgbClr val="FF0000"/>
                </a:solidFill>
              </a:rPr>
              <a:t> </a:t>
            </a:r>
            <a:r>
              <a:rPr lang="en-US" altLang="zh-TW" dirty="0" smtClean="0">
                <a:solidFill>
                  <a:srgbClr val="FF0000"/>
                </a:solidFill>
              </a:rPr>
              <a:t>distant</a:t>
            </a:r>
            <a:r>
              <a:rPr lang="zh-TW" altLang="en-US" dirty="0" smtClean="0">
                <a:solidFill>
                  <a:srgbClr val="FF0000"/>
                </a:solidFill>
              </a:rPr>
              <a:t> 沒差</a:t>
            </a:r>
            <a:r>
              <a:rPr lang="en-US" altLang="zh-TW" dirty="0" smtClean="0">
                <a:solidFill>
                  <a:srgbClr val="FF0000"/>
                </a:solidFill>
              </a:rPr>
              <a:t>)</a:t>
            </a:r>
            <a:endParaRPr lang="zh-TW" altLang="en-US" dirty="0">
              <a:solidFill>
                <a:srgbClr val="FF0000"/>
              </a:solidFill>
            </a:endParaRPr>
          </a:p>
          <a:p>
            <a:endParaRPr lang="en-US" altLang="zh-TW" dirty="0">
              <a:solidFill>
                <a:srgbClr val="000000"/>
              </a:solidFill>
              <a:latin typeface="Calibri" panose="020F0502020204030204" pitchFamily="34" charset="0"/>
            </a:endParaRPr>
          </a:p>
          <a:p>
            <a:r>
              <a:rPr lang="en-US" altLang="zh-TW" dirty="0">
                <a:solidFill>
                  <a:srgbClr val="000000"/>
                </a:solidFill>
                <a:latin typeface="Wingdings" panose="05000000000000000000" pitchFamily="2" charset="2"/>
              </a:rPr>
              <a:t> </a:t>
            </a:r>
            <a:r>
              <a:rPr lang="en-US" altLang="zh-TW" dirty="0">
                <a:solidFill>
                  <a:srgbClr val="000000"/>
                </a:solidFill>
                <a:latin typeface="Calibri" panose="020F0502020204030204" pitchFamily="34" charset="0"/>
              </a:rPr>
              <a:t>PET </a:t>
            </a:r>
            <a:r>
              <a:rPr lang="zh-TW" altLang="en-US" dirty="0">
                <a:solidFill>
                  <a:srgbClr val="000000"/>
                </a:solidFill>
                <a:latin typeface="新細明體" panose="02020500000000000000" pitchFamily="18" charset="-120"/>
              </a:rPr>
              <a:t>評估</a:t>
            </a:r>
            <a:r>
              <a:rPr lang="en-US" altLang="zh-TW" dirty="0">
                <a:solidFill>
                  <a:srgbClr val="000000"/>
                </a:solidFill>
                <a:latin typeface="Calibri" panose="020F0502020204030204" pitchFamily="34" charset="0"/>
              </a:rPr>
              <a:t>mediastinum node negative </a:t>
            </a:r>
            <a:r>
              <a:rPr lang="zh-TW" altLang="en-US" dirty="0">
                <a:solidFill>
                  <a:srgbClr val="000000"/>
                </a:solidFill>
                <a:latin typeface="新細明體" panose="02020500000000000000" pitchFamily="18" charset="-120"/>
              </a:rPr>
              <a:t>的準確度</a:t>
            </a:r>
            <a:r>
              <a:rPr lang="en-US" altLang="zh-TW" dirty="0">
                <a:solidFill>
                  <a:srgbClr val="000000"/>
                </a:solidFill>
                <a:latin typeface="Calibri" panose="020F0502020204030204" pitchFamily="34" charset="0"/>
              </a:rPr>
              <a:t>? </a:t>
            </a:r>
            <a:endParaRPr lang="en-US" altLang="zh-TW" dirty="0" smtClean="0">
              <a:solidFill>
                <a:srgbClr val="000000"/>
              </a:solidFill>
              <a:latin typeface="Calibri" panose="020F0502020204030204" pitchFamily="34" charset="0"/>
            </a:endParaRPr>
          </a:p>
          <a:p>
            <a:r>
              <a:rPr lang="en-US" altLang="zh-TW" dirty="0" smtClean="0">
                <a:solidFill>
                  <a:srgbClr val="000000"/>
                </a:solidFill>
                <a:latin typeface="Calibri" panose="020F0502020204030204" pitchFamily="34" charset="0"/>
              </a:rPr>
              <a:t>Sensitivity </a:t>
            </a:r>
            <a:r>
              <a:rPr lang="en-US" altLang="zh-TW" dirty="0" smtClean="0">
                <a:solidFill>
                  <a:srgbClr val="000000"/>
                </a:solidFill>
                <a:latin typeface="Calibri" panose="020F0502020204030204" pitchFamily="34" charset="0"/>
              </a:rPr>
              <a:t>80%, </a:t>
            </a:r>
            <a:r>
              <a:rPr lang="en-US" altLang="zh-TW" dirty="0" smtClean="0">
                <a:solidFill>
                  <a:srgbClr val="000000"/>
                </a:solidFill>
                <a:latin typeface="Calibri" panose="020F0502020204030204" pitchFamily="34" charset="0"/>
              </a:rPr>
              <a:t>specificity 90</a:t>
            </a:r>
            <a:r>
              <a:rPr lang="en-US" altLang="zh-TW" dirty="0" smtClean="0">
                <a:solidFill>
                  <a:srgbClr val="000000"/>
                </a:solidFill>
                <a:latin typeface="Calibri" panose="020F0502020204030204" pitchFamily="34" charset="0"/>
              </a:rPr>
              <a:t>% ( &gt;</a:t>
            </a:r>
            <a:r>
              <a:rPr lang="zh-TW" altLang="en-US" dirty="0" smtClean="0">
                <a:solidFill>
                  <a:srgbClr val="000000"/>
                </a:solidFill>
                <a:latin typeface="Calibri" panose="020F0502020204030204" pitchFamily="34" charset="0"/>
              </a:rPr>
              <a:t> </a:t>
            </a:r>
            <a:r>
              <a:rPr lang="en-US" altLang="zh-TW" dirty="0" smtClean="0">
                <a:solidFill>
                  <a:srgbClr val="000000"/>
                </a:solidFill>
                <a:latin typeface="Calibri" panose="020F0502020204030204" pitchFamily="34" charset="0"/>
              </a:rPr>
              <a:t>1 cm sensitivity 90%, &lt; 1cm sensitivity 75%)</a:t>
            </a:r>
            <a:endParaRPr lang="en-US" altLang="zh-TW" dirty="0" smtClean="0">
              <a:solidFill>
                <a:srgbClr val="000000"/>
              </a:solidFill>
              <a:latin typeface="Calibri" panose="020F0502020204030204" pitchFamily="34" charset="0"/>
            </a:endParaRPr>
          </a:p>
          <a:p>
            <a:endParaRPr lang="en-US" altLang="zh-TW" dirty="0">
              <a:solidFill>
                <a:srgbClr val="000000"/>
              </a:solidFill>
              <a:latin typeface="Calibri" panose="020F0502020204030204" pitchFamily="34" charset="0"/>
            </a:endParaRPr>
          </a:p>
          <a:p>
            <a:r>
              <a:rPr lang="zh-TW" altLang="en-US" dirty="0">
                <a:solidFill>
                  <a:srgbClr val="000000"/>
                </a:solidFill>
                <a:latin typeface="Wingdings" panose="05000000000000000000" pitchFamily="2" charset="2"/>
              </a:rPr>
              <a:t> </a:t>
            </a:r>
            <a:r>
              <a:rPr lang="zh-TW" altLang="en-US" dirty="0">
                <a:solidFill>
                  <a:srgbClr val="000000"/>
                </a:solidFill>
                <a:latin typeface="新細明體" panose="02020500000000000000" pitchFamily="18" charset="-120"/>
              </a:rPr>
              <a:t>有沒有收</a:t>
            </a:r>
            <a:r>
              <a:rPr lang="en-US" altLang="zh-TW" dirty="0">
                <a:solidFill>
                  <a:srgbClr val="000000"/>
                </a:solidFill>
                <a:latin typeface="Calibri" panose="020F0502020204030204" pitchFamily="34" charset="0"/>
              </a:rPr>
              <a:t>operable patients </a:t>
            </a:r>
            <a:r>
              <a:rPr lang="zh-TW" altLang="en-US" dirty="0">
                <a:solidFill>
                  <a:srgbClr val="000000"/>
                </a:solidFill>
                <a:latin typeface="新細明體" panose="02020500000000000000" pitchFamily="18" charset="-120"/>
              </a:rPr>
              <a:t>比較</a:t>
            </a:r>
            <a:r>
              <a:rPr lang="en-US" altLang="zh-TW" dirty="0">
                <a:solidFill>
                  <a:srgbClr val="000000"/>
                </a:solidFill>
                <a:latin typeface="Calibri" panose="020F0502020204030204" pitchFamily="34" charset="0"/>
              </a:rPr>
              <a:t>SBRT vs. OP</a:t>
            </a:r>
            <a:r>
              <a:rPr lang="zh-TW" altLang="en-US" dirty="0">
                <a:solidFill>
                  <a:srgbClr val="000000"/>
                </a:solidFill>
                <a:latin typeface="新細明體" panose="02020500000000000000" pitchFamily="18" charset="-120"/>
              </a:rPr>
              <a:t>的</a:t>
            </a:r>
            <a:r>
              <a:rPr lang="en-US" altLang="zh-TW" dirty="0">
                <a:solidFill>
                  <a:srgbClr val="000000"/>
                </a:solidFill>
                <a:latin typeface="Calibri" panose="020F0502020204030204" pitchFamily="34" charset="0"/>
              </a:rPr>
              <a:t>trial? →</a:t>
            </a:r>
            <a:r>
              <a:rPr lang="zh-TW" altLang="en-US" dirty="0">
                <a:solidFill>
                  <a:srgbClr val="000000"/>
                </a:solidFill>
                <a:latin typeface="新細明體" panose="02020500000000000000" pitchFamily="18" charset="-120"/>
              </a:rPr>
              <a:t>答</a:t>
            </a:r>
            <a:r>
              <a:rPr lang="en-US" altLang="zh-TW" dirty="0">
                <a:solidFill>
                  <a:srgbClr val="000000"/>
                </a:solidFill>
                <a:latin typeface="Calibri" panose="020F0502020204030204" pitchFamily="34" charset="0"/>
              </a:rPr>
              <a:t>ROSEL &amp; MDACC STARS trial</a:t>
            </a:r>
            <a:r>
              <a:rPr lang="zh-TW" altLang="en-US" dirty="0">
                <a:solidFill>
                  <a:srgbClr val="000000"/>
                </a:solidFill>
                <a:latin typeface="新細明體" panose="02020500000000000000" pitchFamily="18" charset="-120"/>
              </a:rPr>
              <a:t>收太慢提早關</a:t>
            </a:r>
            <a:r>
              <a:rPr lang="en-US" altLang="zh-TW" dirty="0">
                <a:solidFill>
                  <a:srgbClr val="000000"/>
                </a:solidFill>
                <a:latin typeface="Calibri" panose="020F0502020204030204" pitchFamily="34" charset="0"/>
              </a:rPr>
              <a:t>, </a:t>
            </a:r>
            <a:r>
              <a:rPr lang="zh-TW" altLang="en-US" dirty="0">
                <a:solidFill>
                  <a:srgbClr val="000000"/>
                </a:solidFill>
                <a:latin typeface="新細明體" panose="02020500000000000000" pitchFamily="18" charset="-120"/>
              </a:rPr>
              <a:t>問</a:t>
            </a:r>
            <a:r>
              <a:rPr lang="en-US" altLang="zh-TW" dirty="0">
                <a:solidFill>
                  <a:srgbClr val="000000"/>
                </a:solidFill>
                <a:latin typeface="Calibri" panose="020F0502020204030204" pitchFamily="34" charset="0"/>
              </a:rPr>
              <a:t>pooled analysis</a:t>
            </a:r>
            <a:r>
              <a:rPr lang="zh-TW" altLang="en-US" dirty="0">
                <a:solidFill>
                  <a:srgbClr val="000000"/>
                </a:solidFill>
                <a:latin typeface="新細明體" panose="02020500000000000000" pitchFamily="18" charset="-120"/>
              </a:rPr>
              <a:t>的結論是</a:t>
            </a:r>
            <a:r>
              <a:rPr lang="en-US" altLang="zh-TW" dirty="0">
                <a:solidFill>
                  <a:srgbClr val="000000"/>
                </a:solidFill>
                <a:latin typeface="Calibri" panose="020F0502020204030204" pitchFamily="34" charset="0"/>
              </a:rPr>
              <a:t>? </a:t>
            </a:r>
          </a:p>
          <a:p>
            <a:r>
              <a:rPr lang="zh-TW" altLang="en-US" dirty="0">
                <a:solidFill>
                  <a:srgbClr val="000000"/>
                </a:solidFill>
                <a:latin typeface="Wingdings" panose="05000000000000000000" pitchFamily="2" charset="2"/>
              </a:rPr>
              <a:t> </a:t>
            </a:r>
            <a:r>
              <a:rPr lang="zh-TW" altLang="en-US" dirty="0">
                <a:solidFill>
                  <a:srgbClr val="000000"/>
                </a:solidFill>
                <a:latin typeface="新細明體" panose="02020500000000000000" pitchFamily="18" charset="-120"/>
              </a:rPr>
              <a:t>比較</a:t>
            </a:r>
            <a:r>
              <a:rPr lang="en-US" altLang="zh-TW" dirty="0">
                <a:solidFill>
                  <a:srgbClr val="000000"/>
                </a:solidFill>
                <a:latin typeface="Calibri" panose="020F0502020204030204" pitchFamily="34" charset="0"/>
              </a:rPr>
              <a:t>OP</a:t>
            </a:r>
            <a:r>
              <a:rPr lang="zh-TW" altLang="en-US" dirty="0">
                <a:solidFill>
                  <a:srgbClr val="000000"/>
                </a:solidFill>
                <a:latin typeface="新細明體" panose="02020500000000000000" pitchFamily="18" charset="-120"/>
              </a:rPr>
              <a:t>和</a:t>
            </a:r>
            <a:r>
              <a:rPr lang="en-US" altLang="zh-TW" dirty="0">
                <a:solidFill>
                  <a:srgbClr val="000000"/>
                </a:solidFill>
                <a:latin typeface="Calibri" panose="020F0502020204030204" pitchFamily="34" charset="0"/>
              </a:rPr>
              <a:t>RT</a:t>
            </a:r>
            <a:r>
              <a:rPr lang="zh-TW" altLang="en-US" dirty="0">
                <a:solidFill>
                  <a:srgbClr val="000000"/>
                </a:solidFill>
                <a:latin typeface="新細明體" panose="02020500000000000000" pitchFamily="18" charset="-120"/>
              </a:rPr>
              <a:t>在</a:t>
            </a:r>
            <a:r>
              <a:rPr lang="en-US" altLang="zh-TW" dirty="0">
                <a:solidFill>
                  <a:srgbClr val="000000"/>
                </a:solidFill>
                <a:latin typeface="Calibri" panose="020F0502020204030204" pitchFamily="34" charset="0"/>
              </a:rPr>
              <a:t>early stage NSCLC</a:t>
            </a:r>
            <a:r>
              <a:rPr lang="zh-TW" altLang="en-US" dirty="0">
                <a:solidFill>
                  <a:srgbClr val="000000"/>
                </a:solidFill>
                <a:latin typeface="新細明體" panose="02020500000000000000" pitchFamily="18" charset="-120"/>
              </a:rPr>
              <a:t>有什麼好處</a:t>
            </a:r>
            <a:r>
              <a:rPr lang="en-US" altLang="zh-TW" dirty="0">
                <a:solidFill>
                  <a:srgbClr val="000000"/>
                </a:solidFill>
                <a:latin typeface="Calibri" panose="020F0502020204030204" pitchFamily="34" charset="0"/>
              </a:rPr>
              <a:t>? </a:t>
            </a:r>
            <a:endParaRPr lang="en-US" altLang="zh-TW" dirty="0" smtClean="0">
              <a:solidFill>
                <a:srgbClr val="000000"/>
              </a:solidFill>
              <a:latin typeface="Calibri" panose="020F0502020204030204" pitchFamily="34" charset="0"/>
            </a:endParaRPr>
          </a:p>
          <a:p>
            <a:r>
              <a:rPr lang="en-US" altLang="zh-TW" dirty="0" smtClean="0">
                <a:solidFill>
                  <a:srgbClr val="000000"/>
                </a:solidFill>
                <a:latin typeface="Calibri" panose="020F0502020204030204" pitchFamily="34" charset="0"/>
              </a:rPr>
              <a:t>OP: accurate staging and histology allow for further decision plan???</a:t>
            </a:r>
          </a:p>
          <a:p>
            <a:endParaRPr lang="en-US" altLang="zh-TW" dirty="0">
              <a:solidFill>
                <a:srgbClr val="000000"/>
              </a:solidFill>
              <a:latin typeface="Calibri" panose="020F0502020204030204" pitchFamily="34" charset="0"/>
            </a:endParaRPr>
          </a:p>
          <a:p>
            <a:r>
              <a:rPr lang="en-US" altLang="zh-TW" dirty="0">
                <a:solidFill>
                  <a:srgbClr val="000000"/>
                </a:solidFill>
                <a:latin typeface="Wingdings" panose="05000000000000000000" pitchFamily="2" charset="2"/>
              </a:rPr>
              <a:t> </a:t>
            </a:r>
            <a:r>
              <a:rPr lang="en-US" altLang="zh-TW" dirty="0">
                <a:solidFill>
                  <a:srgbClr val="000000"/>
                </a:solidFill>
                <a:latin typeface="Calibri" panose="020F0502020204030204" pitchFamily="34" charset="0"/>
              </a:rPr>
              <a:t>Central tumor</a:t>
            </a:r>
            <a:r>
              <a:rPr lang="zh-TW" altLang="en-US" dirty="0">
                <a:solidFill>
                  <a:srgbClr val="000000"/>
                </a:solidFill>
                <a:latin typeface="新細明體" panose="02020500000000000000" pitchFamily="18" charset="-120"/>
              </a:rPr>
              <a:t>定義？可以做</a:t>
            </a:r>
            <a:r>
              <a:rPr lang="en-US" altLang="zh-TW" dirty="0">
                <a:solidFill>
                  <a:srgbClr val="000000"/>
                </a:solidFill>
                <a:latin typeface="Calibri" panose="020F0502020204030204" pitchFamily="34" charset="0"/>
              </a:rPr>
              <a:t>SBRT</a:t>
            </a:r>
            <a:r>
              <a:rPr lang="zh-TW" altLang="en-US" dirty="0">
                <a:solidFill>
                  <a:srgbClr val="000000"/>
                </a:solidFill>
                <a:latin typeface="新細明體" panose="02020500000000000000" pitchFamily="18" charset="-120"/>
              </a:rPr>
              <a:t>嗎</a:t>
            </a:r>
            <a:r>
              <a:rPr lang="en-US" altLang="zh-TW" dirty="0">
                <a:solidFill>
                  <a:srgbClr val="000000"/>
                </a:solidFill>
                <a:latin typeface="Calibri" panose="020F0502020204030204" pitchFamily="34" charset="0"/>
              </a:rPr>
              <a:t>? </a:t>
            </a:r>
            <a:r>
              <a:rPr lang="zh-TW" altLang="en-US" dirty="0">
                <a:solidFill>
                  <a:srgbClr val="000000"/>
                </a:solidFill>
                <a:latin typeface="新細明體" panose="02020500000000000000" pitchFamily="18" charset="-120"/>
              </a:rPr>
              <a:t>劑量要怎麼給</a:t>
            </a:r>
            <a:r>
              <a:rPr lang="en-US" altLang="zh-TW" dirty="0">
                <a:solidFill>
                  <a:srgbClr val="000000"/>
                </a:solidFill>
                <a:latin typeface="Calibri" panose="020F0502020204030204" pitchFamily="34" charset="0"/>
              </a:rPr>
              <a:t>? →</a:t>
            </a:r>
            <a:r>
              <a:rPr lang="zh-TW" altLang="en-US" dirty="0">
                <a:solidFill>
                  <a:srgbClr val="000000"/>
                </a:solidFill>
                <a:latin typeface="新細明體" panose="02020500000000000000" pitchFamily="18" charset="-120"/>
              </a:rPr>
              <a:t>答</a:t>
            </a:r>
            <a:r>
              <a:rPr lang="en-US" altLang="zh-TW" dirty="0">
                <a:solidFill>
                  <a:srgbClr val="000000"/>
                </a:solidFill>
                <a:latin typeface="Calibri" panose="020F0502020204030204" pitchFamily="34" charset="0"/>
              </a:rPr>
              <a:t>RTOG 0813 , </a:t>
            </a:r>
            <a:r>
              <a:rPr lang="zh-TW" altLang="en-US" dirty="0">
                <a:solidFill>
                  <a:srgbClr val="000000"/>
                </a:solidFill>
                <a:latin typeface="新細明體" panose="02020500000000000000" pitchFamily="18" charset="-120"/>
              </a:rPr>
              <a:t>哪些</a:t>
            </a:r>
            <a:r>
              <a:rPr lang="en-US" altLang="zh-TW" dirty="0">
                <a:solidFill>
                  <a:srgbClr val="000000"/>
                </a:solidFill>
                <a:latin typeface="Calibri" panose="020F0502020204030204" pitchFamily="34" charset="0"/>
              </a:rPr>
              <a:t>organ</a:t>
            </a:r>
            <a:r>
              <a:rPr lang="zh-TW" altLang="en-US" dirty="0">
                <a:solidFill>
                  <a:srgbClr val="000000"/>
                </a:solidFill>
                <a:latin typeface="新細明體" panose="02020500000000000000" pitchFamily="18" charset="-120"/>
              </a:rPr>
              <a:t>要注意</a:t>
            </a:r>
            <a:r>
              <a:rPr lang="en-US" altLang="zh-TW" dirty="0">
                <a:solidFill>
                  <a:srgbClr val="000000"/>
                </a:solidFill>
                <a:latin typeface="Calibri" panose="020F0502020204030204" pitchFamily="34" charset="0"/>
              </a:rPr>
              <a:t>? Dose constraint? </a:t>
            </a:r>
            <a:r>
              <a:rPr lang="en-US" altLang="zh-TW" dirty="0" smtClean="0">
                <a:solidFill>
                  <a:srgbClr val="000000"/>
                </a:solidFill>
                <a:latin typeface="Calibri" panose="020F0502020204030204" pitchFamily="34" charset="0"/>
              </a:rPr>
              <a:t> (heart, esophagus, trachea)</a:t>
            </a:r>
            <a:endParaRPr lang="en-US" altLang="zh-TW" dirty="0">
              <a:solidFill>
                <a:srgbClr val="000000"/>
              </a:solidFill>
              <a:latin typeface="Calibri" panose="020F0502020204030204" pitchFamily="34" charset="0"/>
            </a:endParaRPr>
          </a:p>
          <a:p>
            <a:r>
              <a:rPr lang="en-US" altLang="zh-TW" dirty="0" smtClean="0">
                <a:solidFill>
                  <a:srgbClr val="000000"/>
                </a:solidFill>
                <a:latin typeface="Calibri" panose="020F0502020204030204" pitchFamily="34" charset="0"/>
              </a:rPr>
              <a:t>Inner 2/3 of lung, SBRT yes, RTOG 0813, 9-11 x 5 </a:t>
            </a:r>
            <a:r>
              <a:rPr lang="en-US" altLang="zh-TW" dirty="0" err="1" smtClean="0">
                <a:solidFill>
                  <a:srgbClr val="000000"/>
                </a:solidFill>
                <a:latin typeface="Calibri" panose="020F0502020204030204" pitchFamily="34" charset="0"/>
              </a:rPr>
              <a:t>fx</a:t>
            </a:r>
            <a:r>
              <a:rPr lang="en-US" altLang="zh-TW" dirty="0" smtClean="0">
                <a:solidFill>
                  <a:srgbClr val="000000"/>
                </a:solidFill>
                <a:latin typeface="Calibri" panose="020F0502020204030204" pitchFamily="34" charset="0"/>
              </a:rPr>
              <a:t>, </a:t>
            </a:r>
          </a:p>
          <a:p>
            <a:endParaRPr lang="zh-TW" altLang="en-US" dirty="0">
              <a:solidFill>
                <a:srgbClr val="000000"/>
              </a:solidFill>
              <a:latin typeface="Calibri" panose="020F0502020204030204" pitchFamily="34" charset="0"/>
            </a:endParaRPr>
          </a:p>
          <a:p>
            <a:endParaRPr lang="zh-TW" altLang="en-US" dirty="0">
              <a:solidFill>
                <a:srgbClr val="000000"/>
              </a:solidFill>
              <a:latin typeface="Calibri" panose="020F0502020204030204" pitchFamily="34" charset="0"/>
            </a:endParaRPr>
          </a:p>
          <a:p>
            <a:endParaRPr lang="zh-TW" altLang="en-US" dirty="0"/>
          </a:p>
        </p:txBody>
      </p:sp>
    </p:spTree>
    <p:extLst>
      <p:ext uri="{BB962C8B-B14F-4D97-AF65-F5344CB8AC3E}">
        <p14:creationId xmlns:p14="http://schemas.microsoft.com/office/powerpoint/2010/main" val="42758561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2017</a:t>
            </a:r>
            <a:endParaRPr lang="zh-TW" altLang="en-US" dirty="0"/>
          </a:p>
        </p:txBody>
      </p:sp>
      <p:sp>
        <p:nvSpPr>
          <p:cNvPr id="3" name="內容版面配置區 2"/>
          <p:cNvSpPr>
            <a:spLocks noGrp="1"/>
          </p:cNvSpPr>
          <p:nvPr>
            <p:ph idx="1"/>
          </p:nvPr>
        </p:nvSpPr>
        <p:spPr>
          <a:xfrm>
            <a:off x="1981200" y="1600200"/>
            <a:ext cx="8363272" cy="4781128"/>
          </a:xfrm>
        </p:spPr>
        <p:txBody>
          <a:bodyPr>
            <a:normAutofit fontScale="62500" lnSpcReduction="20000"/>
          </a:bodyPr>
          <a:lstStyle/>
          <a:p>
            <a:r>
              <a:rPr lang="en-US" altLang="zh-TW" sz="4000" dirty="0">
                <a:solidFill>
                  <a:srgbClr val="000000"/>
                </a:solidFill>
                <a:latin typeface="Calibri" panose="020F0502020204030204" pitchFamily="34" charset="0"/>
              </a:rPr>
              <a:t>Locally Advanced NSCLC </a:t>
            </a:r>
            <a:endParaRPr lang="en-US" altLang="zh-TW" sz="4000" dirty="0">
              <a:solidFill>
                <a:srgbClr val="000000"/>
              </a:solidFill>
              <a:latin typeface="新細明體" panose="02020500000000000000" pitchFamily="18" charset="-120"/>
            </a:endParaRPr>
          </a:p>
          <a:p>
            <a:r>
              <a:rPr lang="zh-TW" altLang="en-US" dirty="0">
                <a:solidFill>
                  <a:srgbClr val="000000"/>
                </a:solidFill>
                <a:latin typeface="Wingdings" panose="05000000000000000000" pitchFamily="2" charset="2"/>
              </a:rPr>
              <a:t> </a:t>
            </a:r>
            <a:r>
              <a:rPr lang="zh-TW" altLang="en-US" dirty="0">
                <a:solidFill>
                  <a:srgbClr val="000000"/>
                </a:solidFill>
                <a:latin typeface="新細明體" panose="02020500000000000000" pitchFamily="18" charset="-120"/>
              </a:rPr>
              <a:t>什麼情況要做</a:t>
            </a:r>
            <a:r>
              <a:rPr lang="en-US" altLang="zh-TW" dirty="0">
                <a:solidFill>
                  <a:srgbClr val="000000"/>
                </a:solidFill>
                <a:latin typeface="Calibri" panose="020F0502020204030204" pitchFamily="34" charset="0"/>
              </a:rPr>
              <a:t>Post-op RT? Post-op CCRT? </a:t>
            </a:r>
          </a:p>
          <a:p>
            <a:r>
              <a:rPr lang="en-US" altLang="zh-TW" dirty="0" smtClean="0">
                <a:solidFill>
                  <a:srgbClr val="000000"/>
                </a:solidFill>
                <a:latin typeface="Calibri" panose="020F0502020204030204" pitchFamily="34" charset="0"/>
              </a:rPr>
              <a:t>A:  if margin +, N2, ENE+, , CRT if N+, R1 R2 resection</a:t>
            </a:r>
            <a:endParaRPr lang="en-US" altLang="zh-TW" dirty="0">
              <a:solidFill>
                <a:srgbClr val="000000"/>
              </a:solidFill>
              <a:latin typeface="Calibri" panose="020F0502020204030204" pitchFamily="34" charset="0"/>
            </a:endParaRPr>
          </a:p>
          <a:p>
            <a:r>
              <a:rPr lang="zh-TW" altLang="en-US" dirty="0">
                <a:solidFill>
                  <a:srgbClr val="000000"/>
                </a:solidFill>
                <a:latin typeface="Wingdings" panose="05000000000000000000" pitchFamily="2" charset="2"/>
              </a:rPr>
              <a:t> </a:t>
            </a:r>
            <a:r>
              <a:rPr lang="zh-TW" altLang="en-US" dirty="0">
                <a:solidFill>
                  <a:srgbClr val="000000"/>
                </a:solidFill>
                <a:latin typeface="新細明體" panose="02020500000000000000" pitchFamily="18" charset="-120"/>
              </a:rPr>
              <a:t>什麼情況要做</a:t>
            </a:r>
            <a:r>
              <a:rPr lang="en-US" altLang="zh-TW" dirty="0">
                <a:solidFill>
                  <a:srgbClr val="000000"/>
                </a:solidFill>
                <a:latin typeface="Calibri" panose="020F0502020204030204" pitchFamily="34" charset="0"/>
              </a:rPr>
              <a:t>Pre-op CCRT? </a:t>
            </a:r>
            <a:endParaRPr lang="en-US" altLang="zh-TW" dirty="0" smtClean="0">
              <a:solidFill>
                <a:srgbClr val="000000"/>
              </a:solidFill>
              <a:latin typeface="Calibri" panose="020F0502020204030204" pitchFamily="34" charset="0"/>
            </a:endParaRPr>
          </a:p>
          <a:p>
            <a:r>
              <a:rPr lang="en-US" altLang="zh-TW" dirty="0" smtClean="0">
                <a:solidFill>
                  <a:srgbClr val="000000"/>
                </a:solidFill>
                <a:latin typeface="Calibri" panose="020F0502020204030204" pitchFamily="34" charset="0"/>
              </a:rPr>
              <a:t>A:  If lobectomy planned INT 0139, if superior sulcus tumor</a:t>
            </a:r>
            <a:endParaRPr lang="en-US" altLang="zh-TW" dirty="0">
              <a:solidFill>
                <a:srgbClr val="000000"/>
              </a:solidFill>
              <a:latin typeface="Calibri" panose="020F0502020204030204" pitchFamily="34" charset="0"/>
            </a:endParaRPr>
          </a:p>
          <a:p>
            <a:r>
              <a:rPr lang="en-US" altLang="zh-TW" dirty="0">
                <a:solidFill>
                  <a:srgbClr val="000000"/>
                </a:solidFill>
                <a:latin typeface="Wingdings" panose="05000000000000000000" pitchFamily="2" charset="2"/>
              </a:rPr>
              <a:t> </a:t>
            </a:r>
            <a:r>
              <a:rPr lang="en-US" altLang="zh-TW" dirty="0">
                <a:solidFill>
                  <a:srgbClr val="000000"/>
                </a:solidFill>
                <a:latin typeface="Calibri" panose="020F0502020204030204" pitchFamily="34" charset="0"/>
              </a:rPr>
              <a:t>RT alone, sequential RT </a:t>
            </a:r>
            <a:r>
              <a:rPr lang="zh-TW" altLang="en-US" dirty="0">
                <a:solidFill>
                  <a:srgbClr val="000000"/>
                </a:solidFill>
                <a:latin typeface="新細明體" panose="02020500000000000000" pitchFamily="18" charset="-120"/>
              </a:rPr>
              <a:t>和 </a:t>
            </a:r>
            <a:r>
              <a:rPr lang="en-US" altLang="zh-TW" dirty="0">
                <a:solidFill>
                  <a:srgbClr val="000000"/>
                </a:solidFill>
                <a:latin typeface="Calibri" panose="020F0502020204030204" pitchFamily="34" charset="0"/>
              </a:rPr>
              <a:t>CCRT </a:t>
            </a:r>
            <a:r>
              <a:rPr lang="zh-TW" altLang="en-US" dirty="0">
                <a:solidFill>
                  <a:srgbClr val="000000"/>
                </a:solidFill>
                <a:latin typeface="新細明體" panose="02020500000000000000" pitchFamily="18" charset="-120"/>
              </a:rPr>
              <a:t>哪個好</a:t>
            </a:r>
            <a:r>
              <a:rPr lang="en-US" altLang="zh-TW" dirty="0">
                <a:solidFill>
                  <a:srgbClr val="000000"/>
                </a:solidFill>
                <a:latin typeface="Calibri" panose="020F0502020204030204" pitchFamily="34" charset="0"/>
              </a:rPr>
              <a:t>? Evidence? </a:t>
            </a:r>
            <a:endParaRPr lang="en-US" altLang="zh-TW" dirty="0" smtClean="0">
              <a:solidFill>
                <a:srgbClr val="000000"/>
              </a:solidFill>
              <a:latin typeface="Calibri" panose="020F0502020204030204" pitchFamily="34" charset="0"/>
            </a:endParaRPr>
          </a:p>
          <a:p>
            <a:r>
              <a:rPr lang="en-US" altLang="zh-TW" dirty="0" smtClean="0">
                <a:solidFill>
                  <a:srgbClr val="000000"/>
                </a:solidFill>
                <a:latin typeface="Calibri" panose="020F0502020204030204" pitchFamily="34" charset="0"/>
              </a:rPr>
              <a:t>A: RTOG 9410: CRT better than sequential  (63 </a:t>
            </a:r>
            <a:r>
              <a:rPr lang="en-US" altLang="zh-TW" dirty="0" err="1" smtClean="0">
                <a:solidFill>
                  <a:srgbClr val="000000"/>
                </a:solidFill>
                <a:latin typeface="Calibri" panose="020F0502020204030204" pitchFamily="34" charset="0"/>
              </a:rPr>
              <a:t>Gy</a:t>
            </a:r>
            <a:r>
              <a:rPr lang="en-US" altLang="zh-TW" dirty="0" smtClean="0">
                <a:solidFill>
                  <a:srgbClr val="000000"/>
                </a:solidFill>
                <a:latin typeface="Calibri" panose="020F0502020204030204" pitchFamily="34" charset="0"/>
              </a:rPr>
              <a:t> </a:t>
            </a:r>
            <a:r>
              <a:rPr lang="en-US" altLang="zh-TW" dirty="0" err="1" smtClean="0">
                <a:solidFill>
                  <a:srgbClr val="000000"/>
                </a:solidFill>
                <a:latin typeface="Calibri" panose="020F0502020204030204" pitchFamily="34" charset="0"/>
              </a:rPr>
              <a:t>seq</a:t>
            </a:r>
            <a:r>
              <a:rPr lang="en-US" altLang="zh-TW" dirty="0">
                <a:solidFill>
                  <a:srgbClr val="000000"/>
                </a:solidFill>
                <a:latin typeface="Calibri" panose="020F0502020204030204" pitchFamily="34" charset="0"/>
              </a:rPr>
              <a:t> </a:t>
            </a:r>
            <a:r>
              <a:rPr lang="en-US" altLang="zh-TW" dirty="0" smtClean="0">
                <a:solidFill>
                  <a:srgbClr val="000000"/>
                </a:solidFill>
                <a:latin typeface="Calibri" panose="020F0502020204030204" pitchFamily="34" charset="0"/>
              </a:rPr>
              <a:t>vs 63Gy CRT, vs 69.6bid CRT) better OS increase toxicity in CRT</a:t>
            </a:r>
          </a:p>
          <a:p>
            <a:r>
              <a:rPr lang="en-US" altLang="zh-TW" dirty="0" smtClean="0">
                <a:solidFill>
                  <a:srgbClr val="000000"/>
                </a:solidFill>
                <a:latin typeface="Calibri" panose="020F0502020204030204" pitchFamily="34" charset="0"/>
              </a:rPr>
              <a:t>A: West Japan Lung Study: better OS in CRT</a:t>
            </a:r>
            <a:endParaRPr lang="en-US" altLang="zh-TW" dirty="0">
              <a:solidFill>
                <a:srgbClr val="000000"/>
              </a:solidFill>
              <a:latin typeface="Calibri" panose="020F0502020204030204" pitchFamily="34" charset="0"/>
            </a:endParaRPr>
          </a:p>
          <a:p>
            <a:r>
              <a:rPr lang="en-US" altLang="zh-TW" dirty="0">
                <a:solidFill>
                  <a:srgbClr val="000000"/>
                </a:solidFill>
                <a:latin typeface="Wingdings" panose="05000000000000000000" pitchFamily="2" charset="2"/>
              </a:rPr>
              <a:t> </a:t>
            </a:r>
            <a:r>
              <a:rPr lang="en-US" altLang="zh-TW" dirty="0">
                <a:solidFill>
                  <a:srgbClr val="000000"/>
                </a:solidFill>
                <a:latin typeface="Calibri" panose="020F0502020204030204" pitchFamily="34" charset="0"/>
              </a:rPr>
              <a:t>Definitive CCRT </a:t>
            </a:r>
            <a:r>
              <a:rPr lang="zh-TW" altLang="en-US" dirty="0">
                <a:solidFill>
                  <a:srgbClr val="000000"/>
                </a:solidFill>
                <a:latin typeface="新細明體" panose="02020500000000000000" pitchFamily="18" charset="-120"/>
              </a:rPr>
              <a:t>的</a:t>
            </a:r>
            <a:r>
              <a:rPr lang="en-US" altLang="zh-TW" dirty="0">
                <a:solidFill>
                  <a:srgbClr val="000000"/>
                </a:solidFill>
                <a:latin typeface="Calibri" panose="020F0502020204030204" pitchFamily="34" charset="0"/>
              </a:rPr>
              <a:t>DOSE? RTOG 0617</a:t>
            </a:r>
            <a:r>
              <a:rPr lang="zh-TW" altLang="en-US" dirty="0">
                <a:solidFill>
                  <a:srgbClr val="000000"/>
                </a:solidFill>
                <a:latin typeface="新細明體" panose="02020500000000000000" pitchFamily="18" charset="-120"/>
              </a:rPr>
              <a:t>中</a:t>
            </a:r>
            <a:r>
              <a:rPr lang="en-US" altLang="zh-TW" dirty="0">
                <a:solidFill>
                  <a:srgbClr val="000000"/>
                </a:solidFill>
                <a:latin typeface="Calibri" panose="020F0502020204030204" pitchFamily="34" charset="0"/>
              </a:rPr>
              <a:t>74Gy arm </a:t>
            </a:r>
            <a:r>
              <a:rPr lang="zh-TW" altLang="en-US" dirty="0">
                <a:solidFill>
                  <a:srgbClr val="000000"/>
                </a:solidFill>
                <a:latin typeface="新細明體" panose="02020500000000000000" pitchFamily="18" charset="-120"/>
              </a:rPr>
              <a:t>的</a:t>
            </a:r>
            <a:r>
              <a:rPr lang="en-US" altLang="zh-TW" dirty="0">
                <a:solidFill>
                  <a:srgbClr val="000000"/>
                </a:solidFill>
                <a:latin typeface="Calibri" panose="020F0502020204030204" pitchFamily="34" charset="0"/>
              </a:rPr>
              <a:t>outcome? 74 </a:t>
            </a:r>
            <a:r>
              <a:rPr lang="en-US" altLang="zh-TW" dirty="0" err="1">
                <a:solidFill>
                  <a:srgbClr val="000000"/>
                </a:solidFill>
                <a:latin typeface="Calibri" panose="020F0502020204030204" pitchFamily="34" charset="0"/>
              </a:rPr>
              <a:t>Gy</a:t>
            </a:r>
            <a:r>
              <a:rPr lang="zh-TW" altLang="en-US" dirty="0">
                <a:solidFill>
                  <a:srgbClr val="000000"/>
                </a:solidFill>
                <a:latin typeface="新細明體" panose="02020500000000000000" pitchFamily="18" charset="-120"/>
              </a:rPr>
              <a:t>的</a:t>
            </a:r>
            <a:r>
              <a:rPr lang="en-US" altLang="zh-TW" dirty="0">
                <a:solidFill>
                  <a:srgbClr val="000000"/>
                </a:solidFill>
                <a:latin typeface="Calibri" panose="020F0502020204030204" pitchFamily="34" charset="0"/>
              </a:rPr>
              <a:t>toxicity</a:t>
            </a:r>
            <a:r>
              <a:rPr lang="zh-TW" altLang="en-US" dirty="0">
                <a:solidFill>
                  <a:srgbClr val="000000"/>
                </a:solidFill>
                <a:latin typeface="新細明體" panose="02020500000000000000" pitchFamily="18" charset="-120"/>
              </a:rPr>
              <a:t>是什麼</a:t>
            </a:r>
            <a:r>
              <a:rPr lang="en-US" altLang="zh-TW" dirty="0">
                <a:solidFill>
                  <a:srgbClr val="000000"/>
                </a:solidFill>
                <a:latin typeface="Calibri" panose="020F0502020204030204" pitchFamily="34" charset="0"/>
              </a:rPr>
              <a:t>? </a:t>
            </a:r>
            <a:endParaRPr lang="en-US" altLang="zh-TW" dirty="0" smtClean="0">
              <a:solidFill>
                <a:srgbClr val="000000"/>
              </a:solidFill>
              <a:latin typeface="Calibri" panose="020F0502020204030204" pitchFamily="34" charset="0"/>
            </a:endParaRPr>
          </a:p>
          <a:p>
            <a:r>
              <a:rPr lang="en-US" altLang="zh-TW" dirty="0" smtClean="0">
                <a:solidFill>
                  <a:srgbClr val="000000"/>
                </a:solidFill>
                <a:latin typeface="Calibri" panose="020F0502020204030204" pitchFamily="34" charset="0"/>
              </a:rPr>
              <a:t>A: 60Gy to 70Gy for </a:t>
            </a:r>
            <a:r>
              <a:rPr lang="en-US" altLang="zh-TW" dirty="0" err="1" smtClean="0">
                <a:solidFill>
                  <a:srgbClr val="000000"/>
                </a:solidFill>
                <a:latin typeface="Calibri" panose="020F0502020204030204" pitchFamily="34" charset="0"/>
              </a:rPr>
              <a:t>def</a:t>
            </a:r>
            <a:r>
              <a:rPr lang="en-US" altLang="zh-TW" dirty="0" smtClean="0">
                <a:solidFill>
                  <a:srgbClr val="000000"/>
                </a:solidFill>
                <a:latin typeface="Calibri" panose="020F0502020204030204" pitchFamily="34" charset="0"/>
              </a:rPr>
              <a:t> CCRT, 74Gy arm decreased MS, grade 3 esophagitis 43%</a:t>
            </a:r>
            <a:endParaRPr lang="en-US" altLang="zh-TW" dirty="0">
              <a:solidFill>
                <a:srgbClr val="000000"/>
              </a:solidFill>
              <a:latin typeface="Calibri" panose="020F0502020204030204" pitchFamily="34" charset="0"/>
            </a:endParaRPr>
          </a:p>
          <a:p>
            <a:r>
              <a:rPr lang="zh-TW" altLang="en-US" dirty="0">
                <a:solidFill>
                  <a:srgbClr val="000000"/>
                </a:solidFill>
                <a:latin typeface="Wingdings" panose="05000000000000000000" pitchFamily="2" charset="2"/>
              </a:rPr>
              <a:t> </a:t>
            </a:r>
            <a:r>
              <a:rPr lang="zh-TW" altLang="en-US" dirty="0">
                <a:solidFill>
                  <a:srgbClr val="000000"/>
                </a:solidFill>
                <a:latin typeface="新細明體" panose="02020500000000000000" pitchFamily="18" charset="-120"/>
              </a:rPr>
              <a:t>什麼樣的</a:t>
            </a:r>
            <a:r>
              <a:rPr lang="en-US" altLang="zh-TW" dirty="0">
                <a:solidFill>
                  <a:srgbClr val="000000"/>
                </a:solidFill>
                <a:latin typeface="Calibri" panose="020F0502020204030204" pitchFamily="34" charset="0"/>
              </a:rPr>
              <a:t>N2 case</a:t>
            </a:r>
            <a:r>
              <a:rPr lang="zh-TW" altLang="en-US" dirty="0">
                <a:solidFill>
                  <a:srgbClr val="000000"/>
                </a:solidFill>
                <a:latin typeface="新細明體" panose="02020500000000000000" pitchFamily="18" charset="-120"/>
              </a:rPr>
              <a:t>可以開刀</a:t>
            </a:r>
            <a:r>
              <a:rPr lang="en-US" altLang="zh-TW" dirty="0">
                <a:solidFill>
                  <a:srgbClr val="000000"/>
                </a:solidFill>
                <a:latin typeface="Calibri" panose="020F0502020204030204" pitchFamily="34" charset="0"/>
              </a:rPr>
              <a:t>? </a:t>
            </a:r>
            <a:r>
              <a:rPr lang="en-US" altLang="zh-TW" dirty="0" smtClean="0">
                <a:solidFill>
                  <a:srgbClr val="000000"/>
                </a:solidFill>
                <a:latin typeface="Calibri" panose="020F0502020204030204" pitchFamily="34" charset="0"/>
              </a:rPr>
              <a:t>  ( involved station </a:t>
            </a:r>
            <a:r>
              <a:rPr lang="zh-TW" altLang="en-US" dirty="0" smtClean="0">
                <a:solidFill>
                  <a:srgbClr val="000000"/>
                </a:solidFill>
                <a:latin typeface="Calibri" panose="020F0502020204030204" pitchFamily="34" charset="0"/>
              </a:rPr>
              <a:t>少</a:t>
            </a:r>
            <a:r>
              <a:rPr lang="en-US" altLang="zh-TW" dirty="0" smtClean="0">
                <a:solidFill>
                  <a:srgbClr val="000000"/>
                </a:solidFill>
                <a:latin typeface="Calibri" panose="020F0502020204030204" pitchFamily="34" charset="0"/>
              </a:rPr>
              <a:t>)</a:t>
            </a:r>
            <a:endParaRPr lang="en-US" altLang="zh-TW" dirty="0" smtClean="0">
              <a:solidFill>
                <a:srgbClr val="000000"/>
              </a:solidFill>
              <a:latin typeface="Calibri" panose="020F0502020204030204" pitchFamily="34" charset="0"/>
            </a:endParaRPr>
          </a:p>
          <a:p>
            <a:r>
              <a:rPr lang="en-US" altLang="zh-TW" dirty="0" smtClean="0">
                <a:solidFill>
                  <a:srgbClr val="000000"/>
                </a:solidFill>
                <a:latin typeface="Calibri" panose="020F0502020204030204" pitchFamily="34" charset="0"/>
              </a:rPr>
              <a:t>A: (</a:t>
            </a:r>
            <a:r>
              <a:rPr lang="zh-TW" altLang="en-US" dirty="0">
                <a:solidFill>
                  <a:srgbClr val="000000"/>
                </a:solidFill>
                <a:latin typeface="新細明體" panose="02020500000000000000" pitchFamily="18" charset="-120"/>
              </a:rPr>
              <a:t>一顆</a:t>
            </a:r>
            <a:r>
              <a:rPr lang="en-US" altLang="zh-TW" dirty="0">
                <a:solidFill>
                  <a:srgbClr val="000000"/>
                </a:solidFill>
                <a:latin typeface="Calibri" panose="020F0502020204030204" pitchFamily="34" charset="0"/>
              </a:rPr>
              <a:t>LN&lt;3cm</a:t>
            </a:r>
            <a:r>
              <a:rPr lang="en-US" altLang="zh-TW" dirty="0" smtClean="0">
                <a:solidFill>
                  <a:srgbClr val="000000"/>
                </a:solidFill>
                <a:latin typeface="Calibri" panose="020F0502020204030204" pitchFamily="34" charset="0"/>
              </a:rPr>
              <a:t>) Patients with min, </a:t>
            </a:r>
            <a:r>
              <a:rPr lang="en-US" altLang="zh-TW" dirty="0" err="1" smtClean="0">
                <a:solidFill>
                  <a:srgbClr val="000000"/>
                </a:solidFill>
                <a:latin typeface="Calibri" panose="020F0502020204030204" pitchFamily="34" charset="0"/>
              </a:rPr>
              <a:t>nonbulky</a:t>
            </a:r>
            <a:r>
              <a:rPr lang="en-US" altLang="zh-TW" dirty="0" smtClean="0">
                <a:solidFill>
                  <a:srgbClr val="000000"/>
                </a:solidFill>
                <a:latin typeface="Calibri" panose="020F0502020204030204" pitchFamily="34" charset="0"/>
              </a:rPr>
              <a:t> N3 who can get lobectomy INT 0139  stage IIIA</a:t>
            </a:r>
            <a:endParaRPr lang="en-US" altLang="zh-TW" dirty="0">
              <a:solidFill>
                <a:srgbClr val="000000"/>
              </a:solidFill>
              <a:latin typeface="Calibri" panose="020F0502020204030204" pitchFamily="34" charset="0"/>
            </a:endParaRPr>
          </a:p>
          <a:p>
            <a:endParaRPr lang="zh-TW" altLang="en-US" dirty="0"/>
          </a:p>
        </p:txBody>
      </p:sp>
    </p:spTree>
    <p:extLst>
      <p:ext uri="{BB962C8B-B14F-4D97-AF65-F5344CB8AC3E}">
        <p14:creationId xmlns:p14="http://schemas.microsoft.com/office/powerpoint/2010/main" val="12633255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2017</a:t>
            </a:r>
            <a:endParaRPr lang="zh-TW" altLang="en-US" dirty="0"/>
          </a:p>
        </p:txBody>
      </p:sp>
      <p:sp>
        <p:nvSpPr>
          <p:cNvPr id="3" name="內容版面配置區 2"/>
          <p:cNvSpPr>
            <a:spLocks noGrp="1"/>
          </p:cNvSpPr>
          <p:nvPr>
            <p:ph idx="1"/>
          </p:nvPr>
        </p:nvSpPr>
        <p:spPr>
          <a:xfrm>
            <a:off x="1981200" y="1600200"/>
            <a:ext cx="8229600" cy="4061048"/>
          </a:xfrm>
        </p:spPr>
        <p:txBody>
          <a:bodyPr>
            <a:normAutofit fontScale="47500" lnSpcReduction="20000"/>
          </a:bodyPr>
          <a:lstStyle/>
          <a:p>
            <a:r>
              <a:rPr lang="en-US" altLang="zh-TW" dirty="0">
                <a:solidFill>
                  <a:srgbClr val="000000"/>
                </a:solidFill>
                <a:latin typeface="Wingdings" panose="05000000000000000000" pitchFamily="2" charset="2"/>
              </a:rPr>
              <a:t> </a:t>
            </a:r>
            <a:r>
              <a:rPr lang="en-US" altLang="zh-TW" dirty="0">
                <a:solidFill>
                  <a:srgbClr val="000000"/>
                </a:solidFill>
                <a:latin typeface="Calibri" panose="020F0502020204030204" pitchFamily="34" charset="0"/>
              </a:rPr>
              <a:t>SCLC Staging? Limited vs. extensive stage</a:t>
            </a:r>
            <a:r>
              <a:rPr lang="zh-TW" altLang="en-US" dirty="0">
                <a:solidFill>
                  <a:srgbClr val="000000"/>
                </a:solidFill>
                <a:latin typeface="新細明體" panose="02020500000000000000" pitchFamily="18" charset="-120"/>
              </a:rPr>
              <a:t>怎麼區分</a:t>
            </a:r>
            <a:r>
              <a:rPr lang="en-US" altLang="zh-TW" dirty="0">
                <a:solidFill>
                  <a:srgbClr val="000000"/>
                </a:solidFill>
                <a:latin typeface="Calibri" panose="020F0502020204030204" pitchFamily="34" charset="0"/>
              </a:rPr>
              <a:t>? </a:t>
            </a:r>
            <a:endParaRPr lang="en-US" altLang="zh-TW" dirty="0" smtClean="0">
              <a:solidFill>
                <a:srgbClr val="000000"/>
              </a:solidFill>
              <a:latin typeface="Calibri" panose="020F0502020204030204" pitchFamily="34" charset="0"/>
            </a:endParaRPr>
          </a:p>
          <a:p>
            <a:endParaRPr lang="en-US" altLang="zh-TW" dirty="0" smtClean="0">
              <a:solidFill>
                <a:srgbClr val="000000"/>
              </a:solidFill>
              <a:latin typeface="Calibri" panose="020F0502020204030204" pitchFamily="34" charset="0"/>
            </a:endParaRPr>
          </a:p>
          <a:p>
            <a:endParaRPr lang="en-US" altLang="zh-TW" dirty="0">
              <a:solidFill>
                <a:srgbClr val="000000"/>
              </a:solidFill>
              <a:latin typeface="Calibri" panose="020F0502020204030204" pitchFamily="34" charset="0"/>
            </a:endParaRPr>
          </a:p>
          <a:p>
            <a:endParaRPr lang="en-US" altLang="zh-TW" dirty="0" smtClean="0">
              <a:solidFill>
                <a:srgbClr val="000000"/>
              </a:solidFill>
              <a:latin typeface="Calibri" panose="020F0502020204030204" pitchFamily="34" charset="0"/>
            </a:endParaRPr>
          </a:p>
          <a:p>
            <a:endParaRPr lang="en-US" altLang="zh-TW" dirty="0">
              <a:solidFill>
                <a:srgbClr val="000000"/>
              </a:solidFill>
              <a:latin typeface="Calibri" panose="020F0502020204030204" pitchFamily="34" charset="0"/>
            </a:endParaRPr>
          </a:p>
          <a:p>
            <a:endParaRPr lang="en-US" altLang="zh-TW" dirty="0">
              <a:solidFill>
                <a:srgbClr val="000000"/>
              </a:solidFill>
              <a:latin typeface="Calibri" panose="020F0502020204030204" pitchFamily="34" charset="0"/>
            </a:endParaRPr>
          </a:p>
          <a:p>
            <a:r>
              <a:rPr lang="en-US" altLang="zh-TW" dirty="0">
                <a:solidFill>
                  <a:srgbClr val="000000"/>
                </a:solidFill>
                <a:latin typeface="Wingdings" panose="05000000000000000000" pitchFamily="2" charset="2"/>
              </a:rPr>
              <a:t> </a:t>
            </a:r>
            <a:r>
              <a:rPr lang="en-US" altLang="zh-TW" dirty="0">
                <a:solidFill>
                  <a:srgbClr val="000000"/>
                </a:solidFill>
                <a:latin typeface="Calibri" panose="020F0502020204030204" pitchFamily="34" charset="0"/>
              </a:rPr>
              <a:t>Limited stage thoracic RT</a:t>
            </a:r>
            <a:r>
              <a:rPr lang="zh-TW" altLang="en-US" dirty="0">
                <a:solidFill>
                  <a:srgbClr val="000000"/>
                </a:solidFill>
                <a:latin typeface="新細明體" panose="02020500000000000000" pitchFamily="18" charset="-120"/>
              </a:rPr>
              <a:t>怎麼做</a:t>
            </a:r>
            <a:r>
              <a:rPr lang="en-US" altLang="zh-TW" dirty="0">
                <a:solidFill>
                  <a:srgbClr val="000000"/>
                </a:solidFill>
                <a:latin typeface="Calibri" panose="020F0502020204030204" pitchFamily="34" charset="0"/>
              </a:rPr>
              <a:t>? BID or QD </a:t>
            </a:r>
            <a:r>
              <a:rPr lang="zh-TW" altLang="en-US" dirty="0">
                <a:solidFill>
                  <a:srgbClr val="000000"/>
                </a:solidFill>
                <a:latin typeface="新細明體" panose="02020500000000000000" pitchFamily="18" charset="-120"/>
              </a:rPr>
              <a:t>的</a:t>
            </a:r>
            <a:r>
              <a:rPr lang="en-US" altLang="zh-TW" dirty="0">
                <a:solidFill>
                  <a:srgbClr val="000000"/>
                </a:solidFill>
                <a:latin typeface="Calibri" panose="020F0502020204030204" pitchFamily="34" charset="0"/>
              </a:rPr>
              <a:t>dose</a:t>
            </a:r>
            <a:r>
              <a:rPr lang="zh-TW" altLang="en-US" dirty="0">
                <a:solidFill>
                  <a:srgbClr val="000000"/>
                </a:solidFill>
                <a:latin typeface="新細明體" panose="02020500000000000000" pitchFamily="18" charset="-120"/>
              </a:rPr>
              <a:t>分別怎麼給</a:t>
            </a:r>
            <a:r>
              <a:rPr lang="en-US" altLang="zh-TW" dirty="0">
                <a:solidFill>
                  <a:srgbClr val="000000"/>
                </a:solidFill>
                <a:latin typeface="Calibri" panose="020F0502020204030204" pitchFamily="34" charset="0"/>
              </a:rPr>
              <a:t>? </a:t>
            </a:r>
            <a:r>
              <a:rPr lang="zh-TW" altLang="en-US" dirty="0">
                <a:solidFill>
                  <a:srgbClr val="000000"/>
                </a:solidFill>
                <a:latin typeface="新細明體" panose="02020500000000000000" pitchFamily="18" charset="-120"/>
              </a:rPr>
              <a:t>什麼時候做</a:t>
            </a:r>
            <a:r>
              <a:rPr lang="en-US" altLang="zh-TW" dirty="0">
                <a:solidFill>
                  <a:srgbClr val="000000"/>
                </a:solidFill>
                <a:latin typeface="Calibri" panose="020F0502020204030204" pitchFamily="34" charset="0"/>
              </a:rPr>
              <a:t>PCI? </a:t>
            </a:r>
            <a:r>
              <a:rPr lang="zh-TW" altLang="en-US" dirty="0">
                <a:solidFill>
                  <a:srgbClr val="000000"/>
                </a:solidFill>
                <a:latin typeface="新細明體" panose="02020500000000000000" pitchFamily="18" charset="-120"/>
              </a:rPr>
              <a:t>劑量給多少</a:t>
            </a:r>
            <a:r>
              <a:rPr lang="en-US" altLang="zh-TW" dirty="0">
                <a:solidFill>
                  <a:srgbClr val="000000"/>
                </a:solidFill>
                <a:latin typeface="Calibri" panose="020F0502020204030204" pitchFamily="34" charset="0"/>
              </a:rPr>
              <a:t>? </a:t>
            </a:r>
            <a:r>
              <a:rPr lang="zh-TW" altLang="en-US" dirty="0">
                <a:solidFill>
                  <a:srgbClr val="000000"/>
                </a:solidFill>
                <a:latin typeface="新細明體" panose="02020500000000000000" pitchFamily="18" charset="-120"/>
              </a:rPr>
              <a:t>為什麼</a:t>
            </a:r>
            <a:r>
              <a:rPr lang="en-US" altLang="zh-TW" dirty="0">
                <a:solidFill>
                  <a:srgbClr val="000000"/>
                </a:solidFill>
                <a:latin typeface="Calibri" panose="020F0502020204030204" pitchFamily="34" charset="0"/>
              </a:rPr>
              <a:t>dose</a:t>
            </a:r>
            <a:r>
              <a:rPr lang="zh-TW" altLang="en-US" dirty="0">
                <a:solidFill>
                  <a:srgbClr val="000000"/>
                </a:solidFill>
                <a:latin typeface="新細明體" panose="02020500000000000000" pitchFamily="18" charset="-120"/>
              </a:rPr>
              <a:t>不給高一點</a:t>
            </a:r>
            <a:r>
              <a:rPr lang="en-US" altLang="zh-TW" dirty="0">
                <a:solidFill>
                  <a:srgbClr val="000000"/>
                </a:solidFill>
                <a:latin typeface="Calibri" panose="020F0502020204030204" pitchFamily="34" charset="0"/>
              </a:rPr>
              <a:t>? </a:t>
            </a:r>
            <a:endParaRPr lang="en-US" altLang="zh-TW" dirty="0" smtClean="0">
              <a:solidFill>
                <a:srgbClr val="000000"/>
              </a:solidFill>
              <a:latin typeface="Calibri" panose="020F0502020204030204" pitchFamily="34" charset="0"/>
            </a:endParaRPr>
          </a:p>
          <a:p>
            <a:r>
              <a:rPr lang="en-US" altLang="zh-TW" dirty="0" smtClean="0">
                <a:solidFill>
                  <a:srgbClr val="000000"/>
                </a:solidFill>
                <a:latin typeface="Calibri" panose="020F0502020204030204" pitchFamily="34" charset="0"/>
              </a:rPr>
              <a:t>A: 45Gy BID INT 0096, or Convert 60Gy QD, </a:t>
            </a:r>
            <a:r>
              <a:rPr lang="en-US" altLang="zh-TW" dirty="0" err="1" smtClean="0">
                <a:solidFill>
                  <a:srgbClr val="000000"/>
                </a:solidFill>
                <a:latin typeface="Calibri" panose="020F0502020204030204" pitchFamily="34" charset="0"/>
              </a:rPr>
              <a:t>CalGB</a:t>
            </a:r>
            <a:r>
              <a:rPr lang="en-US" altLang="zh-TW" dirty="0" smtClean="0">
                <a:solidFill>
                  <a:srgbClr val="000000"/>
                </a:solidFill>
                <a:latin typeface="Calibri" panose="020F0502020204030204" pitchFamily="34" charset="0"/>
              </a:rPr>
              <a:t> 30611 testing 45gy bid vs 70gy</a:t>
            </a:r>
          </a:p>
          <a:p>
            <a:r>
              <a:rPr lang="en-US" altLang="zh-TW" dirty="0" smtClean="0">
                <a:solidFill>
                  <a:srgbClr val="000000"/>
                </a:solidFill>
                <a:latin typeface="Calibri" panose="020F0502020204030204" pitchFamily="34" charset="0"/>
              </a:rPr>
              <a:t>A: limited stage , Post-OP all PCI, (stage </a:t>
            </a:r>
            <a:r>
              <a:rPr lang="en-US" altLang="zh-TW" dirty="0" err="1" smtClean="0">
                <a:solidFill>
                  <a:srgbClr val="000000"/>
                </a:solidFill>
                <a:latin typeface="Calibri" panose="020F0502020204030204" pitchFamily="34" charset="0"/>
              </a:rPr>
              <a:t>i</a:t>
            </a:r>
            <a:r>
              <a:rPr lang="en-US" altLang="zh-TW" dirty="0" smtClean="0">
                <a:solidFill>
                  <a:srgbClr val="000000"/>
                </a:solidFill>
                <a:latin typeface="Calibri" panose="020F0502020204030204" pitchFamily="34" charset="0"/>
              </a:rPr>
              <a:t>-IIA may omit), </a:t>
            </a:r>
          </a:p>
          <a:p>
            <a:r>
              <a:rPr lang="en-US" altLang="zh-TW" dirty="0" smtClean="0">
                <a:solidFill>
                  <a:srgbClr val="000000"/>
                </a:solidFill>
                <a:latin typeface="Calibri" panose="020F0502020204030204" pitchFamily="34" charset="0"/>
              </a:rPr>
              <a:t>RTOG 0212 25Gy vs 36Gy, 36Gy decrease OS, </a:t>
            </a:r>
            <a:r>
              <a:rPr lang="en-US" altLang="zh-TW" dirty="0" err="1" smtClean="0">
                <a:solidFill>
                  <a:srgbClr val="000000"/>
                </a:solidFill>
                <a:latin typeface="Calibri" panose="020F0502020204030204" pitchFamily="34" charset="0"/>
              </a:rPr>
              <a:t>Auperin</a:t>
            </a:r>
            <a:r>
              <a:rPr lang="en-US" altLang="zh-TW" dirty="0" smtClean="0">
                <a:solidFill>
                  <a:srgbClr val="000000"/>
                </a:solidFill>
                <a:latin typeface="Calibri" panose="020F0502020204030204" pitchFamily="34" charset="0"/>
              </a:rPr>
              <a:t> </a:t>
            </a:r>
            <a:r>
              <a:rPr lang="en-US" altLang="zh-TW" dirty="0" err="1" smtClean="0">
                <a:solidFill>
                  <a:srgbClr val="000000"/>
                </a:solidFill>
                <a:latin typeface="Calibri" panose="020F0502020204030204" pitchFamily="34" charset="0"/>
              </a:rPr>
              <a:t>metaanalysis</a:t>
            </a:r>
            <a:r>
              <a:rPr lang="en-US" altLang="zh-TW" dirty="0" smtClean="0">
                <a:solidFill>
                  <a:srgbClr val="000000"/>
                </a:solidFill>
                <a:latin typeface="Calibri" panose="020F0502020204030204" pitchFamily="34" charset="0"/>
              </a:rPr>
              <a:t>, earlier PCI &lt;4-6 months decrease risk in brain </a:t>
            </a:r>
            <a:r>
              <a:rPr lang="en-US" altLang="zh-TW" dirty="0" err="1" smtClean="0">
                <a:solidFill>
                  <a:srgbClr val="000000"/>
                </a:solidFill>
                <a:latin typeface="Calibri" panose="020F0502020204030204" pitchFamily="34" charset="0"/>
              </a:rPr>
              <a:t>mets</a:t>
            </a:r>
            <a:r>
              <a:rPr lang="en-US" altLang="zh-TW" dirty="0" smtClean="0">
                <a:solidFill>
                  <a:srgbClr val="000000"/>
                </a:solidFill>
                <a:latin typeface="Calibri" panose="020F0502020204030204" pitchFamily="34" charset="0"/>
              </a:rPr>
              <a:t>, WBRT neurotoxicity higher in &gt;60, if poor KPS and cognition omit PCI</a:t>
            </a:r>
          </a:p>
          <a:p>
            <a:endParaRPr lang="en-US" altLang="zh-TW" dirty="0">
              <a:solidFill>
                <a:srgbClr val="000000"/>
              </a:solidFill>
              <a:latin typeface="Calibri" panose="020F0502020204030204" pitchFamily="34" charset="0"/>
            </a:endParaRPr>
          </a:p>
          <a:p>
            <a:r>
              <a:rPr lang="en-US" altLang="zh-TW" dirty="0">
                <a:solidFill>
                  <a:srgbClr val="000000"/>
                </a:solidFill>
                <a:latin typeface="Wingdings" panose="05000000000000000000" pitchFamily="2" charset="2"/>
              </a:rPr>
              <a:t> </a:t>
            </a:r>
            <a:r>
              <a:rPr lang="en-US" altLang="zh-TW" dirty="0">
                <a:solidFill>
                  <a:srgbClr val="000000"/>
                </a:solidFill>
                <a:latin typeface="Calibri" panose="020F0502020204030204" pitchFamily="34" charset="0"/>
              </a:rPr>
              <a:t>Extensive stage </a:t>
            </a:r>
            <a:r>
              <a:rPr lang="zh-TW" altLang="en-US" dirty="0">
                <a:solidFill>
                  <a:srgbClr val="000000"/>
                </a:solidFill>
                <a:latin typeface="新細明體" panose="02020500000000000000" pitchFamily="18" charset="-120"/>
              </a:rPr>
              <a:t>要不要做</a:t>
            </a:r>
            <a:r>
              <a:rPr lang="en-US" altLang="zh-TW" dirty="0">
                <a:solidFill>
                  <a:srgbClr val="000000"/>
                </a:solidFill>
                <a:latin typeface="Calibri" panose="020F0502020204030204" pitchFamily="34" charset="0"/>
              </a:rPr>
              <a:t>PCI or thoracic RT? </a:t>
            </a:r>
            <a:endParaRPr lang="en-US" altLang="zh-TW" dirty="0" smtClean="0">
              <a:solidFill>
                <a:srgbClr val="000000"/>
              </a:solidFill>
              <a:latin typeface="Calibri" panose="020F0502020204030204" pitchFamily="34" charset="0"/>
            </a:endParaRPr>
          </a:p>
          <a:p>
            <a:r>
              <a:rPr lang="en-US" altLang="zh-TW" dirty="0" smtClean="0">
                <a:solidFill>
                  <a:srgbClr val="000000"/>
                </a:solidFill>
                <a:latin typeface="Calibri" panose="020F0502020204030204" pitchFamily="34" charset="0"/>
              </a:rPr>
              <a:t>A: </a:t>
            </a:r>
            <a:r>
              <a:rPr lang="zh-TW" altLang="en-US" dirty="0" smtClean="0">
                <a:solidFill>
                  <a:srgbClr val="000000"/>
                </a:solidFill>
                <a:latin typeface="Calibri" panose="020F0502020204030204" pitchFamily="34" charset="0"/>
              </a:rPr>
              <a:t>老題目</a:t>
            </a:r>
            <a:endParaRPr lang="en-US" altLang="zh-TW" dirty="0">
              <a:solidFill>
                <a:srgbClr val="000000"/>
              </a:solidFill>
              <a:latin typeface="Calibri" panose="020F0502020204030204" pitchFamily="34" charset="0"/>
            </a:endParaRPr>
          </a:p>
          <a:p>
            <a:r>
              <a:rPr lang="en-US" altLang="zh-TW" dirty="0" smtClean="0"/>
              <a:t> OS benefit in EORTC </a:t>
            </a:r>
            <a:r>
              <a:rPr lang="en-US" altLang="zh-TW" dirty="0" err="1" smtClean="0"/>
              <a:t>Slotman</a:t>
            </a:r>
            <a:r>
              <a:rPr lang="en-US" altLang="zh-TW" dirty="0" smtClean="0"/>
              <a:t> any response to chemo 20Gy/5fx, no pre-</a:t>
            </a:r>
            <a:r>
              <a:rPr lang="en-US" altLang="zh-TW" dirty="0" err="1" smtClean="0"/>
              <a:t>Txbrain</a:t>
            </a:r>
            <a:r>
              <a:rPr lang="en-US" altLang="zh-TW" dirty="0" smtClean="0"/>
              <a:t> MRI</a:t>
            </a:r>
          </a:p>
          <a:p>
            <a:r>
              <a:rPr lang="en-US" altLang="zh-TW" dirty="0" smtClean="0"/>
              <a:t>Japan Takahashi negative stage brain MRI, no benefit of </a:t>
            </a:r>
            <a:r>
              <a:rPr lang="en-US" altLang="zh-TW" dirty="0" err="1" smtClean="0"/>
              <a:t>pCI</a:t>
            </a:r>
            <a:r>
              <a:rPr lang="en-US" altLang="zh-TW" dirty="0" smtClean="0"/>
              <a:t> in extensive stage trend toward negative OS</a:t>
            </a:r>
          </a:p>
        </p:txBody>
      </p:sp>
      <p:pic>
        <p:nvPicPr>
          <p:cNvPr id="4" name="圖片 3"/>
          <p:cNvPicPr>
            <a:picLocks noChangeAspect="1"/>
          </p:cNvPicPr>
          <p:nvPr/>
        </p:nvPicPr>
        <p:blipFill>
          <a:blip r:embed="rId2"/>
          <a:stretch>
            <a:fillRect/>
          </a:stretch>
        </p:blipFill>
        <p:spPr>
          <a:xfrm>
            <a:off x="2022376" y="1916832"/>
            <a:ext cx="8147248" cy="970836"/>
          </a:xfrm>
          <a:prstGeom prst="rect">
            <a:avLst/>
          </a:prstGeom>
        </p:spPr>
      </p:pic>
    </p:spTree>
    <p:extLst>
      <p:ext uri="{BB962C8B-B14F-4D97-AF65-F5344CB8AC3E}">
        <p14:creationId xmlns:p14="http://schemas.microsoft.com/office/powerpoint/2010/main" val="40035254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2018</a:t>
            </a:r>
            <a:endParaRPr lang="zh-TW" altLang="en-US" dirty="0"/>
          </a:p>
        </p:txBody>
      </p:sp>
      <p:sp>
        <p:nvSpPr>
          <p:cNvPr id="3" name="內容版面配置區 2"/>
          <p:cNvSpPr>
            <a:spLocks noGrp="1"/>
          </p:cNvSpPr>
          <p:nvPr>
            <p:ph idx="1"/>
          </p:nvPr>
        </p:nvSpPr>
        <p:spPr/>
        <p:txBody>
          <a:bodyPr>
            <a:normAutofit fontScale="47500" lnSpcReduction="20000"/>
          </a:bodyPr>
          <a:lstStyle/>
          <a:p>
            <a:r>
              <a:rPr lang="en-US" altLang="zh-TW" dirty="0" smtClean="0"/>
              <a:t>Q1: Locally </a:t>
            </a:r>
            <a:r>
              <a:rPr lang="en-US" altLang="zh-TW" dirty="0"/>
              <a:t>advanced: </a:t>
            </a:r>
            <a:r>
              <a:rPr lang="zh-TW" altLang="en-US" dirty="0"/>
              <a:t>一個 </a:t>
            </a:r>
            <a:r>
              <a:rPr lang="en-US" altLang="zh-TW" dirty="0"/>
              <a:t>lung mass case, chest CT </a:t>
            </a:r>
            <a:r>
              <a:rPr lang="zh-TW" altLang="en-US" dirty="0"/>
              <a:t>有看到 </a:t>
            </a:r>
            <a:r>
              <a:rPr lang="en-US" altLang="zh-TW" dirty="0" err="1"/>
              <a:t>mediastinal</a:t>
            </a:r>
            <a:r>
              <a:rPr lang="en-US" altLang="zh-TW" dirty="0"/>
              <a:t> LN</a:t>
            </a:r>
            <a:r>
              <a:rPr lang="zh-TW" altLang="en-US" dirty="0"/>
              <a:t>，問候接下來要排什麼檢</a:t>
            </a:r>
          </a:p>
          <a:p>
            <a:r>
              <a:rPr lang="zh-TW" altLang="en-US" dirty="0"/>
              <a:t>查？治療方式</a:t>
            </a:r>
            <a:r>
              <a:rPr lang="en-US" altLang="zh-TW" dirty="0"/>
              <a:t>? (</a:t>
            </a:r>
            <a:r>
              <a:rPr lang="zh-TW" altLang="en-US" dirty="0"/>
              <a:t>是</a:t>
            </a:r>
            <a:r>
              <a:rPr lang="en-US" altLang="zh-TW" dirty="0"/>
              <a:t>adenocarcinoma</a:t>
            </a:r>
            <a:r>
              <a:rPr lang="zh-TW" altLang="en-US" dirty="0"/>
              <a:t>，記得要驗</a:t>
            </a:r>
            <a:r>
              <a:rPr lang="en-US" altLang="zh-TW" dirty="0"/>
              <a:t>EGFR&lt;- </a:t>
            </a:r>
            <a:r>
              <a:rPr lang="zh-TW" altLang="en-US" dirty="0"/>
              <a:t>這個據說沒講就醜一了</a:t>
            </a:r>
            <a:r>
              <a:rPr lang="en-US" altLang="zh-TW" dirty="0" smtClean="0"/>
              <a:t>)</a:t>
            </a:r>
          </a:p>
          <a:p>
            <a:r>
              <a:rPr lang="en-US" altLang="zh-TW" dirty="0" smtClean="0"/>
              <a:t>A:</a:t>
            </a:r>
            <a:r>
              <a:rPr lang="zh-TW" altLang="en-US" dirty="0" smtClean="0"/>
              <a:t> </a:t>
            </a:r>
            <a:r>
              <a:rPr lang="en-US" altLang="zh-TW" dirty="0" smtClean="0"/>
              <a:t>arrange PET/ CT, PFT (if not previously done), Brain MRI </a:t>
            </a:r>
            <a:endParaRPr lang="en-US" altLang="zh-TW" dirty="0"/>
          </a:p>
          <a:p>
            <a:endParaRPr lang="en-US" altLang="zh-TW" dirty="0" smtClean="0"/>
          </a:p>
          <a:p>
            <a:r>
              <a:rPr lang="en-US" altLang="zh-TW" dirty="0" smtClean="0"/>
              <a:t>Q2: . </a:t>
            </a:r>
            <a:r>
              <a:rPr lang="en-US" altLang="zh-TW" dirty="0"/>
              <a:t>Early stage: </a:t>
            </a:r>
            <a:r>
              <a:rPr lang="zh-TW" altLang="en-US" dirty="0"/>
              <a:t>一個 </a:t>
            </a:r>
            <a:r>
              <a:rPr lang="en-US" altLang="zh-TW" dirty="0"/>
              <a:t>lung cancer T2N0 </a:t>
            </a:r>
            <a:r>
              <a:rPr lang="zh-TW" altLang="en-US" dirty="0"/>
              <a:t>的</a:t>
            </a:r>
          </a:p>
          <a:p>
            <a:r>
              <a:rPr lang="en-US" altLang="zh-TW" dirty="0" err="1"/>
              <a:t>i</a:t>
            </a:r>
            <a:r>
              <a:rPr lang="en-US" altLang="zh-TW" dirty="0"/>
              <a:t>. </a:t>
            </a:r>
            <a:r>
              <a:rPr lang="zh-TW" altLang="en-US" dirty="0"/>
              <a:t>治療建議</a:t>
            </a:r>
            <a:r>
              <a:rPr lang="zh-TW" altLang="en-US" dirty="0" smtClean="0"/>
              <a:t>？</a:t>
            </a:r>
            <a:endParaRPr lang="en-US" altLang="zh-TW" dirty="0" smtClean="0"/>
          </a:p>
          <a:p>
            <a:r>
              <a:rPr lang="en-US" altLang="zh-TW" dirty="0" smtClean="0"/>
              <a:t>A: OP, or SBRT if inoperable </a:t>
            </a:r>
            <a:endParaRPr lang="zh-TW" altLang="en-US" dirty="0"/>
          </a:p>
          <a:p>
            <a:r>
              <a:rPr lang="en-US" altLang="zh-TW" dirty="0"/>
              <a:t>ii. </a:t>
            </a:r>
            <a:r>
              <a:rPr lang="zh-TW" altLang="en-US" dirty="0"/>
              <a:t>如果這個病人拒絕開刀那能不能</a:t>
            </a:r>
            <a:r>
              <a:rPr lang="en-US" altLang="zh-TW" dirty="0"/>
              <a:t>SBRT</a:t>
            </a:r>
            <a:r>
              <a:rPr lang="zh-TW" altLang="en-US" dirty="0" smtClean="0"/>
              <a:t>？ 可</a:t>
            </a:r>
            <a:endParaRPr lang="en-US" altLang="zh-TW" dirty="0" smtClean="0"/>
          </a:p>
          <a:p>
            <a:r>
              <a:rPr lang="en-US" altLang="zh-TW" dirty="0" smtClean="0"/>
              <a:t>iii</a:t>
            </a:r>
            <a:r>
              <a:rPr lang="en-US" altLang="zh-TW" dirty="0"/>
              <a:t>. </a:t>
            </a:r>
            <a:r>
              <a:rPr lang="zh-TW" altLang="en-US" dirty="0"/>
              <a:t>如果不能</a:t>
            </a:r>
            <a:r>
              <a:rPr lang="en-US" altLang="zh-TW" dirty="0"/>
              <a:t>biopsy, </a:t>
            </a:r>
            <a:r>
              <a:rPr lang="zh-TW" altLang="en-US" dirty="0"/>
              <a:t>可不可以</a:t>
            </a:r>
            <a:r>
              <a:rPr lang="en-US" altLang="zh-TW" dirty="0"/>
              <a:t>SBRT</a:t>
            </a:r>
            <a:r>
              <a:rPr lang="en-US" altLang="zh-TW" dirty="0" smtClean="0"/>
              <a:t>?</a:t>
            </a:r>
          </a:p>
          <a:p>
            <a:r>
              <a:rPr lang="en-US" altLang="zh-TW" dirty="0" smtClean="0"/>
              <a:t>NCCN: nonsurgical require histologic confirmation. </a:t>
            </a:r>
            <a:r>
              <a:rPr lang="en-US" altLang="zh-TW" dirty="0" err="1" smtClean="0"/>
              <a:t>RoSEL</a:t>
            </a:r>
            <a:r>
              <a:rPr lang="en-US" altLang="zh-TW" dirty="0" smtClean="0"/>
              <a:t> trial accepted patients without biopsy, most trials required biopsy prove such as RTOG 0236</a:t>
            </a:r>
            <a:endParaRPr lang="en-US" altLang="zh-TW" dirty="0"/>
          </a:p>
          <a:p>
            <a:endParaRPr lang="en-US" altLang="zh-TW" dirty="0" smtClean="0"/>
          </a:p>
          <a:p>
            <a:r>
              <a:rPr lang="en-US" altLang="zh-TW" dirty="0" smtClean="0"/>
              <a:t>iv</a:t>
            </a:r>
            <a:r>
              <a:rPr lang="en-US" altLang="zh-TW" dirty="0"/>
              <a:t>. SBRT </a:t>
            </a:r>
            <a:r>
              <a:rPr lang="zh-TW" altLang="en-US" dirty="0"/>
              <a:t>的預後</a:t>
            </a:r>
            <a:r>
              <a:rPr lang="zh-TW" altLang="en-US" dirty="0" smtClean="0"/>
              <a:t>？ </a:t>
            </a:r>
            <a:r>
              <a:rPr lang="en-US" altLang="zh-TW" dirty="0" smtClean="0"/>
              <a:t>Grade 3-5 toxicity depend on Location and tumor size</a:t>
            </a:r>
          </a:p>
          <a:p>
            <a:r>
              <a:rPr lang="en-US" altLang="zh-TW" dirty="0" err="1" smtClean="0"/>
              <a:t>Locaton</a:t>
            </a:r>
            <a:r>
              <a:rPr lang="en-US" altLang="zh-TW" dirty="0" smtClean="0"/>
              <a:t>: 46% hilar, vs 17% </a:t>
            </a:r>
            <a:r>
              <a:rPr lang="en-US" altLang="zh-TW" dirty="0" err="1" smtClean="0"/>
              <a:t>perihilar</a:t>
            </a:r>
            <a:r>
              <a:rPr lang="en-US" altLang="zh-TW" dirty="0" smtClean="0"/>
              <a:t>,  Size GTV&gt; 10cc 8x risk of grade 3-5 toxicity Timmerman 2006</a:t>
            </a:r>
            <a:endParaRPr lang="zh-TW" altLang="en-US" dirty="0"/>
          </a:p>
          <a:p>
            <a:r>
              <a:rPr lang="en-US" altLang="zh-TW" dirty="0"/>
              <a:t>c. Extensive stage small cell lung cancer </a:t>
            </a:r>
            <a:r>
              <a:rPr lang="zh-TW" altLang="en-US" dirty="0"/>
              <a:t>要不要 </a:t>
            </a:r>
            <a:r>
              <a:rPr lang="en-US" altLang="zh-TW" dirty="0"/>
              <a:t>PCI</a:t>
            </a:r>
            <a:r>
              <a:rPr lang="zh-TW" altLang="en-US" dirty="0" smtClean="0"/>
              <a:t>？</a:t>
            </a:r>
            <a:endParaRPr lang="en-US" altLang="zh-TW" dirty="0" smtClean="0"/>
          </a:p>
          <a:p>
            <a:r>
              <a:rPr lang="en-US" altLang="zh-TW" dirty="0" smtClean="0"/>
              <a:t>NCCN CR or partial response</a:t>
            </a:r>
            <a:r>
              <a:rPr lang="en-US" altLang="zh-TW" dirty="0" smtClean="0">
                <a:sym typeface="Wingdings" panose="05000000000000000000" pitchFamily="2" charset="2"/>
              </a:rPr>
              <a:t> PCI, (EORTC </a:t>
            </a:r>
            <a:r>
              <a:rPr lang="en-US" altLang="zh-TW" dirty="0" err="1" smtClean="0">
                <a:sym typeface="Wingdings" panose="05000000000000000000" pitchFamily="2" charset="2"/>
              </a:rPr>
              <a:t>Slotman</a:t>
            </a:r>
            <a:r>
              <a:rPr lang="en-US" altLang="zh-TW" dirty="0" smtClean="0">
                <a:sym typeface="Wingdings" panose="05000000000000000000" pitchFamily="2" charset="2"/>
              </a:rPr>
              <a:t>) </a:t>
            </a:r>
            <a:endParaRPr lang="zh-TW" altLang="en-US" dirty="0"/>
          </a:p>
          <a:p>
            <a:r>
              <a:rPr lang="en-US" altLang="zh-TW" dirty="0"/>
              <a:t>d. RT </a:t>
            </a:r>
            <a:r>
              <a:rPr lang="zh-TW" altLang="en-US" dirty="0"/>
              <a:t>的 </a:t>
            </a:r>
            <a:r>
              <a:rPr lang="en-US" altLang="zh-TW" dirty="0"/>
              <a:t>prescription and OAR </a:t>
            </a:r>
            <a:r>
              <a:rPr lang="en-US" altLang="zh-TW" dirty="0" smtClean="0"/>
              <a:t>constraint? </a:t>
            </a:r>
          </a:p>
          <a:p>
            <a:pPr lvl="1"/>
            <a:r>
              <a:rPr lang="en-US" altLang="zh-TW" dirty="0" smtClean="0"/>
              <a:t>Spinal cord, heart, lung, esophagus, brachial plexus</a:t>
            </a:r>
            <a:endParaRPr lang="en-US" altLang="zh-TW" dirty="0"/>
          </a:p>
          <a:p>
            <a:endParaRPr lang="zh-TW" altLang="en-US" dirty="0"/>
          </a:p>
        </p:txBody>
      </p:sp>
      <p:pic>
        <p:nvPicPr>
          <p:cNvPr id="4" name="圖片 3"/>
          <p:cNvPicPr>
            <a:picLocks noChangeAspect="1"/>
          </p:cNvPicPr>
          <p:nvPr/>
        </p:nvPicPr>
        <p:blipFill>
          <a:blip r:embed="rId2"/>
          <a:stretch>
            <a:fillRect/>
          </a:stretch>
        </p:blipFill>
        <p:spPr>
          <a:xfrm>
            <a:off x="6528048" y="3140969"/>
            <a:ext cx="3429000" cy="428625"/>
          </a:xfrm>
          <a:prstGeom prst="rect">
            <a:avLst/>
          </a:prstGeom>
        </p:spPr>
      </p:pic>
    </p:spTree>
    <p:extLst>
      <p:ext uri="{BB962C8B-B14F-4D97-AF65-F5344CB8AC3E}">
        <p14:creationId xmlns:p14="http://schemas.microsoft.com/office/powerpoint/2010/main" val="18140823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2018</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smtClean="0"/>
              <a:t>Q: SBRT </a:t>
            </a:r>
            <a:r>
              <a:rPr lang="zh-TW" altLang="en-US" dirty="0"/>
              <a:t>的預後</a:t>
            </a:r>
            <a:r>
              <a:rPr lang="zh-TW" altLang="en-US" dirty="0" smtClean="0"/>
              <a:t>？</a:t>
            </a:r>
            <a:endParaRPr lang="en-US" altLang="zh-TW" dirty="0" smtClean="0"/>
          </a:p>
          <a:p>
            <a:r>
              <a:rPr lang="en-US" altLang="zh-TW" dirty="0" smtClean="0"/>
              <a:t>SBRT operable</a:t>
            </a:r>
            <a:r>
              <a:rPr lang="zh-TW" altLang="en-US" dirty="0" smtClean="0"/>
              <a:t>不輸給 </a:t>
            </a:r>
            <a:r>
              <a:rPr lang="en-US" altLang="zh-TW" dirty="0" smtClean="0"/>
              <a:t>OP:</a:t>
            </a:r>
            <a:r>
              <a:rPr lang="zh-TW" altLang="en-US" dirty="0" smtClean="0"/>
              <a:t> </a:t>
            </a:r>
            <a:r>
              <a:rPr lang="en-US" altLang="zh-TW" dirty="0" smtClean="0"/>
              <a:t>Pooled analysis of STARS/</a:t>
            </a:r>
            <a:r>
              <a:rPr lang="en-US" altLang="zh-TW" dirty="0" err="1" smtClean="0"/>
              <a:t>Rosel</a:t>
            </a:r>
            <a:r>
              <a:rPr lang="en-US" altLang="zh-TW" dirty="0" smtClean="0"/>
              <a:t> </a:t>
            </a:r>
            <a:r>
              <a:rPr lang="zh-TW" altLang="en-US" dirty="0" smtClean="0"/>
              <a:t>發現 </a:t>
            </a:r>
            <a:r>
              <a:rPr lang="en-US" altLang="zh-TW" dirty="0" smtClean="0"/>
              <a:t>OS</a:t>
            </a:r>
            <a:r>
              <a:rPr lang="zh-TW" altLang="en-US" dirty="0" smtClean="0"/>
              <a:t>比較好 </a:t>
            </a:r>
            <a:r>
              <a:rPr lang="en-US" altLang="zh-TW" dirty="0" smtClean="0"/>
              <a:t>3 year 95%, lower toxicity 10%</a:t>
            </a:r>
          </a:p>
          <a:p>
            <a:r>
              <a:rPr lang="en-US" altLang="zh-TW" dirty="0" smtClean="0"/>
              <a:t>SEER JAMA 2014 </a:t>
            </a:r>
            <a:r>
              <a:rPr lang="en-US" altLang="zh-TW" dirty="0" err="1" smtClean="0"/>
              <a:t>Shirvani</a:t>
            </a:r>
            <a:r>
              <a:rPr lang="en-US" altLang="zh-TW" dirty="0" smtClean="0"/>
              <a:t>, no difference between SBRT and OP </a:t>
            </a:r>
          </a:p>
          <a:p>
            <a:r>
              <a:rPr lang="en-US" altLang="zh-TW" dirty="0" smtClean="0"/>
              <a:t>&gt;70 more mortality with surgery </a:t>
            </a:r>
            <a:endParaRPr lang="zh-TW" altLang="en-US" dirty="0" smtClean="0"/>
          </a:p>
          <a:p>
            <a:endParaRPr lang="en-US" altLang="zh-TW" dirty="0" smtClean="0"/>
          </a:p>
          <a:p>
            <a:r>
              <a:rPr lang="en-US" altLang="zh-TW" dirty="0" smtClean="0"/>
              <a:t>Q: Extensive </a:t>
            </a:r>
            <a:r>
              <a:rPr lang="en-US" altLang="zh-TW" dirty="0"/>
              <a:t>stage small cell lung cancer </a:t>
            </a:r>
            <a:r>
              <a:rPr lang="zh-TW" altLang="en-US" dirty="0"/>
              <a:t>要不要 </a:t>
            </a:r>
            <a:r>
              <a:rPr lang="en-US" altLang="zh-TW" dirty="0"/>
              <a:t>PCI</a:t>
            </a:r>
            <a:r>
              <a:rPr lang="zh-TW" altLang="en-US" dirty="0" smtClean="0"/>
              <a:t>？</a:t>
            </a:r>
            <a:endParaRPr lang="en-US" altLang="zh-TW" dirty="0" smtClean="0"/>
          </a:p>
          <a:p>
            <a:r>
              <a:rPr lang="en-US" altLang="zh-TW" dirty="0" smtClean="0"/>
              <a:t>NCCN CR or partial response (PCI + </a:t>
            </a:r>
            <a:r>
              <a:rPr lang="en-US" altLang="zh-TW" dirty="0" err="1" smtClean="0"/>
              <a:t>Thoraci</a:t>
            </a:r>
            <a:r>
              <a:rPr lang="en-US" altLang="zh-TW" dirty="0" smtClean="0"/>
              <a:t> RT)</a:t>
            </a:r>
          </a:p>
          <a:p>
            <a:r>
              <a:rPr lang="en-US" altLang="zh-TW" dirty="0" smtClean="0"/>
              <a:t>EORTC </a:t>
            </a:r>
            <a:r>
              <a:rPr lang="en-US" altLang="zh-TW" dirty="0" err="1" smtClean="0"/>
              <a:t>Slotman</a:t>
            </a:r>
            <a:r>
              <a:rPr lang="en-US" altLang="zh-TW" dirty="0" smtClean="0"/>
              <a:t>  any response PCI improve OS , Japanese trial extensive stage PCI trend to detriment </a:t>
            </a:r>
            <a:endParaRPr lang="zh-TW" altLang="en-US" dirty="0"/>
          </a:p>
          <a:p>
            <a:endParaRPr lang="zh-TW" altLang="en-US" dirty="0"/>
          </a:p>
        </p:txBody>
      </p:sp>
    </p:spTree>
    <p:extLst>
      <p:ext uri="{BB962C8B-B14F-4D97-AF65-F5344CB8AC3E}">
        <p14:creationId xmlns:p14="http://schemas.microsoft.com/office/powerpoint/2010/main" val="33239440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2018</a:t>
            </a:r>
            <a:endParaRPr lang="zh-TW" altLang="en-US" dirty="0"/>
          </a:p>
        </p:txBody>
      </p:sp>
      <p:sp>
        <p:nvSpPr>
          <p:cNvPr id="3" name="內容版面配置區 2"/>
          <p:cNvSpPr>
            <a:spLocks noGrp="1"/>
          </p:cNvSpPr>
          <p:nvPr>
            <p:ph idx="1"/>
          </p:nvPr>
        </p:nvSpPr>
        <p:spPr/>
        <p:txBody>
          <a:bodyPr>
            <a:normAutofit fontScale="77500" lnSpcReduction="20000"/>
          </a:bodyPr>
          <a:lstStyle/>
          <a:p>
            <a:r>
              <a:rPr lang="en-US" altLang="zh-TW" dirty="0" smtClean="0"/>
              <a:t>Q: </a:t>
            </a:r>
            <a:r>
              <a:rPr lang="zh-TW" altLang="en-US" dirty="0" smtClean="0"/>
              <a:t>呼吸</a:t>
            </a:r>
            <a:r>
              <a:rPr lang="zh-TW" altLang="en-US" dirty="0"/>
              <a:t>調控的方式 </a:t>
            </a:r>
            <a:r>
              <a:rPr lang="en-US" altLang="zh-TW" dirty="0"/>
              <a:t>ABC </a:t>
            </a:r>
            <a:r>
              <a:rPr lang="zh-TW" altLang="en-US" dirty="0"/>
              <a:t>跟 </a:t>
            </a:r>
            <a:r>
              <a:rPr lang="en-US" altLang="zh-TW" dirty="0"/>
              <a:t>gating </a:t>
            </a:r>
            <a:r>
              <a:rPr lang="zh-TW" altLang="en-US" dirty="0"/>
              <a:t>差在哪裡？</a:t>
            </a:r>
            <a:endParaRPr lang="en-US" altLang="zh-TW" dirty="0"/>
          </a:p>
          <a:p>
            <a:r>
              <a:rPr lang="en-US" altLang="zh-TW" dirty="0" smtClean="0"/>
              <a:t>A: </a:t>
            </a:r>
          </a:p>
          <a:p>
            <a:r>
              <a:rPr lang="en-US" altLang="zh-TW" dirty="0" smtClean="0"/>
              <a:t>A: </a:t>
            </a:r>
            <a:r>
              <a:rPr lang="zh-TW" altLang="en-US" dirty="0" smtClean="0"/>
              <a:t> </a:t>
            </a:r>
            <a:r>
              <a:rPr lang="en-US" altLang="zh-TW" dirty="0"/>
              <a:t>Respiratory gating (a) phase gating: beam on when respirator signal within gating window  defined by respiratory signal</a:t>
            </a:r>
          </a:p>
          <a:p>
            <a:r>
              <a:rPr lang="en-US" altLang="zh-TW" dirty="0"/>
              <a:t>(b) amplitude gating: beam on when respiratory signal is within gating window defined based on amplitude/ </a:t>
            </a:r>
            <a:r>
              <a:rPr lang="en-US" altLang="zh-TW" dirty="0" smtClean="0"/>
              <a:t>displacement </a:t>
            </a:r>
            <a:r>
              <a:rPr lang="en-US" altLang="zh-TW" dirty="0"/>
              <a:t>of respiratory signal</a:t>
            </a:r>
          </a:p>
          <a:p>
            <a:endParaRPr lang="en-US" altLang="zh-TW" dirty="0" smtClean="0"/>
          </a:p>
          <a:p>
            <a:r>
              <a:rPr lang="en-US" altLang="zh-TW" dirty="0" smtClean="0"/>
              <a:t>ANZAI respiratory </a:t>
            </a:r>
            <a:r>
              <a:rPr lang="en-US" altLang="zh-TW" dirty="0"/>
              <a:t>gating system (measuring abdominal pressure), </a:t>
            </a:r>
            <a:endParaRPr lang="en-US" altLang="zh-TW" dirty="0" smtClean="0"/>
          </a:p>
          <a:p>
            <a:r>
              <a:rPr lang="en-US" altLang="zh-TW" dirty="0" smtClean="0"/>
              <a:t>Varian </a:t>
            </a:r>
            <a:r>
              <a:rPr lang="en-US" altLang="zh-TW" dirty="0"/>
              <a:t>RPM, (measuring chest wall motion by optic system with infrared camera or laser surface imaging) </a:t>
            </a:r>
            <a:endParaRPr lang="en-US" altLang="zh-TW" dirty="0" smtClean="0"/>
          </a:p>
          <a:p>
            <a:r>
              <a:rPr lang="en-US" altLang="zh-TW" dirty="0" err="1" smtClean="0"/>
              <a:t>Elekta</a:t>
            </a:r>
            <a:r>
              <a:rPr lang="en-US" altLang="zh-TW" dirty="0" smtClean="0"/>
              <a:t> </a:t>
            </a:r>
            <a:r>
              <a:rPr lang="en-US" altLang="zh-TW" dirty="0"/>
              <a:t>ABC system (measuring the inspiration and </a:t>
            </a:r>
            <a:r>
              <a:rPr lang="en-US" altLang="zh-TW" dirty="0" smtClean="0"/>
              <a:t>expiration </a:t>
            </a:r>
            <a:r>
              <a:rPr lang="en-US" altLang="zh-TW" dirty="0"/>
              <a:t>air volume using spirometry or temperature change) </a:t>
            </a:r>
          </a:p>
          <a:p>
            <a:endParaRPr lang="zh-TW" altLang="en-US" dirty="0"/>
          </a:p>
        </p:txBody>
      </p:sp>
    </p:spTree>
    <p:extLst>
      <p:ext uri="{BB962C8B-B14F-4D97-AF65-F5344CB8AC3E}">
        <p14:creationId xmlns:p14="http://schemas.microsoft.com/office/powerpoint/2010/main" val="6259689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p:cNvPicPr>
            <a:picLocks noChangeAspect="1"/>
          </p:cNvPicPr>
          <p:nvPr/>
        </p:nvPicPr>
        <p:blipFill>
          <a:blip r:embed="rId2"/>
          <a:stretch>
            <a:fillRect/>
          </a:stretch>
        </p:blipFill>
        <p:spPr>
          <a:xfrm>
            <a:off x="1551390" y="3118915"/>
            <a:ext cx="4878857" cy="2498927"/>
          </a:xfrm>
          <a:prstGeom prst="rect">
            <a:avLst/>
          </a:prstGeom>
        </p:spPr>
      </p:pic>
      <p:sp>
        <p:nvSpPr>
          <p:cNvPr id="2" name="標題 1"/>
          <p:cNvSpPr>
            <a:spLocks noGrp="1"/>
          </p:cNvSpPr>
          <p:nvPr>
            <p:ph type="title"/>
          </p:nvPr>
        </p:nvSpPr>
        <p:spPr/>
        <p:txBody>
          <a:bodyPr/>
          <a:lstStyle/>
          <a:p>
            <a:endParaRPr lang="zh-TW" altLang="en-US"/>
          </a:p>
        </p:txBody>
      </p:sp>
      <p:pic>
        <p:nvPicPr>
          <p:cNvPr id="4" name="圖片 3"/>
          <p:cNvPicPr>
            <a:picLocks noChangeAspect="1"/>
          </p:cNvPicPr>
          <p:nvPr/>
        </p:nvPicPr>
        <p:blipFill>
          <a:blip r:embed="rId3"/>
          <a:stretch>
            <a:fillRect/>
          </a:stretch>
        </p:blipFill>
        <p:spPr>
          <a:xfrm>
            <a:off x="4367808" y="5895687"/>
            <a:ext cx="4686300" cy="762000"/>
          </a:xfrm>
          <a:prstGeom prst="rect">
            <a:avLst/>
          </a:prstGeom>
        </p:spPr>
      </p:pic>
      <p:pic>
        <p:nvPicPr>
          <p:cNvPr id="5" name="圖片 4"/>
          <p:cNvPicPr>
            <a:picLocks noChangeAspect="1"/>
          </p:cNvPicPr>
          <p:nvPr/>
        </p:nvPicPr>
        <p:blipFill>
          <a:blip r:embed="rId4"/>
          <a:stretch>
            <a:fillRect/>
          </a:stretch>
        </p:blipFill>
        <p:spPr>
          <a:xfrm>
            <a:off x="2006315" y="176771"/>
            <a:ext cx="6467180" cy="2664296"/>
          </a:xfrm>
          <a:prstGeom prst="rect">
            <a:avLst/>
          </a:prstGeom>
        </p:spPr>
      </p:pic>
      <p:pic>
        <p:nvPicPr>
          <p:cNvPr id="7" name="圖片 6"/>
          <p:cNvPicPr>
            <a:picLocks noChangeAspect="1"/>
          </p:cNvPicPr>
          <p:nvPr/>
        </p:nvPicPr>
        <p:blipFill>
          <a:blip r:embed="rId5"/>
          <a:stretch>
            <a:fillRect/>
          </a:stretch>
        </p:blipFill>
        <p:spPr>
          <a:xfrm>
            <a:off x="6837500" y="3299136"/>
            <a:ext cx="3373301" cy="2138482"/>
          </a:xfrm>
          <a:prstGeom prst="rect">
            <a:avLst/>
          </a:prstGeom>
        </p:spPr>
      </p:pic>
    </p:spTree>
    <p:extLst>
      <p:ext uri="{BB962C8B-B14F-4D97-AF65-F5344CB8AC3E}">
        <p14:creationId xmlns:p14="http://schemas.microsoft.com/office/powerpoint/2010/main" val="27068161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1704380" y="274638"/>
            <a:ext cx="3410905" cy="2094946"/>
          </a:xfrm>
          <a:prstGeom prst="rect">
            <a:avLst/>
          </a:prstGeom>
        </p:spPr>
      </p:pic>
      <p:pic>
        <p:nvPicPr>
          <p:cNvPr id="5" name="圖片 4"/>
          <p:cNvPicPr>
            <a:picLocks noChangeAspect="1"/>
          </p:cNvPicPr>
          <p:nvPr/>
        </p:nvPicPr>
        <p:blipFill>
          <a:blip r:embed="rId3"/>
          <a:stretch>
            <a:fillRect/>
          </a:stretch>
        </p:blipFill>
        <p:spPr>
          <a:xfrm>
            <a:off x="1775520" y="3057229"/>
            <a:ext cx="4644996" cy="3251497"/>
          </a:xfrm>
          <a:prstGeom prst="rect">
            <a:avLst/>
          </a:prstGeom>
        </p:spPr>
      </p:pic>
      <p:pic>
        <p:nvPicPr>
          <p:cNvPr id="6" name="圖片 5"/>
          <p:cNvPicPr>
            <a:picLocks noChangeAspect="1"/>
          </p:cNvPicPr>
          <p:nvPr/>
        </p:nvPicPr>
        <p:blipFill>
          <a:blip r:embed="rId4"/>
          <a:stretch>
            <a:fillRect/>
          </a:stretch>
        </p:blipFill>
        <p:spPr>
          <a:xfrm>
            <a:off x="5115284" y="463146"/>
            <a:ext cx="5112568" cy="2383116"/>
          </a:xfrm>
          <a:prstGeom prst="rect">
            <a:avLst/>
          </a:prstGeom>
        </p:spPr>
      </p:pic>
    </p:spTree>
    <p:extLst>
      <p:ext uri="{BB962C8B-B14F-4D97-AF65-F5344CB8AC3E}">
        <p14:creationId xmlns:p14="http://schemas.microsoft.com/office/powerpoint/2010/main" val="311484520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5460</Words>
  <Application>Microsoft Office PowerPoint</Application>
  <PresentationFormat>寬螢幕</PresentationFormat>
  <Paragraphs>604</Paragraphs>
  <Slides>44</Slides>
  <Notes>1</Notes>
  <HiddenSlides>0</HiddenSlides>
  <MMClips>0</MMClips>
  <ScaleCrop>false</ScaleCrop>
  <HeadingPairs>
    <vt:vector size="6" baseType="variant">
      <vt:variant>
        <vt:lpstr>使用字型</vt:lpstr>
      </vt:variant>
      <vt:variant>
        <vt:i4>7</vt:i4>
      </vt:variant>
      <vt:variant>
        <vt:lpstr>佈景主題</vt:lpstr>
      </vt:variant>
      <vt:variant>
        <vt:i4>2</vt:i4>
      </vt:variant>
      <vt:variant>
        <vt:lpstr>投影片標題</vt:lpstr>
      </vt:variant>
      <vt:variant>
        <vt:i4>44</vt:i4>
      </vt:variant>
    </vt:vector>
  </HeadingPairs>
  <TitlesOfParts>
    <vt:vector size="53" baseType="lpstr">
      <vt:lpstr>新細明體</vt:lpstr>
      <vt:lpstr>標楷體</vt:lpstr>
      <vt:lpstr>Arial</vt:lpstr>
      <vt:lpstr>Calibri</vt:lpstr>
      <vt:lpstr>Calibri Light</vt:lpstr>
      <vt:lpstr>Times New Roman</vt:lpstr>
      <vt:lpstr>Wingdings</vt:lpstr>
      <vt:lpstr>Office 佈景主題</vt:lpstr>
      <vt:lpstr>1_Office 佈景主題</vt:lpstr>
      <vt:lpstr>Lung cancer (NSCLC)</vt:lpstr>
      <vt:lpstr>陳妙芬</vt:lpstr>
      <vt:lpstr>PowerPoint 簡報</vt:lpstr>
      <vt:lpstr>2006</vt:lpstr>
      <vt:lpstr>PowerPoint 簡報</vt:lpstr>
      <vt:lpstr>2007</vt:lpstr>
      <vt:lpstr>2008 </vt:lpstr>
      <vt:lpstr>PowerPoint 簡報</vt:lpstr>
      <vt:lpstr>2009</vt:lpstr>
      <vt:lpstr>PowerPoint 簡報</vt:lpstr>
      <vt:lpstr>PowerPoint 簡報</vt:lpstr>
      <vt:lpstr>2009 continue</vt:lpstr>
      <vt:lpstr>2009</vt:lpstr>
      <vt:lpstr>NCCN</vt:lpstr>
      <vt:lpstr>2010</vt:lpstr>
      <vt:lpstr>2011</vt:lpstr>
      <vt:lpstr>2011 continue</vt:lpstr>
      <vt:lpstr> 2011 Continue</vt:lpstr>
      <vt:lpstr>2011</vt:lpstr>
      <vt:lpstr>2012 許文林 </vt:lpstr>
      <vt:lpstr>PowerPoint 簡報</vt:lpstr>
      <vt:lpstr>2012</vt:lpstr>
      <vt:lpstr>2013</vt:lpstr>
      <vt:lpstr>2014[梁雲] </vt:lpstr>
      <vt:lpstr>2014</vt:lpstr>
      <vt:lpstr>2014 陳妙芬 </vt:lpstr>
      <vt:lpstr>PowerPoint 簡報</vt:lpstr>
      <vt:lpstr>2014</vt:lpstr>
      <vt:lpstr>2015</vt:lpstr>
      <vt:lpstr>2016</vt:lpstr>
      <vt:lpstr>PowerPoint 簡報</vt:lpstr>
      <vt:lpstr>PowerPoint 簡報</vt:lpstr>
      <vt:lpstr>2016</vt:lpstr>
      <vt:lpstr>PowerPoint 簡報</vt:lpstr>
      <vt:lpstr>2016</vt:lpstr>
      <vt:lpstr>PowerPoint 簡報</vt:lpstr>
      <vt:lpstr>2017 林裕為 </vt:lpstr>
      <vt:lpstr>2017</vt:lpstr>
      <vt:lpstr>2017</vt:lpstr>
      <vt:lpstr>2018</vt:lpstr>
      <vt:lpstr>2018</vt:lpstr>
      <vt:lpstr>2018</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Lung cancer (NSCLC)</dc:title>
  <dc:creator>VDI用</dc:creator>
  <cp:lastModifiedBy>USER</cp:lastModifiedBy>
  <cp:revision>15</cp:revision>
  <dcterms:created xsi:type="dcterms:W3CDTF">2019-09-03T02:43:47Z</dcterms:created>
  <dcterms:modified xsi:type="dcterms:W3CDTF">2019-09-30T11:18:31Z</dcterms:modified>
</cp:coreProperties>
</file>